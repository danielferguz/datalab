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48" r:id="rId1"/>
    <p:sldMasterId id="2147483693" r:id="rId2"/>
  </p:sldMasterIdLst>
  <p:notesMasterIdLst>
    <p:notesMasterId r:id="rId41"/>
  </p:notesMasterIdLst>
  <p:handoutMasterIdLst>
    <p:handoutMasterId r:id="rId42"/>
  </p:handoutMasterIdLst>
  <p:sldIdLst>
    <p:sldId id="256" r:id="rId3"/>
    <p:sldId id="2567" r:id="rId4"/>
    <p:sldId id="603" r:id="rId5"/>
    <p:sldId id="657" r:id="rId6"/>
    <p:sldId id="2568" r:id="rId7"/>
    <p:sldId id="2570" r:id="rId8"/>
    <p:sldId id="2087" r:id="rId9"/>
    <p:sldId id="2088" r:id="rId10"/>
    <p:sldId id="2089" r:id="rId11"/>
    <p:sldId id="2154" r:id="rId12"/>
    <p:sldId id="2155" r:id="rId13"/>
    <p:sldId id="2091" r:id="rId14"/>
    <p:sldId id="2571" r:id="rId15"/>
    <p:sldId id="2572" r:id="rId16"/>
    <p:sldId id="2573" r:id="rId17"/>
    <p:sldId id="2574" r:id="rId18"/>
    <p:sldId id="2125" r:id="rId19"/>
    <p:sldId id="666" r:id="rId20"/>
    <p:sldId id="2127" r:id="rId21"/>
    <p:sldId id="2128" r:id="rId22"/>
    <p:sldId id="2576" r:id="rId23"/>
    <p:sldId id="2575" r:id="rId24"/>
    <p:sldId id="2090" r:id="rId25"/>
    <p:sldId id="2092" r:id="rId26"/>
    <p:sldId id="2110" r:id="rId27"/>
    <p:sldId id="2118" r:id="rId28"/>
    <p:sldId id="2119" r:id="rId29"/>
    <p:sldId id="2121" r:id="rId30"/>
    <p:sldId id="2577" r:id="rId31"/>
    <p:sldId id="726" r:id="rId32"/>
    <p:sldId id="806" r:id="rId33"/>
    <p:sldId id="808" r:id="rId34"/>
    <p:sldId id="2581" r:id="rId35"/>
    <p:sldId id="2578" r:id="rId36"/>
    <p:sldId id="2095" r:id="rId37"/>
    <p:sldId id="2579" r:id="rId38"/>
    <p:sldId id="2580" r:id="rId39"/>
    <p:sldId id="2031" r:id="rId40"/>
  </p:sldIdLst>
  <p:sldSz cx="12192000" cy="6858000"/>
  <p:notesSz cx="6858000" cy="9144000"/>
  <p:embeddedFontLst>
    <p:embeddedFont>
      <p:font typeface="Arial Black" panose="020B0A04020102020204" pitchFamily="34" charset="0"/>
      <p:regular r:id="rId43"/>
      <p:bold r:id="rId44"/>
    </p:embeddedFont>
    <p:embeddedFont>
      <p:font typeface="Axiforma Black" panose="00000900000000000000" charset="0"/>
      <p:bold r:id="rId45"/>
    </p:embeddedFon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Calibri Light" panose="020F0302020204030204" pitchFamily="34" charset="0"/>
      <p:regular r:id="rId50"/>
      <p:italic r:id="rId51"/>
    </p:embeddedFont>
    <p:embeddedFont>
      <p:font typeface="Century Gothic" panose="020B050202020202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6" roundtripDataSignature="AMtx7mj0NKVjt7a14WyFINwyqrv2kp5c6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CEC172-309A-4E82-BD2A-88396123552B}">
  <a:tblStyle styleId="{2ACEC172-309A-4E82-BD2A-8839612355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56" autoAdjust="0"/>
  </p:normalViewPr>
  <p:slideViewPr>
    <p:cSldViewPr snapToGrid="0">
      <p:cViewPr varScale="1">
        <p:scale>
          <a:sx n="77" d="100"/>
          <a:sy n="77" d="100"/>
        </p:scale>
        <p:origin x="946" y="58"/>
      </p:cViewPr>
      <p:guideLst/>
    </p:cSldViewPr>
  </p:slideViewPr>
  <p:outlineViewPr>
    <p:cViewPr>
      <p:scale>
        <a:sx n="33" d="100"/>
        <a:sy n="33" d="100"/>
      </p:scale>
      <p:origin x="0" y="-419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584"/>
    </p:cViewPr>
  </p:sorterViewPr>
  <p:notesViewPr>
    <p:cSldViewPr snapToGrid="0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7" Type="http://schemas.openxmlformats.org/officeDocument/2006/relationships/slide" Target="slides/slide5.xml"/><Relationship Id="rId24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250" Type="http://schemas.openxmlformats.org/officeDocument/2006/relationships/theme" Target="theme/theme1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6.xml"/><Relationship Id="rId51" Type="http://schemas.openxmlformats.org/officeDocument/2006/relationships/font" Target="fonts/font9.fntdata"/><Relationship Id="rId3" Type="http://schemas.openxmlformats.org/officeDocument/2006/relationships/slide" Target="slides/slide1.xml"/><Relationship Id="rId248" Type="http://schemas.openxmlformats.org/officeDocument/2006/relationships/presProps" Target="presProps.xml"/><Relationship Id="rId251" Type="http://schemas.openxmlformats.org/officeDocument/2006/relationships/tableStyles" Target="tableStyles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4.fntdata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46" Type="http://customschemas.google.com/relationships/presentationmetadata" Target="metadata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7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4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9D507FD-6D47-41D9-8A5C-5F7A966E89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1B19F9-5FB5-44C5-B239-0163415758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8C503-A52D-4102-8E08-7C18976CDEFA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735FDAC-BD83-4632-91BE-744390F24F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46A140-7E99-430C-A55A-8F1E04D4B2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DCBC8-7186-4315-A98C-C9DD8D4BC08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0671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Dar ejemplos sencillos de la asociación causal</a:t>
            </a:r>
          </a:p>
          <a:p>
            <a:r>
              <a:rPr lang="es-PE" dirty="0"/>
              <a:t>La exposición a X cosa puede relacionarse al desenlace de Y cosa</a:t>
            </a:r>
          </a:p>
          <a:p>
            <a:r>
              <a:rPr lang="es-PE" dirty="0"/>
              <a:t>Y a todo efecto le precede una causa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BE243-43BF-4596-BA29-A3B392D4E056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99220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Todos los modelos nos darán diferentes estimaciones. Elegir un modelo de acuerdo a tus datos y saber interpretar los resultados será esencial para los análisis. </a:t>
            </a:r>
          </a:p>
          <a:p>
            <a:r>
              <a:rPr lang="es-PE" dirty="0"/>
              <a:t>La estadística soporta todo, pero no todo es interpretable.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BE243-43BF-4596-BA29-A3B392D4E056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1011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B1 incremento en Y por cada unidad de aumento en X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BE243-43BF-4596-BA29-A3B392D4E056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8284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3915508" y="1122363"/>
            <a:ext cx="6752492" cy="23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 b="1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3915508" y="3602037"/>
            <a:ext cx="6752492" cy="1660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ítulo y objetos">
  <p:cSld name="2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2457450" y="1151916"/>
            <a:ext cx="6251652" cy="989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2"/>
          </p:nvPr>
        </p:nvSpPr>
        <p:spPr>
          <a:xfrm>
            <a:off x="3228975" y="3746500"/>
            <a:ext cx="8529638" cy="182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91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/>
              <a:buAutoNum type="arabicPeriod"/>
              <a:defRPr sz="30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3"/>
          </p:nvPr>
        </p:nvSpPr>
        <p:spPr>
          <a:xfrm>
            <a:off x="3228975" y="2640261"/>
            <a:ext cx="8308820" cy="989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 b="1" i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107"/>
            <a:ext cx="8445500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 sz="2800" b="0" i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 sz="2800" b="0" i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title"/>
          </p:nvPr>
        </p:nvSpPr>
        <p:spPr>
          <a:xfrm>
            <a:off x="838200" y="699983"/>
            <a:ext cx="7485185" cy="42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107"/>
            <a:ext cx="8445500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 sz="32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/>
            </a:lvl2pPr>
            <a:lvl3pPr marL="1371600" marR="0" lvl="2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/>
            </a:lvl3pPr>
            <a:lvl4pPr marL="1828800" marR="0" lvl="3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/>
            </a:lvl4pPr>
            <a:lvl5pPr marL="2286000" marR="0" lvl="4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 sz="32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sz="2800"/>
            </a:lvl1pPr>
            <a:lvl2pPr marL="914400" marR="0" lvl="1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/>
            </a:lvl2pPr>
            <a:lvl3pPr marL="1371600" marR="0" lvl="2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/>
            </a:lvl3pPr>
            <a:lvl4pPr marL="1828800" marR="0" lvl="3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/>
            </a:lvl4pPr>
            <a:lvl5pPr marL="2286000" marR="0" lvl="4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699983"/>
            <a:ext cx="7485185" cy="42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title"/>
          </p:nvPr>
        </p:nvSpPr>
        <p:spPr>
          <a:xfrm>
            <a:off x="839788" y="680224"/>
            <a:ext cx="3932237" cy="137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B6"/>
              </a:buClr>
              <a:buSzPts val="3200"/>
              <a:buFont typeface="Arial Black"/>
              <a:buNone/>
              <a:defRPr sz="3200" b="1" i="0">
                <a:solidFill>
                  <a:srgbClr val="00AAB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/>
            </a:lvl2pPr>
            <a:lvl3pPr marL="1371600" marR="0" lvl="2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/>
            </a:lvl3pPr>
            <a:lvl4pPr marL="1828800" marR="0" lvl="3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/>
            </a:lvl4pPr>
            <a:lvl5pPr marL="2286000" marR="0" lvl="4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1D3F86"/>
              </a:buClr>
              <a:buSzPts val="2800"/>
              <a:buNone/>
              <a:defRPr sz="2800" b="1" i="0">
                <a:solidFill>
                  <a:srgbClr val="1D3F8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B6"/>
              </a:buClr>
              <a:buSzPts val="3200"/>
              <a:buFont typeface="Arial Black"/>
              <a:buNone/>
              <a:defRPr sz="3200" b="1" i="0">
                <a:solidFill>
                  <a:srgbClr val="00AAB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1D3F86"/>
              </a:buClr>
              <a:buSzPts val="3000"/>
              <a:buNone/>
              <a:defRPr sz="3000" b="1" i="0">
                <a:solidFill>
                  <a:srgbClr val="1D3F8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>
  <p:cSld name="Título y texto vertic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0315"/>
            <a:ext cx="8445500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sz="2800" b="0" i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>
                <a:solidFill>
                  <a:srgbClr val="595959"/>
                </a:solidFill>
              </a:defRPr>
            </a:lvl2pPr>
            <a:lvl3pPr marL="1371600" marR="0" lvl="2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>
                <a:solidFill>
                  <a:srgbClr val="595959"/>
                </a:solidFill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>
                <a:solidFill>
                  <a:srgbClr val="595959"/>
                </a:solidFill>
              </a:defRPr>
            </a:lvl4pPr>
            <a:lvl5pPr marL="2286000" marR="0" lvl="4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dt" idx="10"/>
          </p:nvPr>
        </p:nvSpPr>
        <p:spPr>
          <a:xfrm>
            <a:off x="979449" y="6386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ftr" idx="11"/>
          </p:nvPr>
        </p:nvSpPr>
        <p:spPr>
          <a:xfrm>
            <a:off x="4179849" y="638608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sldNum" idx="12"/>
          </p:nvPr>
        </p:nvSpPr>
        <p:spPr>
          <a:xfrm>
            <a:off x="8751849" y="6386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838200" y="699983"/>
            <a:ext cx="7485185" cy="42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 rot="5400000">
            <a:off x="7603215" y="2426378"/>
            <a:ext cx="487227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B6"/>
              </a:buClr>
              <a:buSzPts val="3200"/>
              <a:buFont typeface="Arial Black"/>
              <a:buNone/>
              <a:defRPr sz="3200" b="1" i="0">
                <a:solidFill>
                  <a:srgbClr val="00AAB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body" idx="1"/>
          </p:nvPr>
        </p:nvSpPr>
        <p:spPr>
          <a:xfrm>
            <a:off x="838200" y="1304693"/>
            <a:ext cx="7734300" cy="4872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>
                <a:solidFill>
                  <a:srgbClr val="595959"/>
                </a:solidFill>
              </a:defRPr>
            </a:lvl2pPr>
            <a:lvl3pPr marL="1371600" marR="0" lvl="2" indent="-406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>
                <a:solidFill>
                  <a:srgbClr val="595959"/>
                </a:solidFill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>
                <a:solidFill>
                  <a:srgbClr val="595959"/>
                </a:solidFill>
              </a:defRPr>
            </a:lvl4pPr>
            <a:lvl5pPr marL="2286000" marR="0" lvl="4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vertical y texto">
  <p:cSld name="1_Título vertical y tex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title"/>
          </p:nvPr>
        </p:nvSpPr>
        <p:spPr>
          <a:xfrm>
            <a:off x="4038600" y="1270167"/>
            <a:ext cx="7485185" cy="510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B6"/>
              </a:buClr>
              <a:buSzPts val="3000"/>
              <a:buFont typeface="Arial Black"/>
              <a:buNone/>
              <a:defRPr sz="3000" b="1" i="0">
                <a:solidFill>
                  <a:srgbClr val="00AAB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6" name="Google Shape;116;p28"/>
          <p:cNvSpPr txBox="1">
            <a:spLocks noGrp="1"/>
          </p:cNvSpPr>
          <p:nvPr>
            <p:ph type="body" idx="1"/>
          </p:nvPr>
        </p:nvSpPr>
        <p:spPr>
          <a:xfrm>
            <a:off x="4551556" y="2366977"/>
            <a:ext cx="7246434" cy="356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0909" y="2796535"/>
            <a:ext cx="7121091" cy="4061464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5070909" y="2796536"/>
            <a:ext cx="7121091" cy="406146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3" name="Título 12"/>
          <p:cNvSpPr>
            <a:spLocks noGrp="1"/>
          </p:cNvSpPr>
          <p:nvPr userDrawn="1"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94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0909" y="2796535"/>
            <a:ext cx="7121091" cy="4061464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5070909" y="2796536"/>
            <a:ext cx="7121091" cy="406146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3" name="Título 12"/>
          <p:cNvSpPr>
            <a:spLocks noGrp="1"/>
          </p:cNvSpPr>
          <p:nvPr userDrawn="1"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CF0F33-65C2-4C4B-BD87-3B513648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F993AEEE-6DD4-3D43-A9F8-0585FF776E99}" type="datetimeFigureOut">
              <a:rPr lang="es-PE" smtClean="0"/>
              <a:pPr/>
              <a:t>24/07/2024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CFE02-9496-D749-8104-F69D17F4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7E15FA-0F51-A047-AF99-7D502E2B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E1513474-25ED-AB43-B0B5-53FBCD15E933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3FA302E-ECAA-2D4D-AFFC-23A684D70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70409" y="3100040"/>
            <a:ext cx="3249806" cy="307692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000" b="1" i="0">
                <a:solidFill>
                  <a:srgbClr val="1D3F86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F574B937-2D95-A448-BA66-449E775AF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9136" y="4106779"/>
            <a:ext cx="5324609" cy="20701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000" b="0" i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0FD4E671-B172-C74E-A709-193B614805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9516" y="1361839"/>
            <a:ext cx="3704552" cy="6005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contenido 9">
            <a:extLst>
              <a:ext uri="{FF2B5EF4-FFF2-40B4-BE49-F238E27FC236}">
                <a16:creationId xmlns:a16="http://schemas.microsoft.com/office/drawing/2014/main" id="{0E76292F-DC1F-2A40-914A-63EC12A661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9850" y="1962150"/>
            <a:ext cx="3704218" cy="3571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89620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A59A092-7E97-C14D-AEEE-272B47124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7107"/>
            <a:ext cx="8445500" cy="5969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F21A9C-9BA5-9440-A20A-651CEBC78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CF0F33-65C2-4C4B-BD87-3B513648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F993AEEE-6DD4-3D43-A9F8-0585FF776E99}" type="datetimeFigureOut">
              <a:rPr lang="es-PE" smtClean="0"/>
              <a:pPr/>
              <a:t>24/07/2024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CFE02-9496-D749-8104-F69D17F4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7E15FA-0F51-A047-AF99-7D502E2B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E1513474-25ED-AB43-B0B5-53FBCD15E933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14420BA-EC42-444B-99A2-C5F38A4BD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3396"/>
            <a:ext cx="7485185" cy="5108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Axiforma Black" pitchFamily="2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98056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C5C884-80DA-0B42-8671-19C1792C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F993AEEE-6DD4-3D43-A9F8-0585FF776E99}" type="datetimeFigureOut">
              <a:rPr lang="es-PE" smtClean="0"/>
              <a:pPr/>
              <a:t>24/07/2024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03FE60-B971-7946-A725-C00D0904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9604D7-89B1-6C42-BD27-364F2130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E1513474-25ED-AB43-B0B5-53FBCD15E93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3513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ítulo vertical y texto">
  <p:cSld name="2_Título vertical y tex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  <p:sp>
        <p:nvSpPr>
          <p:cNvPr id="121" name="Google Shape;121;p29"/>
          <p:cNvSpPr txBox="1"/>
          <p:nvPr/>
        </p:nvSpPr>
        <p:spPr>
          <a:xfrm>
            <a:off x="5813154" y="4111149"/>
            <a:ext cx="4680491" cy="185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(+51) 950 876 703</a:t>
            </a:r>
            <a:endParaRPr/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www.evisalud.com</a:t>
            </a:r>
            <a:endParaRPr/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/evisalud</a:t>
            </a:r>
            <a:endParaRPr/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/evisalud.oficial</a:t>
            </a:r>
            <a:endParaRPr/>
          </a:p>
        </p:txBody>
      </p:sp>
      <p:pic>
        <p:nvPicPr>
          <p:cNvPr id="122" name="Google Shape;12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7680" y="4250077"/>
            <a:ext cx="317084" cy="16405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1110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A3A89-228A-4383-A466-DF17934B6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4C713-46F1-48D3-8EC4-0004CE3BE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80821D-EE60-4FFA-BE9C-00AA4164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230DCF-CDA1-4D13-BA74-D818AF77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BEFC74-EE5E-4B54-AB09-76037E37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0477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A1088-6A2C-48F8-A19A-2633C47D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7C5804-49D9-4DEF-B0B7-18EA4067B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B4114B-4AC4-40D7-AF29-1D18023D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1502C-73A0-49D2-867B-149B99F1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34CDCF-27F2-40CF-96EB-CCEDA8AB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5324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ABE01-6983-49E7-BF3B-148F6FA2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49BD1E-15AD-42AB-819F-287050EF0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384CC1-8BAC-4717-99BB-F2BF8930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28C782-5D9A-4394-A369-B11E5C30B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EDE4EF-DC7C-4C75-A577-24A754E5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9719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5AF14-8ED4-4F6D-8A80-B60065B72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C7C28D-7B30-4384-86CF-574742BA4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C5BBB3-4505-4970-814B-C811628EC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488560-DB90-4804-9936-EC3E11B8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AB4F56-0135-4EC9-BC00-50889029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626E21-DE41-44E0-96C4-8C71E1226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932225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9695C-CCDB-4F53-AD49-446D1318C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D33E98-4A1D-400C-9D92-E698284E3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6CD0B6-18D5-41F1-A1FE-7F26A4D8E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514F2E-313C-4B1A-A0B8-0C21A0D20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C152A7-369E-4E8D-9BE6-88524F2D3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69BFB3-A7B5-43AE-B4E1-0B7F6923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125A593-33A4-4158-80B0-B1E66A02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7D0959A-E6E6-437E-A37A-799E50745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72127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7592A-A128-48CD-8C32-63BC79701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9150CB-2ABA-4A5A-B2CB-CDB2EBD97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5C6CB46-F856-4EEA-9B26-0B6A4958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67196A-FDF0-4EFB-B7F8-177BE333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35355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918CC3-5A58-4EFF-9A50-534BEDCB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EE6DC5-C469-4A84-8D1A-6A5AD324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F3128F-FD46-4A6B-A25B-60E8CC0A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59047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5026E-3949-4944-8136-5966186E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EB8F5-D673-4AB4-B600-EAF136A09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E98788-FA2D-43E1-AAF2-FBFBB4BAD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266C18-3A97-46BE-A5D2-9B8839297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E3E8B7-4FA8-4DEA-911F-0E4744D5F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F1208E-5FF6-41E6-949A-EEBE8DDA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65481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E3634-1465-486C-9DE5-3E54A2AD4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15529AE-22EB-4551-9578-3DF86D2F3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779FD1-1B95-43B9-8C30-A98D5E93D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9EFEE5-AE5B-4B15-BE93-B93C8B7F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B8D9AB-1044-4790-BD3E-91A9535D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F29277-4816-42C3-8BDF-17DE3CB7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51520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53ADC-C5CD-4772-8CFA-EB37B89C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16ED7A-E6A4-4F1D-835F-B123941F9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558389-4F3B-4493-AED3-D627F493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B5CEFD-1951-4E9F-A74F-DAF316B78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27AC2F-58E4-40FA-9539-55E97DB3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7886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60C6C2-44E0-42A9-A915-B940F6768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052828-E60F-41C2-B363-21EAE526C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B85864-4C81-4725-8992-56A1C443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DC464B-59AC-49C9-86C6-172F66F5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89A060-41F6-49AD-9A63-3D5F1562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445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838200" y="946330"/>
            <a:ext cx="7039414" cy="60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 Black"/>
              <a:buNone/>
              <a:defRPr sz="32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5" r:id="rId3"/>
    <p:sldLayoutId id="2147483656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87" r:id="rId10"/>
    <p:sldLayoutId id="2147483689" r:id="rId11"/>
    <p:sldLayoutId id="2147483705" r:id="rId12"/>
    <p:sldLayoutId id="2147483706" r:id="rId13"/>
    <p:sldLayoutId id="2147483707" r:id="rId14"/>
    <p:sldLayoutId id="214748370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AD0C992-B994-4BE4-9EC3-E2C5CBB4B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FC3E5A-D84A-4D59-B715-D67E564B4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C3EEE8-AB5A-495E-A178-54078A420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7ED3C-329F-44F8-9799-11570D3D1C38}" type="datetimeFigureOut">
              <a:rPr lang="es-PE" smtClean="0"/>
              <a:t>24/07/2024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586A51-65E0-4B51-9441-FB5F74EBE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6E324E-7EF7-4895-AF53-9D7329239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C13B7-382B-4994-9EB7-49B57B7497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59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jpeg"/><Relationship Id="rId5" Type="http://schemas.openxmlformats.org/officeDocument/2006/relationships/image" Target="../media/image15.gif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>
            <a:spLocks noGrp="1"/>
          </p:cNvSpPr>
          <p:nvPr>
            <p:ph type="ctrTitle"/>
          </p:nvPr>
        </p:nvSpPr>
        <p:spPr>
          <a:xfrm>
            <a:off x="3915508" y="1122363"/>
            <a:ext cx="8276492" cy="23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</a:pPr>
            <a:r>
              <a:rPr lang="es-PE" dirty="0" err="1"/>
              <a:t>Webinar</a:t>
            </a:r>
            <a:r>
              <a:rPr lang="es-PE" dirty="0"/>
              <a:t>: </a:t>
            </a:r>
            <a:br>
              <a:rPr lang="es-PE" dirty="0"/>
            </a:br>
            <a:r>
              <a:rPr lang="es-PE" dirty="0"/>
              <a:t>Regresión logística</a:t>
            </a:r>
            <a:endParaRPr dirty="0"/>
          </a:p>
        </p:txBody>
      </p:sp>
      <p:sp>
        <p:nvSpPr>
          <p:cNvPr id="128" name="Google Shape;128;p1"/>
          <p:cNvSpPr txBox="1">
            <a:spLocks noGrp="1"/>
          </p:cNvSpPr>
          <p:nvPr>
            <p:ph type="subTitle" idx="1"/>
          </p:nvPr>
        </p:nvSpPr>
        <p:spPr>
          <a:xfrm>
            <a:off x="3915508" y="3602037"/>
            <a:ext cx="6752492" cy="1660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PE" dirty="0"/>
              <a:t>Docente: Daniel Fernández, MD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4F64E83-E412-56EC-D716-E9DF7E612524}"/>
              </a:ext>
            </a:extLst>
          </p:cNvPr>
          <p:cNvSpPr txBox="1"/>
          <p:nvPr/>
        </p:nvSpPr>
        <p:spPr>
          <a:xfrm>
            <a:off x="4874624" y="1136758"/>
            <a:ext cx="582328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xiforma Black" pitchFamily="2" charset="77"/>
                <a:ea typeface="+mn-ea"/>
                <a:cs typeface="+mn-cs"/>
              </a:rPr>
              <a:t>Daniel Fernández Guzmán,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xiforma Black" pitchFamily="2" charset="77"/>
                <a:ea typeface="+mn-ea"/>
                <a:cs typeface="+mn-cs"/>
              </a:rPr>
              <a:t>MD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400" b="1" i="0" u="none" strike="noStrike" kern="1200" cap="none" spc="0" normalizeH="0" baseline="0" noProof="0" dirty="0">
                <a:ln>
                  <a:noFill/>
                </a:ln>
                <a:solidFill>
                  <a:srgbClr val="1E3E85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danferguz@gmail.com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E6E86E-B5BD-838A-B59E-40BB75D90631}"/>
              </a:ext>
            </a:extLst>
          </p:cNvPr>
          <p:cNvSpPr txBox="1"/>
          <p:nvPr/>
        </p:nvSpPr>
        <p:spPr>
          <a:xfrm>
            <a:off x="1941037" y="3398322"/>
            <a:ext cx="10058400" cy="28007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10CF9B">
                    <a:lumMod val="50000"/>
                  </a:srgbClr>
                </a:solidFill>
                <a:effectLst/>
                <a:uLnTx/>
                <a:uFillTx/>
                <a:latin typeface="Axiforma Black" pitchFamily="2" charset="77"/>
                <a:ea typeface="+mn-ea"/>
                <a:cs typeface="+mn-cs"/>
              </a:rPr>
              <a:t>Médico cirujano, candidato a Maestría en Ciencias Investigación Epidemiológica, UPCH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10CF9B">
                    <a:lumMod val="50000"/>
                  </a:srgbClr>
                </a:solidFill>
                <a:effectLst/>
                <a:uLnTx/>
                <a:uFillTx/>
                <a:latin typeface="Axiforma Black" pitchFamily="2" charset="77"/>
                <a:ea typeface="+mn-ea"/>
                <a:cs typeface="+mn-cs"/>
              </a:rPr>
              <a:t>Investigación: </a:t>
            </a:r>
            <a:r>
              <a:rPr kumimoji="0" lang="es-E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Investigador RENACYT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10CF9B">
                    <a:lumMod val="50000"/>
                  </a:srgbClr>
                </a:solidFill>
                <a:effectLst/>
                <a:uLnTx/>
                <a:uFillTx/>
                <a:latin typeface="Axiforma Black" pitchFamily="2" charset="77"/>
                <a:ea typeface="+mn-ea"/>
                <a:cs typeface="+mn-cs"/>
              </a:rPr>
              <a:t>Filiación actual: </a:t>
            </a:r>
            <a:r>
              <a:rPr kumimoji="0" lang="es-E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UCSUR.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sz="2200" b="1" i="0" u="none" strike="noStrike" kern="1200" cap="none" spc="0" normalizeH="0" baseline="0" noProof="0" dirty="0">
                <a:ln>
                  <a:noFill/>
                </a:ln>
                <a:solidFill>
                  <a:srgbClr val="10CF9B">
                    <a:lumMod val="50000"/>
                  </a:srgbClr>
                </a:solidFill>
                <a:effectLst/>
                <a:uLnTx/>
                <a:uFillTx/>
                <a:latin typeface="Axiforma Black" pitchFamily="2" charset="77"/>
                <a:ea typeface="+mn-ea"/>
                <a:cs typeface="+mn-cs"/>
              </a:rPr>
              <a:t>Cursó estudios en: </a:t>
            </a:r>
            <a:r>
              <a:rPr kumimoji="0" lang="es-PE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UNSAAC, UCC, UPCH.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sz="2200" b="1" i="0" u="none" strike="noStrike" kern="1200" cap="none" spc="0" normalizeH="0" baseline="0" noProof="0" dirty="0">
                <a:ln>
                  <a:noFill/>
                </a:ln>
                <a:solidFill>
                  <a:srgbClr val="10CF9B">
                    <a:lumMod val="50000"/>
                  </a:srgbClr>
                </a:solidFill>
                <a:effectLst/>
                <a:uLnTx/>
                <a:uFillTx/>
                <a:latin typeface="Axiforma Black" pitchFamily="2" charset="77"/>
                <a:ea typeface="+mn-ea"/>
                <a:cs typeface="+mn-cs"/>
              </a:rPr>
              <a:t>Ha recibido pagos/financiamiento de: </a:t>
            </a:r>
            <a:r>
              <a:rPr kumimoji="0" lang="es-PE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EviSalud</a:t>
            </a:r>
            <a:r>
              <a:rPr kumimoji="0" lang="es-PE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sz="2200" b="0" i="0" u="none" strike="noStrike" kern="1200" cap="none" spc="0" normalizeH="0" baseline="0" noProof="0" dirty="0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No tengo potenciales conflictos de interés con el tema de esta reunión.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9F3F41-C86D-4C60-B7B4-ACCDA935C56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243138" y="707860"/>
            <a:ext cx="2610085" cy="2576052"/>
          </a:xfrm>
          <a:prstGeom prst="ellipse">
            <a:avLst/>
          </a:prstGeom>
          <a:ln w="76200">
            <a:solidFill>
              <a:srgbClr val="00A9C3"/>
            </a:solidFill>
          </a:ln>
        </p:spPr>
      </p:pic>
    </p:spTree>
    <p:extLst>
      <p:ext uri="{BB962C8B-B14F-4D97-AF65-F5344CB8AC3E}">
        <p14:creationId xmlns:p14="http://schemas.microsoft.com/office/powerpoint/2010/main" val="321582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B3ADBC-2E11-453F-B8E5-653CBE48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Identifiquemos las variables principales</a:t>
            </a:r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81D897E-6176-4D38-A11C-0696DD53748F}"/>
              </a:ext>
            </a:extLst>
          </p:cNvPr>
          <p:cNvSpPr/>
          <p:nvPr/>
        </p:nvSpPr>
        <p:spPr>
          <a:xfrm>
            <a:off x="1230344" y="1879319"/>
            <a:ext cx="3873297" cy="1200329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Variable independiente </a:t>
            </a:r>
            <a:endParaRPr lang="es-PE" sz="3600" b="1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78AABCC-8F32-454D-8FED-79986A7434A8}"/>
              </a:ext>
            </a:extLst>
          </p:cNvPr>
          <p:cNvSpPr/>
          <p:nvPr/>
        </p:nvSpPr>
        <p:spPr>
          <a:xfrm>
            <a:off x="6606507" y="1908175"/>
            <a:ext cx="3873297" cy="1200329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Variable dependiente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8658ED0-5212-4B12-A979-30A0DEE68C9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5103641" y="2479484"/>
            <a:ext cx="1502866" cy="288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1BFAD8B9-BC2E-4C3F-827B-113865E7AADD}"/>
              </a:ext>
            </a:extLst>
          </p:cNvPr>
          <p:cNvSpPr/>
          <p:nvPr/>
        </p:nvSpPr>
        <p:spPr>
          <a:xfrm>
            <a:off x="1230344" y="3139404"/>
            <a:ext cx="3873297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s-ES" sz="3200" dirty="0">
                <a:latin typeface="Century Gothic" panose="020B0502020202020204" pitchFamily="34" charset="0"/>
              </a:rPr>
              <a:t>Causa </a:t>
            </a:r>
          </a:p>
          <a:p>
            <a:pPr lvl="1"/>
            <a:endParaRPr lang="es-ES" sz="3200" dirty="0">
              <a:latin typeface="Century Gothic" panose="020B0502020202020204" pitchFamily="34" charset="0"/>
            </a:endParaRPr>
          </a:p>
          <a:p>
            <a:pPr lvl="1"/>
            <a:r>
              <a:rPr lang="es-ES" sz="3200" dirty="0">
                <a:latin typeface="Century Gothic" panose="020B0502020202020204" pitchFamily="34" charset="0"/>
              </a:rPr>
              <a:t>Exposición</a:t>
            </a:r>
          </a:p>
          <a:p>
            <a:pPr lvl="1"/>
            <a:endParaRPr lang="es-ES" sz="3200" dirty="0">
              <a:latin typeface="Century Gothic" panose="020B0502020202020204" pitchFamily="34" charset="0"/>
            </a:endParaRPr>
          </a:p>
          <a:p>
            <a:pPr algn="ctr"/>
            <a:endParaRPr lang="es-PE" sz="3200" dirty="0">
              <a:latin typeface="Century Gothic" panose="020B0502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532167A-9BE2-4E8A-A84F-08C215B2F9CD}"/>
              </a:ext>
            </a:extLst>
          </p:cNvPr>
          <p:cNvSpPr/>
          <p:nvPr/>
        </p:nvSpPr>
        <p:spPr>
          <a:xfrm>
            <a:off x="6606509" y="3139404"/>
            <a:ext cx="3873297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s-ES" sz="3200" dirty="0">
                <a:latin typeface="Century Gothic" panose="020B0502020202020204" pitchFamily="34" charset="0"/>
              </a:rPr>
              <a:t>Efecto </a:t>
            </a:r>
          </a:p>
          <a:p>
            <a:pPr lvl="1"/>
            <a:endParaRPr lang="es-ES" sz="3200" dirty="0">
              <a:latin typeface="Century Gothic" panose="020B0502020202020204" pitchFamily="34" charset="0"/>
            </a:endParaRPr>
          </a:p>
          <a:p>
            <a:pPr lvl="1"/>
            <a:r>
              <a:rPr lang="es-ES" sz="3200" dirty="0">
                <a:latin typeface="Century Gothic" panose="020B0502020202020204" pitchFamily="34" charset="0"/>
              </a:rPr>
              <a:t>Desenlace</a:t>
            </a:r>
          </a:p>
          <a:p>
            <a:pPr lvl="1"/>
            <a:endParaRPr lang="es-ES" sz="3200" dirty="0">
              <a:latin typeface="Century Gothic" panose="020B0502020202020204" pitchFamily="34" charset="0"/>
            </a:endParaRPr>
          </a:p>
          <a:p>
            <a:pPr algn="ctr"/>
            <a:endParaRPr lang="es-ES" sz="3200" dirty="0">
              <a:latin typeface="Century Gothic" panose="020B0502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3392F2D-A31B-C5B0-4722-158027DEE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992" y="3203886"/>
            <a:ext cx="1506860" cy="779665"/>
          </a:xfrm>
          <a:prstGeom prst="rect">
            <a:avLst/>
          </a:prstGeom>
        </p:spPr>
      </p:pic>
      <p:pic>
        <p:nvPicPr>
          <p:cNvPr id="1026" name="Picture 2" descr="Qué posibilidades hay de heredar un cáncer de pulmón?">
            <a:extLst>
              <a:ext uri="{FF2B5EF4-FFF2-40B4-BE49-F238E27FC236}">
                <a16:creationId xmlns:a16="http://schemas.microsoft.com/office/drawing/2014/main" id="{653F99D9-95A6-4B5F-52C8-A65B09681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088" y="3232412"/>
            <a:ext cx="1500284" cy="843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adioactive green homer simpson GIF - Find on GIFER">
            <a:extLst>
              <a:ext uri="{FF2B5EF4-FFF2-40B4-BE49-F238E27FC236}">
                <a16:creationId xmlns:a16="http://schemas.microsoft.com/office/drawing/2014/main" id="{19E2B8B4-EC23-8C83-4235-40662D400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98" y="4640496"/>
            <a:ext cx="1488037" cy="100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sicologia y Medicina Reproductiva">
            <a:extLst>
              <a:ext uri="{FF2B5EF4-FFF2-40B4-BE49-F238E27FC236}">
                <a16:creationId xmlns:a16="http://schemas.microsoft.com/office/drawing/2014/main" id="{5E18BBAB-6B56-FB2A-E644-B22349ADC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700972" y="4639025"/>
            <a:ext cx="1515399" cy="101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4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F7B1036-B35B-4D5F-8DBD-73B4504CC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119" y="1318318"/>
            <a:ext cx="7699265" cy="2359159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PE" sz="3200" dirty="0"/>
              <a:t>Existen diversos </a:t>
            </a:r>
            <a:r>
              <a:rPr lang="es-PE" sz="3200" b="1" dirty="0"/>
              <a:t>modelos matemáticos </a:t>
            </a:r>
            <a:r>
              <a:rPr lang="es-PE" sz="3200" dirty="0"/>
              <a:t>(los más usados son las </a:t>
            </a:r>
            <a:r>
              <a:rPr lang="es-PE" sz="3200" b="1" dirty="0"/>
              <a:t>regresiones</a:t>
            </a:r>
            <a:r>
              <a:rPr lang="es-PE" sz="3200" dirty="0"/>
              <a:t>).</a:t>
            </a:r>
          </a:p>
          <a:p>
            <a:pPr algn="just"/>
            <a:endParaRPr lang="es-PE" sz="3200" dirty="0"/>
          </a:p>
          <a:p>
            <a:pPr algn="just"/>
            <a:r>
              <a:rPr lang="es-PE" sz="3200" dirty="0"/>
              <a:t>Elegir un modelo dependerá de:</a:t>
            </a:r>
          </a:p>
          <a:p>
            <a:pPr algn="just"/>
            <a:endParaRPr lang="es-PE" sz="3200" dirty="0"/>
          </a:p>
          <a:p>
            <a:pPr lvl="1" algn="just"/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De la </a:t>
            </a:r>
            <a:r>
              <a:rPr lang="es-PE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naturaleza de la variable dependiente </a:t>
            </a:r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(numérica, dicotómica, tiempo a evento)</a:t>
            </a:r>
          </a:p>
          <a:p>
            <a:pPr lvl="1" algn="just"/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Y el </a:t>
            </a:r>
            <a:r>
              <a:rPr lang="es-PE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cumplimiento de supuestos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E25A71E-CC29-4D44-A4DC-FD615110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¿Cómo calcular asociación entre variables?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4E5C4BB-55E2-4CC2-850B-07956EF4BA62}"/>
              </a:ext>
            </a:extLst>
          </p:cNvPr>
          <p:cNvSpPr/>
          <p:nvPr/>
        </p:nvSpPr>
        <p:spPr>
          <a:xfrm>
            <a:off x="258505" y="4190695"/>
            <a:ext cx="1356851" cy="1150374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Century Gothic" panose="020B0502020202020204" pitchFamily="34" charset="0"/>
              </a:rPr>
              <a:t>X</a:t>
            </a:r>
            <a:endParaRPr lang="es-PE" sz="40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0FC77F7-F762-4054-ABEC-88727C40F35D}"/>
              </a:ext>
            </a:extLst>
          </p:cNvPr>
          <p:cNvSpPr/>
          <p:nvPr/>
        </p:nvSpPr>
        <p:spPr>
          <a:xfrm>
            <a:off x="3973870" y="4190695"/>
            <a:ext cx="1356851" cy="11503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000" dirty="0">
                <a:solidFill>
                  <a:srgbClr val="FF0000"/>
                </a:solidFill>
                <a:latin typeface="Century Gothic" panose="020B0502020202020204" pitchFamily="34" charset="0"/>
              </a:rPr>
              <a:t>Y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EDE71FD8-E6A3-4608-974A-182022F8262B}"/>
              </a:ext>
            </a:extLst>
          </p:cNvPr>
          <p:cNvSpPr/>
          <p:nvPr/>
        </p:nvSpPr>
        <p:spPr>
          <a:xfrm>
            <a:off x="1939821" y="4588902"/>
            <a:ext cx="1696064" cy="427703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E59E92CC-8D5A-495F-8EF7-E9DCAB4C07C3}"/>
              </a:ext>
            </a:extLst>
          </p:cNvPr>
          <p:cNvGraphicFramePr>
            <a:graphicFrameLocks noGrp="1"/>
          </p:cNvGraphicFramePr>
          <p:nvPr/>
        </p:nvGraphicFramePr>
        <p:xfrm>
          <a:off x="5486399" y="3527673"/>
          <a:ext cx="6447095" cy="300140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382431">
                  <a:extLst>
                    <a:ext uri="{9D8B030D-6E8A-4147-A177-3AD203B41FA5}">
                      <a16:colId xmlns:a16="http://schemas.microsoft.com/office/drawing/2014/main" val="2209714391"/>
                    </a:ext>
                  </a:extLst>
                </a:gridCol>
                <a:gridCol w="1366610">
                  <a:extLst>
                    <a:ext uri="{9D8B030D-6E8A-4147-A177-3AD203B41FA5}">
                      <a16:colId xmlns:a16="http://schemas.microsoft.com/office/drawing/2014/main" val="1363067998"/>
                    </a:ext>
                  </a:extLst>
                </a:gridCol>
                <a:gridCol w="2698054">
                  <a:extLst>
                    <a:ext uri="{9D8B030D-6E8A-4147-A177-3AD203B41FA5}">
                      <a16:colId xmlns:a16="http://schemas.microsoft.com/office/drawing/2014/main" val="179080372"/>
                    </a:ext>
                  </a:extLst>
                </a:gridCol>
              </a:tblGrid>
              <a:tr h="593045">
                <a:tc>
                  <a:txBody>
                    <a:bodyPr/>
                    <a:lstStyle/>
                    <a:p>
                      <a:pPr algn="ctr"/>
                      <a:r>
                        <a:rPr lang="es-PE" sz="1800" dirty="0">
                          <a:latin typeface="Century Gothic" panose="020B0502020202020204" pitchFamily="34" charset="0"/>
                        </a:rPr>
                        <a:t>Variable dependiente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800" dirty="0">
                          <a:latin typeface="Century Gothic" panose="020B0502020202020204" pitchFamily="34" charset="0"/>
                        </a:rPr>
                        <a:t>Regresión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800" dirty="0">
                          <a:latin typeface="Century Gothic" panose="020B0502020202020204" pitchFamily="34" charset="0"/>
                        </a:rPr>
                        <a:t>Calcularemos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142549"/>
                  </a:ext>
                </a:extLst>
              </a:tr>
              <a:tr h="363899">
                <a:tc>
                  <a:txBody>
                    <a:bodyPr/>
                    <a:lstStyle/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Numérica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Lineal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Coeficiente (</a:t>
                      </a:r>
                      <a:r>
                        <a:rPr lang="el-GR" sz="1800" dirty="0">
                          <a:latin typeface="Century Gothic" panose="020B0502020202020204" pitchFamily="34" charset="0"/>
                        </a:rPr>
                        <a:t>β</a:t>
                      </a:r>
                      <a:r>
                        <a:rPr lang="es-PE" sz="1800" dirty="0"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8614521"/>
                  </a:ext>
                </a:extLst>
              </a:tr>
              <a:tr h="989721">
                <a:tc>
                  <a:txBody>
                    <a:bodyPr/>
                    <a:lstStyle/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Dicotómica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Logística</a:t>
                      </a:r>
                    </a:p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Poisson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latin typeface="Century Gothic" panose="020B0502020202020204" pitchFamily="34" charset="0"/>
                        </a:rPr>
                        <a:t>Odds</a:t>
                      </a:r>
                      <a:r>
                        <a:rPr lang="es-PE" sz="1800" dirty="0">
                          <a:latin typeface="Century Gothic" panose="020B0502020202020204" pitchFamily="34" charset="0"/>
                        </a:rPr>
                        <a:t> Ratio</a:t>
                      </a:r>
                    </a:p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Riesgo Relativo</a:t>
                      </a:r>
                    </a:p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Razón de prevalencia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545692"/>
                  </a:ext>
                </a:extLst>
              </a:tr>
              <a:tr h="363899">
                <a:tc>
                  <a:txBody>
                    <a:bodyPr/>
                    <a:lstStyle/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Tiempo a evento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Cox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Hazard 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472222"/>
                  </a:ext>
                </a:extLst>
              </a:tr>
              <a:tr h="593045"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Century Gothic" panose="020B0502020202020204" pitchFamily="34" charset="0"/>
                        </a:rPr>
                        <a:t>Tasa</a:t>
                      </a:r>
                      <a:endParaRPr lang="es-PE" sz="18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latin typeface="Century Gothic" panose="020B0502020202020204" pitchFamily="34" charset="0"/>
                        </a:rPr>
                        <a:t>Poisson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Century Gothic" panose="020B0502020202020204" pitchFamily="34" charset="0"/>
                        </a:rPr>
                        <a:t>Razón de tasas de incidencia</a:t>
                      </a:r>
                      <a:endParaRPr lang="es-PE" sz="18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794484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7BA9577C-3CE4-509E-F050-C13F35FD7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3385" y="1079494"/>
            <a:ext cx="3304127" cy="204046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3287CD7-33B9-43D8-B007-8E2D08C40FF9}"/>
              </a:ext>
            </a:extLst>
          </p:cNvPr>
          <p:cNvSpPr/>
          <p:nvPr/>
        </p:nvSpPr>
        <p:spPr>
          <a:xfrm>
            <a:off x="5486399" y="4588902"/>
            <a:ext cx="6447095" cy="9507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1115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CADE595-99B4-4666-9408-DD177CB30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Hablemos sobre regresiones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F0A445E-9472-4149-9321-C3EEFFCCC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251" y="2066441"/>
            <a:ext cx="7901610" cy="41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2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FB98BE9-871A-4B90-A4A2-36A60761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Regresión lineal</a:t>
            </a:r>
          </a:p>
        </p:txBody>
      </p:sp>
      <p:pic>
        <p:nvPicPr>
          <p:cNvPr id="2052" name="Picture 4" descr="Simple Linear Regression - an overview">
            <a:extLst>
              <a:ext uri="{FF2B5EF4-FFF2-40B4-BE49-F238E27FC236}">
                <a16:creationId xmlns:a16="http://schemas.microsoft.com/office/drawing/2014/main" id="{1B11798B-2E59-4288-B402-2FD60C651C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49" y="1701834"/>
            <a:ext cx="5475426" cy="430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imple Linear Regression. Linear Regression aims to model the… | by  Vyshnave Bobburi | Medium">
            <a:extLst>
              <a:ext uri="{FF2B5EF4-FFF2-40B4-BE49-F238E27FC236}">
                <a16:creationId xmlns:a16="http://schemas.microsoft.com/office/drawing/2014/main" id="{50AE6037-7A07-4CC3-BB2F-E30899C36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547" y="2062784"/>
            <a:ext cx="5013036" cy="245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4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3A5BF00-039B-4B99-BC54-8F972C7A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dirty="0"/>
              <a:t>Regresiones con desenlace dicotómico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6D34EF9-B68E-481A-9E45-E80BF6F2F621}"/>
              </a:ext>
            </a:extLst>
          </p:cNvPr>
          <p:cNvCxnSpPr>
            <a:cxnSpLocks/>
          </p:cNvCxnSpPr>
          <p:nvPr/>
        </p:nvCxnSpPr>
        <p:spPr>
          <a:xfrm>
            <a:off x="1487953" y="1465188"/>
            <a:ext cx="0" cy="3877733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D3D2F42-5BFF-4EED-9E9C-87C62CDD1CDB}"/>
              </a:ext>
            </a:extLst>
          </p:cNvPr>
          <p:cNvCxnSpPr>
            <a:cxnSpLocks/>
          </p:cNvCxnSpPr>
          <p:nvPr/>
        </p:nvCxnSpPr>
        <p:spPr>
          <a:xfrm flipH="1">
            <a:off x="1438936" y="5334202"/>
            <a:ext cx="3873205" cy="8719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9C496C0-1231-4262-A827-9BC7B2F480FE}"/>
              </a:ext>
            </a:extLst>
          </p:cNvPr>
          <p:cNvSpPr txBox="1"/>
          <p:nvPr/>
        </p:nvSpPr>
        <p:spPr>
          <a:xfrm>
            <a:off x="3149290" y="6009099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X: Sexo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6541046-CB5A-494B-874B-16C30876AD8B}"/>
              </a:ext>
            </a:extLst>
          </p:cNvPr>
          <p:cNvSpPr txBox="1"/>
          <p:nvPr/>
        </p:nvSpPr>
        <p:spPr>
          <a:xfrm rot="16200000">
            <a:off x="-1786700" y="3224397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Y: Infarto agudo de miocardio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F8C8B8A-F470-4814-9509-6FD99B8DDEB8}"/>
              </a:ext>
            </a:extLst>
          </p:cNvPr>
          <p:cNvSpPr txBox="1"/>
          <p:nvPr/>
        </p:nvSpPr>
        <p:spPr>
          <a:xfrm>
            <a:off x="1823671" y="5478161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Century Gothic" panose="020B0502020202020204" pitchFamily="34" charset="0"/>
              </a:rPr>
              <a:t>Ref. = masculino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AE33CEF-6E0C-4E30-B135-1956EF2E3538}"/>
              </a:ext>
            </a:extLst>
          </p:cNvPr>
          <p:cNvSpPr txBox="1"/>
          <p:nvPr/>
        </p:nvSpPr>
        <p:spPr>
          <a:xfrm>
            <a:off x="3771144" y="5509561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 err="1">
                <a:latin typeface="Century Gothic" panose="020B0502020202020204" pitchFamily="34" charset="0"/>
              </a:rPr>
              <a:t>Exp</a:t>
            </a:r>
            <a:r>
              <a:rPr lang="es-PE" dirty="0">
                <a:latin typeface="Century Gothic" panose="020B0502020202020204" pitchFamily="34" charset="0"/>
              </a:rPr>
              <a:t>. = Femenino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7F34321-9D51-4453-A88B-E89FF3B3FB6F}"/>
              </a:ext>
            </a:extLst>
          </p:cNvPr>
          <p:cNvSpPr/>
          <p:nvPr/>
        </p:nvSpPr>
        <p:spPr>
          <a:xfrm>
            <a:off x="777940" y="2509895"/>
            <a:ext cx="838924" cy="882119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A5925B48-382F-48C8-9D6B-BCC04DDB1A69}"/>
              </a:ext>
            </a:extLst>
          </p:cNvPr>
          <p:cNvSpPr/>
          <p:nvPr/>
        </p:nvSpPr>
        <p:spPr>
          <a:xfrm>
            <a:off x="767285" y="3935230"/>
            <a:ext cx="838924" cy="865821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31F1ECFD-2C16-492A-B81C-39CC7A39C4D0}"/>
              </a:ext>
            </a:extLst>
          </p:cNvPr>
          <p:cNvCxnSpPr>
            <a:cxnSpLocks/>
            <a:endCxn id="77" idx="2"/>
          </p:cNvCxnSpPr>
          <p:nvPr/>
        </p:nvCxnSpPr>
        <p:spPr>
          <a:xfrm>
            <a:off x="1481353" y="4261795"/>
            <a:ext cx="1089910" cy="20412"/>
          </a:xfrm>
          <a:prstGeom prst="line">
            <a:avLst/>
          </a:prstGeom>
          <a:ln w="571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6E32911-FC36-4F69-B911-CB6934A1F100}"/>
              </a:ext>
            </a:extLst>
          </p:cNvPr>
          <p:cNvSpPr txBox="1"/>
          <p:nvPr/>
        </p:nvSpPr>
        <p:spPr>
          <a:xfrm>
            <a:off x="779433" y="2730640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Si</a:t>
            </a:r>
            <a:endParaRPr lang="es-PE" sz="2400" dirty="0">
              <a:latin typeface="Century Gothic" panose="020B0502020202020204" pitchFamily="34" charset="0"/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BFA22C73-B925-4847-BD24-2904BE19129C}"/>
              </a:ext>
            </a:extLst>
          </p:cNvPr>
          <p:cNvCxnSpPr>
            <a:cxnSpLocks/>
          </p:cNvCxnSpPr>
          <p:nvPr/>
        </p:nvCxnSpPr>
        <p:spPr>
          <a:xfrm>
            <a:off x="1458413" y="2995149"/>
            <a:ext cx="1249314" cy="15901"/>
          </a:xfrm>
          <a:prstGeom prst="line">
            <a:avLst/>
          </a:prstGeom>
          <a:ln w="571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605ED303-D279-40EC-90CD-54D77F5238DD}"/>
              </a:ext>
            </a:extLst>
          </p:cNvPr>
          <p:cNvCxnSpPr>
            <a:cxnSpLocks/>
          </p:cNvCxnSpPr>
          <p:nvPr/>
        </p:nvCxnSpPr>
        <p:spPr>
          <a:xfrm>
            <a:off x="7241916" y="1465188"/>
            <a:ext cx="0" cy="3877733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0E5E00E-85E6-4650-B0F5-D7F5CD5981F4}"/>
              </a:ext>
            </a:extLst>
          </p:cNvPr>
          <p:cNvCxnSpPr>
            <a:cxnSpLocks/>
          </p:cNvCxnSpPr>
          <p:nvPr/>
        </p:nvCxnSpPr>
        <p:spPr>
          <a:xfrm flipH="1" flipV="1">
            <a:off x="7192899" y="5342921"/>
            <a:ext cx="4283938" cy="39728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26A4225-225F-4004-B68B-251D9ECFE29A}"/>
              </a:ext>
            </a:extLst>
          </p:cNvPr>
          <p:cNvSpPr txBox="1"/>
          <p:nvPr/>
        </p:nvSpPr>
        <p:spPr>
          <a:xfrm>
            <a:off x="8997623" y="5977358"/>
            <a:ext cx="1340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X: Edad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6F842DA-921C-4FFC-8DF5-591DF6CCB413}"/>
              </a:ext>
            </a:extLst>
          </p:cNvPr>
          <p:cNvSpPr txBox="1"/>
          <p:nvPr/>
        </p:nvSpPr>
        <p:spPr>
          <a:xfrm rot="16200000">
            <a:off x="3967264" y="3224397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Y: Infarto agudo de miocardio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5DB65D2E-294E-4B11-8988-0DFD53076A9F}"/>
              </a:ext>
            </a:extLst>
          </p:cNvPr>
          <p:cNvSpPr/>
          <p:nvPr/>
        </p:nvSpPr>
        <p:spPr>
          <a:xfrm>
            <a:off x="7960840" y="4323226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0829C0F-FA35-4A86-AA3E-4BF745F5DE78}"/>
              </a:ext>
            </a:extLst>
          </p:cNvPr>
          <p:cNvSpPr/>
          <p:nvPr/>
        </p:nvSpPr>
        <p:spPr>
          <a:xfrm>
            <a:off x="8445598" y="4316372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0DD8DE1D-2459-4CA9-88F8-33FE0B7FE850}"/>
              </a:ext>
            </a:extLst>
          </p:cNvPr>
          <p:cNvSpPr/>
          <p:nvPr/>
        </p:nvSpPr>
        <p:spPr>
          <a:xfrm>
            <a:off x="8200950" y="4322297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A4C56C62-0A26-42A6-8F6F-984F1C3F0001}"/>
              </a:ext>
            </a:extLst>
          </p:cNvPr>
          <p:cNvSpPr/>
          <p:nvPr/>
        </p:nvSpPr>
        <p:spPr>
          <a:xfrm>
            <a:off x="6531903" y="2509895"/>
            <a:ext cx="838924" cy="882119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CA05F31F-B33B-4450-9AA4-ED1968DFA354}"/>
              </a:ext>
            </a:extLst>
          </p:cNvPr>
          <p:cNvSpPr/>
          <p:nvPr/>
        </p:nvSpPr>
        <p:spPr>
          <a:xfrm>
            <a:off x="6521248" y="3935230"/>
            <a:ext cx="838924" cy="865821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27B92D8-7F12-440C-9961-493AF8690636}"/>
              </a:ext>
            </a:extLst>
          </p:cNvPr>
          <p:cNvSpPr txBox="1"/>
          <p:nvPr/>
        </p:nvSpPr>
        <p:spPr>
          <a:xfrm>
            <a:off x="6465553" y="4125557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No</a:t>
            </a:r>
            <a:endParaRPr lang="es-PE" sz="2400" dirty="0">
              <a:latin typeface="Century Gothic" panose="020B0502020202020204" pitchFamily="34" charset="0"/>
            </a:endParaRP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DA3C8A95-4993-4CFD-A4E3-D132E4096B9D}"/>
              </a:ext>
            </a:extLst>
          </p:cNvPr>
          <p:cNvCxnSpPr>
            <a:cxnSpLocks/>
          </p:cNvCxnSpPr>
          <p:nvPr/>
        </p:nvCxnSpPr>
        <p:spPr>
          <a:xfrm>
            <a:off x="7254136" y="2958507"/>
            <a:ext cx="2261493" cy="11750"/>
          </a:xfrm>
          <a:prstGeom prst="line">
            <a:avLst/>
          </a:prstGeom>
          <a:ln w="571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60571FE0-FEBE-4C1D-85EE-240B51CFDE84}"/>
              </a:ext>
            </a:extLst>
          </p:cNvPr>
          <p:cNvSpPr txBox="1"/>
          <p:nvPr/>
        </p:nvSpPr>
        <p:spPr>
          <a:xfrm>
            <a:off x="6484373" y="2730640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Si</a:t>
            </a:r>
            <a:endParaRPr lang="es-PE" sz="2400" dirty="0">
              <a:latin typeface="Century Gothic" panose="020B0502020202020204" pitchFamily="34" charset="0"/>
            </a:endParaRPr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1D0A5570-2536-40A4-BFBC-F4745F26F4F8}"/>
              </a:ext>
            </a:extLst>
          </p:cNvPr>
          <p:cNvCxnSpPr>
            <a:cxnSpLocks/>
          </p:cNvCxnSpPr>
          <p:nvPr/>
        </p:nvCxnSpPr>
        <p:spPr>
          <a:xfrm>
            <a:off x="7264772" y="4359937"/>
            <a:ext cx="598150" cy="27224"/>
          </a:xfrm>
          <a:prstGeom prst="line">
            <a:avLst/>
          </a:prstGeom>
          <a:ln w="571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3C0009F7-FAB3-4DA8-85BA-BDF6C45F8CBC}"/>
              </a:ext>
            </a:extLst>
          </p:cNvPr>
          <p:cNvSpPr/>
          <p:nvPr/>
        </p:nvSpPr>
        <p:spPr>
          <a:xfrm>
            <a:off x="2589738" y="2861394"/>
            <a:ext cx="288342" cy="2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>
              <a:latin typeface="Century Gothic" panose="020B0502020202020204" pitchFamily="34" charset="0"/>
            </a:endParaRP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B5183F1E-9966-4640-A3A3-5221C7C12447}"/>
              </a:ext>
            </a:extLst>
          </p:cNvPr>
          <p:cNvSpPr/>
          <p:nvPr/>
        </p:nvSpPr>
        <p:spPr>
          <a:xfrm>
            <a:off x="2571263" y="4134403"/>
            <a:ext cx="288342" cy="2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>
              <a:latin typeface="Century Gothic" panose="020B050202020202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C66DF89-77F9-4CB7-86D7-17B359F8E084}"/>
              </a:ext>
            </a:extLst>
          </p:cNvPr>
          <p:cNvSpPr/>
          <p:nvPr/>
        </p:nvSpPr>
        <p:spPr>
          <a:xfrm>
            <a:off x="4421731" y="4201069"/>
            <a:ext cx="288342" cy="2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>
              <a:latin typeface="Century Gothic" panose="020B0502020202020204" pitchFamily="34" charset="0"/>
            </a:endParaRP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BB226600-67AF-4599-81E1-2448A6B48776}"/>
              </a:ext>
            </a:extLst>
          </p:cNvPr>
          <p:cNvSpPr/>
          <p:nvPr/>
        </p:nvSpPr>
        <p:spPr>
          <a:xfrm>
            <a:off x="4419632" y="2855295"/>
            <a:ext cx="288342" cy="2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>
              <a:latin typeface="Century Gothic" panose="020B0502020202020204" pitchFamily="34" charset="0"/>
            </a:endParaRPr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26DDF035-36DE-48E8-BEA0-2B5F9D440930}"/>
              </a:ext>
            </a:extLst>
          </p:cNvPr>
          <p:cNvSpPr/>
          <p:nvPr/>
        </p:nvSpPr>
        <p:spPr>
          <a:xfrm>
            <a:off x="8689654" y="4317301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D21CDE05-8EF4-457E-AAD9-C2112FE666F7}"/>
              </a:ext>
            </a:extLst>
          </p:cNvPr>
          <p:cNvSpPr/>
          <p:nvPr/>
        </p:nvSpPr>
        <p:spPr>
          <a:xfrm>
            <a:off x="9174412" y="4310447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837C81C-01E6-4EFF-92A5-1075D83A46A1}"/>
              </a:ext>
            </a:extLst>
          </p:cNvPr>
          <p:cNvSpPr/>
          <p:nvPr/>
        </p:nvSpPr>
        <p:spPr>
          <a:xfrm>
            <a:off x="8929764" y="4316372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8BA7724-F640-4331-96C5-47DD8011C243}"/>
              </a:ext>
            </a:extLst>
          </p:cNvPr>
          <p:cNvSpPr/>
          <p:nvPr/>
        </p:nvSpPr>
        <p:spPr>
          <a:xfrm>
            <a:off x="10579968" y="2899829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87" name="Elipse 86">
            <a:extLst>
              <a:ext uri="{FF2B5EF4-FFF2-40B4-BE49-F238E27FC236}">
                <a16:creationId xmlns:a16="http://schemas.microsoft.com/office/drawing/2014/main" id="{5E0B7C0A-5BE8-42AD-A1E0-7F3C7E471777}"/>
              </a:ext>
            </a:extLst>
          </p:cNvPr>
          <p:cNvSpPr/>
          <p:nvPr/>
        </p:nvSpPr>
        <p:spPr>
          <a:xfrm>
            <a:off x="11064726" y="2892975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F7899EB9-E95E-4184-AE8C-B1885F60AEF4}"/>
              </a:ext>
            </a:extLst>
          </p:cNvPr>
          <p:cNvSpPr/>
          <p:nvPr/>
        </p:nvSpPr>
        <p:spPr>
          <a:xfrm>
            <a:off x="10820078" y="2898900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AEC2312D-C95C-4246-8F16-0B7F3F3FCB1A}"/>
              </a:ext>
            </a:extLst>
          </p:cNvPr>
          <p:cNvSpPr/>
          <p:nvPr/>
        </p:nvSpPr>
        <p:spPr>
          <a:xfrm>
            <a:off x="9411045" y="4307864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6F12AA0D-CC86-4625-8F96-E83FF7E54B7C}"/>
              </a:ext>
            </a:extLst>
          </p:cNvPr>
          <p:cNvSpPr/>
          <p:nvPr/>
        </p:nvSpPr>
        <p:spPr>
          <a:xfrm>
            <a:off x="9651155" y="4306935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9CCCA6A5-91CE-48C8-AC7E-6D7DAD26A7E8}"/>
              </a:ext>
            </a:extLst>
          </p:cNvPr>
          <p:cNvSpPr/>
          <p:nvPr/>
        </p:nvSpPr>
        <p:spPr>
          <a:xfrm>
            <a:off x="10336383" y="2913677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E599136B-830F-4EB9-A0AC-9622337ED8D3}"/>
              </a:ext>
            </a:extLst>
          </p:cNvPr>
          <p:cNvSpPr/>
          <p:nvPr/>
        </p:nvSpPr>
        <p:spPr>
          <a:xfrm>
            <a:off x="10091735" y="2919602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285C7E4A-2451-45BA-90E4-B3EE3DDEACC5}"/>
              </a:ext>
            </a:extLst>
          </p:cNvPr>
          <p:cNvCxnSpPr>
            <a:cxnSpLocks/>
          </p:cNvCxnSpPr>
          <p:nvPr/>
        </p:nvCxnSpPr>
        <p:spPr>
          <a:xfrm>
            <a:off x="2953654" y="3004422"/>
            <a:ext cx="1473953" cy="6628"/>
          </a:xfrm>
          <a:prstGeom prst="line">
            <a:avLst/>
          </a:prstGeom>
          <a:ln w="571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16A6CD56-C1CD-4C08-9D4C-5AE7D1F56B93}"/>
              </a:ext>
            </a:extLst>
          </p:cNvPr>
          <p:cNvSpPr txBox="1"/>
          <p:nvPr/>
        </p:nvSpPr>
        <p:spPr>
          <a:xfrm>
            <a:off x="7488245" y="5425158"/>
            <a:ext cx="3988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20  25  30  35  40  45  50  55  60  65  70  75  80  85  90 </a:t>
            </a:r>
          </a:p>
        </p:txBody>
      </p:sp>
      <p:sp>
        <p:nvSpPr>
          <p:cNvPr id="112" name="Elipse 111">
            <a:extLst>
              <a:ext uri="{FF2B5EF4-FFF2-40B4-BE49-F238E27FC236}">
                <a16:creationId xmlns:a16="http://schemas.microsoft.com/office/drawing/2014/main" id="{8BB52C00-C20B-44A3-9B3F-DB768D3E6B92}"/>
              </a:ext>
            </a:extLst>
          </p:cNvPr>
          <p:cNvSpPr/>
          <p:nvPr/>
        </p:nvSpPr>
        <p:spPr>
          <a:xfrm>
            <a:off x="9618171" y="2907752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13" name="Elipse 112">
            <a:extLst>
              <a:ext uri="{FF2B5EF4-FFF2-40B4-BE49-F238E27FC236}">
                <a16:creationId xmlns:a16="http://schemas.microsoft.com/office/drawing/2014/main" id="{D86852BD-949A-4D7B-B8C9-0538767E1DC6}"/>
              </a:ext>
            </a:extLst>
          </p:cNvPr>
          <p:cNvSpPr/>
          <p:nvPr/>
        </p:nvSpPr>
        <p:spPr>
          <a:xfrm>
            <a:off x="9373523" y="2913677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256CE251-BB29-4457-9509-A9235FF6B05F}"/>
              </a:ext>
            </a:extLst>
          </p:cNvPr>
          <p:cNvSpPr/>
          <p:nvPr/>
        </p:nvSpPr>
        <p:spPr>
          <a:xfrm>
            <a:off x="9862227" y="2908681"/>
            <a:ext cx="138160" cy="1256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42EF6013-EAFD-4A18-9273-3DEA63AFBD97}"/>
              </a:ext>
            </a:extLst>
          </p:cNvPr>
          <p:cNvCxnSpPr>
            <a:cxnSpLocks/>
          </p:cNvCxnSpPr>
          <p:nvPr/>
        </p:nvCxnSpPr>
        <p:spPr>
          <a:xfrm>
            <a:off x="2933109" y="4285223"/>
            <a:ext cx="1517039" cy="12489"/>
          </a:xfrm>
          <a:prstGeom prst="line">
            <a:avLst/>
          </a:prstGeom>
          <a:ln w="571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AAD568DC-1D22-4F05-B73E-969EEA0AAA8A}"/>
              </a:ext>
            </a:extLst>
          </p:cNvPr>
          <p:cNvSpPr txBox="1"/>
          <p:nvPr/>
        </p:nvSpPr>
        <p:spPr>
          <a:xfrm rot="16200000">
            <a:off x="-1786700" y="3224398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Y: Infarto agudo de miocardio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AC4C645B-8DCB-4A8C-A160-9CC06DF1E984}"/>
              </a:ext>
            </a:extLst>
          </p:cNvPr>
          <p:cNvSpPr txBox="1"/>
          <p:nvPr/>
        </p:nvSpPr>
        <p:spPr>
          <a:xfrm>
            <a:off x="741355" y="4080727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No</a:t>
            </a:r>
            <a:endParaRPr lang="es-PE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6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27" grpId="0" animBg="1"/>
      <p:bldP spid="29" grpId="0" animBg="1"/>
      <p:bldP spid="32" grpId="0"/>
      <p:bldP spid="38" grpId="0"/>
      <p:bldP spid="39" grpId="0"/>
      <p:bldP spid="44" grpId="0" animBg="1"/>
      <p:bldP spid="48" grpId="0" animBg="1"/>
      <p:bldP spid="49" grpId="0" animBg="1"/>
      <p:bldP spid="58" grpId="0" animBg="1"/>
      <p:bldP spid="60" grpId="0" animBg="1"/>
      <p:bldP spid="61" grpId="0"/>
      <p:bldP spid="63" grpId="0"/>
      <p:bldP spid="18" grpId="0" animBg="1"/>
      <p:bldP spid="77" grpId="0" animBg="1"/>
      <p:bldP spid="17" grpId="0" animBg="1"/>
      <p:bldP spid="76" grpId="0" animBg="1"/>
      <p:bldP spid="81" grpId="0" animBg="1"/>
      <p:bldP spid="82" grpId="0" animBg="1"/>
      <p:bldP spid="83" grpId="0" animBg="1"/>
      <p:bldP spid="86" grpId="0" animBg="1"/>
      <p:bldP spid="87" grpId="0" animBg="1"/>
      <p:bldP spid="88" grpId="0" animBg="1"/>
      <p:bldP spid="92" grpId="0" animBg="1"/>
      <p:bldP spid="94" grpId="0" animBg="1"/>
      <p:bldP spid="102" grpId="0" animBg="1"/>
      <p:bldP spid="103" grpId="0" animBg="1"/>
      <p:bldP spid="108" grpId="0"/>
      <p:bldP spid="112" grpId="0" animBg="1"/>
      <p:bldP spid="113" grpId="0" animBg="1"/>
      <p:bldP spid="114" grpId="0" animBg="1"/>
      <p:bldP spid="118" grpId="0"/>
      <p:bldP spid="1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AA9E0BD-9FA5-4306-9AEB-066D18552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8398"/>
          <a:stretch/>
        </p:blipFill>
        <p:spPr>
          <a:xfrm>
            <a:off x="682277" y="1706581"/>
            <a:ext cx="6104286" cy="4779119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F10BAD9-F542-423E-87D1-B31270FA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¿Qué pasaría si usaríamos regresión lineal?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130BD5-F150-451C-AF48-4BBDBB8DF13C}"/>
              </a:ext>
            </a:extLst>
          </p:cNvPr>
          <p:cNvSpPr txBox="1"/>
          <p:nvPr/>
        </p:nvSpPr>
        <p:spPr>
          <a:xfrm>
            <a:off x="7104460" y="1816507"/>
            <a:ext cx="3395900" cy="1938992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La regresión lineal </a:t>
            </a:r>
            <a:r>
              <a:rPr lang="es-MX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permite predecir valores entre 0 y 1, pero también permite predecir valores negativos y valores mayores a 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F4541E7-169F-4E42-B2C4-85DB1DA948FE}"/>
              </a:ext>
            </a:extLst>
          </p:cNvPr>
          <p:cNvSpPr txBox="1"/>
          <p:nvPr/>
        </p:nvSpPr>
        <p:spPr>
          <a:xfrm>
            <a:off x="7104460" y="4474080"/>
            <a:ext cx="3395900" cy="1323439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¿Tiene sentido una probabilidad de más de 1 o incluso una probabilidad negativa?</a:t>
            </a:r>
            <a:endParaRPr lang="es-PE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30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87725D7-197E-4C29-96C8-1D32A3E8DFFF}"/>
              </a:ext>
            </a:extLst>
          </p:cNvPr>
          <p:cNvCxnSpPr>
            <a:cxnSpLocks/>
          </p:cNvCxnSpPr>
          <p:nvPr/>
        </p:nvCxnSpPr>
        <p:spPr>
          <a:xfrm>
            <a:off x="2870876" y="1537936"/>
            <a:ext cx="0" cy="3877733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0244B72-C617-4F38-8B8C-A4963402CBAB}"/>
              </a:ext>
            </a:extLst>
          </p:cNvPr>
          <p:cNvCxnSpPr>
            <a:cxnSpLocks/>
          </p:cNvCxnSpPr>
          <p:nvPr/>
        </p:nvCxnSpPr>
        <p:spPr>
          <a:xfrm flipH="1" flipV="1">
            <a:off x="2821859" y="5415669"/>
            <a:ext cx="4181138" cy="39728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93E3F43-D95F-4B1F-A840-DB35CED67429}"/>
              </a:ext>
            </a:extLst>
          </p:cNvPr>
          <p:cNvSpPr txBox="1"/>
          <p:nvPr/>
        </p:nvSpPr>
        <p:spPr>
          <a:xfrm>
            <a:off x="4426791" y="5735435"/>
            <a:ext cx="1340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X: Edad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08109B-FF07-46E1-9F79-03BEFDC06E39}"/>
              </a:ext>
            </a:extLst>
          </p:cNvPr>
          <p:cNvSpPr txBox="1"/>
          <p:nvPr/>
        </p:nvSpPr>
        <p:spPr>
          <a:xfrm rot="16200000">
            <a:off x="-403776" y="3297145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Y: Infarto agudo de miocardio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68FBFA0-7403-476A-BA78-D187477D605C}"/>
              </a:ext>
            </a:extLst>
          </p:cNvPr>
          <p:cNvSpPr/>
          <p:nvPr/>
        </p:nvSpPr>
        <p:spPr>
          <a:xfrm>
            <a:off x="4949758" y="3003138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6A6C9FC-C2C0-4126-8D59-382438A4FAB2}"/>
              </a:ext>
            </a:extLst>
          </p:cNvPr>
          <p:cNvSpPr/>
          <p:nvPr/>
        </p:nvSpPr>
        <p:spPr>
          <a:xfrm>
            <a:off x="5434516" y="2996284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8ADB907-BDDB-4D14-B052-0D2E9FE26630}"/>
              </a:ext>
            </a:extLst>
          </p:cNvPr>
          <p:cNvSpPr/>
          <p:nvPr/>
        </p:nvSpPr>
        <p:spPr>
          <a:xfrm>
            <a:off x="5189868" y="3002209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46AA5B9-B6F7-416D-AD5E-11D5F7D3CEDA}"/>
              </a:ext>
            </a:extLst>
          </p:cNvPr>
          <p:cNvSpPr/>
          <p:nvPr/>
        </p:nvSpPr>
        <p:spPr>
          <a:xfrm>
            <a:off x="2160863" y="2582643"/>
            <a:ext cx="838924" cy="882119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869C98B-FAD3-4D8C-96A5-B460CFE0E068}"/>
              </a:ext>
            </a:extLst>
          </p:cNvPr>
          <p:cNvSpPr/>
          <p:nvPr/>
        </p:nvSpPr>
        <p:spPr>
          <a:xfrm>
            <a:off x="2150208" y="4007978"/>
            <a:ext cx="838924" cy="865821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C24E21-0105-4B67-B513-5B197962EEC5}"/>
              </a:ext>
            </a:extLst>
          </p:cNvPr>
          <p:cNvSpPr txBox="1"/>
          <p:nvPr/>
        </p:nvSpPr>
        <p:spPr>
          <a:xfrm>
            <a:off x="2094513" y="4198305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No</a:t>
            </a:r>
            <a:endParaRPr lang="es-PE" sz="2400" dirty="0">
              <a:latin typeface="Century Gothic" panose="020B0502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7C2A32C-7398-4A2E-8CF1-2C888CC9478B}"/>
              </a:ext>
            </a:extLst>
          </p:cNvPr>
          <p:cNvSpPr txBox="1"/>
          <p:nvPr/>
        </p:nvSpPr>
        <p:spPr>
          <a:xfrm>
            <a:off x="2113333" y="2803388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Sí</a:t>
            </a:r>
            <a:endParaRPr lang="es-PE" sz="2400" dirty="0">
              <a:latin typeface="Century Gothic" panose="020B050202020202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401967B-1EB6-45AE-8DA1-EDB723B7BC61}"/>
              </a:ext>
            </a:extLst>
          </p:cNvPr>
          <p:cNvSpPr/>
          <p:nvPr/>
        </p:nvSpPr>
        <p:spPr>
          <a:xfrm>
            <a:off x="5678572" y="2997213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7F4629C-7436-46A3-ACF8-34B7DC42ACEE}"/>
              </a:ext>
            </a:extLst>
          </p:cNvPr>
          <p:cNvSpPr/>
          <p:nvPr/>
        </p:nvSpPr>
        <p:spPr>
          <a:xfrm>
            <a:off x="6163330" y="2990359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CF196E5-59E5-4BFF-90CA-DAC810802E24}"/>
              </a:ext>
            </a:extLst>
          </p:cNvPr>
          <p:cNvSpPr/>
          <p:nvPr/>
        </p:nvSpPr>
        <p:spPr>
          <a:xfrm>
            <a:off x="5918682" y="2996284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33F7936-987D-4FAD-A029-ABE02A81AC1E}"/>
              </a:ext>
            </a:extLst>
          </p:cNvPr>
          <p:cNvSpPr/>
          <p:nvPr/>
        </p:nvSpPr>
        <p:spPr>
          <a:xfrm>
            <a:off x="4111439" y="4383330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D80AE29-AA6C-4FBB-BDD5-6C3659B27EE1}"/>
              </a:ext>
            </a:extLst>
          </p:cNvPr>
          <p:cNvSpPr/>
          <p:nvPr/>
        </p:nvSpPr>
        <p:spPr>
          <a:xfrm>
            <a:off x="4596197" y="4376476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73EDE62-08EE-49DA-8B73-4D10315FA6B7}"/>
              </a:ext>
            </a:extLst>
          </p:cNvPr>
          <p:cNvSpPr/>
          <p:nvPr/>
        </p:nvSpPr>
        <p:spPr>
          <a:xfrm>
            <a:off x="4351549" y="4382401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A51663C-FFC6-41BE-AD84-7695BD3ECBA2}"/>
              </a:ext>
            </a:extLst>
          </p:cNvPr>
          <p:cNvSpPr/>
          <p:nvPr/>
        </p:nvSpPr>
        <p:spPr>
          <a:xfrm>
            <a:off x="3867854" y="4382890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19D850F-D308-492D-B9A8-370573618758}"/>
              </a:ext>
            </a:extLst>
          </p:cNvPr>
          <p:cNvSpPr/>
          <p:nvPr/>
        </p:nvSpPr>
        <p:spPr>
          <a:xfrm>
            <a:off x="3623206" y="4388815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A00E2F2-331F-438D-A464-AE42E6615CDF}"/>
              </a:ext>
            </a:extLst>
          </p:cNvPr>
          <p:cNvSpPr txBox="1"/>
          <p:nvPr/>
        </p:nvSpPr>
        <p:spPr>
          <a:xfrm>
            <a:off x="3111070" y="5458436"/>
            <a:ext cx="3988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20  25  30  35  40  45  50  55  60  65  70  75  80  85  90 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7E0F2B7-D9B1-4F3A-BB2D-9702DC9F0AC5}"/>
              </a:ext>
            </a:extLst>
          </p:cNvPr>
          <p:cNvSpPr/>
          <p:nvPr/>
        </p:nvSpPr>
        <p:spPr>
          <a:xfrm>
            <a:off x="3393698" y="4392182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9EB090E-E763-44E0-9BDB-5B5A25018B3B}"/>
              </a:ext>
            </a:extLst>
          </p:cNvPr>
          <p:cNvSpPr txBox="1"/>
          <p:nvPr/>
        </p:nvSpPr>
        <p:spPr>
          <a:xfrm>
            <a:off x="7822688" y="2803388"/>
            <a:ext cx="2796776" cy="1938992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Observamos el valor de Y (No vs Sí) para cada observación del eje X.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F7D6CB75-E209-4C42-99D7-D75AF38A36B1}"/>
              </a:ext>
            </a:extLst>
          </p:cNvPr>
          <p:cNvSpPr/>
          <p:nvPr/>
        </p:nvSpPr>
        <p:spPr>
          <a:xfrm>
            <a:off x="4603062" y="3008757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964571CA-7EA8-4015-825A-7E23D5AD8D3C}"/>
              </a:ext>
            </a:extLst>
          </p:cNvPr>
          <p:cNvSpPr/>
          <p:nvPr/>
        </p:nvSpPr>
        <p:spPr>
          <a:xfrm>
            <a:off x="4914273" y="4366322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09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30" grpId="0" animBg="1"/>
      <p:bldP spid="45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bre: forma 62">
            <a:extLst>
              <a:ext uri="{FF2B5EF4-FFF2-40B4-BE49-F238E27FC236}">
                <a16:creationId xmlns:a16="http://schemas.microsoft.com/office/drawing/2014/main" id="{988CCBBA-A09C-408B-9CB2-08669AA0AE0C}"/>
              </a:ext>
            </a:extLst>
          </p:cNvPr>
          <p:cNvSpPr/>
          <p:nvPr/>
        </p:nvSpPr>
        <p:spPr>
          <a:xfrm>
            <a:off x="3505662" y="3008756"/>
            <a:ext cx="2795828" cy="1477859"/>
          </a:xfrm>
          <a:custGeom>
            <a:avLst/>
            <a:gdLst>
              <a:gd name="connsiteX0" fmla="*/ 0 w 2714625"/>
              <a:gd name="connsiteY0" fmla="*/ 1960898 h 1992983"/>
              <a:gd name="connsiteX1" fmla="*/ 1071562 w 2714625"/>
              <a:gd name="connsiteY1" fmla="*/ 1760873 h 1992983"/>
              <a:gd name="connsiteX2" fmla="*/ 1571625 w 2714625"/>
              <a:gd name="connsiteY2" fmla="*/ 232110 h 1992983"/>
              <a:gd name="connsiteX3" fmla="*/ 2714625 w 2714625"/>
              <a:gd name="connsiteY3" fmla="*/ 32085 h 199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25" h="1992983">
                <a:moveTo>
                  <a:pt x="0" y="1960898"/>
                </a:moveTo>
                <a:cubicBezTo>
                  <a:pt x="404812" y="2004951"/>
                  <a:pt x="809625" y="2049004"/>
                  <a:pt x="1071562" y="1760873"/>
                </a:cubicBezTo>
                <a:cubicBezTo>
                  <a:pt x="1333499" y="1472742"/>
                  <a:pt x="1297781" y="520241"/>
                  <a:pt x="1571625" y="232110"/>
                </a:cubicBezTo>
                <a:cubicBezTo>
                  <a:pt x="1845469" y="-56021"/>
                  <a:pt x="2280047" y="-11968"/>
                  <a:pt x="2714625" y="32085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87725D7-197E-4C29-96C8-1D32A3E8DFFF}"/>
              </a:ext>
            </a:extLst>
          </p:cNvPr>
          <p:cNvCxnSpPr>
            <a:cxnSpLocks/>
          </p:cNvCxnSpPr>
          <p:nvPr/>
        </p:nvCxnSpPr>
        <p:spPr>
          <a:xfrm>
            <a:off x="2870876" y="1537936"/>
            <a:ext cx="0" cy="3877733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0244B72-C617-4F38-8B8C-A4963402CBAB}"/>
              </a:ext>
            </a:extLst>
          </p:cNvPr>
          <p:cNvCxnSpPr>
            <a:cxnSpLocks/>
          </p:cNvCxnSpPr>
          <p:nvPr/>
        </p:nvCxnSpPr>
        <p:spPr>
          <a:xfrm flipH="1" flipV="1">
            <a:off x="2821859" y="5415669"/>
            <a:ext cx="4181138" cy="39728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93E3F43-D95F-4B1F-A840-DB35CED67429}"/>
              </a:ext>
            </a:extLst>
          </p:cNvPr>
          <p:cNvSpPr txBox="1"/>
          <p:nvPr/>
        </p:nvSpPr>
        <p:spPr>
          <a:xfrm>
            <a:off x="4426791" y="5735435"/>
            <a:ext cx="1340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X: Edad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08109B-FF07-46E1-9F79-03BEFDC06E39}"/>
              </a:ext>
            </a:extLst>
          </p:cNvPr>
          <p:cNvSpPr txBox="1"/>
          <p:nvPr/>
        </p:nvSpPr>
        <p:spPr>
          <a:xfrm rot="16200000">
            <a:off x="-403776" y="3297145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Y: Infarto agudo de miocardio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68FBFA0-7403-476A-BA78-D187477D605C}"/>
              </a:ext>
            </a:extLst>
          </p:cNvPr>
          <p:cNvSpPr/>
          <p:nvPr/>
        </p:nvSpPr>
        <p:spPr>
          <a:xfrm>
            <a:off x="4949758" y="3003138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6A6C9FC-C2C0-4126-8D59-382438A4FAB2}"/>
              </a:ext>
            </a:extLst>
          </p:cNvPr>
          <p:cNvSpPr/>
          <p:nvPr/>
        </p:nvSpPr>
        <p:spPr>
          <a:xfrm>
            <a:off x="5434516" y="2996284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8ADB907-BDDB-4D14-B052-0D2E9FE26630}"/>
              </a:ext>
            </a:extLst>
          </p:cNvPr>
          <p:cNvSpPr/>
          <p:nvPr/>
        </p:nvSpPr>
        <p:spPr>
          <a:xfrm>
            <a:off x="5189868" y="3002209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46AA5B9-B6F7-416D-AD5E-11D5F7D3CEDA}"/>
              </a:ext>
            </a:extLst>
          </p:cNvPr>
          <p:cNvSpPr/>
          <p:nvPr/>
        </p:nvSpPr>
        <p:spPr>
          <a:xfrm>
            <a:off x="2160863" y="2582643"/>
            <a:ext cx="838924" cy="882119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869C98B-FAD3-4D8C-96A5-B460CFE0E068}"/>
              </a:ext>
            </a:extLst>
          </p:cNvPr>
          <p:cNvSpPr/>
          <p:nvPr/>
        </p:nvSpPr>
        <p:spPr>
          <a:xfrm>
            <a:off x="2150208" y="4007978"/>
            <a:ext cx="838924" cy="865821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C24E21-0105-4B67-B513-5B197962EEC5}"/>
              </a:ext>
            </a:extLst>
          </p:cNvPr>
          <p:cNvSpPr txBox="1"/>
          <p:nvPr/>
        </p:nvSpPr>
        <p:spPr>
          <a:xfrm>
            <a:off x="2094513" y="4198305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No</a:t>
            </a:r>
            <a:endParaRPr lang="es-PE" sz="2400" dirty="0">
              <a:latin typeface="Century Gothic" panose="020B0502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7C2A32C-7398-4A2E-8CF1-2C888CC9478B}"/>
              </a:ext>
            </a:extLst>
          </p:cNvPr>
          <p:cNvSpPr txBox="1"/>
          <p:nvPr/>
        </p:nvSpPr>
        <p:spPr>
          <a:xfrm>
            <a:off x="2113333" y="2803388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Sí</a:t>
            </a:r>
            <a:endParaRPr lang="es-PE" sz="2400" dirty="0">
              <a:latin typeface="Century Gothic" panose="020B050202020202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401967B-1EB6-45AE-8DA1-EDB723B7BC61}"/>
              </a:ext>
            </a:extLst>
          </p:cNvPr>
          <p:cNvSpPr/>
          <p:nvPr/>
        </p:nvSpPr>
        <p:spPr>
          <a:xfrm>
            <a:off x="5678572" y="2997213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7F4629C-7436-46A3-ACF8-34B7DC42ACEE}"/>
              </a:ext>
            </a:extLst>
          </p:cNvPr>
          <p:cNvSpPr/>
          <p:nvPr/>
        </p:nvSpPr>
        <p:spPr>
          <a:xfrm>
            <a:off x="6163330" y="2990359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CF196E5-59E5-4BFF-90CA-DAC810802E24}"/>
              </a:ext>
            </a:extLst>
          </p:cNvPr>
          <p:cNvSpPr/>
          <p:nvPr/>
        </p:nvSpPr>
        <p:spPr>
          <a:xfrm>
            <a:off x="5918682" y="2996284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33F7936-987D-4FAD-A029-ABE02A81AC1E}"/>
              </a:ext>
            </a:extLst>
          </p:cNvPr>
          <p:cNvSpPr/>
          <p:nvPr/>
        </p:nvSpPr>
        <p:spPr>
          <a:xfrm>
            <a:off x="4111439" y="4383330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D80AE29-AA6C-4FBB-BDD5-6C3659B27EE1}"/>
              </a:ext>
            </a:extLst>
          </p:cNvPr>
          <p:cNvSpPr/>
          <p:nvPr/>
        </p:nvSpPr>
        <p:spPr>
          <a:xfrm>
            <a:off x="4596197" y="4376476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73EDE62-08EE-49DA-8B73-4D10315FA6B7}"/>
              </a:ext>
            </a:extLst>
          </p:cNvPr>
          <p:cNvSpPr/>
          <p:nvPr/>
        </p:nvSpPr>
        <p:spPr>
          <a:xfrm>
            <a:off x="4351549" y="4382401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A51663C-FFC6-41BE-AD84-7695BD3ECBA2}"/>
              </a:ext>
            </a:extLst>
          </p:cNvPr>
          <p:cNvSpPr/>
          <p:nvPr/>
        </p:nvSpPr>
        <p:spPr>
          <a:xfrm>
            <a:off x="3867854" y="4382890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19D850F-D308-492D-B9A8-370573618758}"/>
              </a:ext>
            </a:extLst>
          </p:cNvPr>
          <p:cNvSpPr/>
          <p:nvPr/>
        </p:nvSpPr>
        <p:spPr>
          <a:xfrm>
            <a:off x="3623206" y="4388815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A00E2F2-331F-438D-A464-AE42E6615CDF}"/>
              </a:ext>
            </a:extLst>
          </p:cNvPr>
          <p:cNvSpPr txBox="1"/>
          <p:nvPr/>
        </p:nvSpPr>
        <p:spPr>
          <a:xfrm>
            <a:off x="3111070" y="5458436"/>
            <a:ext cx="3988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20  25  30  35  40  45  50  55  60  65  70  75  80  85  90 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7E0F2B7-D9B1-4F3A-BB2D-9702DC9F0AC5}"/>
              </a:ext>
            </a:extLst>
          </p:cNvPr>
          <p:cNvSpPr/>
          <p:nvPr/>
        </p:nvSpPr>
        <p:spPr>
          <a:xfrm>
            <a:off x="3393698" y="4392182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0CE4A8E5-9A32-40F1-B975-35FDEE9ECF2A}"/>
              </a:ext>
            </a:extLst>
          </p:cNvPr>
          <p:cNvSpPr txBox="1"/>
          <p:nvPr/>
        </p:nvSpPr>
        <p:spPr>
          <a:xfrm>
            <a:off x="5559306" y="3475690"/>
            <a:ext cx="22225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La línea roja es la función sigmoidal que queremos calcular.</a:t>
            </a:r>
            <a:endParaRPr lang="es-PE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F7D6CB75-E209-4C42-99D7-D75AF38A36B1}"/>
              </a:ext>
            </a:extLst>
          </p:cNvPr>
          <p:cNvSpPr/>
          <p:nvPr/>
        </p:nvSpPr>
        <p:spPr>
          <a:xfrm>
            <a:off x="4603062" y="3008757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964571CA-7EA8-4015-825A-7E23D5AD8D3C}"/>
              </a:ext>
            </a:extLst>
          </p:cNvPr>
          <p:cNvSpPr/>
          <p:nvPr/>
        </p:nvSpPr>
        <p:spPr>
          <a:xfrm>
            <a:off x="4914273" y="4366322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Flecha: hacia abajo 27">
            <a:extLst>
              <a:ext uri="{FF2B5EF4-FFF2-40B4-BE49-F238E27FC236}">
                <a16:creationId xmlns:a16="http://schemas.microsoft.com/office/drawing/2014/main" id="{4EFACAE6-2E1A-4F64-9907-4C36366BBB0A}"/>
              </a:ext>
            </a:extLst>
          </p:cNvPr>
          <p:cNvSpPr/>
          <p:nvPr/>
        </p:nvSpPr>
        <p:spPr>
          <a:xfrm>
            <a:off x="3167675" y="3747685"/>
            <a:ext cx="552309" cy="455266"/>
          </a:xfrm>
          <a:prstGeom prst="downArrow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7F15F62E-AE16-4423-80FB-F579C8B4AD9C}"/>
              </a:ext>
            </a:extLst>
          </p:cNvPr>
          <p:cNvSpPr/>
          <p:nvPr/>
        </p:nvSpPr>
        <p:spPr>
          <a:xfrm>
            <a:off x="5956255" y="2174764"/>
            <a:ext cx="552309" cy="455266"/>
          </a:xfrm>
          <a:prstGeom prst="downArrow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9B89799-318D-4A65-BC59-EE1A695FDBA4}"/>
              </a:ext>
            </a:extLst>
          </p:cNvPr>
          <p:cNvSpPr txBox="1"/>
          <p:nvPr/>
        </p:nvSpPr>
        <p:spPr>
          <a:xfrm>
            <a:off x="3009229" y="3220110"/>
            <a:ext cx="973947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PE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0%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8E984A4-B8EB-4C9A-B25F-1102E4686F88}"/>
              </a:ext>
            </a:extLst>
          </p:cNvPr>
          <p:cNvSpPr txBox="1"/>
          <p:nvPr/>
        </p:nvSpPr>
        <p:spPr>
          <a:xfrm>
            <a:off x="5744546" y="1588244"/>
            <a:ext cx="973947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PE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84070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47" grpId="0"/>
      <p:bldP spid="28" grpId="0" animBg="1"/>
      <p:bldP spid="29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bre: forma 62">
            <a:extLst>
              <a:ext uri="{FF2B5EF4-FFF2-40B4-BE49-F238E27FC236}">
                <a16:creationId xmlns:a16="http://schemas.microsoft.com/office/drawing/2014/main" id="{988CCBBA-A09C-408B-9CB2-08669AA0AE0C}"/>
              </a:ext>
            </a:extLst>
          </p:cNvPr>
          <p:cNvSpPr/>
          <p:nvPr/>
        </p:nvSpPr>
        <p:spPr>
          <a:xfrm>
            <a:off x="3505662" y="3008756"/>
            <a:ext cx="2795828" cy="1477859"/>
          </a:xfrm>
          <a:custGeom>
            <a:avLst/>
            <a:gdLst>
              <a:gd name="connsiteX0" fmla="*/ 0 w 2714625"/>
              <a:gd name="connsiteY0" fmla="*/ 1960898 h 1992983"/>
              <a:gd name="connsiteX1" fmla="*/ 1071562 w 2714625"/>
              <a:gd name="connsiteY1" fmla="*/ 1760873 h 1992983"/>
              <a:gd name="connsiteX2" fmla="*/ 1571625 w 2714625"/>
              <a:gd name="connsiteY2" fmla="*/ 232110 h 1992983"/>
              <a:gd name="connsiteX3" fmla="*/ 2714625 w 2714625"/>
              <a:gd name="connsiteY3" fmla="*/ 32085 h 199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25" h="1992983">
                <a:moveTo>
                  <a:pt x="0" y="1960898"/>
                </a:moveTo>
                <a:cubicBezTo>
                  <a:pt x="404812" y="2004951"/>
                  <a:pt x="809625" y="2049004"/>
                  <a:pt x="1071562" y="1760873"/>
                </a:cubicBezTo>
                <a:cubicBezTo>
                  <a:pt x="1333499" y="1472742"/>
                  <a:pt x="1297781" y="520241"/>
                  <a:pt x="1571625" y="232110"/>
                </a:cubicBezTo>
                <a:cubicBezTo>
                  <a:pt x="1845469" y="-56021"/>
                  <a:pt x="2280047" y="-11968"/>
                  <a:pt x="2714625" y="32085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87725D7-197E-4C29-96C8-1D32A3E8DFFF}"/>
              </a:ext>
            </a:extLst>
          </p:cNvPr>
          <p:cNvCxnSpPr>
            <a:cxnSpLocks/>
          </p:cNvCxnSpPr>
          <p:nvPr/>
        </p:nvCxnSpPr>
        <p:spPr>
          <a:xfrm>
            <a:off x="2870876" y="1537936"/>
            <a:ext cx="0" cy="3877733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0244B72-C617-4F38-8B8C-A4963402CBAB}"/>
              </a:ext>
            </a:extLst>
          </p:cNvPr>
          <p:cNvCxnSpPr>
            <a:cxnSpLocks/>
          </p:cNvCxnSpPr>
          <p:nvPr/>
        </p:nvCxnSpPr>
        <p:spPr>
          <a:xfrm flipH="1" flipV="1">
            <a:off x="2821859" y="5415669"/>
            <a:ext cx="4181138" cy="39728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93E3F43-D95F-4B1F-A840-DB35CED67429}"/>
              </a:ext>
            </a:extLst>
          </p:cNvPr>
          <p:cNvSpPr txBox="1"/>
          <p:nvPr/>
        </p:nvSpPr>
        <p:spPr>
          <a:xfrm>
            <a:off x="4426791" y="5735435"/>
            <a:ext cx="1340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X: Edad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08109B-FF07-46E1-9F79-03BEFDC06E39}"/>
              </a:ext>
            </a:extLst>
          </p:cNvPr>
          <p:cNvSpPr txBox="1"/>
          <p:nvPr/>
        </p:nvSpPr>
        <p:spPr>
          <a:xfrm rot="16200000">
            <a:off x="-403776" y="3297145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>
                <a:latin typeface="Century Gothic" panose="020B0502020202020204" pitchFamily="34" charset="0"/>
              </a:rPr>
              <a:t>Y: Infarto agudo de miocardio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68FBFA0-7403-476A-BA78-D187477D605C}"/>
              </a:ext>
            </a:extLst>
          </p:cNvPr>
          <p:cNvSpPr/>
          <p:nvPr/>
        </p:nvSpPr>
        <p:spPr>
          <a:xfrm>
            <a:off x="4885705" y="3261744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6A6C9FC-C2C0-4126-8D59-382438A4FAB2}"/>
              </a:ext>
            </a:extLst>
          </p:cNvPr>
          <p:cNvSpPr/>
          <p:nvPr/>
        </p:nvSpPr>
        <p:spPr>
          <a:xfrm>
            <a:off x="5434516" y="2996284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8ADB907-BDDB-4D14-B052-0D2E9FE26630}"/>
              </a:ext>
            </a:extLst>
          </p:cNvPr>
          <p:cNvSpPr/>
          <p:nvPr/>
        </p:nvSpPr>
        <p:spPr>
          <a:xfrm>
            <a:off x="5097007" y="3048425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46AA5B9-B6F7-416D-AD5E-11D5F7D3CEDA}"/>
              </a:ext>
            </a:extLst>
          </p:cNvPr>
          <p:cNvSpPr/>
          <p:nvPr/>
        </p:nvSpPr>
        <p:spPr>
          <a:xfrm>
            <a:off x="2160863" y="2582643"/>
            <a:ext cx="838924" cy="882119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869C98B-FAD3-4D8C-96A5-B460CFE0E068}"/>
              </a:ext>
            </a:extLst>
          </p:cNvPr>
          <p:cNvSpPr/>
          <p:nvPr/>
        </p:nvSpPr>
        <p:spPr>
          <a:xfrm>
            <a:off x="2150208" y="4007978"/>
            <a:ext cx="838924" cy="865821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C24E21-0105-4B67-B513-5B197962EEC5}"/>
              </a:ext>
            </a:extLst>
          </p:cNvPr>
          <p:cNvSpPr txBox="1"/>
          <p:nvPr/>
        </p:nvSpPr>
        <p:spPr>
          <a:xfrm>
            <a:off x="2094513" y="4198305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No</a:t>
            </a:r>
            <a:endParaRPr lang="es-PE" sz="2400" dirty="0">
              <a:latin typeface="Century Gothic" panose="020B0502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7C2A32C-7398-4A2E-8CF1-2C888CC9478B}"/>
              </a:ext>
            </a:extLst>
          </p:cNvPr>
          <p:cNvSpPr txBox="1"/>
          <p:nvPr/>
        </p:nvSpPr>
        <p:spPr>
          <a:xfrm>
            <a:off x="2113333" y="2803388"/>
            <a:ext cx="76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i="1" dirty="0">
                <a:latin typeface="Century Gothic" panose="020B0502020202020204" pitchFamily="34" charset="0"/>
              </a:rPr>
              <a:t>Sí</a:t>
            </a:r>
            <a:endParaRPr lang="es-PE" sz="2400" dirty="0">
              <a:latin typeface="Century Gothic" panose="020B050202020202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401967B-1EB6-45AE-8DA1-EDB723B7BC61}"/>
              </a:ext>
            </a:extLst>
          </p:cNvPr>
          <p:cNvSpPr/>
          <p:nvPr/>
        </p:nvSpPr>
        <p:spPr>
          <a:xfrm>
            <a:off x="5678572" y="2997213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7F4629C-7436-46A3-ACF8-34B7DC42ACEE}"/>
              </a:ext>
            </a:extLst>
          </p:cNvPr>
          <p:cNvSpPr/>
          <p:nvPr/>
        </p:nvSpPr>
        <p:spPr>
          <a:xfrm>
            <a:off x="6163330" y="2990359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CF196E5-59E5-4BFF-90CA-DAC810802E24}"/>
              </a:ext>
            </a:extLst>
          </p:cNvPr>
          <p:cNvSpPr/>
          <p:nvPr/>
        </p:nvSpPr>
        <p:spPr>
          <a:xfrm>
            <a:off x="5918682" y="2996284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33F7936-987D-4FAD-A029-ABE02A81AC1E}"/>
              </a:ext>
            </a:extLst>
          </p:cNvPr>
          <p:cNvSpPr/>
          <p:nvPr/>
        </p:nvSpPr>
        <p:spPr>
          <a:xfrm>
            <a:off x="4111439" y="4383330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D80AE29-AA6C-4FBB-BDD5-6C3659B27EE1}"/>
              </a:ext>
            </a:extLst>
          </p:cNvPr>
          <p:cNvSpPr/>
          <p:nvPr/>
        </p:nvSpPr>
        <p:spPr>
          <a:xfrm>
            <a:off x="4580792" y="4202951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73EDE62-08EE-49DA-8B73-4D10315FA6B7}"/>
              </a:ext>
            </a:extLst>
          </p:cNvPr>
          <p:cNvSpPr/>
          <p:nvPr/>
        </p:nvSpPr>
        <p:spPr>
          <a:xfrm>
            <a:off x="4351549" y="4305658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A51663C-FFC6-41BE-AD84-7695BD3ECBA2}"/>
              </a:ext>
            </a:extLst>
          </p:cNvPr>
          <p:cNvSpPr/>
          <p:nvPr/>
        </p:nvSpPr>
        <p:spPr>
          <a:xfrm>
            <a:off x="3867854" y="4382890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19D850F-D308-492D-B9A8-370573618758}"/>
              </a:ext>
            </a:extLst>
          </p:cNvPr>
          <p:cNvSpPr/>
          <p:nvPr/>
        </p:nvSpPr>
        <p:spPr>
          <a:xfrm>
            <a:off x="3623206" y="4388815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A00E2F2-331F-438D-A464-AE42E6615CDF}"/>
              </a:ext>
            </a:extLst>
          </p:cNvPr>
          <p:cNvSpPr txBox="1"/>
          <p:nvPr/>
        </p:nvSpPr>
        <p:spPr>
          <a:xfrm>
            <a:off x="3111070" y="5458436"/>
            <a:ext cx="3988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20  25  30  35  40  45  50  55  60  65  70  75  80  85  90 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7E0F2B7-D9B1-4F3A-BB2D-9702DC9F0AC5}"/>
              </a:ext>
            </a:extLst>
          </p:cNvPr>
          <p:cNvSpPr/>
          <p:nvPr/>
        </p:nvSpPr>
        <p:spPr>
          <a:xfrm>
            <a:off x="3393698" y="4392182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entury Gothic" panose="020B0502020202020204" pitchFamily="34" charset="0"/>
            </a:endParaRP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F7D6CB75-E209-4C42-99D7-D75AF38A36B1}"/>
              </a:ext>
            </a:extLst>
          </p:cNvPr>
          <p:cNvSpPr/>
          <p:nvPr/>
        </p:nvSpPr>
        <p:spPr>
          <a:xfrm>
            <a:off x="4798777" y="3527977"/>
            <a:ext cx="138160" cy="125629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964571CA-7EA8-4015-825A-7E23D5AD8D3C}"/>
              </a:ext>
            </a:extLst>
          </p:cNvPr>
          <p:cNvSpPr/>
          <p:nvPr/>
        </p:nvSpPr>
        <p:spPr>
          <a:xfrm>
            <a:off x="4747545" y="3878237"/>
            <a:ext cx="138160" cy="12562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B852D2F-93B9-4087-9130-F9ECF83FE258}"/>
              </a:ext>
            </a:extLst>
          </p:cNvPr>
          <p:cNvSpPr txBox="1"/>
          <p:nvPr/>
        </p:nvSpPr>
        <p:spPr>
          <a:xfrm>
            <a:off x="7399371" y="2803388"/>
            <a:ext cx="2933347" cy="15696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Necesitamos usar las probabilidades para cada observación de X</a:t>
            </a:r>
            <a:endParaRPr lang="es-PE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Flecha: hacia abajo 15">
            <a:extLst>
              <a:ext uri="{FF2B5EF4-FFF2-40B4-BE49-F238E27FC236}">
                <a16:creationId xmlns:a16="http://schemas.microsoft.com/office/drawing/2014/main" id="{14B26F0A-3B7A-40A8-A938-A36653CF0B12}"/>
              </a:ext>
            </a:extLst>
          </p:cNvPr>
          <p:cNvSpPr/>
          <p:nvPr/>
        </p:nvSpPr>
        <p:spPr>
          <a:xfrm>
            <a:off x="3167675" y="3747685"/>
            <a:ext cx="552309" cy="455266"/>
          </a:xfrm>
          <a:prstGeom prst="downArrow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2" name="Flecha: hacia abajo 31">
            <a:extLst>
              <a:ext uri="{FF2B5EF4-FFF2-40B4-BE49-F238E27FC236}">
                <a16:creationId xmlns:a16="http://schemas.microsoft.com/office/drawing/2014/main" id="{420BC8F3-4C15-4A7E-8713-FD598BC85459}"/>
              </a:ext>
            </a:extLst>
          </p:cNvPr>
          <p:cNvSpPr/>
          <p:nvPr/>
        </p:nvSpPr>
        <p:spPr>
          <a:xfrm>
            <a:off x="5956255" y="2174764"/>
            <a:ext cx="552309" cy="455266"/>
          </a:xfrm>
          <a:prstGeom prst="downArrow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8F29D58-E2B2-497F-88FA-3D0D71F50AB0}"/>
              </a:ext>
            </a:extLst>
          </p:cNvPr>
          <p:cNvSpPr txBox="1"/>
          <p:nvPr/>
        </p:nvSpPr>
        <p:spPr>
          <a:xfrm>
            <a:off x="3009229" y="3220110"/>
            <a:ext cx="973947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PE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0%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79FC9C5-E4FD-45B8-8EFA-A0D0657A71B1}"/>
              </a:ext>
            </a:extLst>
          </p:cNvPr>
          <p:cNvSpPr txBox="1"/>
          <p:nvPr/>
        </p:nvSpPr>
        <p:spPr>
          <a:xfrm>
            <a:off x="5744546" y="1588244"/>
            <a:ext cx="973947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PE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97848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6" grpId="0" animBg="1"/>
      <p:bldP spid="32" grpId="0" animBg="1"/>
      <p:bldP spid="33" grpId="0" animBg="1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FBE19E8-C5BE-4221-A987-FE5999D690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709"/>
          <a:stretch/>
        </p:blipFill>
        <p:spPr>
          <a:xfrm>
            <a:off x="1109662" y="1471748"/>
            <a:ext cx="5791200" cy="372890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3B8DD77-6E54-497B-A094-FFDD6AA23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787" y="1471748"/>
            <a:ext cx="2152776" cy="80956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FC80093-1FE8-4CF9-B7F8-4EED4BBFDA6A}"/>
              </a:ext>
            </a:extLst>
          </p:cNvPr>
          <p:cNvSpPr txBox="1"/>
          <p:nvPr/>
        </p:nvSpPr>
        <p:spPr>
          <a:xfrm>
            <a:off x="3960614" y="5498084"/>
            <a:ext cx="1113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dirty="0"/>
              <a:t>X: Edad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CC372C8-4237-4D3C-9B70-FEC2D5A15FC6}"/>
              </a:ext>
            </a:extLst>
          </p:cNvPr>
          <p:cNvSpPr txBox="1"/>
          <p:nvPr/>
        </p:nvSpPr>
        <p:spPr>
          <a:xfrm>
            <a:off x="2644893" y="5221085"/>
            <a:ext cx="3563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20  25  30  35  40  45  50  55  60  65  70  75  80  85  90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F8F2767-74AB-41B7-99EB-1D42510BEFD4}"/>
              </a:ext>
            </a:extLst>
          </p:cNvPr>
          <p:cNvSpPr txBox="1"/>
          <p:nvPr/>
        </p:nvSpPr>
        <p:spPr>
          <a:xfrm>
            <a:off x="7047437" y="2116056"/>
            <a:ext cx="2796776" cy="2677656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Observamos que para los pacientes de 60 años la probabilidad de estar enfermo es del 88%</a:t>
            </a:r>
            <a:endParaRPr lang="es-PE" sz="2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18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8E97B7-7762-4963-8E03-5E34B57AB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933"/>
            <a:ext cx="9897856" cy="323895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7C5B783-54C3-4879-9F94-B7A3AB45B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21778" y="3681507"/>
            <a:ext cx="2329810" cy="14417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7374029-2D97-454F-A274-F25411C86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439003" y="4746170"/>
            <a:ext cx="1512585" cy="196843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EE5032A-AE32-4F9F-956C-7A97EE78D4DF}"/>
              </a:ext>
            </a:extLst>
          </p:cNvPr>
          <p:cNvSpPr txBox="1"/>
          <p:nvPr/>
        </p:nvSpPr>
        <p:spPr>
          <a:xfrm>
            <a:off x="9717207" y="3681507"/>
            <a:ext cx="2138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solidFill>
                  <a:srgbClr val="1F3C9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¡Queremos una función que nos permita modelar probabilidades (valores entre 0% y 100%)!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AA3A59-6BCC-4787-B3B7-20034E733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99" y="3889642"/>
            <a:ext cx="4958455" cy="246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35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8E97B7-7762-4963-8E03-5E34B57AB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055"/>
            <a:ext cx="9897856" cy="31653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7C5B783-54C3-4879-9F94-B7A3AB45B7C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621778" y="3681507"/>
            <a:ext cx="2329810" cy="14417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7374029-2D97-454F-A274-F25411C86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439003" y="4746170"/>
            <a:ext cx="1512585" cy="196843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EE5032A-AE32-4F9F-956C-7A97EE78D4DF}"/>
              </a:ext>
            </a:extLst>
          </p:cNvPr>
          <p:cNvSpPr txBox="1"/>
          <p:nvPr/>
        </p:nvSpPr>
        <p:spPr>
          <a:xfrm>
            <a:off x="9717207" y="3798340"/>
            <a:ext cx="2138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solidFill>
                  <a:srgbClr val="1F3C9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Transformando la probabilidad a </a:t>
            </a:r>
            <a:r>
              <a:rPr lang="es-PE" sz="1200" b="1" dirty="0" err="1">
                <a:solidFill>
                  <a:srgbClr val="1F3C9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odds</a:t>
            </a:r>
            <a:r>
              <a:rPr lang="es-PE" sz="1200" b="1" dirty="0">
                <a:solidFill>
                  <a:srgbClr val="1F3C9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podría tener una ecuación cuadrática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09C5C55-B0E4-4F97-B85C-F7175A6CF0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032"/>
          <a:stretch/>
        </p:blipFill>
        <p:spPr>
          <a:xfrm>
            <a:off x="0" y="141297"/>
            <a:ext cx="9850225" cy="293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83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7C5B783-54C3-4879-9F94-B7A3AB45B7C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621778" y="3681507"/>
            <a:ext cx="2329810" cy="14417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7374029-2D97-454F-A274-F25411C86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439003" y="4746170"/>
            <a:ext cx="1512585" cy="196843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EE5032A-AE32-4F9F-956C-7A97EE78D4DF}"/>
              </a:ext>
            </a:extLst>
          </p:cNvPr>
          <p:cNvSpPr txBox="1"/>
          <p:nvPr/>
        </p:nvSpPr>
        <p:spPr>
          <a:xfrm>
            <a:off x="9812637" y="3798340"/>
            <a:ext cx="2138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Sí saco el logaritmo de los ODDS podre obtener una función lineal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483675-ADDB-403A-9CBD-5C8E41AAF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45435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2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7C5B783-54C3-4879-9F94-B7A3AB45B7C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621778" y="3681507"/>
            <a:ext cx="2329810" cy="14417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7374029-2D97-454F-A274-F25411C86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439003" y="4746170"/>
            <a:ext cx="1512585" cy="196843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EE5032A-AE32-4F9F-956C-7A97EE78D4DF}"/>
              </a:ext>
            </a:extLst>
          </p:cNvPr>
          <p:cNvSpPr txBox="1"/>
          <p:nvPr/>
        </p:nvSpPr>
        <p:spPr>
          <a:xfrm>
            <a:off x="9812637" y="3798340"/>
            <a:ext cx="2138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Sí saco el logaritmo de los ODDS podre obtener una función lineal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483675-ADDB-403A-9CBD-5C8E41AAF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45435" cy="322942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62C5FA2-8565-4B24-B9F0-1392AC07E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99" y="3889642"/>
            <a:ext cx="4958455" cy="246732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3D2ED44-58DA-4478-AA41-75A45D496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413" y="4050748"/>
            <a:ext cx="2720604" cy="221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89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F35EC46-364D-402D-9141-22112E60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dirty="0"/>
              <a:t>Regresión logística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37A9358-A111-4BF7-89FE-0AD99178D9ED}"/>
              </a:ext>
            </a:extLst>
          </p:cNvPr>
          <p:cNvSpPr txBox="1">
            <a:spLocks/>
          </p:cNvSpPr>
          <p:nvPr/>
        </p:nvSpPr>
        <p:spPr>
          <a:xfrm>
            <a:off x="838200" y="1504747"/>
            <a:ext cx="10515599" cy="155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dirty="0">
                <a:latin typeface="Century Gothic" panose="020B0502020202020204" pitchFamily="34" charset="0"/>
              </a:rPr>
              <a:t>La regresión logística se utiliza para desenlaces categóricos dicotómicos.</a:t>
            </a:r>
          </a:p>
          <a:p>
            <a:pPr algn="just"/>
            <a:r>
              <a:rPr lang="es-PE" dirty="0">
                <a:latin typeface="Century Gothic" panose="020B0502020202020204" pitchFamily="34" charset="0"/>
              </a:rPr>
              <a:t>Realiza el cálculo a través de logaritmos de odds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C77604-3696-4EA8-B3EA-E75E05EE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81" y="3557044"/>
            <a:ext cx="4561113" cy="10325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B564D43-41A6-4D39-8A48-C26E9D45C848}"/>
              </a:ext>
            </a:extLst>
          </p:cNvPr>
          <p:cNvSpPr txBox="1">
            <a:spLocks/>
          </p:cNvSpPr>
          <p:nvPr/>
        </p:nvSpPr>
        <p:spPr>
          <a:xfrm>
            <a:off x="989378" y="4926087"/>
            <a:ext cx="4775565" cy="772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400" b="1" dirty="0">
                <a:solidFill>
                  <a:schemeClr val="accent2"/>
                </a:solidFill>
              </a:rPr>
              <a:t>Odds del evento </a:t>
            </a:r>
            <a:r>
              <a:rPr lang="es-PE" sz="2400" dirty="0"/>
              <a:t>para determinado valor de X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707CD69-6247-4EA0-B58A-D5F6076DF861}"/>
              </a:ext>
            </a:extLst>
          </p:cNvPr>
          <p:cNvSpPr/>
          <p:nvPr/>
        </p:nvSpPr>
        <p:spPr>
          <a:xfrm>
            <a:off x="1559399" y="3543050"/>
            <a:ext cx="1034137" cy="113211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904AC1D-FA15-40B0-AFFD-51706292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308" y="3103519"/>
            <a:ext cx="3648584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56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LORK POPCORN – GANG">
            <a:extLst>
              <a:ext uri="{FF2B5EF4-FFF2-40B4-BE49-F238E27FC236}">
                <a16:creationId xmlns:a16="http://schemas.microsoft.com/office/drawing/2014/main" id="{042C8F55-7481-4EF9-B3D1-9CC5F8F90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34330" y="1972605"/>
            <a:ext cx="2962602" cy="429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9369A67-D3C3-4080-B896-D558FF80F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840" y="3429000"/>
            <a:ext cx="7384372" cy="3321424"/>
          </a:xfrm>
        </p:spPr>
        <p:txBody>
          <a:bodyPr>
            <a:normAutofit/>
          </a:bodyPr>
          <a:lstStyle/>
          <a:p>
            <a:r>
              <a:rPr lang="es-PE" sz="2000" b="1" u="sng" dirty="0" err="1">
                <a:solidFill>
                  <a:srgbClr val="7030A0"/>
                </a:solidFill>
              </a:rPr>
              <a:t>ln</a:t>
            </a:r>
            <a:r>
              <a:rPr lang="es-PE" sz="2000" b="1" u="sng" dirty="0">
                <a:solidFill>
                  <a:srgbClr val="7030A0"/>
                </a:solidFill>
              </a:rPr>
              <a:t>(</a:t>
            </a:r>
            <a:r>
              <a:rPr lang="es-PE" sz="2000" b="1" u="sng" dirty="0" err="1">
                <a:solidFill>
                  <a:srgbClr val="7030A0"/>
                </a:solidFill>
              </a:rPr>
              <a:t>odds</a:t>
            </a:r>
            <a:r>
              <a:rPr lang="es-PE" sz="2000" b="1" u="sng" dirty="0">
                <a:solidFill>
                  <a:srgbClr val="7030A0"/>
                </a:solidFill>
              </a:rPr>
              <a:t>): </a:t>
            </a:r>
            <a:r>
              <a:rPr lang="es-PE" sz="2000" b="1" u="sng" dirty="0" err="1">
                <a:solidFill>
                  <a:srgbClr val="7030A0"/>
                </a:solidFill>
              </a:rPr>
              <a:t>ln</a:t>
            </a:r>
            <a:r>
              <a:rPr lang="es-PE" sz="2000" b="1" u="sng" dirty="0">
                <a:solidFill>
                  <a:srgbClr val="7030A0"/>
                </a:solidFill>
              </a:rPr>
              <a:t> (probabilidad de que ocurra un evento)</a:t>
            </a:r>
            <a:endParaRPr lang="es-PE" sz="2000" b="1" dirty="0">
              <a:solidFill>
                <a:srgbClr val="7030A0"/>
              </a:solidFill>
            </a:endParaRPr>
          </a:p>
          <a:p>
            <a:endParaRPr lang="es-PE" sz="2000" b="1" dirty="0">
              <a:solidFill>
                <a:srgbClr val="FFC000"/>
              </a:solidFill>
            </a:endParaRPr>
          </a:p>
          <a:p>
            <a:r>
              <a:rPr lang="es-PE" sz="2000" b="1" u="sng" dirty="0">
                <a:solidFill>
                  <a:srgbClr val="00B050"/>
                </a:solidFill>
              </a:rPr>
              <a:t>x:</a:t>
            </a:r>
            <a:r>
              <a:rPr lang="es-PE" sz="2000" b="1" dirty="0">
                <a:solidFill>
                  <a:srgbClr val="00B050"/>
                </a:solidFill>
              </a:rPr>
              <a:t> Valor de v. independiente (0 = no) (1 = Sí)</a:t>
            </a:r>
          </a:p>
          <a:p>
            <a:endParaRPr lang="es-PE" sz="2000" b="1" dirty="0">
              <a:solidFill>
                <a:srgbClr val="00B050"/>
              </a:solidFill>
            </a:endParaRPr>
          </a:p>
          <a:p>
            <a:r>
              <a:rPr lang="el-GR" sz="2000" b="1" u="sng" dirty="0">
                <a:solidFill>
                  <a:srgbClr val="FF0000"/>
                </a:solidFill>
              </a:rPr>
              <a:t>β</a:t>
            </a:r>
            <a:r>
              <a:rPr lang="es-PE" sz="2000" b="1" u="sng" dirty="0">
                <a:solidFill>
                  <a:srgbClr val="FF0000"/>
                </a:solidFill>
              </a:rPr>
              <a:t>1: coeficiente de la función sigmoidea</a:t>
            </a:r>
          </a:p>
          <a:p>
            <a:endParaRPr lang="es-PE" sz="2000" b="1" u="sng" dirty="0">
              <a:solidFill>
                <a:srgbClr val="FF0000"/>
              </a:solidFill>
            </a:endParaRPr>
          </a:p>
          <a:p>
            <a:r>
              <a:rPr lang="el-GR" sz="2000" b="1" u="sng" dirty="0">
                <a:solidFill>
                  <a:srgbClr val="0070C0"/>
                </a:solidFill>
              </a:rPr>
              <a:t>β</a:t>
            </a:r>
            <a:r>
              <a:rPr lang="es-ES" sz="2000" b="1" u="sng" dirty="0">
                <a:solidFill>
                  <a:srgbClr val="0070C0"/>
                </a:solidFill>
              </a:rPr>
              <a:t>0 </a:t>
            </a:r>
            <a:r>
              <a:rPr lang="es-ES" sz="2000" b="1" dirty="0">
                <a:solidFill>
                  <a:srgbClr val="0070C0"/>
                </a:solidFill>
              </a:rPr>
              <a:t>: Valor de </a:t>
            </a:r>
            <a:r>
              <a:rPr lang="es-ES" sz="2000" b="1" dirty="0" err="1">
                <a:solidFill>
                  <a:srgbClr val="0070C0"/>
                </a:solidFill>
              </a:rPr>
              <a:t>ln</a:t>
            </a:r>
            <a:r>
              <a:rPr lang="es-ES" sz="2000" b="1" dirty="0">
                <a:solidFill>
                  <a:srgbClr val="0070C0"/>
                </a:solidFill>
              </a:rPr>
              <a:t>(</a:t>
            </a:r>
            <a:r>
              <a:rPr lang="es-ES" sz="2000" b="1" dirty="0" err="1">
                <a:solidFill>
                  <a:srgbClr val="0070C0"/>
                </a:solidFill>
              </a:rPr>
              <a:t>odds</a:t>
            </a:r>
            <a:r>
              <a:rPr lang="es-ES" sz="2000" b="1" dirty="0">
                <a:solidFill>
                  <a:srgbClr val="0070C0"/>
                </a:solidFill>
              </a:rPr>
              <a:t>) cuando “x” es cero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3E400C7-2B24-4F77-BA6F-76F0E483E325}"/>
              </a:ext>
            </a:extLst>
          </p:cNvPr>
          <p:cNvSpPr/>
          <p:nvPr/>
        </p:nvSpPr>
        <p:spPr>
          <a:xfrm>
            <a:off x="795067" y="2149080"/>
            <a:ext cx="894329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PE" sz="54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ln</a:t>
            </a:r>
            <a:r>
              <a:rPr lang="es-PE" sz="54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(</a:t>
            </a:r>
            <a:r>
              <a:rPr lang="es-PE" sz="54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54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) </a:t>
            </a:r>
            <a:r>
              <a:rPr lang="es-PE" sz="5400" b="1" dirty="0">
                <a:latin typeface="Century Gothic" panose="020B0502020202020204" pitchFamily="34" charset="0"/>
              </a:rPr>
              <a:t>  =   </a:t>
            </a:r>
            <a:r>
              <a:rPr lang="es-PE" sz="5400" b="1" dirty="0" err="1">
                <a:solidFill>
                  <a:srgbClr val="0070C0"/>
                </a:solidFill>
                <a:latin typeface="Century Gothic" panose="020B0502020202020204" pitchFamily="34" charset="0"/>
              </a:rPr>
              <a:t>Cons</a:t>
            </a:r>
            <a:r>
              <a:rPr lang="es-PE" sz="5400" b="1" dirty="0">
                <a:latin typeface="Century Gothic" panose="020B0502020202020204" pitchFamily="34" charset="0"/>
              </a:rPr>
              <a:t>  +  </a:t>
            </a:r>
            <a:r>
              <a:rPr lang="el-GR" sz="5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β</a:t>
            </a:r>
            <a:r>
              <a:rPr lang="es-PE" sz="5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1</a:t>
            </a:r>
            <a:r>
              <a:rPr lang="es-PE" sz="5400" b="1" dirty="0">
                <a:latin typeface="Century Gothic" panose="020B0502020202020204" pitchFamily="34" charset="0"/>
              </a:rPr>
              <a:t>*</a:t>
            </a:r>
            <a:r>
              <a:rPr lang="es-PE" sz="54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X</a:t>
            </a:r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281F7ADF-7410-41D9-80EE-A0D070DFA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067" y="623396"/>
            <a:ext cx="8185544" cy="510868"/>
          </a:xfrm>
        </p:spPr>
        <p:txBody>
          <a:bodyPr>
            <a:noAutofit/>
          </a:bodyPr>
          <a:lstStyle/>
          <a:p>
            <a:r>
              <a:rPr lang="es-PE" dirty="0"/>
              <a:t>Regresión logística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D3770A-BA5B-425B-BD8C-8E8403BC73D6}"/>
              </a:ext>
            </a:extLst>
          </p:cNvPr>
          <p:cNvSpPr/>
          <p:nvPr/>
        </p:nvSpPr>
        <p:spPr>
          <a:xfrm>
            <a:off x="1173840" y="1387831"/>
            <a:ext cx="5791737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Fórmula:</a:t>
            </a:r>
          </a:p>
        </p:txBody>
      </p:sp>
    </p:spTree>
    <p:extLst>
      <p:ext uri="{BB962C8B-B14F-4D97-AF65-F5344CB8AC3E}">
        <p14:creationId xmlns:p14="http://schemas.microsoft.com/office/powerpoint/2010/main" val="7524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D8356D9-B393-4221-BC9B-273BA020D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548" y="1922669"/>
            <a:ext cx="3696216" cy="3534268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7F0996-B242-4F91-A760-4AA12AF4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Regresión logística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6A19AEB-D1BD-45E5-B2A6-E1090AEE8E6A}"/>
              </a:ext>
            </a:extLst>
          </p:cNvPr>
          <p:cNvGraphicFramePr>
            <a:graphicFrameLocks noGrp="1"/>
          </p:cNvGraphicFramePr>
          <p:nvPr/>
        </p:nvGraphicFramePr>
        <p:xfrm>
          <a:off x="5470551" y="1925095"/>
          <a:ext cx="4262439" cy="2035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813">
                  <a:extLst>
                    <a:ext uri="{9D8B030D-6E8A-4147-A177-3AD203B41FA5}">
                      <a16:colId xmlns:a16="http://schemas.microsoft.com/office/drawing/2014/main" val="3715589592"/>
                    </a:ext>
                  </a:extLst>
                </a:gridCol>
                <a:gridCol w="1420813">
                  <a:extLst>
                    <a:ext uri="{9D8B030D-6E8A-4147-A177-3AD203B41FA5}">
                      <a16:colId xmlns:a16="http://schemas.microsoft.com/office/drawing/2014/main" val="354581522"/>
                    </a:ext>
                  </a:extLst>
                </a:gridCol>
                <a:gridCol w="1420813">
                  <a:extLst>
                    <a:ext uri="{9D8B030D-6E8A-4147-A177-3AD203B41FA5}">
                      <a16:colId xmlns:a16="http://schemas.microsoft.com/office/drawing/2014/main" val="4055064592"/>
                    </a:ext>
                  </a:extLst>
                </a:gridCol>
              </a:tblGrid>
              <a:tr h="678498">
                <a:tc>
                  <a:txBody>
                    <a:bodyPr/>
                    <a:lstStyle/>
                    <a:p>
                      <a:pPr algn="ctr"/>
                      <a:endParaRPr lang="es-PE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Sí IMA = 1</a:t>
                      </a:r>
                      <a:endParaRPr lang="es-P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No IMA = 0</a:t>
                      </a:r>
                      <a:endParaRPr lang="es-P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856348"/>
                  </a:ext>
                </a:extLst>
              </a:tr>
              <a:tr h="678498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bg1"/>
                          </a:solidFill>
                        </a:rPr>
                        <a:t>Sí DM2 = 1</a:t>
                      </a:r>
                      <a:endParaRPr lang="es-P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90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10</a:t>
                      </a:r>
                      <a:endParaRPr lang="es-P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60513"/>
                  </a:ext>
                </a:extLst>
              </a:tr>
              <a:tr h="6784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bg1"/>
                          </a:solidFill>
                        </a:rPr>
                        <a:t>No DM2 = 0</a:t>
                      </a:r>
                      <a:endParaRPr lang="es-P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20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80</a:t>
                      </a:r>
                      <a:endParaRPr lang="es-P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31216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A8F32183-D044-476F-8442-746C9013A1CC}"/>
              </a:ext>
            </a:extLst>
          </p:cNvPr>
          <p:cNvSpPr/>
          <p:nvPr/>
        </p:nvSpPr>
        <p:spPr>
          <a:xfrm rot="16200000">
            <a:off x="4410020" y="3085716"/>
            <a:ext cx="1336356" cy="4000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Exposición 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FDD622-BC42-4269-9BE8-DA38BA6B8DCF}"/>
              </a:ext>
            </a:extLst>
          </p:cNvPr>
          <p:cNvSpPr/>
          <p:nvPr/>
        </p:nvSpPr>
        <p:spPr>
          <a:xfrm>
            <a:off x="6933592" y="1277315"/>
            <a:ext cx="2799397" cy="4000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Desenlace 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162D00-550C-4FC8-A6B9-28C55E02A0D3}"/>
              </a:ext>
            </a:extLst>
          </p:cNvPr>
          <p:cNvSpPr txBox="1"/>
          <p:nvPr/>
        </p:nvSpPr>
        <p:spPr>
          <a:xfrm>
            <a:off x="9792884" y="2686496"/>
            <a:ext cx="18351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90/10 = 9</a:t>
            </a:r>
            <a:endParaRPr lang="es-PE" sz="16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C84C9C-4592-4E52-AF2E-440D89473E88}"/>
              </a:ext>
            </a:extLst>
          </p:cNvPr>
          <p:cNvSpPr txBox="1"/>
          <p:nvPr/>
        </p:nvSpPr>
        <p:spPr>
          <a:xfrm>
            <a:off x="9792884" y="3332827"/>
            <a:ext cx="2225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20/80 = 0.25</a:t>
            </a:r>
            <a:endParaRPr lang="es-PE" sz="1600" dirty="0">
              <a:latin typeface="Century Gothic" panose="020B0502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27BA08F-A623-47C9-8D89-7E3BE7D5DA1A}"/>
              </a:ext>
            </a:extLst>
          </p:cNvPr>
          <p:cNvSpPr/>
          <p:nvPr/>
        </p:nvSpPr>
        <p:spPr>
          <a:xfrm>
            <a:off x="5078199" y="4230917"/>
            <a:ext cx="285359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ln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(9) </a:t>
            </a:r>
            <a:r>
              <a:rPr lang="es-PE" sz="1600" b="1" dirty="0">
                <a:latin typeface="Century Gothic" panose="020B0502020202020204" pitchFamily="34" charset="0"/>
              </a:rPr>
              <a:t>  =   </a:t>
            </a:r>
            <a:r>
              <a:rPr lang="es-PE" sz="1600" b="1" dirty="0" err="1">
                <a:solidFill>
                  <a:srgbClr val="0070C0"/>
                </a:solidFill>
                <a:latin typeface="Century Gothic" panose="020B0502020202020204" pitchFamily="34" charset="0"/>
              </a:rPr>
              <a:t>Cons</a:t>
            </a:r>
            <a:r>
              <a:rPr lang="es-PE" sz="1600" b="1" dirty="0">
                <a:latin typeface="Century Gothic" panose="020B0502020202020204" pitchFamily="34" charset="0"/>
              </a:rPr>
              <a:t>  +  </a:t>
            </a:r>
            <a:r>
              <a:rPr lang="el-GR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β</a:t>
            </a:r>
            <a:r>
              <a:rPr lang="es-PE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1</a:t>
            </a:r>
            <a:r>
              <a:rPr lang="es-PE" sz="1600" b="1" dirty="0">
                <a:latin typeface="Century Gothic" panose="020B0502020202020204" pitchFamily="34" charset="0"/>
              </a:rPr>
              <a:t>*</a:t>
            </a:r>
            <a:r>
              <a:rPr lang="es-PE" sz="16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AD4C025-CE08-4E01-9E0E-FCD1B4FD2053}"/>
              </a:ext>
            </a:extLst>
          </p:cNvPr>
          <p:cNvSpPr/>
          <p:nvPr/>
        </p:nvSpPr>
        <p:spPr>
          <a:xfrm>
            <a:off x="8125131" y="4222184"/>
            <a:ext cx="285359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ln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(0.25) </a:t>
            </a:r>
            <a:r>
              <a:rPr lang="es-PE" sz="1600" b="1" dirty="0">
                <a:latin typeface="Century Gothic" panose="020B0502020202020204" pitchFamily="34" charset="0"/>
              </a:rPr>
              <a:t>  =   </a:t>
            </a:r>
            <a:r>
              <a:rPr lang="es-PE" sz="1600" b="1" dirty="0" err="1">
                <a:solidFill>
                  <a:srgbClr val="0070C0"/>
                </a:solidFill>
                <a:latin typeface="Century Gothic" panose="020B0502020202020204" pitchFamily="34" charset="0"/>
              </a:rPr>
              <a:t>Cons</a:t>
            </a:r>
            <a:r>
              <a:rPr lang="es-PE" sz="1600" b="1" dirty="0">
                <a:latin typeface="Century Gothic" panose="020B0502020202020204" pitchFamily="34" charset="0"/>
              </a:rPr>
              <a:t>  +  </a:t>
            </a:r>
            <a:r>
              <a:rPr lang="el-GR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β</a:t>
            </a:r>
            <a:r>
              <a:rPr lang="es-PE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1</a:t>
            </a:r>
            <a:r>
              <a:rPr lang="es-PE" sz="1600" b="1" dirty="0">
                <a:latin typeface="Century Gothic" panose="020B0502020202020204" pitchFamily="34" charset="0"/>
              </a:rPr>
              <a:t>*</a:t>
            </a:r>
            <a:r>
              <a:rPr lang="es-PE" sz="16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97EB231-A5D3-48B0-83E1-922A3201F528}"/>
              </a:ext>
            </a:extLst>
          </p:cNvPr>
          <p:cNvSpPr/>
          <p:nvPr/>
        </p:nvSpPr>
        <p:spPr>
          <a:xfrm>
            <a:off x="8125131" y="4777033"/>
            <a:ext cx="285359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-1.386  </a:t>
            </a:r>
            <a:r>
              <a:rPr lang="es-PE" sz="1600" b="1" dirty="0">
                <a:latin typeface="Century Gothic" panose="020B0502020202020204" pitchFamily="34" charset="0"/>
              </a:rPr>
              <a:t>  =  </a:t>
            </a:r>
            <a:r>
              <a:rPr lang="es-PE" sz="1600" b="1" dirty="0" err="1">
                <a:solidFill>
                  <a:srgbClr val="0070C0"/>
                </a:solidFill>
                <a:latin typeface="Century Gothic" panose="020B0502020202020204" pitchFamily="34" charset="0"/>
              </a:rPr>
              <a:t>Cons</a:t>
            </a:r>
            <a:endParaRPr lang="es-PE" sz="1600" b="1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2CA1C2-5EAB-44EB-9109-83CFE6AFC3C5}"/>
              </a:ext>
            </a:extLst>
          </p:cNvPr>
          <p:cNvSpPr/>
          <p:nvPr/>
        </p:nvSpPr>
        <p:spPr>
          <a:xfrm>
            <a:off x="5078198" y="4777033"/>
            <a:ext cx="285359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2.197 </a:t>
            </a:r>
            <a:r>
              <a:rPr lang="es-PE" sz="1600" b="1" dirty="0">
                <a:latin typeface="Century Gothic" panose="020B0502020202020204" pitchFamily="34" charset="0"/>
              </a:rPr>
              <a:t>=   </a:t>
            </a:r>
            <a:r>
              <a:rPr lang="es-MX" sz="16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sz="1600" b="1" dirty="0">
                <a:latin typeface="Century Gothic" panose="020B0502020202020204" pitchFamily="34" charset="0"/>
              </a:rPr>
              <a:t> +  </a:t>
            </a:r>
            <a:r>
              <a:rPr lang="el-GR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β</a:t>
            </a:r>
            <a:r>
              <a:rPr lang="es-PE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1</a:t>
            </a:r>
            <a:endParaRPr lang="es-PE" sz="1600" b="1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D94F2E9-6DCF-4249-AF67-22B0FCCDE6C7}"/>
              </a:ext>
            </a:extLst>
          </p:cNvPr>
          <p:cNvSpPr/>
          <p:nvPr/>
        </p:nvSpPr>
        <p:spPr>
          <a:xfrm>
            <a:off x="5078198" y="5338912"/>
            <a:ext cx="285359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 </a:t>
            </a:r>
            <a:r>
              <a:rPr lang="es-PE" sz="1600" b="1" dirty="0">
                <a:latin typeface="Century Gothic" panose="020B0502020202020204" pitchFamily="34" charset="0"/>
              </a:rPr>
              <a:t>=   </a:t>
            </a:r>
            <a:r>
              <a:rPr lang="el-GR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β</a:t>
            </a:r>
            <a:r>
              <a:rPr lang="es-PE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1</a:t>
            </a:r>
            <a:endParaRPr lang="es-PE" sz="1600" b="1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8A922BF-69FE-4322-BC50-ADE9979FE772}"/>
              </a:ext>
            </a:extLst>
          </p:cNvPr>
          <p:cNvSpPr/>
          <p:nvPr/>
        </p:nvSpPr>
        <p:spPr>
          <a:xfrm>
            <a:off x="5063912" y="5849883"/>
            <a:ext cx="591481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8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ln</a:t>
            </a:r>
            <a:r>
              <a:rPr lang="es-PE" sz="28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(</a:t>
            </a:r>
            <a:r>
              <a:rPr lang="es-PE" sz="28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28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) </a:t>
            </a:r>
            <a:r>
              <a:rPr lang="es-PE" sz="2800" b="1" dirty="0">
                <a:latin typeface="Century Gothic" panose="020B0502020202020204" pitchFamily="34" charset="0"/>
              </a:rPr>
              <a:t>  =   </a:t>
            </a:r>
            <a:r>
              <a:rPr lang="es-PE" sz="28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sz="2800" b="1" dirty="0">
                <a:latin typeface="Century Gothic" panose="020B0502020202020204" pitchFamily="34" charset="0"/>
              </a:rPr>
              <a:t>  +  </a:t>
            </a:r>
            <a:r>
              <a:rPr lang="es-MX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</a:t>
            </a:r>
            <a:r>
              <a:rPr lang="es-PE" sz="2800" b="1" dirty="0">
                <a:latin typeface="Century Gothic" panose="020B0502020202020204" pitchFamily="34" charset="0"/>
              </a:rPr>
              <a:t>*</a:t>
            </a:r>
            <a:r>
              <a:rPr lang="es-PE" sz="28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097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2" grpId="0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9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D8356D9-B393-4221-BC9B-273BA020D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548" y="1922669"/>
            <a:ext cx="3696216" cy="3534268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7F0996-B242-4F91-A760-4AA12AF4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Regresión logística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6A19AEB-D1BD-45E5-B2A6-E1090AEE8E6A}"/>
              </a:ext>
            </a:extLst>
          </p:cNvPr>
          <p:cNvGraphicFramePr>
            <a:graphicFrameLocks noGrp="1"/>
          </p:cNvGraphicFramePr>
          <p:nvPr/>
        </p:nvGraphicFramePr>
        <p:xfrm>
          <a:off x="5470551" y="1925095"/>
          <a:ext cx="4262439" cy="2035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813">
                  <a:extLst>
                    <a:ext uri="{9D8B030D-6E8A-4147-A177-3AD203B41FA5}">
                      <a16:colId xmlns:a16="http://schemas.microsoft.com/office/drawing/2014/main" val="3715589592"/>
                    </a:ext>
                  </a:extLst>
                </a:gridCol>
                <a:gridCol w="1420813">
                  <a:extLst>
                    <a:ext uri="{9D8B030D-6E8A-4147-A177-3AD203B41FA5}">
                      <a16:colId xmlns:a16="http://schemas.microsoft.com/office/drawing/2014/main" val="354581522"/>
                    </a:ext>
                  </a:extLst>
                </a:gridCol>
                <a:gridCol w="1420813">
                  <a:extLst>
                    <a:ext uri="{9D8B030D-6E8A-4147-A177-3AD203B41FA5}">
                      <a16:colId xmlns:a16="http://schemas.microsoft.com/office/drawing/2014/main" val="4055064592"/>
                    </a:ext>
                  </a:extLst>
                </a:gridCol>
              </a:tblGrid>
              <a:tr h="678498">
                <a:tc>
                  <a:txBody>
                    <a:bodyPr/>
                    <a:lstStyle/>
                    <a:p>
                      <a:pPr algn="ctr"/>
                      <a:endParaRPr lang="es-PE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Sí IMA = 1</a:t>
                      </a:r>
                      <a:endParaRPr lang="es-P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No IMA = 0</a:t>
                      </a:r>
                      <a:endParaRPr lang="es-P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856348"/>
                  </a:ext>
                </a:extLst>
              </a:tr>
              <a:tr h="678498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bg1"/>
                          </a:solidFill>
                        </a:rPr>
                        <a:t>Sí DM2 = 1</a:t>
                      </a:r>
                      <a:endParaRPr lang="es-P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90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10</a:t>
                      </a:r>
                      <a:endParaRPr lang="es-P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60513"/>
                  </a:ext>
                </a:extLst>
              </a:tr>
              <a:tr h="6784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bg1"/>
                          </a:solidFill>
                        </a:rPr>
                        <a:t>No DM2 = 0</a:t>
                      </a:r>
                      <a:endParaRPr lang="es-P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20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80</a:t>
                      </a:r>
                      <a:endParaRPr lang="es-P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31216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A8F32183-D044-476F-8442-746C9013A1CC}"/>
              </a:ext>
            </a:extLst>
          </p:cNvPr>
          <p:cNvSpPr/>
          <p:nvPr/>
        </p:nvSpPr>
        <p:spPr>
          <a:xfrm rot="16200000">
            <a:off x="4410020" y="3085716"/>
            <a:ext cx="1336356" cy="4000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Exposición 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FDD622-BC42-4269-9BE8-DA38BA6B8DCF}"/>
              </a:ext>
            </a:extLst>
          </p:cNvPr>
          <p:cNvSpPr/>
          <p:nvPr/>
        </p:nvSpPr>
        <p:spPr>
          <a:xfrm>
            <a:off x="6933592" y="1277315"/>
            <a:ext cx="2799397" cy="4000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Desenlace 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162D00-550C-4FC8-A6B9-28C55E02A0D3}"/>
              </a:ext>
            </a:extLst>
          </p:cNvPr>
          <p:cNvSpPr txBox="1"/>
          <p:nvPr/>
        </p:nvSpPr>
        <p:spPr>
          <a:xfrm>
            <a:off x="9792884" y="2686496"/>
            <a:ext cx="18351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90/10 = 9</a:t>
            </a:r>
            <a:endParaRPr lang="es-PE" sz="16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C84C9C-4592-4E52-AF2E-440D89473E88}"/>
              </a:ext>
            </a:extLst>
          </p:cNvPr>
          <p:cNvSpPr txBox="1"/>
          <p:nvPr/>
        </p:nvSpPr>
        <p:spPr>
          <a:xfrm>
            <a:off x="9792884" y="3332827"/>
            <a:ext cx="2225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20/80 = 0.25</a:t>
            </a:r>
            <a:endParaRPr lang="es-PE" sz="1600" dirty="0">
              <a:latin typeface="Century Gothic" panose="020B050202020202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8A922BF-69FE-4322-BC50-ADE9979FE772}"/>
              </a:ext>
            </a:extLst>
          </p:cNvPr>
          <p:cNvSpPr/>
          <p:nvPr/>
        </p:nvSpPr>
        <p:spPr>
          <a:xfrm>
            <a:off x="4884099" y="4166645"/>
            <a:ext cx="547910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8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ln</a:t>
            </a:r>
            <a:r>
              <a:rPr lang="es-PE" sz="28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(</a:t>
            </a:r>
            <a:r>
              <a:rPr lang="es-PE" sz="28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28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) </a:t>
            </a:r>
            <a:r>
              <a:rPr lang="es-PE" sz="2800" b="1" dirty="0">
                <a:latin typeface="Century Gothic" panose="020B0502020202020204" pitchFamily="34" charset="0"/>
              </a:rPr>
              <a:t>  =   </a:t>
            </a:r>
            <a:r>
              <a:rPr lang="es-PE" sz="28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sz="2800" b="1" dirty="0">
                <a:latin typeface="Century Gothic" panose="020B0502020202020204" pitchFamily="34" charset="0"/>
              </a:rPr>
              <a:t>  +  </a:t>
            </a:r>
            <a:r>
              <a:rPr lang="es-MX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</a:t>
            </a:r>
            <a:r>
              <a:rPr lang="es-PE" sz="2800" b="1" dirty="0">
                <a:latin typeface="Century Gothic" panose="020B0502020202020204" pitchFamily="34" charset="0"/>
              </a:rPr>
              <a:t>*</a:t>
            </a:r>
            <a:r>
              <a:rPr lang="es-PE" sz="28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X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F8379B-32F2-4FD0-92F2-489CBA9E708A}"/>
              </a:ext>
            </a:extLst>
          </p:cNvPr>
          <p:cNvSpPr txBox="1"/>
          <p:nvPr/>
        </p:nvSpPr>
        <p:spPr>
          <a:xfrm>
            <a:off x="4580792" y="4689865"/>
            <a:ext cx="21877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solidFill>
                  <a:srgbClr val="6C71A9"/>
                </a:solidFill>
                <a:latin typeface="Century Gothic" panose="020B0502020202020204" pitchFamily="34" charset="0"/>
              </a:rPr>
              <a:t>¿OR?</a:t>
            </a:r>
            <a:endParaRPr lang="es-PE" sz="6000" b="1" dirty="0">
              <a:solidFill>
                <a:srgbClr val="6C71A9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26F9A56-6554-423C-A15F-871B202C3DBE}"/>
              </a:ext>
            </a:extLst>
          </p:cNvPr>
          <p:cNvSpPr txBox="1"/>
          <p:nvPr/>
        </p:nvSpPr>
        <p:spPr>
          <a:xfrm>
            <a:off x="2506799" y="5669663"/>
            <a:ext cx="6097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exp</a:t>
            </a:r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 /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 no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exp</a:t>
            </a:r>
            <a:endParaRPr lang="es-PE" b="1" dirty="0">
              <a:latin typeface="Century Gothic" panose="020B0502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BED60E-E4BC-4B06-9645-F417F7223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489" y="4877606"/>
            <a:ext cx="2474093" cy="69782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59F0370E-E828-4BB8-9386-A17060CC6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085" y="4794009"/>
            <a:ext cx="384721" cy="30777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844A48EE-A670-40D5-BEBD-A019134BE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0217" y="5831460"/>
            <a:ext cx="2762636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6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D8356D9-B393-4221-BC9B-273BA020D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548" y="1922669"/>
            <a:ext cx="3696216" cy="3534268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7F0996-B242-4F91-A760-4AA12AF4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Regresión logística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6A19AEB-D1BD-45E5-B2A6-E1090AEE8E6A}"/>
              </a:ext>
            </a:extLst>
          </p:cNvPr>
          <p:cNvGraphicFramePr>
            <a:graphicFrameLocks noGrp="1"/>
          </p:cNvGraphicFramePr>
          <p:nvPr/>
        </p:nvGraphicFramePr>
        <p:xfrm>
          <a:off x="5470551" y="1925095"/>
          <a:ext cx="4262439" cy="2035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813">
                  <a:extLst>
                    <a:ext uri="{9D8B030D-6E8A-4147-A177-3AD203B41FA5}">
                      <a16:colId xmlns:a16="http://schemas.microsoft.com/office/drawing/2014/main" val="3715589592"/>
                    </a:ext>
                  </a:extLst>
                </a:gridCol>
                <a:gridCol w="1420813">
                  <a:extLst>
                    <a:ext uri="{9D8B030D-6E8A-4147-A177-3AD203B41FA5}">
                      <a16:colId xmlns:a16="http://schemas.microsoft.com/office/drawing/2014/main" val="354581522"/>
                    </a:ext>
                  </a:extLst>
                </a:gridCol>
                <a:gridCol w="1420813">
                  <a:extLst>
                    <a:ext uri="{9D8B030D-6E8A-4147-A177-3AD203B41FA5}">
                      <a16:colId xmlns:a16="http://schemas.microsoft.com/office/drawing/2014/main" val="4055064592"/>
                    </a:ext>
                  </a:extLst>
                </a:gridCol>
              </a:tblGrid>
              <a:tr h="678498">
                <a:tc>
                  <a:txBody>
                    <a:bodyPr/>
                    <a:lstStyle/>
                    <a:p>
                      <a:pPr algn="ctr"/>
                      <a:endParaRPr lang="es-PE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Sí IMA = 1</a:t>
                      </a:r>
                      <a:endParaRPr lang="es-P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No IMA = 0</a:t>
                      </a:r>
                      <a:endParaRPr lang="es-P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856348"/>
                  </a:ext>
                </a:extLst>
              </a:tr>
              <a:tr h="678498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bg1"/>
                          </a:solidFill>
                        </a:rPr>
                        <a:t>Sí DM2 = 1</a:t>
                      </a:r>
                      <a:endParaRPr lang="es-P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90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10</a:t>
                      </a:r>
                      <a:endParaRPr lang="es-P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60513"/>
                  </a:ext>
                </a:extLst>
              </a:tr>
              <a:tr h="6784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bg1"/>
                          </a:solidFill>
                        </a:rPr>
                        <a:t>No DM2 = 0</a:t>
                      </a:r>
                      <a:endParaRPr lang="es-P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20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80</a:t>
                      </a:r>
                      <a:endParaRPr lang="es-P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31216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A8F32183-D044-476F-8442-746C9013A1CC}"/>
              </a:ext>
            </a:extLst>
          </p:cNvPr>
          <p:cNvSpPr/>
          <p:nvPr/>
        </p:nvSpPr>
        <p:spPr>
          <a:xfrm rot="16200000">
            <a:off x="4410020" y="3085716"/>
            <a:ext cx="1336356" cy="4000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Exposición 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FDD622-BC42-4269-9BE8-DA38BA6B8DCF}"/>
              </a:ext>
            </a:extLst>
          </p:cNvPr>
          <p:cNvSpPr/>
          <p:nvPr/>
        </p:nvSpPr>
        <p:spPr>
          <a:xfrm>
            <a:off x="6933592" y="1277315"/>
            <a:ext cx="2799397" cy="4000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Desenlace 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162D00-550C-4FC8-A6B9-28C55E02A0D3}"/>
              </a:ext>
            </a:extLst>
          </p:cNvPr>
          <p:cNvSpPr txBox="1"/>
          <p:nvPr/>
        </p:nvSpPr>
        <p:spPr>
          <a:xfrm>
            <a:off x="9792884" y="2686496"/>
            <a:ext cx="18351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90/10 = 9</a:t>
            </a:r>
            <a:endParaRPr lang="es-PE" sz="16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C84C9C-4592-4E52-AF2E-440D89473E88}"/>
              </a:ext>
            </a:extLst>
          </p:cNvPr>
          <p:cNvSpPr txBox="1"/>
          <p:nvPr/>
        </p:nvSpPr>
        <p:spPr>
          <a:xfrm>
            <a:off x="9792884" y="3332827"/>
            <a:ext cx="2225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20/80 = 0.25</a:t>
            </a:r>
            <a:endParaRPr lang="es-PE" sz="1600" dirty="0">
              <a:latin typeface="Century Gothic" panose="020B050202020202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8A922BF-69FE-4322-BC50-ADE9979FE772}"/>
              </a:ext>
            </a:extLst>
          </p:cNvPr>
          <p:cNvSpPr/>
          <p:nvPr/>
        </p:nvSpPr>
        <p:spPr>
          <a:xfrm>
            <a:off x="4884099" y="4166645"/>
            <a:ext cx="547910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8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ln</a:t>
            </a:r>
            <a:r>
              <a:rPr lang="es-PE" sz="28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(</a:t>
            </a:r>
            <a:r>
              <a:rPr lang="es-PE" sz="28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28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) </a:t>
            </a:r>
            <a:r>
              <a:rPr lang="es-PE" sz="2800" b="1" dirty="0">
                <a:latin typeface="Century Gothic" panose="020B0502020202020204" pitchFamily="34" charset="0"/>
              </a:rPr>
              <a:t>  =   </a:t>
            </a:r>
            <a:r>
              <a:rPr lang="es-PE" sz="28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sz="2800" b="1" dirty="0">
                <a:latin typeface="Century Gothic" panose="020B0502020202020204" pitchFamily="34" charset="0"/>
              </a:rPr>
              <a:t>  +  </a:t>
            </a:r>
            <a:r>
              <a:rPr lang="es-MX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</a:t>
            </a:r>
            <a:r>
              <a:rPr lang="es-PE" sz="2800" b="1" dirty="0">
                <a:latin typeface="Century Gothic" panose="020B0502020202020204" pitchFamily="34" charset="0"/>
              </a:rPr>
              <a:t>*</a:t>
            </a:r>
            <a:r>
              <a:rPr lang="es-PE" sz="28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X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F8379B-32F2-4FD0-92F2-489CBA9E708A}"/>
              </a:ext>
            </a:extLst>
          </p:cNvPr>
          <p:cNvSpPr txBox="1"/>
          <p:nvPr/>
        </p:nvSpPr>
        <p:spPr>
          <a:xfrm>
            <a:off x="4580792" y="4689865"/>
            <a:ext cx="21877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solidFill>
                  <a:srgbClr val="6C71A9"/>
                </a:solidFill>
                <a:latin typeface="Century Gothic" panose="020B0502020202020204" pitchFamily="34" charset="0"/>
              </a:rPr>
              <a:t>¿OR?</a:t>
            </a:r>
            <a:endParaRPr lang="es-PE" sz="6000" b="1" dirty="0">
              <a:solidFill>
                <a:srgbClr val="6C71A9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C570012-513D-4053-8CA0-6B770549756A}"/>
              </a:ext>
            </a:extLst>
          </p:cNvPr>
          <p:cNvSpPr/>
          <p:nvPr/>
        </p:nvSpPr>
        <p:spPr>
          <a:xfrm>
            <a:off x="6579704" y="4709746"/>
            <a:ext cx="5612296" cy="209288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b="1" dirty="0">
                <a:latin typeface="Century Gothic" panose="020B0502020202020204" pitchFamily="34" charset="0"/>
              </a:rPr>
              <a:t>= </a:t>
            </a:r>
            <a:r>
              <a:rPr lang="es-PE" b="1" dirty="0" err="1">
                <a:latin typeface="Century Gothic" panose="020B0502020202020204" pitchFamily="34" charset="0"/>
              </a:rPr>
              <a:t>exp</a:t>
            </a:r>
            <a:r>
              <a:rPr lang="es-PE" b="1" dirty="0">
                <a:latin typeface="Century Gothic" panose="020B0502020202020204" pitchFamily="34" charset="0"/>
              </a:rPr>
              <a:t>(</a:t>
            </a:r>
            <a:r>
              <a:rPr lang="es-PE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b="1" dirty="0">
                <a:latin typeface="Century Gothic" panose="020B0502020202020204" pitchFamily="34" charset="0"/>
              </a:rPr>
              <a:t>  +  </a:t>
            </a:r>
            <a:r>
              <a:rPr 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</a:t>
            </a:r>
            <a:r>
              <a:rPr lang="es-PE" b="1" dirty="0">
                <a:latin typeface="Century Gothic" panose="020B0502020202020204" pitchFamily="34" charset="0"/>
              </a:rPr>
              <a:t>*</a:t>
            </a:r>
            <a:r>
              <a:rPr lang="es-PE" b="1" dirty="0">
                <a:solidFill>
                  <a:srgbClr val="00B050"/>
                </a:solidFill>
                <a:latin typeface="Century Gothic" panose="020B0502020202020204" pitchFamily="34" charset="0"/>
              </a:rPr>
              <a:t>X = 1</a:t>
            </a:r>
            <a:r>
              <a:rPr lang="es-PE" b="1" dirty="0">
                <a:latin typeface="Century Gothic" panose="020B0502020202020204" pitchFamily="34" charset="0"/>
              </a:rPr>
              <a:t>) </a:t>
            </a:r>
            <a:r>
              <a:rPr lang="es-PE" sz="20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/</a:t>
            </a:r>
            <a:r>
              <a:rPr lang="es-PE" b="1" dirty="0">
                <a:latin typeface="Century Gothic" panose="020B0502020202020204" pitchFamily="34" charset="0"/>
              </a:rPr>
              <a:t> </a:t>
            </a:r>
            <a:r>
              <a:rPr lang="es-PE" b="1" dirty="0" err="1">
                <a:latin typeface="Century Gothic" panose="020B0502020202020204" pitchFamily="34" charset="0"/>
              </a:rPr>
              <a:t>exp</a:t>
            </a:r>
            <a:r>
              <a:rPr lang="es-PE" b="1" dirty="0">
                <a:latin typeface="Century Gothic" panose="020B0502020202020204" pitchFamily="34" charset="0"/>
              </a:rPr>
              <a:t>(</a:t>
            </a:r>
            <a:r>
              <a:rPr lang="es-PE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b="1" dirty="0">
                <a:latin typeface="Century Gothic" panose="020B0502020202020204" pitchFamily="34" charset="0"/>
              </a:rPr>
              <a:t>  +  </a:t>
            </a:r>
            <a:r>
              <a:rPr 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</a:t>
            </a:r>
            <a:r>
              <a:rPr lang="es-PE" b="1" dirty="0">
                <a:latin typeface="Century Gothic" panose="020B0502020202020204" pitchFamily="34" charset="0"/>
              </a:rPr>
              <a:t>*</a:t>
            </a:r>
            <a:r>
              <a:rPr lang="es-PE" b="1" dirty="0">
                <a:solidFill>
                  <a:srgbClr val="00B050"/>
                </a:solidFill>
                <a:latin typeface="Century Gothic" panose="020B0502020202020204" pitchFamily="34" charset="0"/>
              </a:rPr>
              <a:t>X = 0</a:t>
            </a:r>
            <a:r>
              <a:rPr lang="es-PE" b="1" dirty="0">
                <a:latin typeface="Century Gothic" panose="020B0502020202020204" pitchFamily="34" charset="0"/>
              </a:rPr>
              <a:t>)  </a:t>
            </a:r>
          </a:p>
          <a:p>
            <a:pPr algn="ctr"/>
            <a:endParaRPr lang="es-PE" b="1" dirty="0">
              <a:solidFill>
                <a:srgbClr val="00B050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es-PE" b="1" dirty="0">
                <a:latin typeface="Century Gothic" panose="020B0502020202020204" pitchFamily="34" charset="0"/>
              </a:rPr>
              <a:t>= </a:t>
            </a:r>
            <a:r>
              <a:rPr lang="es-PE" b="1" dirty="0" err="1">
                <a:latin typeface="Century Gothic" panose="020B0502020202020204" pitchFamily="34" charset="0"/>
              </a:rPr>
              <a:t>exp</a:t>
            </a:r>
            <a:r>
              <a:rPr lang="es-PE" b="1" dirty="0">
                <a:latin typeface="Century Gothic" panose="020B0502020202020204" pitchFamily="34" charset="0"/>
              </a:rPr>
              <a:t>(</a:t>
            </a:r>
            <a:r>
              <a:rPr lang="es-PE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b="1" dirty="0">
                <a:latin typeface="Century Gothic" panose="020B0502020202020204" pitchFamily="34" charset="0"/>
              </a:rPr>
              <a:t>  +  </a:t>
            </a:r>
            <a:r>
              <a:rPr 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</a:t>
            </a:r>
            <a:r>
              <a:rPr lang="es-PE" b="1" dirty="0">
                <a:latin typeface="Century Gothic" panose="020B0502020202020204" pitchFamily="34" charset="0"/>
              </a:rPr>
              <a:t>) </a:t>
            </a:r>
            <a:r>
              <a:rPr lang="es-PE" sz="20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/</a:t>
            </a:r>
            <a:r>
              <a:rPr lang="es-PE" b="1" dirty="0">
                <a:latin typeface="Century Gothic" panose="020B0502020202020204" pitchFamily="34" charset="0"/>
              </a:rPr>
              <a:t> </a:t>
            </a:r>
            <a:r>
              <a:rPr lang="es-PE" b="1" dirty="0" err="1">
                <a:latin typeface="Century Gothic" panose="020B0502020202020204" pitchFamily="34" charset="0"/>
              </a:rPr>
              <a:t>exp</a:t>
            </a:r>
            <a:r>
              <a:rPr lang="es-PE" b="1" dirty="0">
                <a:latin typeface="Century Gothic" panose="020B0502020202020204" pitchFamily="34" charset="0"/>
              </a:rPr>
              <a:t>(</a:t>
            </a:r>
            <a:r>
              <a:rPr lang="es-PE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b="1" dirty="0">
                <a:latin typeface="Century Gothic" panose="020B0502020202020204" pitchFamily="34" charset="0"/>
              </a:rPr>
              <a:t>)  </a:t>
            </a:r>
          </a:p>
          <a:p>
            <a:pPr algn="ctr"/>
            <a:endParaRPr lang="es-PE" b="1" dirty="0">
              <a:latin typeface="Century Gothic" panose="020B0502020202020204" pitchFamily="34" charset="0"/>
            </a:endParaRPr>
          </a:p>
          <a:p>
            <a:pPr algn="ctr"/>
            <a:r>
              <a:rPr lang="es-PE" b="1" dirty="0">
                <a:latin typeface="Century Gothic" panose="020B0502020202020204" pitchFamily="34" charset="0"/>
              </a:rPr>
              <a:t>= </a:t>
            </a:r>
            <a:r>
              <a:rPr lang="es-PE" b="1" dirty="0" err="1">
                <a:latin typeface="Century Gothic" panose="020B0502020202020204" pitchFamily="34" charset="0"/>
              </a:rPr>
              <a:t>exp</a:t>
            </a:r>
            <a:r>
              <a:rPr lang="es-PE" b="1" dirty="0">
                <a:latin typeface="Century Gothic" panose="020B0502020202020204" pitchFamily="34" charset="0"/>
              </a:rPr>
              <a:t>(</a:t>
            </a:r>
            <a:r>
              <a:rPr lang="es-PE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b="1" dirty="0">
                <a:latin typeface="Century Gothic" panose="020B0502020202020204" pitchFamily="34" charset="0"/>
              </a:rPr>
              <a:t>  +  </a:t>
            </a:r>
            <a:r>
              <a:rPr 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 </a:t>
            </a:r>
            <a:r>
              <a:rPr lang="es-PE" sz="20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-</a:t>
            </a:r>
            <a:r>
              <a:rPr lang="es-PE" b="1" dirty="0">
                <a:latin typeface="Century Gothic" panose="020B0502020202020204" pitchFamily="34" charset="0"/>
              </a:rPr>
              <a:t> </a:t>
            </a:r>
            <a:r>
              <a:rPr lang="es-PE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b="1" dirty="0">
                <a:latin typeface="Century Gothic" panose="020B0502020202020204" pitchFamily="34" charset="0"/>
              </a:rPr>
              <a:t>)  </a:t>
            </a:r>
          </a:p>
          <a:p>
            <a:pPr algn="ctr"/>
            <a:endParaRPr lang="es-PE" b="1" dirty="0">
              <a:latin typeface="Century Gothic" panose="020B0502020202020204" pitchFamily="34" charset="0"/>
            </a:endParaRPr>
          </a:p>
          <a:p>
            <a:pPr algn="ctr"/>
            <a:r>
              <a:rPr lang="es-PE" b="1" dirty="0">
                <a:latin typeface="Century Gothic" panose="020B0502020202020204" pitchFamily="34" charset="0"/>
              </a:rPr>
              <a:t>= </a:t>
            </a:r>
            <a:r>
              <a:rPr lang="es-PE" b="1" dirty="0" err="1">
                <a:latin typeface="Century Gothic" panose="020B0502020202020204" pitchFamily="34" charset="0"/>
              </a:rPr>
              <a:t>exp</a:t>
            </a:r>
            <a:r>
              <a:rPr lang="es-PE" b="1" dirty="0">
                <a:latin typeface="Century Gothic" panose="020B0502020202020204" pitchFamily="34" charset="0"/>
              </a:rPr>
              <a:t>(</a:t>
            </a:r>
            <a:r>
              <a:rPr 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</a:t>
            </a:r>
            <a:r>
              <a:rPr lang="es-PE" b="1" dirty="0">
                <a:latin typeface="Century Gothic" panose="020B0502020202020204" pitchFamily="34" charset="0"/>
              </a:rPr>
              <a:t>) </a:t>
            </a:r>
          </a:p>
          <a:p>
            <a:pPr algn="ctr"/>
            <a:endParaRPr lang="es-PE" b="1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26F9A56-6554-423C-A15F-871B202C3DBE}"/>
              </a:ext>
            </a:extLst>
          </p:cNvPr>
          <p:cNvSpPr txBox="1"/>
          <p:nvPr/>
        </p:nvSpPr>
        <p:spPr>
          <a:xfrm>
            <a:off x="2506799" y="5669663"/>
            <a:ext cx="6097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exp</a:t>
            </a:r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 /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 no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exp</a:t>
            </a:r>
            <a:endParaRPr lang="es-PE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2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D8356D9-B393-4221-BC9B-273BA020D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548" y="1922669"/>
            <a:ext cx="3696216" cy="3534268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7F0996-B242-4F91-A760-4AA12AF4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Regresión logística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6A19AEB-D1BD-45E5-B2A6-E1090AEE8E6A}"/>
              </a:ext>
            </a:extLst>
          </p:cNvPr>
          <p:cNvGraphicFramePr>
            <a:graphicFrameLocks noGrp="1"/>
          </p:cNvGraphicFramePr>
          <p:nvPr/>
        </p:nvGraphicFramePr>
        <p:xfrm>
          <a:off x="5470551" y="1925095"/>
          <a:ext cx="4262439" cy="2035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813">
                  <a:extLst>
                    <a:ext uri="{9D8B030D-6E8A-4147-A177-3AD203B41FA5}">
                      <a16:colId xmlns:a16="http://schemas.microsoft.com/office/drawing/2014/main" val="3715589592"/>
                    </a:ext>
                  </a:extLst>
                </a:gridCol>
                <a:gridCol w="1420813">
                  <a:extLst>
                    <a:ext uri="{9D8B030D-6E8A-4147-A177-3AD203B41FA5}">
                      <a16:colId xmlns:a16="http://schemas.microsoft.com/office/drawing/2014/main" val="354581522"/>
                    </a:ext>
                  </a:extLst>
                </a:gridCol>
                <a:gridCol w="1420813">
                  <a:extLst>
                    <a:ext uri="{9D8B030D-6E8A-4147-A177-3AD203B41FA5}">
                      <a16:colId xmlns:a16="http://schemas.microsoft.com/office/drawing/2014/main" val="4055064592"/>
                    </a:ext>
                  </a:extLst>
                </a:gridCol>
              </a:tblGrid>
              <a:tr h="678498">
                <a:tc>
                  <a:txBody>
                    <a:bodyPr/>
                    <a:lstStyle/>
                    <a:p>
                      <a:pPr algn="ctr"/>
                      <a:endParaRPr lang="es-PE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Sí IMA = 1</a:t>
                      </a:r>
                      <a:endParaRPr lang="es-P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No IMA = 0</a:t>
                      </a:r>
                      <a:endParaRPr lang="es-P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856348"/>
                  </a:ext>
                </a:extLst>
              </a:tr>
              <a:tr h="678498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bg1"/>
                          </a:solidFill>
                        </a:rPr>
                        <a:t>Sí DM2 = 1</a:t>
                      </a:r>
                      <a:endParaRPr lang="es-P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90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10</a:t>
                      </a:r>
                      <a:endParaRPr lang="es-P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60513"/>
                  </a:ext>
                </a:extLst>
              </a:tr>
              <a:tr h="6784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bg1"/>
                          </a:solidFill>
                        </a:rPr>
                        <a:t>No DM2 = 0</a:t>
                      </a:r>
                      <a:endParaRPr lang="es-P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20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80</a:t>
                      </a:r>
                      <a:endParaRPr lang="es-P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31216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A8F32183-D044-476F-8442-746C9013A1CC}"/>
              </a:ext>
            </a:extLst>
          </p:cNvPr>
          <p:cNvSpPr/>
          <p:nvPr/>
        </p:nvSpPr>
        <p:spPr>
          <a:xfrm rot="16200000">
            <a:off x="4410020" y="3085716"/>
            <a:ext cx="1336356" cy="4000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Exposición 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FDD622-BC42-4269-9BE8-DA38BA6B8DCF}"/>
              </a:ext>
            </a:extLst>
          </p:cNvPr>
          <p:cNvSpPr/>
          <p:nvPr/>
        </p:nvSpPr>
        <p:spPr>
          <a:xfrm>
            <a:off x="6933592" y="1277315"/>
            <a:ext cx="2799397" cy="4000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Desenlace 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162D00-550C-4FC8-A6B9-28C55E02A0D3}"/>
              </a:ext>
            </a:extLst>
          </p:cNvPr>
          <p:cNvSpPr txBox="1"/>
          <p:nvPr/>
        </p:nvSpPr>
        <p:spPr>
          <a:xfrm>
            <a:off x="9792884" y="2686496"/>
            <a:ext cx="18351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90/10 = 9</a:t>
            </a:r>
            <a:endParaRPr lang="es-PE" sz="16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C84C9C-4592-4E52-AF2E-440D89473E88}"/>
              </a:ext>
            </a:extLst>
          </p:cNvPr>
          <p:cNvSpPr txBox="1"/>
          <p:nvPr/>
        </p:nvSpPr>
        <p:spPr>
          <a:xfrm>
            <a:off x="9792884" y="3332827"/>
            <a:ext cx="2225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20/80 = 0.25</a:t>
            </a:r>
            <a:endParaRPr lang="es-PE" sz="1600" dirty="0">
              <a:latin typeface="Century Gothic" panose="020B050202020202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8A922BF-69FE-4322-BC50-ADE9979FE772}"/>
              </a:ext>
            </a:extLst>
          </p:cNvPr>
          <p:cNvSpPr/>
          <p:nvPr/>
        </p:nvSpPr>
        <p:spPr>
          <a:xfrm>
            <a:off x="4884099" y="4166645"/>
            <a:ext cx="547910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8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ln</a:t>
            </a:r>
            <a:r>
              <a:rPr lang="es-PE" sz="28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(</a:t>
            </a:r>
            <a:r>
              <a:rPr lang="es-PE" sz="2800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sz="28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) </a:t>
            </a:r>
            <a:r>
              <a:rPr lang="es-PE" sz="2800" b="1" dirty="0">
                <a:latin typeface="Century Gothic" panose="020B0502020202020204" pitchFamily="34" charset="0"/>
              </a:rPr>
              <a:t>  =   </a:t>
            </a:r>
            <a:r>
              <a:rPr lang="es-PE" sz="28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-1.386</a:t>
            </a:r>
            <a:r>
              <a:rPr lang="es-PE" sz="2800" b="1" dirty="0">
                <a:latin typeface="Century Gothic" panose="020B0502020202020204" pitchFamily="34" charset="0"/>
              </a:rPr>
              <a:t>  +  </a:t>
            </a:r>
            <a:r>
              <a:rPr lang="es-MX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3.583</a:t>
            </a:r>
            <a:r>
              <a:rPr lang="es-PE" sz="2800" b="1" dirty="0">
                <a:latin typeface="Century Gothic" panose="020B0502020202020204" pitchFamily="34" charset="0"/>
              </a:rPr>
              <a:t>*</a:t>
            </a:r>
            <a:r>
              <a:rPr lang="es-PE" sz="28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X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C524F97-02BC-4011-8104-879A2F5757F0}"/>
              </a:ext>
            </a:extLst>
          </p:cNvPr>
          <p:cNvSpPr txBox="1"/>
          <p:nvPr/>
        </p:nvSpPr>
        <p:spPr>
          <a:xfrm>
            <a:off x="4979926" y="6349140"/>
            <a:ext cx="22321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OR = 9/0.25 = 36</a:t>
            </a:r>
            <a:endParaRPr lang="es-PE" sz="2000" dirty="0">
              <a:latin typeface="Century Gothic" panose="020B0502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1B5454A-37AF-4D32-A6CC-A1FA4EA923E4}"/>
              </a:ext>
            </a:extLst>
          </p:cNvPr>
          <p:cNvSpPr txBox="1"/>
          <p:nvPr/>
        </p:nvSpPr>
        <p:spPr>
          <a:xfrm>
            <a:off x="7667523" y="4895921"/>
            <a:ext cx="2232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OR = </a:t>
            </a:r>
            <a:r>
              <a:rPr lang="es-PE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e^</a:t>
            </a:r>
            <a:endParaRPr lang="es-PE" sz="2000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3E1EA05-634F-453B-8368-601827B1C968}"/>
              </a:ext>
            </a:extLst>
          </p:cNvPr>
          <p:cNvSpPr txBox="1"/>
          <p:nvPr/>
        </p:nvSpPr>
        <p:spPr>
          <a:xfrm>
            <a:off x="8767411" y="4919429"/>
            <a:ext cx="11160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(3.583)</a:t>
            </a:r>
            <a:endParaRPr lang="es-PE" sz="1600" dirty="0">
              <a:latin typeface="Century Gothic" panose="020B0502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C409B0B-9E65-41B3-95F5-323E5A2FF0DB}"/>
              </a:ext>
            </a:extLst>
          </p:cNvPr>
          <p:cNvSpPr txBox="1"/>
          <p:nvPr/>
        </p:nvSpPr>
        <p:spPr>
          <a:xfrm>
            <a:off x="7667523" y="5500546"/>
            <a:ext cx="22321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OR = 36</a:t>
            </a:r>
            <a:endParaRPr lang="es-PE" sz="2000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F8379B-32F2-4FD0-92F2-489CBA9E708A}"/>
              </a:ext>
            </a:extLst>
          </p:cNvPr>
          <p:cNvSpPr txBox="1"/>
          <p:nvPr/>
        </p:nvSpPr>
        <p:spPr>
          <a:xfrm>
            <a:off x="4580792" y="4689865"/>
            <a:ext cx="27895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000" b="1" dirty="0">
                <a:solidFill>
                  <a:srgbClr val="6C71A9"/>
                </a:solidFill>
                <a:latin typeface="Century Gothic" panose="020B0502020202020204" pitchFamily="34" charset="0"/>
              </a:rPr>
              <a:t>¿OR?</a:t>
            </a:r>
            <a:endParaRPr lang="es-PE" sz="8000" b="1" dirty="0">
              <a:solidFill>
                <a:srgbClr val="6C71A9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88E35AB-9349-44D1-8040-ED1073E4668E}"/>
              </a:ext>
            </a:extLst>
          </p:cNvPr>
          <p:cNvSpPr txBox="1"/>
          <p:nvPr/>
        </p:nvSpPr>
        <p:spPr>
          <a:xfrm>
            <a:off x="4580792" y="6013304"/>
            <a:ext cx="2789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=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exp</a:t>
            </a:r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 /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Odds</a:t>
            </a:r>
            <a:r>
              <a:rPr lang="es-PE" b="1" dirty="0">
                <a:solidFill>
                  <a:srgbClr val="7030A0"/>
                </a:solidFill>
                <a:latin typeface="Century Gothic" panose="020B0502020202020204" pitchFamily="34" charset="0"/>
              </a:rPr>
              <a:t> no </a:t>
            </a:r>
            <a:r>
              <a:rPr lang="es-PE" b="1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exp</a:t>
            </a:r>
            <a:endParaRPr lang="es-PE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01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38C878F-B84D-488A-A3A5-E15B8AD48F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9763"/>
            <a:ext cx="10088215" cy="511175"/>
          </a:xfrm>
        </p:spPr>
        <p:txBody>
          <a:bodyPr>
            <a:normAutofit fontScale="90000"/>
          </a:bodyPr>
          <a:lstStyle/>
          <a:p>
            <a:r>
              <a:rPr lang="es-P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Exploremos como funciona la regresión logística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9EB090E-E763-44E0-9BDB-5B5A25018B3B}"/>
              </a:ext>
            </a:extLst>
          </p:cNvPr>
          <p:cNvSpPr txBox="1"/>
          <p:nvPr/>
        </p:nvSpPr>
        <p:spPr>
          <a:xfrm>
            <a:off x="7797043" y="2621453"/>
            <a:ext cx="2796776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Aquí observamos la probabilidad de que el evento exista para cada observación del eje X.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3B5FF4F2-7E8A-4A1C-84E9-CD727775D24D}"/>
              </a:ext>
            </a:extLst>
          </p:cNvPr>
          <p:cNvCxnSpPr>
            <a:cxnSpLocks/>
          </p:cNvCxnSpPr>
          <p:nvPr/>
        </p:nvCxnSpPr>
        <p:spPr>
          <a:xfrm>
            <a:off x="3472749" y="1490133"/>
            <a:ext cx="0" cy="3877733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3F05CCB-E19A-4755-B9BF-176D29B79660}"/>
              </a:ext>
            </a:extLst>
          </p:cNvPr>
          <p:cNvCxnSpPr>
            <a:cxnSpLocks/>
          </p:cNvCxnSpPr>
          <p:nvPr/>
        </p:nvCxnSpPr>
        <p:spPr>
          <a:xfrm flipH="1">
            <a:off x="3423732" y="5359147"/>
            <a:ext cx="3873205" cy="8719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C994358-38E6-41E9-B6AB-5EA6B2243CDB}"/>
              </a:ext>
            </a:extLst>
          </p:cNvPr>
          <p:cNvSpPr txBox="1"/>
          <p:nvPr/>
        </p:nvSpPr>
        <p:spPr>
          <a:xfrm>
            <a:off x="4958292" y="6111505"/>
            <a:ext cx="1592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dirty="0">
                <a:latin typeface="Century Gothic" panose="020B0502020202020204" pitchFamily="34" charset="0"/>
              </a:rPr>
              <a:t>X: Diabetes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41F30E1-C87C-43A3-ABAD-C21DD715FEC7}"/>
              </a:ext>
            </a:extLst>
          </p:cNvPr>
          <p:cNvSpPr txBox="1"/>
          <p:nvPr/>
        </p:nvSpPr>
        <p:spPr>
          <a:xfrm rot="16200000">
            <a:off x="575603" y="3280119"/>
            <a:ext cx="3956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dirty="0">
                <a:latin typeface="Century Gothic" panose="020B0502020202020204" pitchFamily="34" charset="0"/>
              </a:rPr>
              <a:t>Y: Infarto agudo de miocardio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45241C3-2ABC-4BC8-A791-E7E6C85024B8}"/>
              </a:ext>
            </a:extLst>
          </p:cNvPr>
          <p:cNvSpPr txBox="1"/>
          <p:nvPr/>
        </p:nvSpPr>
        <p:spPr>
          <a:xfrm>
            <a:off x="4273338" y="5503106"/>
            <a:ext cx="10871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Century Gothic" panose="020B0502020202020204" pitchFamily="34" charset="0"/>
              </a:rPr>
              <a:t>Ref. = No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9B6E8672-B626-4F07-95B3-E0C6D45D2D16}"/>
              </a:ext>
            </a:extLst>
          </p:cNvPr>
          <p:cNvSpPr txBox="1"/>
          <p:nvPr/>
        </p:nvSpPr>
        <p:spPr>
          <a:xfrm>
            <a:off x="6279321" y="5534506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 err="1">
                <a:latin typeface="Century Gothic" panose="020B0502020202020204" pitchFamily="34" charset="0"/>
              </a:rPr>
              <a:t>Exp</a:t>
            </a:r>
            <a:r>
              <a:rPr lang="es-PE" sz="1600" dirty="0">
                <a:latin typeface="Century Gothic" panose="020B0502020202020204" pitchFamily="34" charset="0"/>
              </a:rPr>
              <a:t>. = Sí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F4D5F034-9187-4F66-A5D5-9C2CF90F3923}"/>
              </a:ext>
            </a:extLst>
          </p:cNvPr>
          <p:cNvSpPr/>
          <p:nvPr/>
        </p:nvSpPr>
        <p:spPr>
          <a:xfrm>
            <a:off x="2762736" y="2534840"/>
            <a:ext cx="838924" cy="882119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600">
              <a:latin typeface="Century Gothic" panose="020B0502020202020204" pitchFamily="34" charset="0"/>
            </a:endParaRP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10DD7397-9C8A-4C31-AB8F-4C1B9B7B0A64}"/>
              </a:ext>
            </a:extLst>
          </p:cNvPr>
          <p:cNvSpPr/>
          <p:nvPr/>
        </p:nvSpPr>
        <p:spPr>
          <a:xfrm>
            <a:off x="5892811" y="5416969"/>
            <a:ext cx="1677488" cy="633426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600">
              <a:solidFill>
                <a:srgbClr val="FFC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06F022C5-42B0-4486-9779-5B8F8C7F916E}"/>
              </a:ext>
            </a:extLst>
          </p:cNvPr>
          <p:cNvSpPr/>
          <p:nvPr/>
        </p:nvSpPr>
        <p:spPr>
          <a:xfrm>
            <a:off x="2752081" y="3960175"/>
            <a:ext cx="838924" cy="865821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600">
              <a:latin typeface="Century Gothic" panose="020B0502020202020204" pitchFamily="34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72302C0A-289E-452F-B140-1CDEB47C6DFE}"/>
              </a:ext>
            </a:extLst>
          </p:cNvPr>
          <p:cNvSpPr txBox="1"/>
          <p:nvPr/>
        </p:nvSpPr>
        <p:spPr>
          <a:xfrm>
            <a:off x="2696386" y="4150502"/>
            <a:ext cx="769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i="1" dirty="0">
                <a:latin typeface="Century Gothic" panose="020B0502020202020204" pitchFamily="34" charset="0"/>
              </a:rPr>
              <a:t>No</a:t>
            </a:r>
            <a:endParaRPr lang="es-PE" sz="2000" dirty="0">
              <a:latin typeface="Century Gothic" panose="020B0502020202020204" pitchFamily="34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BD2618FF-D7DF-4C54-94DB-E42F0B0D20D2}"/>
              </a:ext>
            </a:extLst>
          </p:cNvPr>
          <p:cNvSpPr txBox="1"/>
          <p:nvPr/>
        </p:nvSpPr>
        <p:spPr>
          <a:xfrm>
            <a:off x="2748989" y="2755585"/>
            <a:ext cx="769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i="1" dirty="0">
                <a:latin typeface="Century Gothic" panose="020B0502020202020204" pitchFamily="34" charset="0"/>
              </a:rPr>
              <a:t>Si</a:t>
            </a:r>
            <a:endParaRPr lang="es-PE" sz="2000" dirty="0">
              <a:latin typeface="Century Gothic" panose="020B0502020202020204" pitchFamily="34" charset="0"/>
            </a:endParaRP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8547746E-E750-44EC-90B8-9FD778DE9465}"/>
              </a:ext>
            </a:extLst>
          </p:cNvPr>
          <p:cNvSpPr/>
          <p:nvPr/>
        </p:nvSpPr>
        <p:spPr>
          <a:xfrm>
            <a:off x="4003720" y="5375454"/>
            <a:ext cx="1590409" cy="600812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600">
              <a:latin typeface="Century Gothic" panose="020B0502020202020204" pitchFamily="34" charset="0"/>
            </a:endParaRP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9894F0CE-10D1-4F0A-9A42-E949BF771430}"/>
              </a:ext>
            </a:extLst>
          </p:cNvPr>
          <p:cNvSpPr/>
          <p:nvPr/>
        </p:nvSpPr>
        <p:spPr>
          <a:xfrm>
            <a:off x="4760996" y="2869602"/>
            <a:ext cx="288342" cy="295607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b="1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EA59FB67-497A-42BA-823B-BC488C512CFF}"/>
              </a:ext>
            </a:extLst>
          </p:cNvPr>
          <p:cNvSpPr txBox="1"/>
          <p:nvPr/>
        </p:nvSpPr>
        <p:spPr>
          <a:xfrm rot="16200000">
            <a:off x="575603" y="3280120"/>
            <a:ext cx="3956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dirty="0">
                <a:latin typeface="Century Gothic" panose="020B0502020202020204" pitchFamily="34" charset="0"/>
              </a:rPr>
              <a:t>Y: Infarto agudo de miocardio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D8B6BBC7-822D-4846-8DD9-2B90BB6647A5}"/>
              </a:ext>
            </a:extLst>
          </p:cNvPr>
          <p:cNvSpPr/>
          <p:nvPr/>
        </p:nvSpPr>
        <p:spPr>
          <a:xfrm>
            <a:off x="6447848" y="4204131"/>
            <a:ext cx="219021" cy="19668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b="1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7392A399-3AAE-4CD3-ABC9-02153E4FA42D}"/>
              </a:ext>
            </a:extLst>
          </p:cNvPr>
          <p:cNvSpPr txBox="1"/>
          <p:nvPr/>
        </p:nvSpPr>
        <p:spPr>
          <a:xfrm>
            <a:off x="4388055" y="2616272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00A5562D-20D9-493A-B053-7DDC89C3CDC3}"/>
              </a:ext>
            </a:extLst>
          </p:cNvPr>
          <p:cNvSpPr txBox="1"/>
          <p:nvPr/>
        </p:nvSpPr>
        <p:spPr>
          <a:xfrm>
            <a:off x="4390645" y="3508126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80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E73DC5C1-172B-4642-9F3B-6C5AAD36F846}"/>
              </a:ext>
            </a:extLst>
          </p:cNvPr>
          <p:cNvSpPr txBox="1"/>
          <p:nvPr/>
        </p:nvSpPr>
        <p:spPr>
          <a:xfrm>
            <a:off x="6342452" y="2249926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90</a:t>
            </a:r>
          </a:p>
        </p:txBody>
      </p:sp>
      <p:sp>
        <p:nvSpPr>
          <p:cNvPr id="92" name="Forma libre: forma 91">
            <a:extLst>
              <a:ext uri="{FF2B5EF4-FFF2-40B4-BE49-F238E27FC236}">
                <a16:creationId xmlns:a16="http://schemas.microsoft.com/office/drawing/2014/main" id="{80277395-5BF1-48A2-B075-8C1A5CCC028F}"/>
              </a:ext>
            </a:extLst>
          </p:cNvPr>
          <p:cNvSpPr/>
          <p:nvPr/>
        </p:nvSpPr>
        <p:spPr>
          <a:xfrm>
            <a:off x="5032729" y="3171118"/>
            <a:ext cx="1485817" cy="972793"/>
          </a:xfrm>
          <a:custGeom>
            <a:avLst/>
            <a:gdLst>
              <a:gd name="connsiteX0" fmla="*/ 0 w 2714625"/>
              <a:gd name="connsiteY0" fmla="*/ 1960898 h 1992983"/>
              <a:gd name="connsiteX1" fmla="*/ 1071562 w 2714625"/>
              <a:gd name="connsiteY1" fmla="*/ 1760873 h 1992983"/>
              <a:gd name="connsiteX2" fmla="*/ 1571625 w 2714625"/>
              <a:gd name="connsiteY2" fmla="*/ 232110 h 1992983"/>
              <a:gd name="connsiteX3" fmla="*/ 2714625 w 2714625"/>
              <a:gd name="connsiteY3" fmla="*/ 32085 h 199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25" h="1992983">
                <a:moveTo>
                  <a:pt x="0" y="1960898"/>
                </a:moveTo>
                <a:cubicBezTo>
                  <a:pt x="404812" y="2004951"/>
                  <a:pt x="809625" y="2049004"/>
                  <a:pt x="1071562" y="1760873"/>
                </a:cubicBezTo>
                <a:cubicBezTo>
                  <a:pt x="1333499" y="1472742"/>
                  <a:pt x="1297781" y="520241"/>
                  <a:pt x="1571625" y="232110"/>
                </a:cubicBezTo>
                <a:cubicBezTo>
                  <a:pt x="1845469" y="-56021"/>
                  <a:pt x="2280047" y="-11968"/>
                  <a:pt x="2714625" y="32085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600" b="1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715E5A6A-61A9-49E3-B2FC-5D2924402FF6}"/>
              </a:ext>
            </a:extLst>
          </p:cNvPr>
          <p:cNvSpPr txBox="1"/>
          <p:nvPr/>
        </p:nvSpPr>
        <p:spPr>
          <a:xfrm>
            <a:off x="6351212" y="3741418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89D8A930-8755-4B1F-8C15-16A8F3F8FEF9}"/>
              </a:ext>
            </a:extLst>
          </p:cNvPr>
          <p:cNvSpPr/>
          <p:nvPr/>
        </p:nvSpPr>
        <p:spPr>
          <a:xfrm>
            <a:off x="4524117" y="3902268"/>
            <a:ext cx="686213" cy="688919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b="1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853DA61A-A881-4B99-8CFC-A851D22225E6}"/>
              </a:ext>
            </a:extLst>
          </p:cNvPr>
          <p:cNvSpPr/>
          <p:nvPr/>
        </p:nvSpPr>
        <p:spPr>
          <a:xfrm>
            <a:off x="6194328" y="2639915"/>
            <a:ext cx="708541" cy="760357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b="1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0C705C80-C78A-46A3-A457-DD0A0292B223}"/>
              </a:ext>
            </a:extLst>
          </p:cNvPr>
          <p:cNvSpPr txBox="1"/>
          <p:nvPr/>
        </p:nvSpPr>
        <p:spPr>
          <a:xfrm>
            <a:off x="3863697" y="1583106"/>
            <a:ext cx="1499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b="1" dirty="0">
                <a:latin typeface="Century Gothic" panose="020B0502020202020204" pitchFamily="34" charset="0"/>
              </a:rPr>
              <a:t>20/100 = 0.20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CAB1DA9B-AF70-40F0-A4AE-0D98D51593A3}"/>
              </a:ext>
            </a:extLst>
          </p:cNvPr>
          <p:cNvSpPr txBox="1"/>
          <p:nvPr/>
        </p:nvSpPr>
        <p:spPr>
          <a:xfrm>
            <a:off x="5659190" y="1577216"/>
            <a:ext cx="1499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b="1" dirty="0">
                <a:latin typeface="Century Gothic" panose="020B0502020202020204" pitchFamily="34" charset="0"/>
              </a:rPr>
              <a:t>90/100 = 0.90</a:t>
            </a:r>
          </a:p>
        </p:txBody>
      </p:sp>
    </p:spTree>
    <p:extLst>
      <p:ext uri="{BB962C8B-B14F-4D97-AF65-F5344CB8AC3E}">
        <p14:creationId xmlns:p14="http://schemas.microsoft.com/office/powerpoint/2010/main" val="146945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63" grpId="0" animBg="1"/>
      <p:bldP spid="64" grpId="0" animBg="1"/>
      <p:bldP spid="65" grpId="0" animBg="1"/>
      <p:bldP spid="70" grpId="0" animBg="1"/>
      <p:bldP spid="74" grpId="0" animBg="1"/>
      <p:bldP spid="80" grpId="0" animBg="1"/>
      <p:bldP spid="87" grpId="0"/>
      <p:bldP spid="88" grpId="0"/>
      <p:bldP spid="89" grpId="0"/>
      <p:bldP spid="92" grpId="0" animBg="1"/>
      <p:bldP spid="90" grpId="0"/>
      <p:bldP spid="81" grpId="0" animBg="1"/>
      <p:bldP spid="82" grpId="0" animBg="1"/>
      <p:bldP spid="93" grpId="0"/>
      <p:bldP spid="9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D076FA5-3709-4476-B3D8-C31A76BD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4678"/>
            <a:ext cx="7485185" cy="510868"/>
          </a:xfrm>
        </p:spPr>
        <p:txBody>
          <a:bodyPr/>
          <a:lstStyle/>
          <a:p>
            <a:r>
              <a:rPr lang="es-PE" dirty="0"/>
              <a:t>Consideraciones finales </a:t>
            </a:r>
          </a:p>
        </p:txBody>
      </p:sp>
      <p:pic>
        <p:nvPicPr>
          <p:cNvPr id="2050" name="Picture 2" descr="Cómo programar una regresión logística en R desde 0 - Ander Fernández">
            <a:extLst>
              <a:ext uri="{FF2B5EF4-FFF2-40B4-BE49-F238E27FC236}">
                <a16:creationId xmlns:a16="http://schemas.microsoft.com/office/drawing/2014/main" id="{54F4EA5E-921C-4C1A-87ED-516E2DB259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3" y="1500982"/>
            <a:ext cx="10399447" cy="4456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130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0D91D8F-B31F-4CF2-939A-A9EB664D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¿Cuándo calcular un RP y cuando un RR?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13FB57CD-9926-4EC0-93CE-90D175B8A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738" y="1504275"/>
            <a:ext cx="10694505" cy="1089328"/>
          </a:xfrm>
        </p:spPr>
        <p:txBody>
          <a:bodyPr>
            <a:noAutofit/>
          </a:bodyPr>
          <a:lstStyle/>
          <a:p>
            <a:pPr algn="just"/>
            <a:r>
              <a:rPr lang="es-PE" sz="2800" dirty="0"/>
              <a:t>Elegir la medida de asociación a calcular para desenlaces categóricos (RR, OR, RP) depende del </a:t>
            </a:r>
            <a:r>
              <a:rPr lang="es-PE" sz="2800" dirty="0">
                <a:solidFill>
                  <a:srgbClr val="FF0000"/>
                </a:solidFill>
              </a:rPr>
              <a:t>tipo de estudio </a:t>
            </a:r>
            <a:r>
              <a:rPr lang="es-PE" sz="2800" dirty="0"/>
              <a:t>que estemos realizando.</a:t>
            </a:r>
          </a:p>
          <a:p>
            <a:pPr marL="0" indent="0" algn="just">
              <a:buNone/>
            </a:pPr>
            <a:endParaRPr lang="es-PE" sz="2800" dirty="0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258C4BB3-57C4-4602-9807-4077165B6EA4}"/>
              </a:ext>
            </a:extLst>
          </p:cNvPr>
          <p:cNvGraphicFramePr>
            <a:graphicFrameLocks noGrp="1"/>
          </p:cNvGraphicFramePr>
          <p:nvPr/>
        </p:nvGraphicFramePr>
        <p:xfrm>
          <a:off x="985517" y="3013509"/>
          <a:ext cx="10440945" cy="276905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088189">
                  <a:extLst>
                    <a:ext uri="{9D8B030D-6E8A-4147-A177-3AD203B41FA5}">
                      <a16:colId xmlns:a16="http://schemas.microsoft.com/office/drawing/2014/main" val="1999413533"/>
                    </a:ext>
                  </a:extLst>
                </a:gridCol>
                <a:gridCol w="2088189">
                  <a:extLst>
                    <a:ext uri="{9D8B030D-6E8A-4147-A177-3AD203B41FA5}">
                      <a16:colId xmlns:a16="http://schemas.microsoft.com/office/drawing/2014/main" val="1452938829"/>
                    </a:ext>
                  </a:extLst>
                </a:gridCol>
                <a:gridCol w="2088189">
                  <a:extLst>
                    <a:ext uri="{9D8B030D-6E8A-4147-A177-3AD203B41FA5}">
                      <a16:colId xmlns:a16="http://schemas.microsoft.com/office/drawing/2014/main" val="1971486472"/>
                    </a:ext>
                  </a:extLst>
                </a:gridCol>
                <a:gridCol w="2088189">
                  <a:extLst>
                    <a:ext uri="{9D8B030D-6E8A-4147-A177-3AD203B41FA5}">
                      <a16:colId xmlns:a16="http://schemas.microsoft.com/office/drawing/2014/main" val="2205294438"/>
                    </a:ext>
                  </a:extLst>
                </a:gridCol>
                <a:gridCol w="2088189">
                  <a:extLst>
                    <a:ext uri="{9D8B030D-6E8A-4147-A177-3AD203B41FA5}">
                      <a16:colId xmlns:a16="http://schemas.microsoft.com/office/drawing/2014/main" val="2827446317"/>
                    </a:ext>
                  </a:extLst>
                </a:gridCol>
              </a:tblGrid>
              <a:tr h="1031695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Century Gothic" panose="020B0502020202020204" pitchFamily="34" charset="0"/>
                        </a:rPr>
                        <a:t>Medida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>
                          <a:latin typeface="Century Gothic" panose="020B0502020202020204" pitchFamily="34" charset="0"/>
                        </a:rPr>
                        <a:t>Transversales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Century Gothic" panose="020B0502020202020204" pitchFamily="34" charset="0"/>
                        </a:rPr>
                        <a:t>Cohorte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>
                          <a:latin typeface="Century Gothic" panose="020B0502020202020204" pitchFamily="34" charset="0"/>
                        </a:rPr>
                        <a:t>Ensayos clínicos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>
                          <a:latin typeface="Century Gothic" panose="020B0502020202020204" pitchFamily="34" charset="0"/>
                        </a:rPr>
                        <a:t>Caso-control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669167"/>
                  </a:ext>
                </a:extLst>
              </a:tr>
              <a:tr h="573164"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latin typeface="Century Gothic" panose="020B0502020202020204" pitchFamily="34" charset="0"/>
                        </a:rPr>
                        <a:t>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200" b="1" dirty="0">
                          <a:latin typeface="Century Gothic" panose="020B0502020202020204" pitchFamily="34" charset="0"/>
                        </a:rPr>
                        <a:t>X</a:t>
                      </a:r>
                      <a:endParaRPr lang="es-PE" sz="3200" b="1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97932"/>
                  </a:ext>
                </a:extLst>
              </a:tr>
              <a:tr h="573164"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latin typeface="Century Gothic" panose="020B0502020202020204" pitchFamily="34" charset="0"/>
                        </a:rPr>
                        <a:t>RR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200" b="1" dirty="0">
                          <a:latin typeface="Century Gothic" panose="020B0502020202020204" pitchFamily="34" charset="0"/>
                        </a:rPr>
                        <a:t>X</a:t>
                      </a:r>
                      <a:endParaRPr lang="es-PE" sz="3200" b="1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778607"/>
                  </a:ext>
                </a:extLst>
              </a:tr>
              <a:tr h="573164"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latin typeface="Century Gothic" panose="020B0502020202020204" pitchFamily="34" charset="0"/>
                        </a:rPr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640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213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A0FF12-CD71-4A85-A575-39BD90B2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09" y="266271"/>
            <a:ext cx="10515600" cy="1325563"/>
          </a:xfrm>
        </p:spPr>
        <p:txBody>
          <a:bodyPr/>
          <a:lstStyle/>
          <a:p>
            <a:r>
              <a:rPr lang="es-PE" dirty="0"/>
              <a:t>Interpretación del OR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B8FC318-E15D-4BAD-BF56-BE73F3241B10}"/>
              </a:ext>
            </a:extLst>
          </p:cNvPr>
          <p:cNvSpPr txBox="1">
            <a:spLocks/>
          </p:cNvSpPr>
          <p:nvPr/>
        </p:nvSpPr>
        <p:spPr>
          <a:xfrm>
            <a:off x="839356" y="1417485"/>
            <a:ext cx="10932514" cy="14529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b="1" dirty="0">
                <a:solidFill>
                  <a:srgbClr val="FFC000"/>
                </a:solidFill>
                <a:latin typeface="Century Gothic" panose="020B0502020202020204" pitchFamily="34" charset="0"/>
              </a:rPr>
              <a:t>OR = 1.50</a:t>
            </a:r>
          </a:p>
          <a:p>
            <a:pPr marL="0" indent="0" algn="ctr">
              <a:buNone/>
            </a:pPr>
            <a:r>
              <a:rPr lang="es-PE" dirty="0">
                <a:latin typeface="Century Gothic" panose="020B0502020202020204" pitchFamily="34" charset="0"/>
              </a:rPr>
              <a:t>Este valor indica cuánto más o menos es el </a:t>
            </a:r>
            <a:r>
              <a:rPr lang="es-PE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odds</a:t>
            </a:r>
            <a:r>
              <a:rPr lang="es-PE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lang="es-PE" dirty="0">
                <a:latin typeface="Century Gothic" panose="020B0502020202020204" pitchFamily="34" charset="0"/>
              </a:rPr>
              <a:t>del desenlace en el grupo expuesto, con respecto al grupo no expuesto.</a:t>
            </a:r>
          </a:p>
        </p:txBody>
      </p:sp>
      <p:graphicFrame>
        <p:nvGraphicFramePr>
          <p:cNvPr id="8" name="Tabla 3">
            <a:extLst>
              <a:ext uri="{FF2B5EF4-FFF2-40B4-BE49-F238E27FC236}">
                <a16:creationId xmlns:a16="http://schemas.microsoft.com/office/drawing/2014/main" id="{5186F12B-42B5-4B78-ABDB-817538A5ADD8}"/>
              </a:ext>
            </a:extLst>
          </p:cNvPr>
          <p:cNvGraphicFramePr>
            <a:graphicFrameLocks noGrp="1"/>
          </p:cNvGraphicFramePr>
          <p:nvPr/>
        </p:nvGraphicFramePr>
        <p:xfrm>
          <a:off x="1022956" y="3115434"/>
          <a:ext cx="10748914" cy="3408293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5374457">
                  <a:extLst>
                    <a:ext uri="{9D8B030D-6E8A-4147-A177-3AD203B41FA5}">
                      <a16:colId xmlns:a16="http://schemas.microsoft.com/office/drawing/2014/main" val="3939767637"/>
                    </a:ext>
                  </a:extLst>
                </a:gridCol>
                <a:gridCol w="5374457">
                  <a:extLst>
                    <a:ext uri="{9D8B030D-6E8A-4147-A177-3AD203B41FA5}">
                      <a16:colId xmlns:a16="http://schemas.microsoft.com/office/drawing/2014/main" val="3566296977"/>
                    </a:ext>
                  </a:extLst>
                </a:gridCol>
              </a:tblGrid>
              <a:tr h="535249">
                <a:tc>
                  <a:txBody>
                    <a:bodyPr/>
                    <a:lstStyle/>
                    <a:p>
                      <a:pPr algn="ctr"/>
                      <a:r>
                        <a:rPr lang="es-PE" sz="3200" dirty="0">
                          <a:latin typeface="Century Gothic" panose="020B0502020202020204" pitchFamily="34" charset="0"/>
                        </a:rPr>
                        <a:t>Valor del OR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dirty="0">
                          <a:latin typeface="Century Gothic" panose="020B0502020202020204" pitchFamily="34" charset="0"/>
                        </a:rPr>
                        <a:t>Interpretación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496770"/>
                  </a:ext>
                </a:extLst>
              </a:tr>
              <a:tr h="981465">
                <a:tc>
                  <a:txBody>
                    <a:bodyPr/>
                    <a:lstStyle/>
                    <a:p>
                      <a:pPr algn="ctr"/>
                      <a:r>
                        <a:rPr lang="es-PE" sz="3600" b="1" dirty="0">
                          <a:latin typeface="Century Gothic" panose="020B0502020202020204" pitchFamily="34" charset="0"/>
                        </a:rPr>
                        <a:t>OR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Los </a:t>
                      </a:r>
                      <a:r>
                        <a:rPr lang="es-PE" b="1" dirty="0" err="1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odds</a:t>
                      </a:r>
                      <a:r>
                        <a:rPr lang="es-PE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 del desenlace son iguales </a:t>
                      </a:r>
                      <a:r>
                        <a:rPr lang="es-PE" dirty="0">
                          <a:latin typeface="Century Gothic" panose="020B0502020202020204" pitchFamily="34" charset="0"/>
                        </a:rPr>
                        <a:t>entre el grupo expuesto y el grupo no expuesto / </a:t>
                      </a:r>
                      <a:r>
                        <a:rPr lang="es-PE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No hay efecto </a:t>
                      </a:r>
                      <a:r>
                        <a:rPr lang="es-PE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/ </a:t>
                      </a:r>
                      <a:r>
                        <a:rPr lang="es-PE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No hay asociación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01545"/>
                  </a:ext>
                </a:extLst>
              </a:tr>
              <a:tr h="923854">
                <a:tc>
                  <a:txBody>
                    <a:bodyPr/>
                    <a:lstStyle/>
                    <a:p>
                      <a:pPr algn="ctr"/>
                      <a:r>
                        <a:rPr lang="es-PE" sz="3600" b="1" dirty="0">
                          <a:latin typeface="Century Gothic" panose="020B0502020202020204" pitchFamily="34" charset="0"/>
                        </a:rPr>
                        <a:t>OR </a:t>
                      </a:r>
                      <a:r>
                        <a:rPr lang="en-US" sz="3600" b="1" dirty="0">
                          <a:latin typeface="Century Gothic" panose="020B0502020202020204" pitchFamily="34" charset="0"/>
                        </a:rPr>
                        <a:t>&gt; </a:t>
                      </a:r>
                      <a:r>
                        <a:rPr lang="es-PE" sz="3600" b="1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latin typeface="Century Gothic" panose="020B0502020202020204" pitchFamily="34" charset="0"/>
                        </a:rPr>
                        <a:t>El grupo expuesto tiene </a:t>
                      </a:r>
                      <a:r>
                        <a:rPr lang="es-PE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mayor </a:t>
                      </a:r>
                      <a:r>
                        <a:rPr lang="es-PE" b="1" dirty="0" err="1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Odds</a:t>
                      </a:r>
                      <a:r>
                        <a:rPr lang="es-PE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s-PE" dirty="0">
                          <a:latin typeface="Century Gothic" panose="020B0502020202020204" pitchFamily="34" charset="0"/>
                        </a:rPr>
                        <a:t>del desenlace que el grupo no expuesto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373530"/>
                  </a:ext>
                </a:extLst>
              </a:tr>
              <a:tr h="923854">
                <a:tc>
                  <a:txBody>
                    <a:bodyPr/>
                    <a:lstStyle/>
                    <a:p>
                      <a:pPr algn="ctr"/>
                      <a:r>
                        <a:rPr lang="es-PE" sz="3600" b="1" dirty="0">
                          <a:latin typeface="Century Gothic" panose="020B0502020202020204" pitchFamily="34" charset="0"/>
                        </a:rPr>
                        <a:t>OR &lt;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latin typeface="Century Gothic" panose="020B0502020202020204" pitchFamily="34" charset="0"/>
                        </a:rPr>
                        <a:t>El grupo expuesto tiene </a:t>
                      </a:r>
                      <a:r>
                        <a:rPr lang="es-PE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menor </a:t>
                      </a:r>
                      <a:r>
                        <a:rPr lang="es-PE" b="1" dirty="0" err="1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Odds</a:t>
                      </a:r>
                      <a:r>
                        <a:rPr lang="es-PE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s-PE" dirty="0">
                          <a:latin typeface="Century Gothic" panose="020B0502020202020204" pitchFamily="34" charset="0"/>
                        </a:rPr>
                        <a:t>del desenlace que el grupo no expuesto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31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695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A0FF12-CD71-4A85-A575-39BD90B2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5" y="258285"/>
            <a:ext cx="9359791" cy="1398346"/>
          </a:xfrm>
        </p:spPr>
        <p:txBody>
          <a:bodyPr>
            <a:noAutofit/>
          </a:bodyPr>
          <a:lstStyle/>
          <a:p>
            <a:r>
              <a:rPr lang="es-PE" sz="2800" dirty="0"/>
              <a:t>Interpretación del OR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53F7E9AB-0497-4989-9955-4CB4ABFF363D}"/>
              </a:ext>
            </a:extLst>
          </p:cNvPr>
          <p:cNvSpPr txBox="1">
            <a:spLocks/>
          </p:cNvSpPr>
          <p:nvPr/>
        </p:nvSpPr>
        <p:spPr>
          <a:xfrm>
            <a:off x="1187582" y="1656631"/>
            <a:ext cx="9891423" cy="47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rgbClr val="6C71A9"/>
                </a:solidFill>
                <a:latin typeface="Century Gothic" panose="020B0502020202020204" pitchFamily="34" charset="0"/>
              </a:rPr>
              <a:t>Valor del OR</a:t>
            </a:r>
            <a:endParaRPr lang="es-PE" sz="2400" b="1" dirty="0">
              <a:solidFill>
                <a:srgbClr val="6C71A9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Marcador de contenido 1">
            <a:extLst>
              <a:ext uri="{FF2B5EF4-FFF2-40B4-BE49-F238E27FC236}">
                <a16:creationId xmlns:a16="http://schemas.microsoft.com/office/drawing/2014/main" id="{81ADCCB7-8275-41FB-B418-60F280C67453}"/>
              </a:ext>
            </a:extLst>
          </p:cNvPr>
          <p:cNvSpPr txBox="1">
            <a:spLocks/>
          </p:cNvSpPr>
          <p:nvPr/>
        </p:nvSpPr>
        <p:spPr>
          <a:xfrm>
            <a:off x="1000688" y="2625184"/>
            <a:ext cx="10499450" cy="2620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>
                <a:latin typeface="Century Gothic" panose="020B0502020202020204" pitchFamily="34" charset="0"/>
              </a:rPr>
              <a:t>0.3            0.5            0.8          1         1.2               1.5           2.5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06F0465-6A04-4252-A776-3AB92593DF1A}"/>
              </a:ext>
            </a:extLst>
          </p:cNvPr>
          <p:cNvSpPr/>
          <p:nvPr/>
        </p:nvSpPr>
        <p:spPr>
          <a:xfrm flipH="1" flipV="1">
            <a:off x="5996859" y="3072570"/>
            <a:ext cx="136435" cy="3234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Century Gothic" panose="020B0502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5C0BEE8-43DC-4843-B124-E7F640376FEE}"/>
              </a:ext>
            </a:extLst>
          </p:cNvPr>
          <p:cNvSpPr/>
          <p:nvPr/>
        </p:nvSpPr>
        <p:spPr>
          <a:xfrm>
            <a:off x="1101463" y="2296542"/>
            <a:ext cx="44791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PE" sz="1600" dirty="0">
                <a:latin typeface="Century Gothic" panose="020B0502020202020204" pitchFamily="34" charset="0"/>
              </a:rPr>
              <a:t>La </a:t>
            </a:r>
            <a:r>
              <a:rPr lang="es-PE" sz="1600" b="1" dirty="0" err="1"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latin typeface="Century Gothic" panose="020B0502020202020204" pitchFamily="34" charset="0"/>
              </a:rPr>
              <a:t> del desenlace</a:t>
            </a:r>
            <a:r>
              <a:rPr lang="es-PE" sz="1600" dirty="0">
                <a:latin typeface="Century Gothic" panose="020B0502020202020204" pitchFamily="34" charset="0"/>
              </a:rPr>
              <a:t> disminuye (menos) 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744774C-FE0D-4562-9E1F-D4F32F00ADC0}"/>
              </a:ext>
            </a:extLst>
          </p:cNvPr>
          <p:cNvSpPr/>
          <p:nvPr/>
        </p:nvSpPr>
        <p:spPr>
          <a:xfrm>
            <a:off x="6905555" y="2296542"/>
            <a:ext cx="41024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600" dirty="0">
                <a:latin typeface="Century Gothic" panose="020B0502020202020204" pitchFamily="34" charset="0"/>
              </a:rPr>
              <a:t>La </a:t>
            </a:r>
            <a:r>
              <a:rPr lang="es-PE" sz="1600" b="1" dirty="0" err="1">
                <a:latin typeface="Century Gothic" panose="020B0502020202020204" pitchFamily="34" charset="0"/>
              </a:rPr>
              <a:t>Odds</a:t>
            </a:r>
            <a:r>
              <a:rPr lang="es-PE" sz="1600" b="1" dirty="0">
                <a:latin typeface="Century Gothic" panose="020B0502020202020204" pitchFamily="34" charset="0"/>
              </a:rPr>
              <a:t> del desenlace</a:t>
            </a:r>
            <a:r>
              <a:rPr lang="es-PE" sz="1600" dirty="0">
                <a:latin typeface="Century Gothic" panose="020B0502020202020204" pitchFamily="34" charset="0"/>
              </a:rPr>
              <a:t> aumenta (más)</a:t>
            </a:r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435C300A-86D2-41FD-9B55-EFF9D0E76910}"/>
              </a:ext>
            </a:extLst>
          </p:cNvPr>
          <p:cNvSpPr/>
          <p:nvPr/>
        </p:nvSpPr>
        <p:spPr>
          <a:xfrm>
            <a:off x="6110243" y="3141420"/>
            <a:ext cx="1257098" cy="500448"/>
          </a:xfrm>
          <a:prstGeom prst="rightArrow">
            <a:avLst/>
          </a:prstGeom>
          <a:ln w="57150">
            <a:solidFill>
              <a:srgbClr val="6C71A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100" b="1" dirty="0">
                <a:latin typeface="Century Gothic" panose="020B0502020202020204" pitchFamily="34" charset="0"/>
              </a:rPr>
              <a:t>0.2 (20%)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04532C1-CC5F-4F04-AEA2-D26FA8638FB8}"/>
              </a:ext>
            </a:extLst>
          </p:cNvPr>
          <p:cNvSpPr/>
          <p:nvPr/>
        </p:nvSpPr>
        <p:spPr>
          <a:xfrm>
            <a:off x="6093455" y="3741025"/>
            <a:ext cx="3156323" cy="500448"/>
          </a:xfrm>
          <a:prstGeom prst="rightArrow">
            <a:avLst/>
          </a:prstGeom>
          <a:ln w="57150">
            <a:solidFill>
              <a:srgbClr val="6C71A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latin typeface="Century Gothic" panose="020B0502020202020204" pitchFamily="34" charset="0"/>
              </a:rPr>
              <a:t>0.5 (50%)</a:t>
            </a:r>
            <a:endParaRPr lang="en-US" sz="1600" b="1" dirty="0">
              <a:latin typeface="Century Gothic" panose="020B0502020202020204" pitchFamily="34" charset="0"/>
            </a:endParaRPr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C42ECF61-A1E0-4123-8B59-C9D038D801E9}"/>
              </a:ext>
            </a:extLst>
          </p:cNvPr>
          <p:cNvSpPr/>
          <p:nvPr/>
        </p:nvSpPr>
        <p:spPr>
          <a:xfrm>
            <a:off x="6065520" y="4438635"/>
            <a:ext cx="4699252" cy="500448"/>
          </a:xfrm>
          <a:prstGeom prst="rightArrow">
            <a:avLst/>
          </a:prstGeom>
          <a:ln w="57150">
            <a:solidFill>
              <a:srgbClr val="6C71A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latin typeface="Century Gothic" panose="020B0502020202020204" pitchFamily="34" charset="0"/>
              </a:rPr>
              <a:t>1.5 (150%)</a:t>
            </a:r>
            <a:endParaRPr lang="en-US" sz="1600" b="1" dirty="0">
              <a:latin typeface="Century Gothic" panose="020B0502020202020204" pitchFamily="34" charset="0"/>
            </a:endParaRPr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86F7E273-1D39-4899-B5E0-CE38FE0AB71B}"/>
              </a:ext>
            </a:extLst>
          </p:cNvPr>
          <p:cNvSpPr/>
          <p:nvPr/>
        </p:nvSpPr>
        <p:spPr>
          <a:xfrm flipH="1">
            <a:off x="5025191" y="3141420"/>
            <a:ext cx="1071428" cy="500448"/>
          </a:xfrm>
          <a:prstGeom prst="rightArrow">
            <a:avLst/>
          </a:prstGeom>
          <a:ln w="57150">
            <a:solidFill>
              <a:srgbClr val="6C71A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100" b="1" dirty="0">
                <a:latin typeface="Century Gothic" panose="020B0502020202020204" pitchFamily="34" charset="0"/>
              </a:rPr>
              <a:t>0.2 (20%)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CAD19907-6940-418E-9FA5-E2951475CF93}"/>
              </a:ext>
            </a:extLst>
          </p:cNvPr>
          <p:cNvSpPr/>
          <p:nvPr/>
        </p:nvSpPr>
        <p:spPr>
          <a:xfrm flipH="1">
            <a:off x="2559125" y="3741025"/>
            <a:ext cx="3566070" cy="500448"/>
          </a:xfrm>
          <a:prstGeom prst="rightArrow">
            <a:avLst/>
          </a:prstGeom>
          <a:ln w="57150">
            <a:solidFill>
              <a:srgbClr val="6C71A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latin typeface="Century Gothic" panose="020B0502020202020204" pitchFamily="34" charset="0"/>
              </a:rPr>
              <a:t>0.5 (50%)</a:t>
            </a:r>
            <a:endParaRPr lang="en-US" sz="1600" b="1" dirty="0">
              <a:latin typeface="Century Gothic" panose="020B0502020202020204" pitchFamily="34" charset="0"/>
            </a:endParaRPr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F4CAE80C-3A1E-472F-AD6C-25039483C2CA}"/>
              </a:ext>
            </a:extLst>
          </p:cNvPr>
          <p:cNvSpPr/>
          <p:nvPr/>
        </p:nvSpPr>
        <p:spPr>
          <a:xfrm flipH="1">
            <a:off x="989875" y="4438635"/>
            <a:ext cx="5134656" cy="500448"/>
          </a:xfrm>
          <a:prstGeom prst="rightArrow">
            <a:avLst/>
          </a:prstGeom>
          <a:ln w="57150">
            <a:solidFill>
              <a:srgbClr val="6C71A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latin typeface="Century Gothic" panose="020B0502020202020204" pitchFamily="34" charset="0"/>
              </a:rPr>
              <a:t>0.7 (70%)</a:t>
            </a:r>
            <a:endParaRPr lang="en-US" sz="1600" b="1" dirty="0">
              <a:latin typeface="Century Gothic" panose="020B0502020202020204" pitchFamily="34" charset="0"/>
            </a:endParaRPr>
          </a:p>
        </p:txBody>
      </p:sp>
      <p:sp>
        <p:nvSpPr>
          <p:cNvPr id="36" name="Marcador de contenido 2">
            <a:extLst>
              <a:ext uri="{FF2B5EF4-FFF2-40B4-BE49-F238E27FC236}">
                <a16:creationId xmlns:a16="http://schemas.microsoft.com/office/drawing/2014/main" id="{C51736D4-8591-4020-B1BE-FEA63747E4BB}"/>
              </a:ext>
            </a:extLst>
          </p:cNvPr>
          <p:cNvSpPr txBox="1">
            <a:spLocks/>
          </p:cNvSpPr>
          <p:nvPr/>
        </p:nvSpPr>
        <p:spPr>
          <a:xfrm>
            <a:off x="8872294" y="4933191"/>
            <a:ext cx="1479594" cy="57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dirty="0">
                <a:solidFill>
                  <a:srgbClr val="FF0000"/>
                </a:solidFill>
                <a:latin typeface="Century Gothic" panose="020B0502020202020204" pitchFamily="34" charset="0"/>
              </a:rPr>
              <a:t>1.50 </a:t>
            </a:r>
            <a:endParaRPr lang="es-PE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D2110E16-A758-4333-9193-E2DEEE6D6406}"/>
              </a:ext>
            </a:extLst>
          </p:cNvPr>
          <p:cNvSpPr/>
          <p:nvPr/>
        </p:nvSpPr>
        <p:spPr>
          <a:xfrm>
            <a:off x="6207868" y="5456848"/>
            <a:ext cx="3733746" cy="609930"/>
          </a:xfrm>
          <a:prstGeom prst="rightArrow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0.50 (50%)</a:t>
            </a:r>
            <a:endParaRPr lang="en-US" sz="14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45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2AF2F1A-750F-4E90-93A1-2FD4322E4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17" y="1784600"/>
            <a:ext cx="9278645" cy="4744112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FA0FF12-CD71-4A85-A575-39BD90B2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09" y="266271"/>
            <a:ext cx="10515600" cy="1325563"/>
          </a:xfrm>
        </p:spPr>
        <p:txBody>
          <a:bodyPr/>
          <a:lstStyle/>
          <a:p>
            <a:r>
              <a:rPr lang="es-PE" dirty="0"/>
              <a:t>Interpretación de la OR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8B3DBBF-FE95-4B41-9A38-1E0694F91F26}"/>
              </a:ext>
            </a:extLst>
          </p:cNvPr>
          <p:cNvSpPr/>
          <p:nvPr/>
        </p:nvSpPr>
        <p:spPr>
          <a:xfrm>
            <a:off x="2409246" y="2580294"/>
            <a:ext cx="1447137" cy="486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DF61D45-71E8-425B-ABA3-7EE086DC1E28}"/>
              </a:ext>
            </a:extLst>
          </p:cNvPr>
          <p:cNvSpPr/>
          <p:nvPr/>
        </p:nvSpPr>
        <p:spPr>
          <a:xfrm>
            <a:off x="4917549" y="2559679"/>
            <a:ext cx="1447137" cy="486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FA01724-4043-4815-BE88-79F49ABBA520}"/>
              </a:ext>
            </a:extLst>
          </p:cNvPr>
          <p:cNvSpPr/>
          <p:nvPr/>
        </p:nvSpPr>
        <p:spPr>
          <a:xfrm>
            <a:off x="7272460" y="2580294"/>
            <a:ext cx="1243387" cy="486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86DD17-4C35-4395-B86C-07FCDF6A723F}"/>
              </a:ext>
            </a:extLst>
          </p:cNvPr>
          <p:cNvSpPr/>
          <p:nvPr/>
        </p:nvSpPr>
        <p:spPr>
          <a:xfrm>
            <a:off x="6204417" y="5380287"/>
            <a:ext cx="3183172" cy="333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ADA7FD8-B5A3-4130-A521-6E3C9D4C7879}"/>
              </a:ext>
            </a:extLst>
          </p:cNvPr>
          <p:cNvSpPr/>
          <p:nvPr/>
        </p:nvSpPr>
        <p:spPr>
          <a:xfrm>
            <a:off x="2129237" y="2608869"/>
            <a:ext cx="2091316" cy="486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rgbClr val="FF0000"/>
                </a:solidFill>
              </a:rPr>
              <a:t>los adultos mayores de 30 años</a:t>
            </a:r>
            <a:endParaRPr lang="es-PE" sz="1400" b="1" dirty="0">
              <a:solidFill>
                <a:srgbClr val="FF0000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EB41718-CA56-4077-8699-06AC4704CE5D}"/>
              </a:ext>
            </a:extLst>
          </p:cNvPr>
          <p:cNvSpPr/>
          <p:nvPr/>
        </p:nvSpPr>
        <p:spPr>
          <a:xfrm>
            <a:off x="4849300" y="2541397"/>
            <a:ext cx="1447137" cy="486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rgbClr val="FF0000"/>
                </a:solidFill>
              </a:rPr>
              <a:t>odds</a:t>
            </a:r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8AAC92B-2CBB-40B9-8B0E-121F507BE199}"/>
              </a:ext>
            </a:extLst>
          </p:cNvPr>
          <p:cNvSpPr/>
          <p:nvPr/>
        </p:nvSpPr>
        <p:spPr>
          <a:xfrm>
            <a:off x="7216341" y="2628797"/>
            <a:ext cx="1717567" cy="486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FF0000"/>
                </a:solidFill>
              </a:rPr>
              <a:t>Sufrir de infarto de miocardio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367EA4E-85AD-4732-A087-1B4113DC730F}"/>
              </a:ext>
            </a:extLst>
          </p:cNvPr>
          <p:cNvSpPr/>
          <p:nvPr/>
        </p:nvSpPr>
        <p:spPr>
          <a:xfrm>
            <a:off x="3265383" y="3919949"/>
            <a:ext cx="1345263" cy="486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de sexo masculino</a:t>
            </a:r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5655388-1184-406A-B6F7-3D0A0EC85FCC}"/>
              </a:ext>
            </a:extLst>
          </p:cNvPr>
          <p:cNvSpPr/>
          <p:nvPr/>
        </p:nvSpPr>
        <p:spPr>
          <a:xfrm>
            <a:off x="5719859" y="3971269"/>
            <a:ext cx="1345263" cy="486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50% mayor</a:t>
            </a:r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B091A37-7A70-4C71-B1D7-EDC48342BB76}"/>
              </a:ext>
            </a:extLst>
          </p:cNvPr>
          <p:cNvSpPr/>
          <p:nvPr/>
        </p:nvSpPr>
        <p:spPr>
          <a:xfrm>
            <a:off x="1900238" y="5424049"/>
            <a:ext cx="1973040" cy="333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de sexo femenino</a:t>
            </a:r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8A42105-A588-47F6-892F-E5FAA3A41C42}"/>
              </a:ext>
            </a:extLst>
          </p:cNvPr>
          <p:cNvSpPr/>
          <p:nvPr/>
        </p:nvSpPr>
        <p:spPr>
          <a:xfrm>
            <a:off x="2083339" y="1366788"/>
            <a:ext cx="3014027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200" b="1" dirty="0">
                <a:solidFill>
                  <a:srgbClr val="FF0000"/>
                </a:solidFill>
              </a:rPr>
              <a:t>OR = 1.50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0AA8D0FE-6750-4FA8-B929-D35806942F87}"/>
              </a:ext>
            </a:extLst>
          </p:cNvPr>
          <p:cNvSpPr/>
          <p:nvPr/>
        </p:nvSpPr>
        <p:spPr>
          <a:xfrm>
            <a:off x="6324331" y="1353713"/>
            <a:ext cx="4122083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PE" sz="2200" b="1" dirty="0">
                <a:solidFill>
                  <a:srgbClr val="FF0000"/>
                </a:solidFill>
              </a:rPr>
              <a:t>OR = 1.50 – 1 = 0.50 x 100% = 50%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3BEB0AE-239D-4364-9AEC-45602C91A413}"/>
              </a:ext>
            </a:extLst>
          </p:cNvPr>
          <p:cNvSpPr/>
          <p:nvPr/>
        </p:nvSpPr>
        <p:spPr>
          <a:xfrm>
            <a:off x="6356817" y="5424049"/>
            <a:ext cx="3183172" cy="333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err="1">
                <a:solidFill>
                  <a:srgbClr val="FF0000"/>
                </a:solidFill>
              </a:rPr>
              <a:t>Estadisticamente</a:t>
            </a:r>
            <a:r>
              <a:rPr lang="es-PE" b="1" dirty="0">
                <a:solidFill>
                  <a:srgbClr val="FF0000"/>
                </a:solidFill>
              </a:rPr>
              <a:t> significativo</a:t>
            </a:r>
          </a:p>
        </p:txBody>
      </p:sp>
    </p:spTree>
    <p:extLst>
      <p:ext uri="{BB962C8B-B14F-4D97-AF65-F5344CB8AC3E}">
        <p14:creationId xmlns:p14="http://schemas.microsoft.com/office/powerpoint/2010/main" val="143984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0A2B60D-AE13-46C0-8CA8-9291F7152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E945CE8-E896-4632-A078-07847BD1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880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A0FF12-CD71-4A85-A575-39BD90B2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09" y="266271"/>
            <a:ext cx="10515600" cy="1325563"/>
          </a:xfrm>
        </p:spPr>
        <p:txBody>
          <a:bodyPr/>
          <a:lstStyle/>
          <a:p>
            <a:r>
              <a:rPr lang="es-PE" dirty="0"/>
              <a:t>Regresión y comando en STATA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56201F-4EF7-4A8A-BD5A-D7C0AF008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289" y="214257"/>
            <a:ext cx="1538959" cy="377853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9EDDC460-4383-4FDA-82C5-CE09AA029961}"/>
              </a:ext>
            </a:extLst>
          </p:cNvPr>
          <p:cNvSpPr txBox="1">
            <a:spLocks/>
          </p:cNvSpPr>
          <p:nvPr/>
        </p:nvSpPr>
        <p:spPr>
          <a:xfrm>
            <a:off x="839355" y="1591833"/>
            <a:ext cx="10515599" cy="1837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dirty="0"/>
              <a:t>Para calcular OR y su intervalo de confianza utilizamos la </a:t>
            </a:r>
            <a:r>
              <a:rPr lang="es-PE" b="1" dirty="0">
                <a:solidFill>
                  <a:srgbClr val="FF0000"/>
                </a:solidFill>
              </a:rPr>
              <a:t>regresión logística</a:t>
            </a:r>
            <a:r>
              <a:rPr lang="es-PE" dirty="0"/>
              <a:t>.</a:t>
            </a:r>
          </a:p>
          <a:p>
            <a:pPr algn="just"/>
            <a:r>
              <a:rPr lang="es-PE" dirty="0"/>
              <a:t>El comando en STATA es el siguiente: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98C20E9-64FC-4319-94E4-BA2C5898A413}"/>
              </a:ext>
            </a:extLst>
          </p:cNvPr>
          <p:cNvSpPr txBox="1">
            <a:spLocks/>
          </p:cNvSpPr>
          <p:nvPr/>
        </p:nvSpPr>
        <p:spPr>
          <a:xfrm>
            <a:off x="999993" y="3536848"/>
            <a:ext cx="10515599" cy="74359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3600" b="1" dirty="0" err="1">
                <a:solidFill>
                  <a:srgbClr val="0070C0"/>
                </a:solidFill>
              </a:rPr>
              <a:t>logistic</a:t>
            </a:r>
            <a:r>
              <a:rPr lang="es-PE" sz="3600" dirty="0"/>
              <a:t> </a:t>
            </a:r>
            <a:r>
              <a:rPr lang="es-PE" sz="3600" b="1" dirty="0" err="1">
                <a:solidFill>
                  <a:srgbClr val="FF0000"/>
                </a:solidFill>
              </a:rPr>
              <a:t>vardesenlace</a:t>
            </a:r>
            <a:r>
              <a:rPr lang="es-PE" sz="3600" b="1" dirty="0">
                <a:solidFill>
                  <a:srgbClr val="FF0000"/>
                </a:solidFill>
              </a:rPr>
              <a:t> </a:t>
            </a:r>
            <a:r>
              <a:rPr lang="es-PE" sz="3600" b="1" dirty="0" err="1">
                <a:solidFill>
                  <a:srgbClr val="00B050"/>
                </a:solidFill>
              </a:rPr>
              <a:t>varindep</a:t>
            </a:r>
            <a:endParaRPr lang="es-PE" sz="3600" b="1" dirty="0">
              <a:solidFill>
                <a:srgbClr val="0070C0"/>
              </a:solidFill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9DC9B13-C8F2-4C56-9197-96D6A9D0D8A8}"/>
              </a:ext>
            </a:extLst>
          </p:cNvPr>
          <p:cNvSpPr txBox="1">
            <a:spLocks/>
          </p:cNvSpPr>
          <p:nvPr/>
        </p:nvSpPr>
        <p:spPr>
          <a:xfrm>
            <a:off x="4077729" y="4992130"/>
            <a:ext cx="5692347" cy="1216852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b="1" dirty="0" err="1">
                <a:solidFill>
                  <a:srgbClr val="00B050"/>
                </a:solidFill>
              </a:rPr>
              <a:t>varindep</a:t>
            </a:r>
            <a:r>
              <a:rPr lang="es-PE" b="1" dirty="0">
                <a:solidFill>
                  <a:srgbClr val="00B050"/>
                </a:solidFill>
              </a:rPr>
              <a:t> numérica: </a:t>
            </a:r>
            <a:r>
              <a:rPr lang="es-PE" dirty="0"/>
              <a:t>edad</a:t>
            </a:r>
          </a:p>
          <a:p>
            <a:pPr marL="0" indent="0">
              <a:buNone/>
            </a:pPr>
            <a:r>
              <a:rPr lang="es-PE" b="1" dirty="0" err="1">
                <a:solidFill>
                  <a:srgbClr val="00B050"/>
                </a:solidFill>
              </a:rPr>
              <a:t>varindep</a:t>
            </a:r>
            <a:r>
              <a:rPr lang="es-PE" b="1" dirty="0">
                <a:solidFill>
                  <a:srgbClr val="00B050"/>
                </a:solidFill>
              </a:rPr>
              <a:t> categórica: </a:t>
            </a:r>
            <a:r>
              <a:rPr lang="es-PE" dirty="0" err="1"/>
              <a:t>i.sexo</a:t>
            </a:r>
            <a:endParaRPr lang="es-PE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2060D4D-EB0D-4D62-A2AA-E5846B92724A}"/>
              </a:ext>
            </a:extLst>
          </p:cNvPr>
          <p:cNvCxnSpPr/>
          <p:nvPr/>
        </p:nvCxnSpPr>
        <p:spPr>
          <a:xfrm>
            <a:off x="6623222" y="4280442"/>
            <a:ext cx="0" cy="72816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DB9EFC8D-7323-40AE-BF7C-3717D33FB292}"/>
              </a:ext>
            </a:extLst>
          </p:cNvPr>
          <p:cNvSpPr/>
          <p:nvPr/>
        </p:nvSpPr>
        <p:spPr>
          <a:xfrm>
            <a:off x="7131175" y="5660255"/>
            <a:ext cx="354227" cy="3707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2638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24ED579-22CF-49A4-A42A-30F10145B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32" y="1688845"/>
            <a:ext cx="9683063" cy="4849779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FA0FF12-CD71-4A85-A575-39BD90B2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35" y="214257"/>
            <a:ext cx="10515600" cy="1005938"/>
          </a:xfrm>
        </p:spPr>
        <p:txBody>
          <a:bodyPr/>
          <a:lstStyle/>
          <a:p>
            <a:r>
              <a:rPr lang="es-PE" dirty="0"/>
              <a:t>Reconocimiento de la salida de Stata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56201F-4EF7-4A8A-BD5A-D7C0AF008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289" y="214257"/>
            <a:ext cx="1538959" cy="377853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9173DF72-70C1-4AA5-8CBC-E59956AD6D2C}"/>
              </a:ext>
            </a:extLst>
          </p:cNvPr>
          <p:cNvSpPr txBox="1">
            <a:spLocks/>
          </p:cNvSpPr>
          <p:nvPr/>
        </p:nvSpPr>
        <p:spPr>
          <a:xfrm>
            <a:off x="517962" y="6152259"/>
            <a:ext cx="3099202" cy="491484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/>
              <a:t>Variable(s) independiente(s)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5A8CC1B-BEC9-4786-B359-E5FAD6F5D414}"/>
              </a:ext>
            </a:extLst>
          </p:cNvPr>
          <p:cNvSpPr/>
          <p:nvPr/>
        </p:nvSpPr>
        <p:spPr>
          <a:xfrm>
            <a:off x="6711967" y="1258147"/>
            <a:ext cx="5168164" cy="707886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000" dirty="0"/>
              <a:t>Número de participantes analizados en el modelo de regresión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FD6F2161-15CD-4901-9A50-CA0A98D88402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V="1">
            <a:off x="10777694" y="1612090"/>
            <a:ext cx="1102437" cy="863841"/>
          </a:xfrm>
          <a:prstGeom prst="bentConnector3">
            <a:avLst>
              <a:gd name="adj1" fmla="val 12073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BBB7D92-9DED-464E-AF50-D75E60552D04}"/>
              </a:ext>
            </a:extLst>
          </p:cNvPr>
          <p:cNvSpPr/>
          <p:nvPr/>
        </p:nvSpPr>
        <p:spPr>
          <a:xfrm flipH="1">
            <a:off x="6740096" y="2319976"/>
            <a:ext cx="4037598" cy="31190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463E66-72BD-49A6-B449-7E0069023B11}"/>
              </a:ext>
            </a:extLst>
          </p:cNvPr>
          <p:cNvSpPr/>
          <p:nvPr/>
        </p:nvSpPr>
        <p:spPr>
          <a:xfrm flipH="1">
            <a:off x="962108" y="1635174"/>
            <a:ext cx="4818489" cy="3786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8119EBF-C669-4EE0-A8D6-1F828471C892}"/>
              </a:ext>
            </a:extLst>
          </p:cNvPr>
          <p:cNvSpPr/>
          <p:nvPr/>
        </p:nvSpPr>
        <p:spPr>
          <a:xfrm>
            <a:off x="1267393" y="1173367"/>
            <a:ext cx="2809145" cy="40011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000" dirty="0"/>
              <a:t>Comando para </a:t>
            </a:r>
            <a:r>
              <a:rPr lang="es-PE" sz="2000" dirty="0" err="1"/>
              <a:t>Logistica</a:t>
            </a:r>
            <a:endParaRPr lang="es-PE" sz="2000" dirty="0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4DD88941-CAE7-4B90-9013-99A8835AAC48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rot="10800000" flipH="1">
            <a:off x="962107" y="1373423"/>
            <a:ext cx="305285" cy="451081"/>
          </a:xfrm>
          <a:prstGeom prst="bentConnector3">
            <a:avLst>
              <a:gd name="adj1" fmla="val -7488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E1A7FFC-CE97-495F-AE70-02082F00424B}"/>
              </a:ext>
            </a:extLst>
          </p:cNvPr>
          <p:cNvSpPr/>
          <p:nvPr/>
        </p:nvSpPr>
        <p:spPr>
          <a:xfrm>
            <a:off x="10678601" y="3424424"/>
            <a:ext cx="1425429" cy="707886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000" dirty="0"/>
              <a:t>Valor “p” del modelo</a:t>
            </a:r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0F42AC69-5659-492D-B6A1-750E53E47450}"/>
              </a:ext>
            </a:extLst>
          </p:cNvPr>
          <p:cNvCxnSpPr>
            <a:cxnSpLocks/>
            <a:stCxn id="23" idx="1"/>
            <a:endCxn id="21" idx="0"/>
          </p:cNvCxnSpPr>
          <p:nvPr/>
        </p:nvCxnSpPr>
        <p:spPr>
          <a:xfrm>
            <a:off x="10777692" y="3094887"/>
            <a:ext cx="613624" cy="329537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76FC4211-7389-4E44-9F16-99A2BA944AFE}"/>
              </a:ext>
            </a:extLst>
          </p:cNvPr>
          <p:cNvSpPr/>
          <p:nvPr/>
        </p:nvSpPr>
        <p:spPr>
          <a:xfrm flipH="1">
            <a:off x="6740095" y="2947309"/>
            <a:ext cx="4037597" cy="2951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FEA3A46-1861-4D32-83E1-37280C5EAA6E}"/>
              </a:ext>
            </a:extLst>
          </p:cNvPr>
          <p:cNvSpPr/>
          <p:nvPr/>
        </p:nvSpPr>
        <p:spPr>
          <a:xfrm>
            <a:off x="181194" y="3768087"/>
            <a:ext cx="1631701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000" dirty="0"/>
              <a:t>Desenlace</a:t>
            </a: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CFA04BA2-98D4-46BD-8700-475F08A04922}"/>
              </a:ext>
            </a:extLst>
          </p:cNvPr>
          <p:cNvCxnSpPr>
            <a:cxnSpLocks/>
            <a:stCxn id="31" idx="0"/>
            <a:endCxn id="29" idx="0"/>
          </p:cNvCxnSpPr>
          <p:nvPr/>
        </p:nvCxnSpPr>
        <p:spPr>
          <a:xfrm rot="16200000" flipV="1">
            <a:off x="1243509" y="3521624"/>
            <a:ext cx="467615" cy="960542"/>
          </a:xfrm>
          <a:prstGeom prst="bentConnector3">
            <a:avLst>
              <a:gd name="adj1" fmla="val 135283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F2885FF3-8FA8-4321-B01E-8FB755F95EFC}"/>
              </a:ext>
            </a:extLst>
          </p:cNvPr>
          <p:cNvSpPr/>
          <p:nvPr/>
        </p:nvSpPr>
        <p:spPr>
          <a:xfrm flipH="1">
            <a:off x="1346904" y="4235702"/>
            <a:ext cx="1221366" cy="378657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7C99E58A-82D3-4888-A929-945506B5BEDF}"/>
              </a:ext>
            </a:extLst>
          </p:cNvPr>
          <p:cNvSpPr/>
          <p:nvPr/>
        </p:nvSpPr>
        <p:spPr>
          <a:xfrm flipH="1">
            <a:off x="1214380" y="4860400"/>
            <a:ext cx="1353889" cy="78717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EF6A43EE-902F-4B66-8FF6-82880CEDE849}"/>
              </a:ext>
            </a:extLst>
          </p:cNvPr>
          <p:cNvCxnSpPr>
            <a:cxnSpLocks/>
            <a:stCxn id="43" idx="3"/>
            <a:endCxn id="6" idx="1"/>
          </p:cNvCxnSpPr>
          <p:nvPr/>
        </p:nvCxnSpPr>
        <p:spPr>
          <a:xfrm rot="10800000" flipV="1">
            <a:off x="517962" y="5253989"/>
            <a:ext cx="696418" cy="1144012"/>
          </a:xfrm>
          <a:prstGeom prst="bentConnector3">
            <a:avLst>
              <a:gd name="adj1" fmla="val 13282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AD7362AC-DFC0-48EE-BBF8-8FE29218E50F}"/>
              </a:ext>
            </a:extLst>
          </p:cNvPr>
          <p:cNvSpPr/>
          <p:nvPr/>
        </p:nvSpPr>
        <p:spPr>
          <a:xfrm flipH="1">
            <a:off x="2871025" y="4170080"/>
            <a:ext cx="1428755" cy="135920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2" name="Marcador de contenido 2">
            <a:extLst>
              <a:ext uri="{FF2B5EF4-FFF2-40B4-BE49-F238E27FC236}">
                <a16:creationId xmlns:a16="http://schemas.microsoft.com/office/drawing/2014/main" id="{B4475429-BE6B-4ECF-B07B-B9D542F784E2}"/>
              </a:ext>
            </a:extLst>
          </p:cNvPr>
          <p:cNvSpPr txBox="1">
            <a:spLocks/>
          </p:cNvSpPr>
          <p:nvPr/>
        </p:nvSpPr>
        <p:spPr>
          <a:xfrm>
            <a:off x="3937361" y="6102222"/>
            <a:ext cx="2765248" cy="491484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/>
              <a:t>OR en la muestra</a:t>
            </a: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40353AE4-8CFB-4586-AA8F-A09F81DF2FF6}"/>
              </a:ext>
            </a:extLst>
          </p:cNvPr>
          <p:cNvCxnSpPr>
            <a:cxnSpLocks/>
            <a:stCxn id="48" idx="1"/>
          </p:cNvCxnSpPr>
          <p:nvPr/>
        </p:nvCxnSpPr>
        <p:spPr>
          <a:xfrm>
            <a:off x="4299780" y="4849680"/>
            <a:ext cx="576670" cy="121057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037ACD25-F042-44F0-B0AD-9FF4BDC34903}"/>
              </a:ext>
            </a:extLst>
          </p:cNvPr>
          <p:cNvSpPr/>
          <p:nvPr/>
        </p:nvSpPr>
        <p:spPr>
          <a:xfrm flipH="1">
            <a:off x="8053240" y="4151014"/>
            <a:ext cx="2625361" cy="1387765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8" name="Marcador de contenido 2">
            <a:extLst>
              <a:ext uri="{FF2B5EF4-FFF2-40B4-BE49-F238E27FC236}">
                <a16:creationId xmlns:a16="http://schemas.microsoft.com/office/drawing/2014/main" id="{666B967A-4160-4113-98A1-1596A67AC538}"/>
              </a:ext>
            </a:extLst>
          </p:cNvPr>
          <p:cNvSpPr txBox="1">
            <a:spLocks/>
          </p:cNvSpPr>
          <p:nvPr/>
        </p:nvSpPr>
        <p:spPr>
          <a:xfrm>
            <a:off x="7417288" y="6074681"/>
            <a:ext cx="3807373" cy="491484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/>
              <a:t>IC 95% (OR en la población)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C1C2FE3B-ACFB-4BDB-A924-895611E489CD}"/>
              </a:ext>
            </a:extLst>
          </p:cNvPr>
          <p:cNvCxnSpPr>
            <a:cxnSpLocks/>
            <a:stCxn id="56" idx="2"/>
            <a:endCxn id="58" idx="0"/>
          </p:cNvCxnSpPr>
          <p:nvPr/>
        </p:nvCxnSpPr>
        <p:spPr>
          <a:xfrm flipH="1">
            <a:off x="9320975" y="5538779"/>
            <a:ext cx="44945" cy="53590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68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4" grpId="0" animBg="1"/>
      <p:bldP spid="16" grpId="0" animBg="1"/>
      <p:bldP spid="21" grpId="0" animBg="1"/>
      <p:bldP spid="23" grpId="0" animBg="1"/>
      <p:bldP spid="29" grpId="0" animBg="1"/>
      <p:bldP spid="31" grpId="0" animBg="1"/>
      <p:bldP spid="43" grpId="0" animBg="1"/>
      <p:bldP spid="48" grpId="0" animBg="1"/>
      <p:bldP spid="52" grpId="0" animBg="1"/>
      <p:bldP spid="56" grpId="0" animBg="1"/>
      <p:bldP spid="5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07FD581-161E-4A20-B1B4-E28FEEE9B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53" y="2254406"/>
            <a:ext cx="9094706" cy="4421818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FA0FF12-CD71-4A85-A575-39BD90B2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09" y="51931"/>
            <a:ext cx="9665180" cy="1325563"/>
          </a:xfrm>
        </p:spPr>
        <p:txBody>
          <a:bodyPr/>
          <a:lstStyle/>
          <a:p>
            <a:r>
              <a:rPr lang="es-PE" dirty="0"/>
              <a:t>Cálculo de OR e IC95% crudo para variable independiente categórica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56201F-4EF7-4A8A-BD5A-D7C0AF008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289" y="214257"/>
            <a:ext cx="1538959" cy="377853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9EDDC460-4383-4FDA-82C5-CE09AA029961}"/>
              </a:ext>
            </a:extLst>
          </p:cNvPr>
          <p:cNvSpPr txBox="1">
            <a:spLocks/>
          </p:cNvSpPr>
          <p:nvPr/>
        </p:nvSpPr>
        <p:spPr>
          <a:xfrm>
            <a:off x="731109" y="1469022"/>
            <a:ext cx="11106664" cy="957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dirty="0"/>
              <a:t>Salida para la asociación entre </a:t>
            </a:r>
            <a:r>
              <a:rPr lang="es-PE" b="1" dirty="0"/>
              <a:t>el sexo femenino y buena nota</a:t>
            </a:r>
            <a:r>
              <a:rPr lang="es-PE" dirty="0"/>
              <a:t>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2E04157-2E0F-4BDE-BF34-BC42F4B6E972}"/>
              </a:ext>
            </a:extLst>
          </p:cNvPr>
          <p:cNvSpPr/>
          <p:nvPr/>
        </p:nvSpPr>
        <p:spPr>
          <a:xfrm>
            <a:off x="4880271" y="2774486"/>
            <a:ext cx="2683250" cy="40011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000" dirty="0"/>
              <a:t>OR = 1.33 (0.76 – 2.34) 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F28C14C-FAAB-442A-B32E-B192AFAC2CBD}"/>
              </a:ext>
            </a:extLst>
          </p:cNvPr>
          <p:cNvSpPr/>
          <p:nvPr/>
        </p:nvSpPr>
        <p:spPr>
          <a:xfrm flipH="1">
            <a:off x="3545801" y="5505722"/>
            <a:ext cx="1352202" cy="32258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344E3D6-4E69-4387-B274-FE6CE6E780B2}"/>
              </a:ext>
            </a:extLst>
          </p:cNvPr>
          <p:cNvSpPr/>
          <p:nvPr/>
        </p:nvSpPr>
        <p:spPr>
          <a:xfrm flipH="1">
            <a:off x="8246345" y="5505722"/>
            <a:ext cx="2640313" cy="32258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B8F1FDC-AD4F-4486-800D-FC7FED754163}"/>
              </a:ext>
            </a:extLst>
          </p:cNvPr>
          <p:cNvSpPr/>
          <p:nvPr/>
        </p:nvSpPr>
        <p:spPr>
          <a:xfrm>
            <a:off x="1791953" y="3449652"/>
            <a:ext cx="9260359" cy="707886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000" dirty="0"/>
              <a:t>En la población de estudio,</a:t>
            </a:r>
            <a:r>
              <a:rPr lang="es-PE" sz="2000" b="1" u="sng" dirty="0"/>
              <a:t> el odds </a:t>
            </a:r>
            <a:r>
              <a:rPr lang="es-PE" sz="2000" dirty="0"/>
              <a:t>de tener buena nota en las mujeres fue 33% mayor respecto a los varones. Esto no es estadísticamente significativo. </a:t>
            </a:r>
          </a:p>
        </p:txBody>
      </p:sp>
    </p:spTree>
    <p:extLst>
      <p:ext uri="{BB962C8B-B14F-4D97-AF65-F5344CB8AC3E}">
        <p14:creationId xmlns:p14="http://schemas.microsoft.com/office/powerpoint/2010/main" val="153767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D93A455-56F7-4BDA-91C7-3E4B2AD8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OR vs RR / RP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8124DA8-9B16-4F15-BDF1-F0CB96A7C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890" y="4966574"/>
            <a:ext cx="1052219" cy="71422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PE" sz="3600" dirty="0"/>
              <a:t>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7C7AFA-3D13-4783-AA47-87274479B313}"/>
              </a:ext>
            </a:extLst>
          </p:cNvPr>
          <p:cNvSpPr/>
          <p:nvPr/>
        </p:nvSpPr>
        <p:spPr>
          <a:xfrm>
            <a:off x="2380420" y="1588787"/>
            <a:ext cx="73152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400" b="1" dirty="0"/>
              <a:t>Prevalencia del desenlace: 19/1000 = 1.9%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3D31F85-8B32-4FD1-B4A4-22B3ADD59118}"/>
              </a:ext>
            </a:extLst>
          </p:cNvPr>
          <p:cNvSpPr/>
          <p:nvPr/>
        </p:nvSpPr>
        <p:spPr>
          <a:xfrm>
            <a:off x="1382532" y="4801960"/>
            <a:ext cx="9438198" cy="103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3545651-EBC7-4842-88B5-261213DC35DA}"/>
              </a:ext>
            </a:extLst>
          </p:cNvPr>
          <p:cNvCxnSpPr/>
          <p:nvPr/>
        </p:nvCxnSpPr>
        <p:spPr>
          <a:xfrm>
            <a:off x="6096000" y="2111699"/>
            <a:ext cx="0" cy="2854875"/>
          </a:xfrm>
          <a:prstGeom prst="line">
            <a:avLst/>
          </a:prstGeom>
          <a:ln w="762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424E725-9726-4F9D-85FE-CDC82C8E8F5D}"/>
              </a:ext>
            </a:extLst>
          </p:cNvPr>
          <p:cNvSpPr txBox="1">
            <a:spLocks/>
          </p:cNvSpPr>
          <p:nvPr/>
        </p:nvSpPr>
        <p:spPr>
          <a:xfrm>
            <a:off x="7279746" y="4966574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0070C0"/>
                </a:solidFill>
              </a:rPr>
              <a:t>1.11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F917CEF4-A708-48AC-995D-2F140261E91C}"/>
              </a:ext>
            </a:extLst>
          </p:cNvPr>
          <p:cNvSpPr txBox="1">
            <a:spLocks/>
          </p:cNvSpPr>
          <p:nvPr/>
        </p:nvSpPr>
        <p:spPr>
          <a:xfrm>
            <a:off x="3860034" y="4966574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0070C0"/>
                </a:solidFill>
              </a:rPr>
              <a:t>0.80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154F77F-E00B-4D5B-8CD7-9DD2FB3E42AF}"/>
              </a:ext>
            </a:extLst>
          </p:cNvPr>
          <p:cNvCxnSpPr>
            <a:cxnSpLocks/>
          </p:cNvCxnSpPr>
          <p:nvPr/>
        </p:nvCxnSpPr>
        <p:spPr>
          <a:xfrm>
            <a:off x="4291384" y="3943846"/>
            <a:ext cx="0" cy="8581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295AE7CB-023B-4204-8195-1EFC99252262}"/>
              </a:ext>
            </a:extLst>
          </p:cNvPr>
          <p:cNvSpPr txBox="1">
            <a:spLocks/>
          </p:cNvSpPr>
          <p:nvPr/>
        </p:nvSpPr>
        <p:spPr>
          <a:xfrm>
            <a:off x="4170778" y="3199003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0070C0"/>
                </a:solidFill>
              </a:rPr>
              <a:t>RR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ED8DBDF-ECC8-47C6-ADCE-743BABA7C9DF}"/>
              </a:ext>
            </a:extLst>
          </p:cNvPr>
          <p:cNvCxnSpPr>
            <a:cxnSpLocks/>
          </p:cNvCxnSpPr>
          <p:nvPr/>
        </p:nvCxnSpPr>
        <p:spPr>
          <a:xfrm>
            <a:off x="7805855" y="3943846"/>
            <a:ext cx="0" cy="8581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EF7ED245-C9A6-458A-87CF-3B095C4A79B3}"/>
              </a:ext>
            </a:extLst>
          </p:cNvPr>
          <p:cNvSpPr txBox="1">
            <a:spLocks/>
          </p:cNvSpPr>
          <p:nvPr/>
        </p:nvSpPr>
        <p:spPr>
          <a:xfrm>
            <a:off x="7239997" y="3205388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0070C0"/>
                </a:solidFill>
              </a:rPr>
              <a:t>RR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0BFF2AF-991A-40C4-9994-AB6118C30C6A}"/>
              </a:ext>
            </a:extLst>
          </p:cNvPr>
          <p:cNvCxnSpPr>
            <a:cxnSpLocks/>
          </p:cNvCxnSpPr>
          <p:nvPr/>
        </p:nvCxnSpPr>
        <p:spPr>
          <a:xfrm>
            <a:off x="4149243" y="3943846"/>
            <a:ext cx="0" cy="8581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960AC72F-CA57-4832-A63E-D9EE2E001A05}"/>
              </a:ext>
            </a:extLst>
          </p:cNvPr>
          <p:cNvSpPr txBox="1">
            <a:spLocks/>
          </p:cNvSpPr>
          <p:nvPr/>
        </p:nvSpPr>
        <p:spPr>
          <a:xfrm>
            <a:off x="3399689" y="3199003"/>
            <a:ext cx="1052219" cy="7142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FF0000"/>
                </a:solidFill>
              </a:rPr>
              <a:t>OR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C6858BB-6960-4087-B7B7-F1FE409A5DDE}"/>
              </a:ext>
            </a:extLst>
          </p:cNvPr>
          <p:cNvCxnSpPr>
            <a:cxnSpLocks/>
          </p:cNvCxnSpPr>
          <p:nvPr/>
        </p:nvCxnSpPr>
        <p:spPr>
          <a:xfrm>
            <a:off x="7932256" y="3968084"/>
            <a:ext cx="0" cy="8581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AA61F1FD-36C0-4E01-8169-23A886DE4594}"/>
              </a:ext>
            </a:extLst>
          </p:cNvPr>
          <p:cNvSpPr txBox="1">
            <a:spLocks/>
          </p:cNvSpPr>
          <p:nvPr/>
        </p:nvSpPr>
        <p:spPr>
          <a:xfrm>
            <a:off x="8042757" y="3184689"/>
            <a:ext cx="1052219" cy="7142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FF0000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48194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3" grpId="0"/>
      <p:bldP spid="15" grpId="0"/>
      <p:bldP spid="17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D93A455-56F7-4BDA-91C7-3E4B2AD8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OR vs RR / RP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8124DA8-9B16-4F15-BDF1-F0CB96A7C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890" y="4966574"/>
            <a:ext cx="1052219" cy="71422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PE" sz="3600" dirty="0"/>
              <a:t>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7C7AFA-3D13-4783-AA47-87274479B313}"/>
              </a:ext>
            </a:extLst>
          </p:cNvPr>
          <p:cNvSpPr/>
          <p:nvPr/>
        </p:nvSpPr>
        <p:spPr>
          <a:xfrm>
            <a:off x="2380420" y="1588787"/>
            <a:ext cx="73152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PE" sz="2400" b="1" dirty="0"/>
              <a:t>Prevalencia del desenlace: 190/1000 = </a:t>
            </a:r>
            <a:r>
              <a:rPr lang="es-PE" sz="2400" b="1" dirty="0">
                <a:solidFill>
                  <a:srgbClr val="FFC000"/>
                </a:solidFill>
              </a:rPr>
              <a:t>19%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3D31F85-8B32-4FD1-B4A4-22B3ADD59118}"/>
              </a:ext>
            </a:extLst>
          </p:cNvPr>
          <p:cNvSpPr/>
          <p:nvPr/>
        </p:nvSpPr>
        <p:spPr>
          <a:xfrm>
            <a:off x="1382532" y="4801960"/>
            <a:ext cx="9438198" cy="103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3545651-EBC7-4842-88B5-261213DC35DA}"/>
              </a:ext>
            </a:extLst>
          </p:cNvPr>
          <p:cNvCxnSpPr/>
          <p:nvPr/>
        </p:nvCxnSpPr>
        <p:spPr>
          <a:xfrm>
            <a:off x="6096000" y="2111699"/>
            <a:ext cx="0" cy="2854875"/>
          </a:xfrm>
          <a:prstGeom prst="line">
            <a:avLst/>
          </a:prstGeom>
          <a:ln w="762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424E725-9726-4F9D-85FE-CDC82C8E8F5D}"/>
              </a:ext>
            </a:extLst>
          </p:cNvPr>
          <p:cNvSpPr txBox="1">
            <a:spLocks/>
          </p:cNvSpPr>
          <p:nvPr/>
        </p:nvSpPr>
        <p:spPr>
          <a:xfrm>
            <a:off x="7279746" y="4966574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0070C0"/>
                </a:solidFill>
              </a:rPr>
              <a:t>1.11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F09E80D7-1885-448B-9EA1-84CA44713F8F}"/>
              </a:ext>
            </a:extLst>
          </p:cNvPr>
          <p:cNvSpPr txBox="1">
            <a:spLocks/>
          </p:cNvSpPr>
          <p:nvPr/>
        </p:nvSpPr>
        <p:spPr>
          <a:xfrm>
            <a:off x="9207896" y="4966574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FF0000"/>
                </a:solidFill>
              </a:rPr>
              <a:t>1.14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F917CEF4-A708-48AC-995D-2F140261E91C}"/>
              </a:ext>
            </a:extLst>
          </p:cNvPr>
          <p:cNvSpPr txBox="1">
            <a:spLocks/>
          </p:cNvSpPr>
          <p:nvPr/>
        </p:nvSpPr>
        <p:spPr>
          <a:xfrm>
            <a:off x="3860034" y="4966574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0070C0"/>
                </a:solidFill>
              </a:rPr>
              <a:t>0.80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4C01131B-96A7-4789-8EE3-F2AC15322379}"/>
              </a:ext>
            </a:extLst>
          </p:cNvPr>
          <p:cNvSpPr txBox="1">
            <a:spLocks/>
          </p:cNvSpPr>
          <p:nvPr/>
        </p:nvSpPr>
        <p:spPr>
          <a:xfrm>
            <a:off x="1755597" y="4966574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FF0000"/>
                </a:solidFill>
              </a:rPr>
              <a:t>0.60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154F77F-E00B-4D5B-8CD7-9DD2FB3E42AF}"/>
              </a:ext>
            </a:extLst>
          </p:cNvPr>
          <p:cNvCxnSpPr>
            <a:cxnSpLocks/>
          </p:cNvCxnSpPr>
          <p:nvPr/>
        </p:nvCxnSpPr>
        <p:spPr>
          <a:xfrm>
            <a:off x="4291384" y="3943846"/>
            <a:ext cx="0" cy="8581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295AE7CB-023B-4204-8195-1EFC99252262}"/>
              </a:ext>
            </a:extLst>
          </p:cNvPr>
          <p:cNvSpPr txBox="1">
            <a:spLocks/>
          </p:cNvSpPr>
          <p:nvPr/>
        </p:nvSpPr>
        <p:spPr>
          <a:xfrm>
            <a:off x="3765274" y="3253865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0070C0"/>
                </a:solidFill>
              </a:rPr>
              <a:t>RR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ED8DBDF-ECC8-47C6-ADCE-743BABA7C9DF}"/>
              </a:ext>
            </a:extLst>
          </p:cNvPr>
          <p:cNvCxnSpPr>
            <a:cxnSpLocks/>
          </p:cNvCxnSpPr>
          <p:nvPr/>
        </p:nvCxnSpPr>
        <p:spPr>
          <a:xfrm>
            <a:off x="7805855" y="3943846"/>
            <a:ext cx="0" cy="8581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EF7ED245-C9A6-458A-87CF-3B095C4A79B3}"/>
              </a:ext>
            </a:extLst>
          </p:cNvPr>
          <p:cNvSpPr txBox="1">
            <a:spLocks/>
          </p:cNvSpPr>
          <p:nvPr/>
        </p:nvSpPr>
        <p:spPr>
          <a:xfrm>
            <a:off x="7239997" y="3205388"/>
            <a:ext cx="1052219" cy="714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0070C0"/>
                </a:solidFill>
              </a:rPr>
              <a:t>RR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0BFF2AF-991A-40C4-9994-AB6118C30C6A}"/>
              </a:ext>
            </a:extLst>
          </p:cNvPr>
          <p:cNvCxnSpPr>
            <a:cxnSpLocks/>
          </p:cNvCxnSpPr>
          <p:nvPr/>
        </p:nvCxnSpPr>
        <p:spPr>
          <a:xfrm>
            <a:off x="2294282" y="3931727"/>
            <a:ext cx="0" cy="8581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960AC72F-CA57-4832-A63E-D9EE2E001A05}"/>
              </a:ext>
            </a:extLst>
          </p:cNvPr>
          <p:cNvSpPr txBox="1">
            <a:spLocks/>
          </p:cNvSpPr>
          <p:nvPr/>
        </p:nvSpPr>
        <p:spPr>
          <a:xfrm>
            <a:off x="1768172" y="3241746"/>
            <a:ext cx="1052219" cy="7142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FF0000"/>
                </a:solidFill>
              </a:rPr>
              <a:t>OR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C6858BB-6960-4087-B7B7-F1FE409A5DDE}"/>
              </a:ext>
            </a:extLst>
          </p:cNvPr>
          <p:cNvCxnSpPr>
            <a:cxnSpLocks/>
          </p:cNvCxnSpPr>
          <p:nvPr/>
        </p:nvCxnSpPr>
        <p:spPr>
          <a:xfrm>
            <a:off x="9695621" y="3919608"/>
            <a:ext cx="0" cy="8581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AA61F1FD-36C0-4E01-8169-23A886DE4594}"/>
              </a:ext>
            </a:extLst>
          </p:cNvPr>
          <p:cNvSpPr txBox="1">
            <a:spLocks/>
          </p:cNvSpPr>
          <p:nvPr/>
        </p:nvSpPr>
        <p:spPr>
          <a:xfrm>
            <a:off x="9169511" y="3229627"/>
            <a:ext cx="1052219" cy="7142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rgbClr val="FF0000"/>
                </a:solidFill>
              </a:rPr>
              <a:t>OR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3C9BFF-BDBC-4B5A-BEA4-C85F5DA107CF}"/>
              </a:ext>
            </a:extLst>
          </p:cNvPr>
          <p:cNvSpPr/>
          <p:nvPr/>
        </p:nvSpPr>
        <p:spPr>
          <a:xfrm>
            <a:off x="7891003" y="3919608"/>
            <a:ext cx="1764864" cy="8211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715AEC7-B8A5-45DD-BD91-704020BC5470}"/>
              </a:ext>
            </a:extLst>
          </p:cNvPr>
          <p:cNvSpPr/>
          <p:nvPr/>
        </p:nvSpPr>
        <p:spPr>
          <a:xfrm>
            <a:off x="2401619" y="3938112"/>
            <a:ext cx="1764864" cy="8211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BEEE5BB3-5C29-4BC4-8A1D-C0F7F3C115A6}"/>
              </a:ext>
            </a:extLst>
          </p:cNvPr>
          <p:cNvSpPr/>
          <p:nvPr/>
        </p:nvSpPr>
        <p:spPr>
          <a:xfrm rot="10800000">
            <a:off x="2940572" y="4129952"/>
            <a:ext cx="576302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C890DFFB-0857-4856-AC44-F7A37D561717}"/>
              </a:ext>
            </a:extLst>
          </p:cNvPr>
          <p:cNvSpPr/>
          <p:nvPr/>
        </p:nvSpPr>
        <p:spPr>
          <a:xfrm>
            <a:off x="8534464" y="4088091"/>
            <a:ext cx="576302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480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  <p:bldP spid="15" grpId="0"/>
      <p:bldP spid="17" grpId="0"/>
      <p:bldP spid="19" grpId="0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racias a todas las personas que le... - Ciencia Viajera A.C. | Facebook">
            <a:extLst>
              <a:ext uri="{FF2B5EF4-FFF2-40B4-BE49-F238E27FC236}">
                <a16:creationId xmlns:a16="http://schemas.microsoft.com/office/drawing/2014/main" id="{958B55F9-107F-42C2-A938-105A75F2E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8" y="981075"/>
            <a:ext cx="9220200" cy="486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5257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672EE0-9A4F-4EEA-A4CA-7B7797D30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0800" indent="0">
              <a:buNone/>
            </a:pPr>
            <a:r>
              <a:rPr lang="es-PE" sz="4000" dirty="0"/>
              <a:t>Si quieres aprender más sobre regresión logística y otros métodos estadísticos, te invitamos a participar de nuestro curso de análisis estadístico con STATA :D</a:t>
            </a:r>
          </a:p>
        </p:txBody>
      </p:sp>
    </p:spTree>
    <p:extLst>
      <p:ext uri="{BB962C8B-B14F-4D97-AF65-F5344CB8AC3E}">
        <p14:creationId xmlns:p14="http://schemas.microsoft.com/office/powerpoint/2010/main" val="1857591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5E52D-1AD5-43BD-AC7B-0E6282EE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A3EDEF-4378-46EF-80FF-544C6C5FF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73FA5F-6758-4262-87DC-0734D002F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722" y="26908"/>
            <a:ext cx="6262067" cy="6831092"/>
          </a:xfrm>
          <a:prstGeom prst="rect">
            <a:avLst/>
          </a:prstGeom>
        </p:spPr>
      </p:pic>
      <p:pic>
        <p:nvPicPr>
          <p:cNvPr id="8" name="Picture 2" descr="Puede ser una imagen de texto">
            <a:extLst>
              <a:ext uri="{FF2B5EF4-FFF2-40B4-BE49-F238E27FC236}">
                <a16:creationId xmlns:a16="http://schemas.microsoft.com/office/drawing/2014/main" id="{F4660613-2010-4BAB-9B01-E0FE23AC4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646" y="138733"/>
            <a:ext cx="6719267" cy="671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245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76DCB85-EC24-1391-338E-B1C6DAA1FACE}"/>
              </a:ext>
            </a:extLst>
          </p:cNvPr>
          <p:cNvSpPr/>
          <p:nvPr/>
        </p:nvSpPr>
        <p:spPr>
          <a:xfrm>
            <a:off x="3987800" y="3175000"/>
            <a:ext cx="4927600" cy="1710708"/>
          </a:xfrm>
          <a:prstGeom prst="rect">
            <a:avLst/>
          </a:prstGeom>
          <a:solidFill>
            <a:srgbClr val="00A9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F01CCBB-75EE-90AC-CCFA-12D695D8B6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78171" y="1717379"/>
            <a:ext cx="5946858" cy="2270421"/>
          </a:xfrm>
          <a:prstGeom prst="rect">
            <a:avLst/>
          </a:prstGeom>
        </p:spPr>
      </p:pic>
      <p:sp>
        <p:nvSpPr>
          <p:cNvPr id="2" name="Título 2">
            <a:extLst>
              <a:ext uri="{FF2B5EF4-FFF2-40B4-BE49-F238E27FC236}">
                <a16:creationId xmlns:a16="http://schemas.microsoft.com/office/drawing/2014/main" id="{646BC325-DF72-9278-A378-38CB0153CD53}"/>
              </a:ext>
            </a:extLst>
          </p:cNvPr>
          <p:cNvSpPr txBox="1">
            <a:spLocks/>
          </p:cNvSpPr>
          <p:nvPr/>
        </p:nvSpPr>
        <p:spPr>
          <a:xfrm>
            <a:off x="7394874" y="4523140"/>
            <a:ext cx="3645302" cy="1710708"/>
          </a:xfrm>
          <a:prstGeom prst="rect">
            <a:avLst/>
          </a:prstGeom>
          <a:solidFill>
            <a:srgbClr val="00A9C3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Axiforma Black" pitchFamily="2" charset="77"/>
                <a:ea typeface="+mj-ea"/>
                <a:cs typeface="+mj-cs"/>
              </a:defRPr>
            </a:lvl1pPr>
          </a:lstStyle>
          <a:p>
            <a:r>
              <a:rPr lang="es-ES" b="0" dirty="0">
                <a:latin typeface="Century Gothic" panose="020B0502020202020204" pitchFamily="34" charset="0"/>
                <a:cs typeface="Arial" panose="020B0604020202020204" pitchFamily="34" charset="0"/>
              </a:rPr>
              <a:t>(+51) 950 876 703</a:t>
            </a:r>
          </a:p>
          <a:p>
            <a:r>
              <a:rPr lang="es-ES" b="0" dirty="0">
                <a:latin typeface="Century Gothic" panose="020B0502020202020204" pitchFamily="34" charset="0"/>
                <a:cs typeface="Arial" panose="020B0604020202020204" pitchFamily="34" charset="0"/>
              </a:rPr>
              <a:t>www.evisalud.com</a:t>
            </a:r>
          </a:p>
          <a:p>
            <a:r>
              <a:rPr lang="es-ES" b="0" dirty="0">
                <a:latin typeface="Century Gothic" panose="020B0502020202020204" pitchFamily="34" charset="0"/>
                <a:cs typeface="Arial" panose="020B0604020202020204" pitchFamily="34" charset="0"/>
              </a:rPr>
              <a:t>/evisalud</a:t>
            </a:r>
          </a:p>
          <a:p>
            <a:r>
              <a:rPr lang="es-ES" b="0" dirty="0">
                <a:latin typeface="Century Gothic" panose="020B0502020202020204" pitchFamily="34" charset="0"/>
                <a:cs typeface="Arial" panose="020B0604020202020204" pitchFamily="34" charset="0"/>
              </a:rPr>
              <a:t>/</a:t>
            </a:r>
            <a:r>
              <a:rPr lang="es-ES" b="0" dirty="0" err="1">
                <a:latin typeface="Century Gothic" panose="020B0502020202020204" pitchFamily="34" charset="0"/>
                <a:cs typeface="Arial" panose="020B0604020202020204" pitchFamily="34" charset="0"/>
              </a:rPr>
              <a:t>evisalud.oficial</a:t>
            </a:r>
            <a:endParaRPr lang="es-ES" b="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376D90-8BA7-2D97-5A05-4449C89CB70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6791" y="4523140"/>
            <a:ext cx="466207" cy="161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727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EVISALUD - CURSO PARA LECTURA">
  <a:themeElements>
    <a:clrScheme name="Personalizados 1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1D17DF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1499</Words>
  <Application>Microsoft Office PowerPoint</Application>
  <PresentationFormat>Panorámica</PresentationFormat>
  <Paragraphs>305</Paragraphs>
  <Slides>38</Slides>
  <Notes>4</Notes>
  <HiddenSlides>2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38</vt:i4>
      </vt:variant>
    </vt:vector>
  </HeadingPairs>
  <TitlesOfParts>
    <vt:vector size="46" baseType="lpstr">
      <vt:lpstr>Century Gothic</vt:lpstr>
      <vt:lpstr>Arial Black</vt:lpstr>
      <vt:lpstr>Calibri Light</vt:lpstr>
      <vt:lpstr>Calibri</vt:lpstr>
      <vt:lpstr>Axiforma Black</vt:lpstr>
      <vt:lpstr>Arial</vt:lpstr>
      <vt:lpstr>TEMA EVISALUD - CURSO PARA LECTURA</vt:lpstr>
      <vt:lpstr>Diseño personalizado</vt:lpstr>
      <vt:lpstr>Webinar:  Regresión logística</vt:lpstr>
      <vt:lpstr>Presentación de PowerPoint</vt:lpstr>
      <vt:lpstr>Identifiquemos las variables principales</vt:lpstr>
      <vt:lpstr>¿Cómo calcular asociación entre variables?</vt:lpstr>
      <vt:lpstr>Hablemos sobre regresiones</vt:lpstr>
      <vt:lpstr>Regresión lineal</vt:lpstr>
      <vt:lpstr>Regresiones con desenlace dicotómico</vt:lpstr>
      <vt:lpstr>¿Qué pasaría si usaríamos regresión lineal?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Regresión logística</vt:lpstr>
      <vt:lpstr>Regresión logística</vt:lpstr>
      <vt:lpstr>Regresión logística</vt:lpstr>
      <vt:lpstr>Regresión logística</vt:lpstr>
      <vt:lpstr>Regresión logística</vt:lpstr>
      <vt:lpstr>Regresión logística</vt:lpstr>
      <vt:lpstr>Exploremos como funciona la regresión logística</vt:lpstr>
      <vt:lpstr>Consideraciones finales </vt:lpstr>
      <vt:lpstr>¿Cuándo calcular un RP y cuando un RR?</vt:lpstr>
      <vt:lpstr>Interpretación del OR</vt:lpstr>
      <vt:lpstr>Interpretación del OR</vt:lpstr>
      <vt:lpstr>Interpretación de la OR</vt:lpstr>
      <vt:lpstr>Presentación de PowerPoint</vt:lpstr>
      <vt:lpstr>Regresión y comando en STATA</vt:lpstr>
      <vt:lpstr>Reconocimiento de la salida de Stata</vt:lpstr>
      <vt:lpstr>Cálculo de OR e IC95% crudo para variable independiente categórica</vt:lpstr>
      <vt:lpstr>OR vs RR / RP</vt:lpstr>
      <vt:lpstr>OR vs RR / RP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2024-04-23T05:57:44Z</dcterms:created>
  <dcterms:modified xsi:type="dcterms:W3CDTF">2024-07-24T14:53:15Z</dcterms:modified>
</cp:coreProperties>
</file>