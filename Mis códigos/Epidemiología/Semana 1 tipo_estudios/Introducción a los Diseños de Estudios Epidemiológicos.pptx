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73" r:id="rId3"/>
    <p:sldId id="267" r:id="rId4"/>
    <p:sldId id="274" r:id="rId5"/>
    <p:sldId id="275" r:id="rId6"/>
    <p:sldId id="258" r:id="rId7"/>
    <p:sldId id="276" r:id="rId8"/>
    <p:sldId id="277" r:id="rId9"/>
    <p:sldId id="278" r:id="rId10"/>
    <p:sldId id="279" r:id="rId11"/>
    <p:sldId id="281" r:id="rId12"/>
    <p:sldId id="280" r:id="rId13"/>
    <p:sldId id="282" r:id="rId14"/>
    <p:sldId id="283" r:id="rId15"/>
    <p:sldId id="284" r:id="rId16"/>
    <p:sldId id="285" r:id="rId17"/>
    <p:sldId id="2340" r:id="rId18"/>
    <p:sldId id="2343" r:id="rId19"/>
    <p:sldId id="2345" r:id="rId20"/>
    <p:sldId id="2346" r:id="rId21"/>
    <p:sldId id="2344" r:id="rId22"/>
    <p:sldId id="2342" r:id="rId23"/>
    <p:sldId id="2347" r:id="rId24"/>
    <p:sldId id="2351" r:id="rId25"/>
    <p:sldId id="2348" r:id="rId26"/>
    <p:sldId id="2349" r:id="rId27"/>
    <p:sldId id="2350" r:id="rId28"/>
    <p:sldId id="2341" r:id="rId29"/>
    <p:sldId id="286" r:id="rId30"/>
    <p:sldId id="288" r:id="rId31"/>
    <p:sldId id="2339" r:id="rId32"/>
    <p:sldId id="287" r:id="rId33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2D0"/>
    <a:srgbClr val="596671"/>
    <a:srgbClr val="5C6B77"/>
    <a:srgbClr val="465562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5165" autoAdjust="0"/>
  </p:normalViewPr>
  <p:slideViewPr>
    <p:cSldViewPr showGuides="1">
      <p:cViewPr varScale="1">
        <p:scale>
          <a:sx n="85" d="100"/>
          <a:sy n="85" d="100"/>
        </p:scale>
        <p:origin x="590" y="48"/>
      </p:cViewPr>
      <p:guideLst>
        <p:guide orient="horz" pos="2160"/>
        <p:guide pos="3839"/>
        <p:guide pos="1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2" d="100"/>
          <a:sy n="72" d="100"/>
        </p:scale>
        <p:origin x="3108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9BBBD98-8689-4A62-BBFB-92BF328A7966}" type="datetime1">
              <a:rPr lang="es-ES" smtClean="0"/>
              <a:t>09/06/2024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E41AB9B-16BF-4ECF-B92C-3E61E5BECA90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80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3989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1203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4811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468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3117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9614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8440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2276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8279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4566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6031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F67D3-87A0-4E30-BF34-5DF22DE6226D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5546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0" name="Rectángulo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Rectángulo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Rectángulo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3" name="Conector recto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5" name="Conector recto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466E6084-0988-49B4-BD4E-1264194D9864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94D32F-F0D9-47B3-AAC6-D43DC057831A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0" name="Rectángulo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4" name="Rectángulo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1" name="Rectángulo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23" name="Conector recto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7" name="Rectángulo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8" name="Rectángulo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9" name="Rectángulo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30" name="Rectángulo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31" name="Conector recto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33" name="Conector recto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BB07FB1B-461B-4D1D-952B-7FEEFF2CFA29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C9D876-84BE-45D9-9418-9FF24663C364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CDF9AA-CFE1-4BA9-8C5D-54C264D423B8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A51D7A-9E1F-4C6F-8B86-F39A8650CB7A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6" name="Rectángulo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cxnSp>
        <p:nvCxnSpPr>
          <p:cNvPr id="7" name="Conector recto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A1E9FB-24DE-4A64-B35D-DF3FF6E51288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cxnSp>
        <p:nvCxnSpPr>
          <p:cNvPr id="10" name="Conector recto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CDA7DC-138B-4843-B77A-91873FF451A9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CB016917-91ED-4B62-9DC6-0583229F954A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cxnSp>
        <p:nvCxnSpPr>
          <p:cNvPr id="10" name="Conector recto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EEB305-4E92-401E-9FCA-996DF9FD55B6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0" name="Rectángulo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1" name="Conector recto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14" name="Conector recto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E901BA-1555-4CE1-92B2-39682A57B7CA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3" name="Rectángulo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4" name="Conector recto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16" name="Conector recto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5031EA3-1207-456F-B1A7-F20CDD0C2E7B}" type="datetime1">
              <a:rPr lang="es-ES" noProof="0" smtClean="0"/>
              <a:t>09/06/2024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Introducción a los Diseños de Estudios</a:t>
            </a:r>
            <a:br>
              <a:rPr lang="es-ES" dirty="0"/>
            </a:br>
            <a:r>
              <a:rPr lang="es-ES" dirty="0"/>
              <a:t>Epidemiológicos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Resumen en10 min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96D4AE6-33AF-4C9A-BA0B-C9305D4F2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4301" y="3173758"/>
            <a:ext cx="6951749" cy="3170232"/>
          </a:xfrm>
        </p:spPr>
        <p:txBody>
          <a:bodyPr>
            <a:normAutofit/>
          </a:bodyPr>
          <a:lstStyle/>
          <a:p>
            <a:pPr marL="285750" indent="-285750"/>
            <a:r>
              <a:rPr lang="es-ES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Filiación: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UCSUR, </a:t>
            </a:r>
            <a:r>
              <a:rPr lang="es-E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EviSalud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/>
            <a:r>
              <a:rPr lang="es-PE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Cursó estudios en: 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UNSAAC, UCC, UPCH, IECS, </a:t>
            </a:r>
            <a:r>
              <a:rPr lang="es-P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Nebrija.</a:t>
            </a:r>
          </a:p>
          <a:p>
            <a:pPr marL="285750" indent="-285750"/>
            <a:r>
              <a:rPr lang="es-PE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 recibido pagos/financiamiento de: 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UNSAAC, UCSUR, UPCH, MINSA (DIRESA Cusco), </a:t>
            </a:r>
            <a:r>
              <a:rPr lang="es-P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EviSalud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SOPECARD, IETSI</a:t>
            </a:r>
          </a:p>
          <a:p>
            <a:pPr marL="285750" indent="-285750"/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tengo potenciales conflictos de interés con el tema de esta clase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A6AB3AA1-7D23-4DF8-B52B-DDB0ACEC9831}"/>
              </a:ext>
            </a:extLst>
          </p:cNvPr>
          <p:cNvSpPr txBox="1">
            <a:spLocks/>
          </p:cNvSpPr>
          <p:nvPr/>
        </p:nvSpPr>
        <p:spPr>
          <a:xfrm>
            <a:off x="4494302" y="1400769"/>
            <a:ext cx="5632558" cy="746086"/>
          </a:xfrm>
          <a:prstGeom prst="rect">
            <a:avLst/>
          </a:prstGeom>
        </p:spPr>
        <p:txBody>
          <a:bodyPr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/>
              <a:t>Daniel Fernández Guzmán, MD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D0FA2E07-7236-4B8D-8B39-2EDC68989339}"/>
              </a:ext>
            </a:extLst>
          </p:cNvPr>
          <p:cNvSpPr txBox="1">
            <a:spLocks/>
          </p:cNvSpPr>
          <p:nvPr/>
        </p:nvSpPr>
        <p:spPr>
          <a:xfrm>
            <a:off x="4494302" y="1916832"/>
            <a:ext cx="6170191" cy="640977"/>
          </a:xfrm>
          <a:prstGeom prst="rect">
            <a:avLst/>
          </a:prstGeom>
        </p:spPr>
        <p:txBody>
          <a:bodyPr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>
                <a:solidFill>
                  <a:srgbClr val="1E3E85"/>
                </a:solidFill>
              </a:rPr>
              <a:t>danferguz@gmail.com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23357EC-4156-496A-A2A9-A35B9FE2BB1D}"/>
              </a:ext>
            </a:extLst>
          </p:cNvPr>
          <p:cNvCxnSpPr>
            <a:cxnSpLocks/>
          </p:cNvCxnSpPr>
          <p:nvPr/>
        </p:nvCxnSpPr>
        <p:spPr>
          <a:xfrm>
            <a:off x="1197868" y="2502992"/>
            <a:ext cx="10729192" cy="0"/>
          </a:xfrm>
          <a:prstGeom prst="line">
            <a:avLst/>
          </a:prstGeom>
          <a:ln w="76200">
            <a:solidFill>
              <a:srgbClr val="4655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2C5BC422-0B59-4044-811E-2D0CC66C1C5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773932" y="603297"/>
            <a:ext cx="2412176" cy="2627069"/>
          </a:xfrm>
          <a:prstGeom prst="ellipse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185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93436" y="139701"/>
            <a:ext cx="9782801" cy="985044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dirty="0">
                <a:solidFill>
                  <a:srgbClr val="1232D0"/>
                </a:solidFill>
              </a:rPr>
              <a:t>Clasificaciones de los estudios epidemiológicos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593436" y="2132856"/>
            <a:ext cx="9782801" cy="4039344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Según el tipo de asignación de la exposición</a:t>
            </a:r>
          </a:p>
          <a:p>
            <a:pPr rtl="0"/>
            <a:r>
              <a:rPr lang="es-ES" dirty="0"/>
              <a:t>Según el número de mediciones que se realiza en cada sujeto para evaluar la exposición o desenlace</a:t>
            </a:r>
          </a:p>
          <a:p>
            <a:pPr rtl="0"/>
            <a:r>
              <a:rPr lang="es-ES" dirty="0"/>
              <a:t>Según la temporalidad de la exposición o el evento</a:t>
            </a:r>
          </a:p>
          <a:p>
            <a:pPr rtl="0"/>
            <a:r>
              <a:rPr lang="es-ES" dirty="0"/>
              <a:t>Según la unidad de análisis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82DEA70-704B-4295-BFD8-A2B884955048}"/>
              </a:ext>
            </a:extLst>
          </p:cNvPr>
          <p:cNvCxnSpPr>
            <a:cxnSpLocks/>
          </p:cNvCxnSpPr>
          <p:nvPr/>
        </p:nvCxnSpPr>
        <p:spPr>
          <a:xfrm>
            <a:off x="1197868" y="1340768"/>
            <a:ext cx="10729192" cy="0"/>
          </a:xfrm>
          <a:prstGeom prst="line">
            <a:avLst/>
          </a:prstGeom>
          <a:ln w="76200">
            <a:solidFill>
              <a:srgbClr val="596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93436" y="139701"/>
            <a:ext cx="9782801" cy="985044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dirty="0">
                <a:solidFill>
                  <a:srgbClr val="1232D0"/>
                </a:solidFill>
              </a:rPr>
              <a:t>Orden de diseños al considerar causalidad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593435" y="1772816"/>
            <a:ext cx="9782801" cy="4039344"/>
          </a:xfrm>
        </p:spPr>
        <p:txBody>
          <a:bodyPr rtlCol="0">
            <a:normAutofit lnSpcReduction="10000"/>
          </a:bodyPr>
          <a:lstStyle/>
          <a:p>
            <a:pPr algn="just" rtl="0"/>
            <a:r>
              <a:rPr lang="es-ES" dirty="0"/>
              <a:t>Esta clasificación en escala ordinal se basa en la evidencia que aporta cada diseño para establecer relaciones causa efecto entre dos variables de interés </a:t>
            </a:r>
          </a:p>
          <a:p>
            <a:pPr marL="0" indent="0" algn="just" rtl="0">
              <a:buNone/>
            </a:pPr>
            <a:endParaRPr lang="es-ES" dirty="0"/>
          </a:p>
          <a:p>
            <a:pPr lvl="1"/>
            <a:r>
              <a:rPr lang="es-ES" dirty="0"/>
              <a:t>1. Ensayo aleatorizado</a:t>
            </a:r>
          </a:p>
          <a:p>
            <a:pPr lvl="1"/>
            <a:r>
              <a:rPr lang="es-ES" dirty="0"/>
              <a:t>2. Pseudo experimentales</a:t>
            </a:r>
          </a:p>
          <a:p>
            <a:pPr lvl="1"/>
            <a:r>
              <a:rPr lang="es-ES" dirty="0"/>
              <a:t>3. Cohorte</a:t>
            </a:r>
          </a:p>
          <a:p>
            <a:pPr lvl="1"/>
            <a:r>
              <a:rPr lang="es-ES" dirty="0"/>
              <a:t>4. Casos y controles</a:t>
            </a:r>
          </a:p>
          <a:p>
            <a:pPr lvl="1"/>
            <a:r>
              <a:rPr lang="es-ES" dirty="0"/>
              <a:t>5. Estudios Transversales</a:t>
            </a:r>
          </a:p>
          <a:p>
            <a:pPr lvl="1"/>
            <a:r>
              <a:rPr lang="es-ES" dirty="0"/>
              <a:t>6. Ecológicos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82DEA70-704B-4295-BFD8-A2B884955048}"/>
              </a:ext>
            </a:extLst>
          </p:cNvPr>
          <p:cNvCxnSpPr>
            <a:cxnSpLocks/>
          </p:cNvCxnSpPr>
          <p:nvPr/>
        </p:nvCxnSpPr>
        <p:spPr>
          <a:xfrm>
            <a:off x="1197868" y="1340768"/>
            <a:ext cx="10729192" cy="0"/>
          </a:xfrm>
          <a:prstGeom prst="line">
            <a:avLst/>
          </a:prstGeom>
          <a:ln w="76200">
            <a:solidFill>
              <a:srgbClr val="596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etodología GRADE, parte 1: cómo evaluar la certeza de la ...">
            <a:extLst>
              <a:ext uri="{FF2B5EF4-FFF2-40B4-BE49-F238E27FC236}">
                <a16:creationId xmlns:a16="http://schemas.microsoft.com/office/drawing/2014/main" id="{75886886-3A8D-45EB-A1F2-E996FDF91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404" y="3212976"/>
            <a:ext cx="5658613" cy="240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43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93436" y="139701"/>
            <a:ext cx="9782801" cy="985044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dirty="0">
                <a:solidFill>
                  <a:srgbClr val="1232D0"/>
                </a:solidFill>
              </a:rPr>
              <a:t>Resumen en estudios para análisis individual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82DEA70-704B-4295-BFD8-A2B884955048}"/>
              </a:ext>
            </a:extLst>
          </p:cNvPr>
          <p:cNvCxnSpPr>
            <a:cxnSpLocks/>
          </p:cNvCxnSpPr>
          <p:nvPr/>
        </p:nvCxnSpPr>
        <p:spPr>
          <a:xfrm>
            <a:off x="1197868" y="1340768"/>
            <a:ext cx="10729192" cy="0"/>
          </a:xfrm>
          <a:prstGeom prst="line">
            <a:avLst/>
          </a:prstGeom>
          <a:ln w="76200">
            <a:solidFill>
              <a:srgbClr val="596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ipos de estudios epidemiológicos. - Evidencias en pediatría">
            <a:extLst>
              <a:ext uri="{FF2B5EF4-FFF2-40B4-BE49-F238E27FC236}">
                <a16:creationId xmlns:a16="http://schemas.microsoft.com/office/drawing/2014/main" id="{7208D6AA-EFA7-45C1-B6E6-C50C6E0B92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436" y="1528986"/>
            <a:ext cx="9253504" cy="522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04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Estudios transversales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Resumen en 5 min</a:t>
            </a:r>
          </a:p>
        </p:txBody>
      </p:sp>
    </p:spTree>
    <p:extLst>
      <p:ext uri="{BB962C8B-B14F-4D97-AF65-F5344CB8AC3E}">
        <p14:creationId xmlns:p14="http://schemas.microsoft.com/office/powerpoint/2010/main" val="35209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93436" y="139701"/>
            <a:ext cx="9782801" cy="985044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dirty="0">
                <a:solidFill>
                  <a:srgbClr val="1232D0"/>
                </a:solidFill>
              </a:rPr>
              <a:t>Clasificaciones de los estudios epidemiológicos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593436" y="2132856"/>
            <a:ext cx="10045592" cy="4039344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La enfermedad y la exposición se miden simultáneamente</a:t>
            </a:r>
          </a:p>
          <a:p>
            <a:pPr rtl="0"/>
            <a:r>
              <a:rPr lang="es-ES" dirty="0"/>
              <a:t>Se evalúa a los sujetos en un solo momento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82DEA70-704B-4295-BFD8-A2B884955048}"/>
              </a:ext>
            </a:extLst>
          </p:cNvPr>
          <p:cNvCxnSpPr>
            <a:cxnSpLocks/>
          </p:cNvCxnSpPr>
          <p:nvPr/>
        </p:nvCxnSpPr>
        <p:spPr>
          <a:xfrm>
            <a:off x="1197868" y="1340768"/>
            <a:ext cx="10729192" cy="0"/>
          </a:xfrm>
          <a:prstGeom prst="line">
            <a:avLst/>
          </a:prstGeom>
          <a:ln w="76200">
            <a:solidFill>
              <a:srgbClr val="596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7545B6E5-C7F4-4C2B-A7F6-8BE69BC66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148" y="3140968"/>
            <a:ext cx="6094332" cy="337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1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94C3DE-9141-445D-9622-66DEB656E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485" y="461548"/>
            <a:ext cx="9173855" cy="59349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FFBD43A-14C7-4D54-9EBC-A7AE55463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828" y="5805263"/>
            <a:ext cx="943107" cy="591187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FDC3772F-94ED-43B3-B421-43707493EA5B}"/>
              </a:ext>
            </a:extLst>
          </p:cNvPr>
          <p:cNvGrpSpPr/>
          <p:nvPr/>
        </p:nvGrpSpPr>
        <p:grpSpPr>
          <a:xfrm>
            <a:off x="1507485" y="446425"/>
            <a:ext cx="9274450" cy="5934903"/>
            <a:chOff x="1507485" y="423448"/>
            <a:chExt cx="9274450" cy="5934903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3EB984A-F6EC-4116-A37C-0D439D6A4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7485" y="423448"/>
              <a:ext cx="9173855" cy="5934903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B9A60515-6DA0-4DE8-97F5-DB0E7D45F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38828" y="5767163"/>
              <a:ext cx="943107" cy="591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404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2" y="1600201"/>
            <a:ext cx="9752384" cy="2654064"/>
          </a:xfrm>
        </p:spPr>
        <p:txBody>
          <a:bodyPr rtlCol="0"/>
          <a:lstStyle/>
          <a:p>
            <a:pPr rtl="0"/>
            <a:r>
              <a:rPr lang="es-ES" dirty="0"/>
              <a:t>Estudios de casos y controles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Resumen en 5 min</a:t>
            </a:r>
          </a:p>
        </p:txBody>
      </p:sp>
    </p:spTree>
    <p:extLst>
      <p:ext uri="{BB962C8B-B14F-4D97-AF65-F5344CB8AC3E}">
        <p14:creationId xmlns:p14="http://schemas.microsoft.com/office/powerpoint/2010/main" val="342978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93436" y="139701"/>
            <a:ext cx="9782801" cy="985044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dirty="0">
                <a:solidFill>
                  <a:srgbClr val="1232D0"/>
                </a:solidFill>
              </a:rPr>
              <a:t>Clasificaciones de los estudios epidemiológicos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773932" y="1700808"/>
            <a:ext cx="9865096" cy="2160239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 dirty="0"/>
              <a:t>Se selecciona a los sujeto en base a la enfermedad</a:t>
            </a:r>
          </a:p>
          <a:p>
            <a:pPr lvl="1"/>
            <a:r>
              <a:rPr lang="es-ES" dirty="0"/>
              <a:t>Casos Sujetos con la enfermedad</a:t>
            </a:r>
          </a:p>
          <a:p>
            <a:pPr lvl="1"/>
            <a:r>
              <a:rPr lang="es-ES" dirty="0"/>
              <a:t>Controles Sujetos sin la enfermedad</a:t>
            </a:r>
          </a:p>
          <a:p>
            <a:r>
              <a:rPr lang="es-ES" dirty="0"/>
              <a:t>Se compara la exposición en el pasado de los casos y los controles</a:t>
            </a:r>
          </a:p>
          <a:p>
            <a:r>
              <a:rPr lang="es-ES" dirty="0"/>
              <a:t>No permite determinar el riesgo de enfermar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82DEA70-704B-4295-BFD8-A2B884955048}"/>
              </a:ext>
            </a:extLst>
          </p:cNvPr>
          <p:cNvCxnSpPr>
            <a:cxnSpLocks/>
          </p:cNvCxnSpPr>
          <p:nvPr/>
        </p:nvCxnSpPr>
        <p:spPr>
          <a:xfrm>
            <a:off x="1197868" y="1340768"/>
            <a:ext cx="10729192" cy="0"/>
          </a:xfrm>
          <a:prstGeom prst="line">
            <a:avLst/>
          </a:prstGeom>
          <a:ln w="76200">
            <a:solidFill>
              <a:srgbClr val="596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71667A9-54CD-4864-802B-36AB9364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052" y="3847537"/>
            <a:ext cx="5636225" cy="287076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936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93436" y="139701"/>
            <a:ext cx="9782801" cy="985044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dirty="0">
                <a:solidFill>
                  <a:srgbClr val="1232D0"/>
                </a:solidFill>
              </a:rPr>
              <a:t>Clasificaciones de los estudios epidemiológicos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593436" y="1504899"/>
            <a:ext cx="10045592" cy="4804417"/>
          </a:xfrm>
        </p:spPr>
        <p:txBody>
          <a:bodyPr rtlCol="0">
            <a:normAutofit fontScale="92500"/>
          </a:bodyPr>
          <a:lstStyle/>
          <a:p>
            <a:pPr rtl="0"/>
            <a:r>
              <a:rPr lang="es-ES" b="1" dirty="0"/>
              <a:t>Selección de casos</a:t>
            </a:r>
          </a:p>
          <a:p>
            <a:pPr lvl="1"/>
            <a:r>
              <a:rPr lang="es-ES" b="1" dirty="0">
                <a:highlight>
                  <a:srgbClr val="FFFF00"/>
                </a:highlight>
              </a:rPr>
              <a:t>Casos incidentes</a:t>
            </a:r>
            <a:r>
              <a:rPr lang="es-ES" b="1" dirty="0"/>
              <a:t>: </a:t>
            </a:r>
            <a:r>
              <a:rPr lang="es-ES" dirty="0"/>
              <a:t>Nuevos diagnósticos en un periodo definido</a:t>
            </a:r>
          </a:p>
          <a:p>
            <a:pPr lvl="2"/>
            <a:r>
              <a:rPr lang="es-ES" dirty="0"/>
              <a:t>Mejor alternativa; pero requiere “acumular” casos</a:t>
            </a:r>
          </a:p>
          <a:p>
            <a:pPr lvl="1"/>
            <a:r>
              <a:rPr lang="es-ES" b="1" dirty="0"/>
              <a:t>Casos prevalentes: </a:t>
            </a:r>
            <a:r>
              <a:rPr lang="es-ES" dirty="0"/>
              <a:t>Casos en un periodo definido (nuevos y antiguos)</a:t>
            </a:r>
          </a:p>
          <a:p>
            <a:pPr lvl="2"/>
            <a:r>
              <a:rPr lang="es-ES" dirty="0"/>
              <a:t>Usualmente son más leves; difícil medir la exposición</a:t>
            </a:r>
          </a:p>
          <a:p>
            <a:pPr lvl="1"/>
            <a:r>
              <a:rPr lang="es-ES" b="1" dirty="0">
                <a:highlight>
                  <a:srgbClr val="FFFF00"/>
                </a:highlight>
              </a:rPr>
              <a:t>Casos fatales</a:t>
            </a:r>
          </a:p>
          <a:p>
            <a:r>
              <a:rPr lang="es-ES" b="1" dirty="0"/>
              <a:t>Selección de controles</a:t>
            </a:r>
          </a:p>
          <a:p>
            <a:pPr lvl="1"/>
            <a:r>
              <a:rPr lang="es-ES" dirty="0"/>
              <a:t>Determina en gran medida la validez del estudio</a:t>
            </a:r>
          </a:p>
          <a:p>
            <a:pPr lvl="1"/>
            <a:r>
              <a:rPr lang="es-ES" dirty="0"/>
              <a:t>Deben provenir de la misma población base que los casos</a:t>
            </a:r>
          </a:p>
          <a:p>
            <a:pPr lvl="1"/>
            <a:r>
              <a:rPr lang="es-ES" dirty="0"/>
              <a:t>Deben seleccionarse independientemente de la exposición</a:t>
            </a:r>
          </a:p>
          <a:p>
            <a:pPr lvl="1"/>
            <a:r>
              <a:rPr lang="es-ES" dirty="0"/>
              <a:t>Evaluación de la exposición debe ser equivalente a la de los casos</a:t>
            </a:r>
          </a:p>
          <a:p>
            <a:pPr lvl="1"/>
            <a:r>
              <a:rPr lang="es-ES" dirty="0"/>
              <a:t>Usualmente se selecciona más de un control por caso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82DEA70-704B-4295-BFD8-A2B884955048}"/>
              </a:ext>
            </a:extLst>
          </p:cNvPr>
          <p:cNvCxnSpPr>
            <a:cxnSpLocks/>
          </p:cNvCxnSpPr>
          <p:nvPr/>
        </p:nvCxnSpPr>
        <p:spPr>
          <a:xfrm>
            <a:off x="1197868" y="1340768"/>
            <a:ext cx="10729192" cy="0"/>
          </a:xfrm>
          <a:prstGeom prst="line">
            <a:avLst/>
          </a:prstGeom>
          <a:ln w="76200">
            <a:solidFill>
              <a:srgbClr val="596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55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FBD43A-14C7-4D54-9EBC-A7AE55463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828" y="5805263"/>
            <a:ext cx="943107" cy="591187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1F953961-2AD1-4594-84AE-B75F3A1EE522}"/>
              </a:ext>
            </a:extLst>
          </p:cNvPr>
          <p:cNvGrpSpPr/>
          <p:nvPr/>
        </p:nvGrpSpPr>
        <p:grpSpPr>
          <a:xfrm>
            <a:off x="981844" y="775916"/>
            <a:ext cx="9937104" cy="5563379"/>
            <a:chOff x="981844" y="775916"/>
            <a:chExt cx="9937104" cy="5563379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EAA834D-A298-4307-9E42-82E3539D6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844" y="775916"/>
              <a:ext cx="9913234" cy="5533404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4E7BC92D-D2AE-4656-BB6C-8D9440870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6683" y="5824873"/>
              <a:ext cx="1362265" cy="5144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705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B7CDA-37AC-4AA2-91EE-DA4E281C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Ejemplos de causalidad reversa</a:t>
            </a:r>
            <a:endParaRPr lang="es-PE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EEC630-D7EB-450E-A94F-E31C82C76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436" y="2276872"/>
            <a:ext cx="9782801" cy="3895328"/>
          </a:xfrm>
        </p:spPr>
        <p:txBody>
          <a:bodyPr/>
          <a:lstStyle/>
          <a:p>
            <a:r>
              <a:rPr lang="es-ES" dirty="0"/>
              <a:t>Asma Antibióticos</a:t>
            </a:r>
          </a:p>
          <a:p>
            <a:r>
              <a:rPr lang="es-ES" dirty="0"/>
              <a:t>Cáncer colesterol</a:t>
            </a:r>
          </a:p>
          <a:p>
            <a:r>
              <a:rPr lang="es-ES" dirty="0"/>
              <a:t>IMC Depresión</a:t>
            </a:r>
            <a:endParaRPr lang="es-PE" dirty="0"/>
          </a:p>
        </p:txBody>
      </p:sp>
      <p:pic>
        <p:nvPicPr>
          <p:cNvPr id="3074" name="Picture 2" descr="EL GATO DE SCHRÖDINGER | Draw My Life">
            <a:extLst>
              <a:ext uri="{FF2B5EF4-FFF2-40B4-BE49-F238E27FC236}">
                <a16:creationId xmlns:a16="http://schemas.microsoft.com/office/drawing/2014/main" id="{247FBDE9-E553-4826-94B3-E010B8064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35"/>
          <a:stretch/>
        </p:blipFill>
        <p:spPr bwMode="auto">
          <a:xfrm>
            <a:off x="5806380" y="1826753"/>
            <a:ext cx="5095085" cy="479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03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Estudios de cohorte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Resumen en 5 min</a:t>
            </a:r>
          </a:p>
        </p:txBody>
      </p:sp>
    </p:spTree>
    <p:extLst>
      <p:ext uri="{BB962C8B-B14F-4D97-AF65-F5344CB8AC3E}">
        <p14:creationId xmlns:p14="http://schemas.microsoft.com/office/powerpoint/2010/main" val="33260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93436" y="139701"/>
            <a:ext cx="9782801" cy="985044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dirty="0">
                <a:solidFill>
                  <a:srgbClr val="1232D0"/>
                </a:solidFill>
              </a:rPr>
              <a:t>Clasificaciones de los estudios epidemiológicos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593436" y="1700808"/>
            <a:ext cx="9181496" cy="1944216"/>
          </a:xfrm>
        </p:spPr>
        <p:txBody>
          <a:bodyPr rtlCol="0">
            <a:normAutofit fontScale="77500" lnSpcReduction="20000"/>
          </a:bodyPr>
          <a:lstStyle/>
          <a:p>
            <a:pPr algn="just" rtl="0"/>
            <a:r>
              <a:rPr lang="es-ES" dirty="0"/>
              <a:t>Se selecciona a sujetos expuestos y no expuestos al factor de interés, que estén en riesgo del evento</a:t>
            </a:r>
          </a:p>
          <a:p>
            <a:pPr algn="just" rtl="0"/>
            <a:r>
              <a:rPr lang="es-ES" dirty="0"/>
              <a:t>Se sigue a los sujetos para determinar quiénes desarrollan el evento en el futuro</a:t>
            </a:r>
          </a:p>
          <a:p>
            <a:pPr algn="just" rtl="0"/>
            <a:r>
              <a:rPr lang="es-ES" dirty="0"/>
              <a:t>Se compara el riesgo de enfermar de los expuestos con los no expuestos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82DEA70-704B-4295-BFD8-A2B884955048}"/>
              </a:ext>
            </a:extLst>
          </p:cNvPr>
          <p:cNvCxnSpPr>
            <a:cxnSpLocks/>
          </p:cNvCxnSpPr>
          <p:nvPr/>
        </p:nvCxnSpPr>
        <p:spPr>
          <a:xfrm>
            <a:off x="1197868" y="1340768"/>
            <a:ext cx="10729192" cy="0"/>
          </a:xfrm>
          <a:prstGeom prst="line">
            <a:avLst/>
          </a:prstGeom>
          <a:ln w="76200">
            <a:solidFill>
              <a:srgbClr val="596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35A6B4C1-C4D3-47C3-89AA-3F667E0FE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24" y="3501008"/>
            <a:ext cx="5459732" cy="286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1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FBD43A-14C7-4D54-9EBC-A7AE55463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828" y="5805263"/>
            <a:ext cx="943107" cy="591187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128B6D91-9AD7-4128-8394-4C40B18E9B35}"/>
              </a:ext>
            </a:extLst>
          </p:cNvPr>
          <p:cNvGrpSpPr/>
          <p:nvPr/>
        </p:nvGrpSpPr>
        <p:grpSpPr>
          <a:xfrm>
            <a:off x="1050221" y="509180"/>
            <a:ext cx="9895903" cy="5777440"/>
            <a:chOff x="1050221" y="509180"/>
            <a:chExt cx="9895903" cy="577744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EEB440EA-FEC3-4A3C-B88A-CA16BBB74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0221" y="509180"/>
              <a:ext cx="9895745" cy="5728132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CE541EA-2DE3-44D5-B6E1-524E9A368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94812" y="5695434"/>
              <a:ext cx="1251312" cy="5911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871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C128DC-2187-45E5-BF13-0E8D9B60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908720"/>
            <a:ext cx="10393225" cy="69542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33B7BD1-A4E8-4D81-A8A1-E81C6FC65D55}"/>
              </a:ext>
            </a:extLst>
          </p:cNvPr>
          <p:cNvSpPr/>
          <p:nvPr/>
        </p:nvSpPr>
        <p:spPr>
          <a:xfrm>
            <a:off x="9694812" y="102807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UDs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98B3CB-299C-4771-8F38-FAE597D16A9F}"/>
              </a:ext>
            </a:extLst>
          </p:cNvPr>
          <p:cNvSpPr/>
          <p:nvPr/>
        </p:nvSpPr>
        <p:spPr>
          <a:xfrm>
            <a:off x="2998068" y="2564904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3E2EDA2-2453-41C9-BDF8-18FBE7246A5D}"/>
              </a:ext>
            </a:extLst>
          </p:cNvPr>
          <p:cNvSpPr/>
          <p:nvPr/>
        </p:nvSpPr>
        <p:spPr>
          <a:xfrm>
            <a:off x="2998068" y="4365104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50B401-6C41-444D-BC59-8B9D0AD74594}"/>
              </a:ext>
            </a:extLst>
          </p:cNvPr>
          <p:cNvSpPr/>
          <p:nvPr/>
        </p:nvSpPr>
        <p:spPr>
          <a:xfrm>
            <a:off x="7318548" y="1796491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D7B11B-387E-4ABD-9A8B-61DF3CF5F11E}"/>
              </a:ext>
            </a:extLst>
          </p:cNvPr>
          <p:cNvSpPr/>
          <p:nvPr/>
        </p:nvSpPr>
        <p:spPr>
          <a:xfrm>
            <a:off x="7318548" y="249289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996D4E-2E14-4D3B-90CF-B4066D0EAF8A}"/>
              </a:ext>
            </a:extLst>
          </p:cNvPr>
          <p:cNvSpPr/>
          <p:nvPr/>
        </p:nvSpPr>
        <p:spPr>
          <a:xfrm>
            <a:off x="7318548" y="407113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D313A82-7A05-4C5D-BFAB-0F31C9515B12}"/>
              </a:ext>
            </a:extLst>
          </p:cNvPr>
          <p:cNvSpPr/>
          <p:nvPr/>
        </p:nvSpPr>
        <p:spPr>
          <a:xfrm>
            <a:off x="7318548" y="4767543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D87D6A-E8B8-459D-AABD-34A012EF2946}"/>
              </a:ext>
            </a:extLst>
          </p:cNvPr>
          <p:cNvSpPr/>
          <p:nvPr/>
        </p:nvSpPr>
        <p:spPr>
          <a:xfrm>
            <a:off x="1053852" y="2934678"/>
            <a:ext cx="1512168" cy="1872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Personas en riesgo de desarrollar el desenlace</a:t>
            </a:r>
          </a:p>
        </p:txBody>
      </p:sp>
    </p:spTree>
    <p:extLst>
      <p:ext uri="{BB962C8B-B14F-4D97-AF65-F5344CB8AC3E}">
        <p14:creationId xmlns:p14="http://schemas.microsoft.com/office/powerpoint/2010/main" val="354096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C128DC-2187-45E5-BF13-0E8D9B60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908720"/>
            <a:ext cx="10393225" cy="69542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33B7BD1-A4E8-4D81-A8A1-E81C6FC65D55}"/>
              </a:ext>
            </a:extLst>
          </p:cNvPr>
          <p:cNvSpPr/>
          <p:nvPr/>
        </p:nvSpPr>
        <p:spPr>
          <a:xfrm>
            <a:off x="9622804" y="102807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UDs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98B3CB-299C-4771-8F38-FAE597D16A9F}"/>
              </a:ext>
            </a:extLst>
          </p:cNvPr>
          <p:cNvSpPr/>
          <p:nvPr/>
        </p:nvSpPr>
        <p:spPr>
          <a:xfrm>
            <a:off x="2998068" y="2564904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</a:t>
            </a:r>
            <a:br>
              <a:rPr lang="es-PE" dirty="0"/>
            </a:br>
            <a:r>
              <a:rPr lang="es-PE" dirty="0" err="1"/>
              <a:t>Empaglifozin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3E2EDA2-2453-41C9-BDF8-18FBE7246A5D}"/>
              </a:ext>
            </a:extLst>
          </p:cNvPr>
          <p:cNvSpPr/>
          <p:nvPr/>
        </p:nvSpPr>
        <p:spPr>
          <a:xfrm>
            <a:off x="2998067" y="4365104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NE</a:t>
            </a:r>
          </a:p>
          <a:p>
            <a:pPr algn="ctr"/>
            <a:r>
              <a:rPr lang="es-PE" dirty="0"/>
              <a:t>No iSGLT2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50B401-6C41-444D-BC59-8B9D0AD74594}"/>
              </a:ext>
            </a:extLst>
          </p:cNvPr>
          <p:cNvSpPr/>
          <p:nvPr/>
        </p:nvSpPr>
        <p:spPr>
          <a:xfrm>
            <a:off x="7318548" y="1796491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D7B11B-387E-4ABD-9A8B-61DF3CF5F11E}"/>
              </a:ext>
            </a:extLst>
          </p:cNvPr>
          <p:cNvSpPr/>
          <p:nvPr/>
        </p:nvSpPr>
        <p:spPr>
          <a:xfrm>
            <a:off x="7318548" y="249289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996D4E-2E14-4D3B-90CF-B4066D0EAF8A}"/>
              </a:ext>
            </a:extLst>
          </p:cNvPr>
          <p:cNvSpPr/>
          <p:nvPr/>
        </p:nvSpPr>
        <p:spPr>
          <a:xfrm>
            <a:off x="7318548" y="407113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D313A82-7A05-4C5D-BFAB-0F31C9515B12}"/>
              </a:ext>
            </a:extLst>
          </p:cNvPr>
          <p:cNvSpPr/>
          <p:nvPr/>
        </p:nvSpPr>
        <p:spPr>
          <a:xfrm>
            <a:off x="7318548" y="4767543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D87D6A-E8B8-459D-AABD-34A012EF2946}"/>
              </a:ext>
            </a:extLst>
          </p:cNvPr>
          <p:cNvSpPr/>
          <p:nvPr/>
        </p:nvSpPr>
        <p:spPr>
          <a:xfrm>
            <a:off x="1053852" y="2934678"/>
            <a:ext cx="1512168" cy="1872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Personas en riesgo de desarrollar el mortalidad por IMA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6995A877-8C61-492A-9D88-B7F17A5E6D91}"/>
              </a:ext>
            </a:extLst>
          </p:cNvPr>
          <p:cNvSpPr/>
          <p:nvPr/>
        </p:nvSpPr>
        <p:spPr>
          <a:xfrm>
            <a:off x="1197868" y="5229200"/>
            <a:ext cx="1512168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IMA</a:t>
            </a:r>
          </a:p>
        </p:txBody>
      </p:sp>
    </p:spTree>
    <p:extLst>
      <p:ext uri="{BB962C8B-B14F-4D97-AF65-F5344CB8AC3E}">
        <p14:creationId xmlns:p14="http://schemas.microsoft.com/office/powerpoint/2010/main" val="258599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C128DC-2187-45E5-BF13-0E8D9B60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908720"/>
            <a:ext cx="10393225" cy="69542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33B7BD1-A4E8-4D81-A8A1-E81C6FC65D55}"/>
              </a:ext>
            </a:extLst>
          </p:cNvPr>
          <p:cNvSpPr/>
          <p:nvPr/>
        </p:nvSpPr>
        <p:spPr>
          <a:xfrm>
            <a:off x="9622804" y="102807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UDs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98B3CB-299C-4771-8F38-FAE597D16A9F}"/>
              </a:ext>
            </a:extLst>
          </p:cNvPr>
          <p:cNvSpPr/>
          <p:nvPr/>
        </p:nvSpPr>
        <p:spPr>
          <a:xfrm>
            <a:off x="2998068" y="2564904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</a:t>
            </a:r>
            <a:br>
              <a:rPr lang="es-PE" dirty="0"/>
            </a:br>
            <a:r>
              <a:rPr lang="es-PE" dirty="0" err="1"/>
              <a:t>Complicacion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3E2EDA2-2453-41C9-BDF8-18FBE7246A5D}"/>
              </a:ext>
            </a:extLst>
          </p:cNvPr>
          <p:cNvSpPr/>
          <p:nvPr/>
        </p:nvSpPr>
        <p:spPr>
          <a:xfrm>
            <a:off x="2998067" y="4365104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NE</a:t>
            </a:r>
          </a:p>
          <a:p>
            <a:pPr algn="ctr"/>
            <a:r>
              <a:rPr lang="es-PE" dirty="0"/>
              <a:t>No </a:t>
            </a:r>
            <a:r>
              <a:rPr lang="es-PE" dirty="0" err="1"/>
              <a:t>complicacion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50B401-6C41-444D-BC59-8B9D0AD74594}"/>
              </a:ext>
            </a:extLst>
          </p:cNvPr>
          <p:cNvSpPr/>
          <p:nvPr/>
        </p:nvSpPr>
        <p:spPr>
          <a:xfrm>
            <a:off x="7318548" y="1796491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D7B11B-387E-4ABD-9A8B-61DF3CF5F11E}"/>
              </a:ext>
            </a:extLst>
          </p:cNvPr>
          <p:cNvSpPr/>
          <p:nvPr/>
        </p:nvSpPr>
        <p:spPr>
          <a:xfrm>
            <a:off x="7318548" y="249289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 </a:t>
            </a:r>
            <a:r>
              <a:rPr lang="es-PE" dirty="0" err="1"/>
              <a:t>Mort</a:t>
            </a:r>
            <a:endParaRPr lang="es-P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996D4E-2E14-4D3B-90CF-B4066D0EAF8A}"/>
              </a:ext>
            </a:extLst>
          </p:cNvPr>
          <p:cNvSpPr/>
          <p:nvPr/>
        </p:nvSpPr>
        <p:spPr>
          <a:xfrm>
            <a:off x="7318548" y="407113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D313A82-7A05-4C5D-BFAB-0F31C9515B12}"/>
              </a:ext>
            </a:extLst>
          </p:cNvPr>
          <p:cNvSpPr/>
          <p:nvPr/>
        </p:nvSpPr>
        <p:spPr>
          <a:xfrm>
            <a:off x="7318548" y="4767543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D87D6A-E8B8-459D-AABD-34A012EF2946}"/>
              </a:ext>
            </a:extLst>
          </p:cNvPr>
          <p:cNvSpPr/>
          <p:nvPr/>
        </p:nvSpPr>
        <p:spPr>
          <a:xfrm>
            <a:off x="1053852" y="2934678"/>
            <a:ext cx="1512168" cy="1872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Pacientes con DM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90E6920-DD53-4B6F-9147-409BBABAFD9C}"/>
              </a:ext>
            </a:extLst>
          </p:cNvPr>
          <p:cNvSpPr/>
          <p:nvPr/>
        </p:nvSpPr>
        <p:spPr>
          <a:xfrm>
            <a:off x="1557908" y="908720"/>
            <a:ext cx="180020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Año del diagnostico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572DE58-B3AD-4F86-B936-89AF6FFCFF04}"/>
              </a:ext>
            </a:extLst>
          </p:cNvPr>
          <p:cNvSpPr/>
          <p:nvPr/>
        </p:nvSpPr>
        <p:spPr>
          <a:xfrm>
            <a:off x="7606580" y="938535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Año de la mortalidad</a:t>
            </a:r>
          </a:p>
        </p:txBody>
      </p:sp>
    </p:spTree>
    <p:extLst>
      <p:ext uri="{BB962C8B-B14F-4D97-AF65-F5344CB8AC3E}">
        <p14:creationId xmlns:p14="http://schemas.microsoft.com/office/powerpoint/2010/main" val="364121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C128DC-2187-45E5-BF13-0E8D9B60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908720"/>
            <a:ext cx="10393225" cy="69542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33B7BD1-A4E8-4D81-A8A1-E81C6FC65D55}"/>
              </a:ext>
            </a:extLst>
          </p:cNvPr>
          <p:cNvSpPr/>
          <p:nvPr/>
        </p:nvSpPr>
        <p:spPr>
          <a:xfrm>
            <a:off x="9622804" y="102807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UDs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98B3CB-299C-4771-8F38-FAE597D16A9F}"/>
              </a:ext>
            </a:extLst>
          </p:cNvPr>
          <p:cNvSpPr/>
          <p:nvPr/>
        </p:nvSpPr>
        <p:spPr>
          <a:xfrm>
            <a:off x="2998068" y="2564904"/>
            <a:ext cx="201622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Edad de inicio de Insulina antes de 10 años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3E2EDA2-2453-41C9-BDF8-18FBE7246A5D}"/>
              </a:ext>
            </a:extLst>
          </p:cNvPr>
          <p:cNvSpPr/>
          <p:nvPr/>
        </p:nvSpPr>
        <p:spPr>
          <a:xfrm>
            <a:off x="2998067" y="4365104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NE</a:t>
            </a:r>
          </a:p>
          <a:p>
            <a:pPr algn="ctr"/>
            <a:r>
              <a:rPr lang="es-PE" dirty="0"/>
              <a:t>No </a:t>
            </a:r>
            <a:r>
              <a:rPr lang="es-PE" dirty="0" err="1"/>
              <a:t>complicacion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50B401-6C41-444D-BC59-8B9D0AD74594}"/>
              </a:ext>
            </a:extLst>
          </p:cNvPr>
          <p:cNvSpPr/>
          <p:nvPr/>
        </p:nvSpPr>
        <p:spPr>
          <a:xfrm>
            <a:off x="7318548" y="1796491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Retino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D7B11B-387E-4ABD-9A8B-61DF3CF5F11E}"/>
              </a:ext>
            </a:extLst>
          </p:cNvPr>
          <p:cNvSpPr/>
          <p:nvPr/>
        </p:nvSpPr>
        <p:spPr>
          <a:xfrm>
            <a:off x="7318548" y="2492896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No </a:t>
            </a:r>
            <a:r>
              <a:rPr lang="es-PE" dirty="0" err="1"/>
              <a:t>Retinopatia</a:t>
            </a:r>
            <a:endParaRPr lang="es-P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996D4E-2E14-4D3B-90CF-B4066D0EAF8A}"/>
              </a:ext>
            </a:extLst>
          </p:cNvPr>
          <p:cNvSpPr/>
          <p:nvPr/>
        </p:nvSpPr>
        <p:spPr>
          <a:xfrm>
            <a:off x="7318548" y="407113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D313A82-7A05-4C5D-BFAB-0F31C9515B12}"/>
              </a:ext>
            </a:extLst>
          </p:cNvPr>
          <p:cNvSpPr/>
          <p:nvPr/>
        </p:nvSpPr>
        <p:spPr>
          <a:xfrm>
            <a:off x="7318548" y="4767543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D87D6A-E8B8-459D-AABD-34A012EF2946}"/>
              </a:ext>
            </a:extLst>
          </p:cNvPr>
          <p:cNvSpPr/>
          <p:nvPr/>
        </p:nvSpPr>
        <p:spPr>
          <a:xfrm>
            <a:off x="1053852" y="2934678"/>
            <a:ext cx="1512168" cy="1872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Pacientes con DM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90E6920-DD53-4B6F-9147-409BBABAFD9C}"/>
              </a:ext>
            </a:extLst>
          </p:cNvPr>
          <p:cNvSpPr/>
          <p:nvPr/>
        </p:nvSpPr>
        <p:spPr>
          <a:xfrm>
            <a:off x="1557908" y="908720"/>
            <a:ext cx="180020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Año del diagnostico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572DE58-B3AD-4F86-B936-89AF6FFCFF04}"/>
              </a:ext>
            </a:extLst>
          </p:cNvPr>
          <p:cNvSpPr/>
          <p:nvPr/>
        </p:nvSpPr>
        <p:spPr>
          <a:xfrm>
            <a:off x="7606580" y="938535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Año de la mortalidad</a:t>
            </a:r>
          </a:p>
        </p:txBody>
      </p:sp>
      <p:sp>
        <p:nvSpPr>
          <p:cNvPr id="14" name="Título 12">
            <a:extLst>
              <a:ext uri="{FF2B5EF4-FFF2-40B4-BE49-F238E27FC236}">
                <a16:creationId xmlns:a16="http://schemas.microsoft.com/office/drawing/2014/main" id="{CC8A0983-1978-45D0-AF25-2AE9C39C3625}"/>
              </a:ext>
            </a:extLst>
          </p:cNvPr>
          <p:cNvSpPr txBox="1">
            <a:spLocks/>
          </p:cNvSpPr>
          <p:nvPr/>
        </p:nvSpPr>
        <p:spPr>
          <a:xfrm>
            <a:off x="1593436" y="139701"/>
            <a:ext cx="9782801" cy="985044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1232D0"/>
                </a:solidFill>
              </a:rPr>
              <a:t>Caso control anidado en una cohorte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896719A-1FFD-4D3C-97B5-DCA494E0607F}"/>
              </a:ext>
            </a:extLst>
          </p:cNvPr>
          <p:cNvSpPr/>
          <p:nvPr/>
        </p:nvSpPr>
        <p:spPr>
          <a:xfrm>
            <a:off x="7318548" y="407113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Retino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05E4BA7-EEFD-4F7A-9303-39F427BE2981}"/>
              </a:ext>
            </a:extLst>
          </p:cNvPr>
          <p:cNvSpPr/>
          <p:nvPr/>
        </p:nvSpPr>
        <p:spPr>
          <a:xfrm>
            <a:off x="7318548" y="4767543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No </a:t>
            </a:r>
            <a:r>
              <a:rPr lang="es-PE" dirty="0" err="1"/>
              <a:t>Retinopatia</a:t>
            </a:r>
            <a:endParaRPr lang="es-PE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C9CDE89-60F0-45EE-8190-4E13CB3A25E3}"/>
              </a:ext>
            </a:extLst>
          </p:cNvPr>
          <p:cNvSpPr/>
          <p:nvPr/>
        </p:nvSpPr>
        <p:spPr>
          <a:xfrm>
            <a:off x="3008021" y="4191479"/>
            <a:ext cx="201622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Edad de inicio de Insulina </a:t>
            </a:r>
            <a:r>
              <a:rPr lang="es-PE" dirty="0" err="1"/>
              <a:t>despues</a:t>
            </a:r>
            <a:r>
              <a:rPr lang="es-PE" dirty="0"/>
              <a:t> de 10 años</a:t>
            </a:r>
          </a:p>
        </p:txBody>
      </p:sp>
    </p:spTree>
    <p:extLst>
      <p:ext uri="{BB962C8B-B14F-4D97-AF65-F5344CB8AC3E}">
        <p14:creationId xmlns:p14="http://schemas.microsoft.com/office/powerpoint/2010/main" val="16394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298B3CB-299C-4771-8F38-FAE597D16A9F}"/>
              </a:ext>
            </a:extLst>
          </p:cNvPr>
          <p:cNvSpPr/>
          <p:nvPr/>
        </p:nvSpPr>
        <p:spPr>
          <a:xfrm>
            <a:off x="7606580" y="2708442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</a:t>
            </a:r>
            <a:br>
              <a:rPr lang="es-PE" dirty="0"/>
            </a:br>
            <a:r>
              <a:rPr lang="es-PE" dirty="0"/>
              <a:t>Anemia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3E2EDA2-2453-41C9-BDF8-18FBE7246A5D}"/>
              </a:ext>
            </a:extLst>
          </p:cNvPr>
          <p:cNvSpPr/>
          <p:nvPr/>
        </p:nvSpPr>
        <p:spPr>
          <a:xfrm>
            <a:off x="5482344" y="2720758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NE</a:t>
            </a:r>
          </a:p>
          <a:p>
            <a:pPr algn="ctr"/>
            <a:r>
              <a:rPr lang="es-PE" dirty="0"/>
              <a:t>No Anemia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50B401-6C41-444D-BC59-8B9D0AD74594}"/>
              </a:ext>
            </a:extLst>
          </p:cNvPr>
          <p:cNvSpPr/>
          <p:nvPr/>
        </p:nvSpPr>
        <p:spPr>
          <a:xfrm>
            <a:off x="3646140" y="3392996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Neumonia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D7B11B-387E-4ABD-9A8B-61DF3CF5F11E}"/>
              </a:ext>
            </a:extLst>
          </p:cNvPr>
          <p:cNvSpPr/>
          <p:nvPr/>
        </p:nvSpPr>
        <p:spPr>
          <a:xfrm>
            <a:off x="3646140" y="4089401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No N</a:t>
            </a:r>
          </a:p>
        </p:txBody>
      </p:sp>
    </p:spTree>
    <p:extLst>
      <p:ext uri="{BB962C8B-B14F-4D97-AF65-F5344CB8AC3E}">
        <p14:creationId xmlns:p14="http://schemas.microsoft.com/office/powerpoint/2010/main" val="372724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CDA5BB0-8189-4020-BBBD-9B6B734DF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908720"/>
            <a:ext cx="10393225" cy="695422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3F6365B-E7C2-49D9-9E08-758B2CB812B5}"/>
              </a:ext>
            </a:extLst>
          </p:cNvPr>
          <p:cNvSpPr/>
          <p:nvPr/>
        </p:nvSpPr>
        <p:spPr>
          <a:xfrm>
            <a:off x="225760" y="872716"/>
            <a:ext cx="1080120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UDS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EDA814E-9C70-4B5B-8419-4C0F776A7D3B}"/>
              </a:ext>
            </a:extLst>
          </p:cNvPr>
          <p:cNvSpPr/>
          <p:nvPr/>
        </p:nvSpPr>
        <p:spPr>
          <a:xfrm>
            <a:off x="1557908" y="908720"/>
            <a:ext cx="180020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Año de nacimiento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9F3D025-9070-4435-80A7-8943CC962441}"/>
              </a:ext>
            </a:extLst>
          </p:cNvPr>
          <p:cNvSpPr/>
          <p:nvPr/>
        </p:nvSpPr>
        <p:spPr>
          <a:xfrm>
            <a:off x="7606580" y="938535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Seguimiento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CA5953-DD8A-43DC-B2B2-00AE1888418D}"/>
              </a:ext>
            </a:extLst>
          </p:cNvPr>
          <p:cNvSpPr/>
          <p:nvPr/>
        </p:nvSpPr>
        <p:spPr>
          <a:xfrm>
            <a:off x="2782044" y="2159416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adolescente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80670F2-4A88-4F4B-B789-AC0630A4719D}"/>
              </a:ext>
            </a:extLst>
          </p:cNvPr>
          <p:cNvSpPr/>
          <p:nvPr/>
        </p:nvSpPr>
        <p:spPr>
          <a:xfrm>
            <a:off x="2738824" y="4365104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no adolescente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D6701DE-AAA5-48F1-854F-C35FAA8717EF}"/>
              </a:ext>
            </a:extLst>
          </p:cNvPr>
          <p:cNvSpPr/>
          <p:nvPr/>
        </p:nvSpPr>
        <p:spPr>
          <a:xfrm>
            <a:off x="7318548" y="1796491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&gt;6m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97F0A2D-5F75-43AD-A078-7975D05F2B38}"/>
              </a:ext>
            </a:extLst>
          </p:cNvPr>
          <p:cNvSpPr/>
          <p:nvPr/>
        </p:nvSpPr>
        <p:spPr>
          <a:xfrm>
            <a:off x="7269596" y="2646646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&lt; 6m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6B34B75-2981-4246-8338-84DCE72CCE21}"/>
              </a:ext>
            </a:extLst>
          </p:cNvPr>
          <p:cNvSpPr/>
          <p:nvPr/>
        </p:nvSpPr>
        <p:spPr>
          <a:xfrm>
            <a:off x="1053852" y="2934678"/>
            <a:ext cx="1512168" cy="1872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Todos en riesgo de iniciar lactancia y de dejarla</a:t>
            </a:r>
          </a:p>
        </p:txBody>
      </p:sp>
      <p:sp>
        <p:nvSpPr>
          <p:cNvPr id="20" name="Cerrar llave 19">
            <a:extLst>
              <a:ext uri="{FF2B5EF4-FFF2-40B4-BE49-F238E27FC236}">
                <a16:creationId xmlns:a16="http://schemas.microsoft.com/office/drawing/2014/main" id="{F9D06776-EEE7-495F-9A8A-EFB644BFF634}"/>
              </a:ext>
            </a:extLst>
          </p:cNvPr>
          <p:cNvSpPr/>
          <p:nvPr/>
        </p:nvSpPr>
        <p:spPr>
          <a:xfrm flipH="1">
            <a:off x="5014291" y="1930381"/>
            <a:ext cx="2241250" cy="1161862"/>
          </a:xfrm>
          <a:prstGeom prst="rightBrace">
            <a:avLst>
              <a:gd name="adj1" fmla="val 0"/>
              <a:gd name="adj2" fmla="val 45371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B62A2D-CAE4-4C02-978D-D62F3C1DECA6}"/>
              </a:ext>
            </a:extLst>
          </p:cNvPr>
          <p:cNvSpPr/>
          <p:nvPr/>
        </p:nvSpPr>
        <p:spPr>
          <a:xfrm>
            <a:off x="7248881" y="4000857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&gt;6m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2C9E18A-B9F4-44BB-B611-4E8ED061A734}"/>
              </a:ext>
            </a:extLst>
          </p:cNvPr>
          <p:cNvSpPr/>
          <p:nvPr/>
        </p:nvSpPr>
        <p:spPr>
          <a:xfrm>
            <a:off x="7199929" y="4851012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&lt; 6m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CD7AD752-752B-4F0E-990E-84A446C979A8}"/>
              </a:ext>
            </a:extLst>
          </p:cNvPr>
          <p:cNvSpPr/>
          <p:nvPr/>
        </p:nvSpPr>
        <p:spPr>
          <a:xfrm flipH="1">
            <a:off x="4944624" y="4134747"/>
            <a:ext cx="2241250" cy="1161862"/>
          </a:xfrm>
          <a:prstGeom prst="rightBrace">
            <a:avLst>
              <a:gd name="adj1" fmla="val 0"/>
              <a:gd name="adj2" fmla="val 45371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102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CDA5BB0-8189-4020-BBBD-9B6B734DF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908720"/>
            <a:ext cx="10393225" cy="695422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3F6365B-E7C2-49D9-9E08-758B2CB812B5}"/>
              </a:ext>
            </a:extLst>
          </p:cNvPr>
          <p:cNvSpPr/>
          <p:nvPr/>
        </p:nvSpPr>
        <p:spPr>
          <a:xfrm>
            <a:off x="9766820" y="330768"/>
            <a:ext cx="1080120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UDS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C96CC3-4968-4B9C-AA65-CC4FFEAE2E9A}"/>
              </a:ext>
            </a:extLst>
          </p:cNvPr>
          <p:cNvSpPr/>
          <p:nvPr/>
        </p:nvSpPr>
        <p:spPr>
          <a:xfrm>
            <a:off x="2782044" y="2159416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adolescente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814DBBE-6779-4F9A-B486-58366C21657E}"/>
              </a:ext>
            </a:extLst>
          </p:cNvPr>
          <p:cNvSpPr/>
          <p:nvPr/>
        </p:nvSpPr>
        <p:spPr>
          <a:xfrm>
            <a:off x="2738824" y="4365104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no adolescente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470705E-411E-44E0-85A9-BB3CB0A180EC}"/>
              </a:ext>
            </a:extLst>
          </p:cNvPr>
          <p:cNvSpPr/>
          <p:nvPr/>
        </p:nvSpPr>
        <p:spPr>
          <a:xfrm>
            <a:off x="7318548" y="1796491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&gt;6m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F7ECED3-D089-49D4-9AD0-0F6B8FA37756}"/>
              </a:ext>
            </a:extLst>
          </p:cNvPr>
          <p:cNvSpPr/>
          <p:nvPr/>
        </p:nvSpPr>
        <p:spPr>
          <a:xfrm>
            <a:off x="7269596" y="2646646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&lt; 6m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2C09651-F145-4CDC-9191-652387F0E453}"/>
              </a:ext>
            </a:extLst>
          </p:cNvPr>
          <p:cNvSpPr/>
          <p:nvPr/>
        </p:nvSpPr>
        <p:spPr>
          <a:xfrm>
            <a:off x="1053852" y="2934678"/>
            <a:ext cx="1512168" cy="1872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Todos en riesgo de iniciar lactancia y de dejarla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EDA814E-9C70-4B5B-8419-4C0F776A7D3B}"/>
              </a:ext>
            </a:extLst>
          </p:cNvPr>
          <p:cNvSpPr/>
          <p:nvPr/>
        </p:nvSpPr>
        <p:spPr>
          <a:xfrm>
            <a:off x="1557908" y="908720"/>
            <a:ext cx="180020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Año de nacimiento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9F3D025-9070-4435-80A7-8943CC962441}"/>
              </a:ext>
            </a:extLst>
          </p:cNvPr>
          <p:cNvSpPr/>
          <p:nvPr/>
        </p:nvSpPr>
        <p:spPr>
          <a:xfrm>
            <a:off x="7606580" y="938535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Seguimiento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47AE1DEA-5824-4B12-B280-BEE76A0B1426}"/>
              </a:ext>
            </a:extLst>
          </p:cNvPr>
          <p:cNvSpPr/>
          <p:nvPr/>
        </p:nvSpPr>
        <p:spPr>
          <a:xfrm flipH="1">
            <a:off x="5014291" y="1930381"/>
            <a:ext cx="2241250" cy="1161862"/>
          </a:xfrm>
          <a:prstGeom prst="rightBrace">
            <a:avLst>
              <a:gd name="adj1" fmla="val 0"/>
              <a:gd name="adj2" fmla="val 45371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B47D05D-90FC-4674-91FE-BEB2F853E7AE}"/>
              </a:ext>
            </a:extLst>
          </p:cNvPr>
          <p:cNvSpPr/>
          <p:nvPr/>
        </p:nvSpPr>
        <p:spPr>
          <a:xfrm>
            <a:off x="7248881" y="4000857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&gt;6m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6EF2E61-DE9F-432F-B34A-8E07BD7A50D3}"/>
              </a:ext>
            </a:extLst>
          </p:cNvPr>
          <p:cNvSpPr/>
          <p:nvPr/>
        </p:nvSpPr>
        <p:spPr>
          <a:xfrm>
            <a:off x="7199929" y="4851012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&lt; 6m</a:t>
            </a:r>
          </a:p>
        </p:txBody>
      </p: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6BE520EC-9120-4986-A98E-CCE8F2178742}"/>
              </a:ext>
            </a:extLst>
          </p:cNvPr>
          <p:cNvSpPr/>
          <p:nvPr/>
        </p:nvSpPr>
        <p:spPr>
          <a:xfrm flipH="1">
            <a:off x="4944624" y="4134747"/>
            <a:ext cx="2241250" cy="1161862"/>
          </a:xfrm>
          <a:prstGeom prst="rightBrace">
            <a:avLst>
              <a:gd name="adj1" fmla="val 0"/>
              <a:gd name="adj2" fmla="val 45371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383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CDA5BB0-8189-4020-BBBD-9B6B734DF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908720"/>
            <a:ext cx="10393225" cy="695422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3F6365B-E7C2-49D9-9E08-758B2CB812B5}"/>
              </a:ext>
            </a:extLst>
          </p:cNvPr>
          <p:cNvSpPr/>
          <p:nvPr/>
        </p:nvSpPr>
        <p:spPr>
          <a:xfrm>
            <a:off x="7534572" y="309537"/>
            <a:ext cx="1080120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UDS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C96CC3-4968-4B9C-AA65-CC4FFEAE2E9A}"/>
              </a:ext>
            </a:extLst>
          </p:cNvPr>
          <p:cNvSpPr/>
          <p:nvPr/>
        </p:nvSpPr>
        <p:spPr>
          <a:xfrm>
            <a:off x="1375592" y="1933146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adolescente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814DBBE-6779-4F9A-B486-58366C21657E}"/>
              </a:ext>
            </a:extLst>
          </p:cNvPr>
          <p:cNvSpPr/>
          <p:nvPr/>
        </p:nvSpPr>
        <p:spPr>
          <a:xfrm>
            <a:off x="1341884" y="2646646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no adolescente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F7ECED3-D089-49D4-9AD0-0F6B8FA37756}"/>
              </a:ext>
            </a:extLst>
          </p:cNvPr>
          <p:cNvSpPr/>
          <p:nvPr/>
        </p:nvSpPr>
        <p:spPr>
          <a:xfrm>
            <a:off x="7305418" y="2221178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&lt; 6m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EDA814E-9C70-4B5B-8419-4C0F776A7D3B}"/>
              </a:ext>
            </a:extLst>
          </p:cNvPr>
          <p:cNvSpPr/>
          <p:nvPr/>
        </p:nvSpPr>
        <p:spPr>
          <a:xfrm>
            <a:off x="1557908" y="908720"/>
            <a:ext cx="180020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Año de nacimiento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9F3D025-9070-4435-80A7-8943CC962441}"/>
              </a:ext>
            </a:extLst>
          </p:cNvPr>
          <p:cNvSpPr/>
          <p:nvPr/>
        </p:nvSpPr>
        <p:spPr>
          <a:xfrm>
            <a:off x="7138528" y="954958"/>
            <a:ext cx="201622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Clasificamos en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5B33FD3-D3FD-458D-ABC3-2D5EAEE24FBB}"/>
              </a:ext>
            </a:extLst>
          </p:cNvPr>
          <p:cNvSpPr/>
          <p:nvPr/>
        </p:nvSpPr>
        <p:spPr>
          <a:xfrm>
            <a:off x="7318548" y="3956731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&gt;6m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F6DBCBB-4361-4085-890B-A99D16587AC7}"/>
              </a:ext>
            </a:extLst>
          </p:cNvPr>
          <p:cNvSpPr/>
          <p:nvPr/>
        </p:nvSpPr>
        <p:spPr>
          <a:xfrm>
            <a:off x="1307014" y="3632551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adolescente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5B3A362-29D3-48E6-8518-9AC091361A9C}"/>
              </a:ext>
            </a:extLst>
          </p:cNvPr>
          <p:cNvSpPr/>
          <p:nvPr/>
        </p:nvSpPr>
        <p:spPr>
          <a:xfrm>
            <a:off x="1273306" y="4346051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no adolescente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12FA746D-1DEE-4C25-855F-626DBD6D508D}"/>
              </a:ext>
            </a:extLst>
          </p:cNvPr>
          <p:cNvSpPr/>
          <p:nvPr/>
        </p:nvSpPr>
        <p:spPr>
          <a:xfrm>
            <a:off x="3358108" y="2060848"/>
            <a:ext cx="3672408" cy="1161862"/>
          </a:xfrm>
          <a:prstGeom prst="rightBrace">
            <a:avLst>
              <a:gd name="adj1" fmla="val 0"/>
              <a:gd name="adj2" fmla="val 45371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1634CD8C-4F81-4381-99B7-A283B152C24B}"/>
              </a:ext>
            </a:extLst>
          </p:cNvPr>
          <p:cNvSpPr/>
          <p:nvPr/>
        </p:nvSpPr>
        <p:spPr>
          <a:xfrm>
            <a:off x="3393831" y="3621198"/>
            <a:ext cx="3672408" cy="1161862"/>
          </a:xfrm>
          <a:prstGeom prst="rightBrace">
            <a:avLst>
              <a:gd name="adj1" fmla="val 0"/>
              <a:gd name="adj2" fmla="val 45371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216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CE79F03-3D63-487E-9BB2-D758A2F4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246" y="692696"/>
            <a:ext cx="6094332" cy="337658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1AF9ABF-42D4-4575-9371-0C144FB21A36}"/>
              </a:ext>
            </a:extLst>
          </p:cNvPr>
          <p:cNvSpPr/>
          <p:nvPr/>
        </p:nvSpPr>
        <p:spPr>
          <a:xfrm>
            <a:off x="3039851" y="2917157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adolescente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6BBB909-5A82-448F-AE45-9F37ED8E0E06}"/>
              </a:ext>
            </a:extLst>
          </p:cNvPr>
          <p:cNvSpPr/>
          <p:nvPr/>
        </p:nvSpPr>
        <p:spPr>
          <a:xfrm>
            <a:off x="3047246" y="3717032"/>
            <a:ext cx="201622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Madre no adolescente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998F48-8162-4B27-8597-836B7F06E69C}"/>
              </a:ext>
            </a:extLst>
          </p:cNvPr>
          <p:cNvSpPr/>
          <p:nvPr/>
        </p:nvSpPr>
        <p:spPr>
          <a:xfrm>
            <a:off x="4446766" y="4489368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&gt;6m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8098825-BC79-4D31-92CB-2770FF7A18FF}"/>
              </a:ext>
            </a:extLst>
          </p:cNvPr>
          <p:cNvSpPr/>
          <p:nvPr/>
        </p:nvSpPr>
        <p:spPr>
          <a:xfrm>
            <a:off x="6310436" y="4489368"/>
            <a:ext cx="16561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LME &lt; 6m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42E1C33-E283-4819-9C47-F9E9F9384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492" y="2536009"/>
            <a:ext cx="1686160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1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72BD63-5F0C-4AFF-9496-DBE4567F7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44" y="1"/>
            <a:ext cx="9520508" cy="378904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179CCA5-877B-4BFA-9319-4119EBFAA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054" y="3284983"/>
            <a:ext cx="7244598" cy="35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5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E62F58-5BDC-4945-AB9B-A0D49BFE8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781" y="1052736"/>
            <a:ext cx="8451262" cy="352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8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B6359B-BD9E-4380-BE40-5C5F62FA20C3}"/>
              </a:ext>
            </a:extLst>
          </p:cNvPr>
          <p:cNvSpPr txBox="1"/>
          <p:nvPr/>
        </p:nvSpPr>
        <p:spPr>
          <a:xfrm>
            <a:off x="1629916" y="188640"/>
            <a:ext cx="85689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Protocolos</a:t>
            </a:r>
          </a:p>
          <a:p>
            <a:endParaRPr lang="es-PE" dirty="0"/>
          </a:p>
          <a:p>
            <a:r>
              <a:rPr lang="es-PE" dirty="0"/>
              <a:t>Tipo de estudio</a:t>
            </a:r>
          </a:p>
          <a:p>
            <a:endParaRPr lang="es-PE" dirty="0"/>
          </a:p>
          <a:p>
            <a:r>
              <a:rPr lang="es-PE" dirty="0"/>
              <a:t>Observacional    			Experimental</a:t>
            </a:r>
          </a:p>
          <a:p>
            <a:endParaRPr lang="es-PE" dirty="0"/>
          </a:p>
          <a:p>
            <a:r>
              <a:rPr lang="es-PE" dirty="0"/>
              <a:t>Diseño</a:t>
            </a:r>
          </a:p>
          <a:p>
            <a:endParaRPr lang="es-PE" dirty="0"/>
          </a:p>
          <a:p>
            <a:r>
              <a:rPr lang="es-PE" dirty="0"/>
              <a:t>transversal analítico			ECA</a:t>
            </a:r>
          </a:p>
          <a:p>
            <a:endParaRPr lang="es-PE" dirty="0"/>
          </a:p>
          <a:p>
            <a:r>
              <a:rPr lang="es-PE" dirty="0"/>
              <a:t>Procedimientos</a:t>
            </a:r>
          </a:p>
          <a:p>
            <a:endParaRPr lang="es-PE" dirty="0"/>
          </a:p>
          <a:p>
            <a:r>
              <a:rPr lang="es-PE" dirty="0"/>
              <a:t>La recolección de datos se dará de forma prospectiva</a:t>
            </a:r>
          </a:p>
          <a:p>
            <a:endParaRPr lang="es-PE" dirty="0"/>
          </a:p>
          <a:p>
            <a:r>
              <a:rPr lang="es-PE" dirty="0"/>
              <a:t>Variables</a:t>
            </a:r>
            <a:br>
              <a:rPr lang="es-PE" dirty="0"/>
            </a:br>
            <a:br>
              <a:rPr lang="es-PE" dirty="0"/>
            </a:br>
            <a:r>
              <a:rPr lang="es-PE" dirty="0"/>
              <a:t>La va… se abordará sobre un tiempo especifico en el pasado </a:t>
            </a:r>
          </a:p>
          <a:p>
            <a:endParaRPr lang="es-PE" dirty="0"/>
          </a:p>
          <a:p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55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Ensayos clínicos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Tiene una sesión especial</a:t>
            </a:r>
          </a:p>
        </p:txBody>
      </p:sp>
    </p:spTree>
    <p:extLst>
      <p:ext uri="{BB962C8B-B14F-4D97-AF65-F5344CB8AC3E}">
        <p14:creationId xmlns:p14="http://schemas.microsoft.com/office/powerpoint/2010/main" val="134620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FBD43A-14C7-4D54-9EBC-A7AE55463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828" y="5805263"/>
            <a:ext cx="943107" cy="5911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287985-EA51-4F64-AFF1-9B8154D43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44" y="928338"/>
            <a:ext cx="9697803" cy="500132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253E87B-F6AC-492A-9209-7FD96E014A37}"/>
              </a:ext>
            </a:extLst>
          </p:cNvPr>
          <p:cNvSpPr/>
          <p:nvPr/>
        </p:nvSpPr>
        <p:spPr>
          <a:xfrm>
            <a:off x="1629916" y="170080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UDs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80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ítulo 38">
            <a:extLst>
              <a:ext uri="{FF2B5EF4-FFF2-40B4-BE49-F238E27FC236}">
                <a16:creationId xmlns:a16="http://schemas.microsoft.com/office/drawing/2014/main" id="{9788FB36-B36E-4C12-8F3E-B93E9482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932" y="367528"/>
            <a:ext cx="9704485" cy="1027385"/>
          </a:xfrm>
        </p:spPr>
        <p:txBody>
          <a:bodyPr/>
          <a:lstStyle/>
          <a:p>
            <a:r>
              <a:rPr lang="es-PE" b="1" dirty="0">
                <a:solidFill>
                  <a:srgbClr val="1232D0"/>
                </a:solidFill>
              </a:rPr>
              <a:t>Momentos críticos de un ECA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9C5FD04-DE5B-4391-B258-EE70A77FBE03}"/>
              </a:ext>
            </a:extLst>
          </p:cNvPr>
          <p:cNvGrpSpPr/>
          <p:nvPr/>
        </p:nvGrpSpPr>
        <p:grpSpPr>
          <a:xfrm>
            <a:off x="1773932" y="1484784"/>
            <a:ext cx="6496343" cy="5161197"/>
            <a:chOff x="3574264" y="589029"/>
            <a:chExt cx="7322505" cy="5898656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C0235A80-EB54-4719-87D3-FC6A27F44E97}"/>
                </a:ext>
              </a:extLst>
            </p:cNvPr>
            <p:cNvSpPr/>
            <p:nvPr/>
          </p:nvSpPr>
          <p:spPr>
            <a:xfrm>
              <a:off x="5150578" y="5017587"/>
              <a:ext cx="2477612" cy="441242"/>
            </a:xfrm>
            <a:prstGeom prst="rect">
              <a:avLst/>
            </a:prstGeom>
            <a:solidFill>
              <a:srgbClr val="1136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/>
                <a:t>Perdidas durante el estudio</a:t>
              </a:r>
              <a:endParaRPr lang="es-PE" sz="1100" dirty="0"/>
            </a:p>
          </p:txBody>
        </p:sp>
        <p:pic>
          <p:nvPicPr>
            <p:cNvPr id="68" name="Imagen 67">
              <a:extLst>
                <a:ext uri="{FF2B5EF4-FFF2-40B4-BE49-F238E27FC236}">
                  <a16:creationId xmlns:a16="http://schemas.microsoft.com/office/drawing/2014/main" id="{914C57B1-72B2-4BF2-97C4-F5F733ED6B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0563" r="13659"/>
            <a:stretch/>
          </p:blipFill>
          <p:spPr>
            <a:xfrm>
              <a:off x="7851267" y="589029"/>
              <a:ext cx="3045502" cy="5898656"/>
            </a:xfrm>
            <a:prstGeom prst="rect">
              <a:avLst/>
            </a:prstGeom>
          </p:spPr>
        </p:pic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0D133991-4678-4ABD-AA70-BD716175A591}"/>
                </a:ext>
              </a:extLst>
            </p:cNvPr>
            <p:cNvSpPr/>
            <p:nvPr/>
          </p:nvSpPr>
          <p:spPr>
            <a:xfrm>
              <a:off x="5139971" y="1188477"/>
              <a:ext cx="2477611" cy="545227"/>
            </a:xfrm>
            <a:prstGeom prst="rect">
              <a:avLst/>
            </a:prstGeom>
            <a:solidFill>
              <a:srgbClr val="1136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/>
                <a:t>Generación de la secuencia aleatoria</a:t>
              </a:r>
              <a:endParaRPr lang="es-PE" sz="1100" dirty="0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996C3BF7-9CAB-4CAB-8617-A09A5CA599BE}"/>
                </a:ext>
              </a:extLst>
            </p:cNvPr>
            <p:cNvSpPr/>
            <p:nvPr/>
          </p:nvSpPr>
          <p:spPr>
            <a:xfrm>
              <a:off x="5139971" y="1793921"/>
              <a:ext cx="2477611" cy="545227"/>
            </a:xfrm>
            <a:prstGeom prst="rect">
              <a:avLst/>
            </a:prstGeom>
            <a:solidFill>
              <a:srgbClr val="1136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/>
                <a:t>Ocultamiento de la selección aleatoria</a:t>
              </a:r>
              <a:endParaRPr lang="es-PE" sz="1100" dirty="0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4BB9420-BAFB-4532-9209-EC646329E73E}"/>
                </a:ext>
              </a:extLst>
            </p:cNvPr>
            <p:cNvSpPr/>
            <p:nvPr/>
          </p:nvSpPr>
          <p:spPr>
            <a:xfrm>
              <a:off x="5139971" y="2904916"/>
              <a:ext cx="2477611" cy="434693"/>
            </a:xfrm>
            <a:prstGeom prst="rect">
              <a:avLst/>
            </a:prstGeom>
            <a:solidFill>
              <a:srgbClr val="1136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/>
                <a:t>Cegamiento de los participantes</a:t>
              </a:r>
              <a:endParaRPr lang="es-PE" sz="1100" dirty="0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9FDAA38E-D319-4645-A792-85518F2C09D7}"/>
                </a:ext>
              </a:extLst>
            </p:cNvPr>
            <p:cNvSpPr/>
            <p:nvPr/>
          </p:nvSpPr>
          <p:spPr>
            <a:xfrm>
              <a:off x="5139970" y="4319057"/>
              <a:ext cx="2477611" cy="441242"/>
            </a:xfrm>
            <a:prstGeom prst="rect">
              <a:avLst/>
            </a:prstGeom>
            <a:solidFill>
              <a:srgbClr val="1136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/>
                <a:t>Desviaciones no previstas de la intervención</a:t>
              </a:r>
              <a:endParaRPr lang="es-PE" sz="1100" dirty="0"/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2679B7E6-E240-4592-B8BA-2F82E24F7ED1}"/>
                </a:ext>
              </a:extLst>
            </p:cNvPr>
            <p:cNvSpPr/>
            <p:nvPr/>
          </p:nvSpPr>
          <p:spPr>
            <a:xfrm>
              <a:off x="5139971" y="3608711"/>
              <a:ext cx="2477611" cy="441243"/>
            </a:xfrm>
            <a:prstGeom prst="rect">
              <a:avLst/>
            </a:prstGeom>
            <a:solidFill>
              <a:srgbClr val="1136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/>
                <a:t>Cegamiento del personal que administra la intervención</a:t>
              </a:r>
              <a:endParaRPr lang="es-PE" sz="1100" dirty="0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DABD34DF-0062-4DCC-B03C-CA92E08BEC83}"/>
                </a:ext>
              </a:extLst>
            </p:cNvPr>
            <p:cNvSpPr/>
            <p:nvPr/>
          </p:nvSpPr>
          <p:spPr>
            <a:xfrm>
              <a:off x="5150579" y="5504471"/>
              <a:ext cx="2477611" cy="441242"/>
            </a:xfrm>
            <a:prstGeom prst="rect">
              <a:avLst/>
            </a:prstGeom>
            <a:solidFill>
              <a:srgbClr val="1136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/>
                <a:t>Medición del desenlace</a:t>
              </a:r>
              <a:endParaRPr lang="es-PE" sz="1100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8E13ED5B-9145-4F9F-A17C-BEFA7E35C8F2}"/>
                </a:ext>
              </a:extLst>
            </p:cNvPr>
            <p:cNvSpPr/>
            <p:nvPr/>
          </p:nvSpPr>
          <p:spPr>
            <a:xfrm>
              <a:off x="5150579" y="5984890"/>
              <a:ext cx="2477611" cy="441242"/>
            </a:xfrm>
            <a:prstGeom prst="rect">
              <a:avLst/>
            </a:prstGeom>
            <a:solidFill>
              <a:srgbClr val="1136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/>
                <a:t>Reporte de los análisis</a:t>
              </a:r>
              <a:endParaRPr lang="es-PE" sz="1100" dirty="0"/>
            </a:p>
          </p:txBody>
        </p:sp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64A184CD-199A-4C32-A25F-D3A91E3D7D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1482"/>
            <a:stretch/>
          </p:blipFill>
          <p:spPr>
            <a:xfrm>
              <a:off x="3574264" y="814553"/>
              <a:ext cx="1576315" cy="5611580"/>
            </a:xfrm>
            <a:prstGeom prst="rect">
              <a:avLst/>
            </a:prstGeom>
          </p:spPr>
        </p:pic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13872EB-8E1F-4E78-BFA8-D3A6528EE47F}"/>
              </a:ext>
            </a:extLst>
          </p:cNvPr>
          <p:cNvSpPr/>
          <p:nvPr/>
        </p:nvSpPr>
        <p:spPr>
          <a:xfrm>
            <a:off x="8326660" y="5274176"/>
            <a:ext cx="2160240" cy="603096"/>
          </a:xfrm>
          <a:prstGeom prst="rect">
            <a:avLst/>
          </a:prstGeom>
          <a:solidFill>
            <a:srgbClr val="1136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Cegamiento de los evaluadores del desenlace</a:t>
            </a:r>
            <a:endParaRPr lang="es-PE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racias | El hexágono de Guadalajara">
            <a:extLst>
              <a:ext uri="{FF2B5EF4-FFF2-40B4-BE49-F238E27FC236}">
                <a16:creationId xmlns:a16="http://schemas.microsoft.com/office/drawing/2014/main" id="{55369AE0-7ECA-41EB-8938-87CEC90AA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892" y="1628800"/>
            <a:ext cx="8758709" cy="383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74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Matemáticas 16 X 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86_TF02787947.potx" id="{47904E6C-F941-4E76-BCE5-98990F587331}" vid="{E19800A4-2B41-4D60-89B5-7A2C3CED113C}"/>
    </a:ext>
  </a:extLst>
</a:theme>
</file>

<file path=ppt/theme/theme2.xml><?xml version="1.0" encoding="utf-8"?>
<a:theme xmlns:a="http://schemas.openxmlformats.org/drawingml/2006/main" name="Tema de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sobre matemáticas para el ámbito educativo con Pi (panorámica)</Template>
  <TotalTime>930</TotalTime>
  <Words>744</Words>
  <Application>Microsoft Office PowerPoint</Application>
  <PresentationFormat>Personalizado</PresentationFormat>
  <Paragraphs>183</Paragraphs>
  <Slides>32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Arial</vt:lpstr>
      <vt:lpstr>Calibri</vt:lpstr>
      <vt:lpstr>Euphemia</vt:lpstr>
      <vt:lpstr>Matemáticas 16 X 9</vt:lpstr>
      <vt:lpstr>Introducción a los Diseños de Estudios Epidemiológicos</vt:lpstr>
      <vt:lpstr>Presentación de PowerPoint</vt:lpstr>
      <vt:lpstr>Clasificaciones de los estudios epidemiológicos</vt:lpstr>
      <vt:lpstr>Orden de diseños al considerar causalidad</vt:lpstr>
      <vt:lpstr>Resumen en estudios para análisis individual</vt:lpstr>
      <vt:lpstr>Estudios transversales</vt:lpstr>
      <vt:lpstr>Clasificaciones de los estudios epidemiológicos</vt:lpstr>
      <vt:lpstr>Presentación de PowerPoint</vt:lpstr>
      <vt:lpstr>Estudios de casos y controles</vt:lpstr>
      <vt:lpstr>Clasificaciones de los estudios epidemiológicos</vt:lpstr>
      <vt:lpstr>Clasificaciones de los estudios epidemiológicos</vt:lpstr>
      <vt:lpstr>Presentación de PowerPoint</vt:lpstr>
      <vt:lpstr>Ejemplos de causalidad reversa</vt:lpstr>
      <vt:lpstr>Estudios de cohorte</vt:lpstr>
      <vt:lpstr>Clasificaciones de los estudios epidemiológicos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Ensayos clínicos</vt:lpstr>
      <vt:lpstr>Presentación de PowerPoint</vt:lpstr>
      <vt:lpstr>Momentos críticos de un ECA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los Diseños de Estudios Epidemiológicos</dc:title>
  <dc:creator>Daniel Fernandez G</dc:creator>
  <cp:lastModifiedBy>Daniel Fernandez G</cp:lastModifiedBy>
  <cp:revision>19</cp:revision>
  <dcterms:created xsi:type="dcterms:W3CDTF">2024-05-02T21:22:54Z</dcterms:created>
  <dcterms:modified xsi:type="dcterms:W3CDTF">2024-06-10T15:20:27Z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