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3" r:id="rId3"/>
    <p:sldId id="258" r:id="rId4"/>
    <p:sldId id="275" r:id="rId5"/>
    <p:sldId id="2113" r:id="rId6"/>
    <p:sldId id="288" r:id="rId7"/>
    <p:sldId id="262" r:id="rId8"/>
    <p:sldId id="263" r:id="rId9"/>
    <p:sldId id="264" r:id="rId10"/>
    <p:sldId id="706" r:id="rId11"/>
    <p:sldId id="265" r:id="rId12"/>
    <p:sldId id="2112" r:id="rId13"/>
    <p:sldId id="732" r:id="rId14"/>
    <p:sldId id="2056" r:id="rId15"/>
    <p:sldId id="2110" r:id="rId16"/>
    <p:sldId id="281" r:id="rId17"/>
    <p:sldId id="282" r:id="rId18"/>
    <p:sldId id="283" r:id="rId19"/>
    <p:sldId id="285" r:id="rId20"/>
    <p:sldId id="286" r:id="rId21"/>
    <p:sldId id="2111" r:id="rId22"/>
    <p:sldId id="287" r:id="rId23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2D0"/>
    <a:srgbClr val="596671"/>
    <a:srgbClr val="5C6B77"/>
    <a:srgbClr val="465562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5165" autoAdjust="0"/>
  </p:normalViewPr>
  <p:slideViewPr>
    <p:cSldViewPr showGuides="1">
      <p:cViewPr varScale="1">
        <p:scale>
          <a:sx n="85" d="100"/>
          <a:sy n="85" d="100"/>
        </p:scale>
        <p:origin x="590" y="48"/>
      </p:cViewPr>
      <p:guideLst>
        <p:guide orient="horz" pos="2160"/>
        <p:guide pos="3839"/>
        <p:guide pos="1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2" d="100"/>
          <a:sy n="72" d="100"/>
        </p:scale>
        <p:origin x="3108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9BBBD98-8689-4A62-BBFB-92BF328A7966}" type="datetime1">
              <a:rPr lang="es-ES" smtClean="0"/>
              <a:t>03/06/2024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E41AB9B-16BF-4ECF-B92C-3E61E5BECA90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80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468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es-ES" smtClean="0"/>
              <a:pPr rtl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4811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cf46416c1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ccf46416c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cf46416c1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2ccf46416c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050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eb1d1a9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beb1d1a95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beb1d1a95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PE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6316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f921df8cc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f921df8cc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bf921df8cc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PE"/>
              <a:t>18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0" name="Rectá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Rectá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Rectá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3" name="Conector rec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5" name="Conector rec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466E6084-0988-49B4-BD4E-1264194D9864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94D32F-F0D9-47B3-AAC6-D43DC057831A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0" name="Rectá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4" name="Rectá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1" name="Rectá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23" name="Conector rec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7" name="Rectá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8" name="Rectá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9" name="Rectá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30" name="Rectá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31" name="Conector rec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33" name="Conector rec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B07FB1B-461B-4D1D-952B-7FEEFF2CFA29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C9D876-84BE-45D9-9418-9FF24663C364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CDF9AA-CFE1-4BA9-8C5D-54C264D423B8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A51D7A-9E1F-4C6F-8B86-F39A8650CB7A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6" name="Rectá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cxnSp>
        <p:nvCxnSpPr>
          <p:cNvPr id="7" name="Conector rec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1E9FB-24DE-4A64-B35D-DF3FF6E51288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cxnSp>
        <p:nvCxnSpPr>
          <p:cNvPr id="10" name="Conector rec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CDA7DC-138B-4843-B77A-91873FF451A9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CB016917-91ED-4B62-9DC6-0583229F954A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cxnSp>
        <p:nvCxnSpPr>
          <p:cNvPr id="10" name="Conector rec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EEB305-4E92-401E-9FCA-996DF9FD55B6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0" name="Rectá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1" name="Conector rec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14" name="Conector rec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E901BA-1555-4CE1-92B2-39682A57B7CA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8" name="Rectá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Rectá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13" name="Rectá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4" name="Conector rec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noProof="0" dirty="0"/>
          </a:p>
        </p:txBody>
      </p:sp>
      <p:cxnSp>
        <p:nvCxnSpPr>
          <p:cNvPr id="16" name="Conector rec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5031EA3-1207-456F-B1A7-F20CDD0C2E7B}" type="datetime1">
              <a:rPr lang="es-ES" noProof="0" smtClean="0"/>
              <a:t>03/06/2024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mj.com/content/348/bmj.f7450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Medidas de asociación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Resumen en10 min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96D4AE6-33AF-4C9A-BA0B-C9305D4F2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4301" y="3173758"/>
            <a:ext cx="6951749" cy="3170232"/>
          </a:xfrm>
        </p:spPr>
        <p:txBody>
          <a:bodyPr>
            <a:normAutofit/>
          </a:bodyPr>
          <a:lstStyle/>
          <a:p>
            <a:pPr marL="285750" indent="-285750"/>
            <a:r>
              <a:rPr lang="es-ES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Filiación: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UCSUR, IETSI, </a:t>
            </a:r>
            <a:r>
              <a:rPr lang="es-E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EviSalud</a:t>
            </a:r>
            <a:endParaRPr lang="es-E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/>
            <a:r>
              <a:rPr lang="es-PE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Cursó estudios en: 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UNSAAC, UCC, UPCH, IECS, </a:t>
            </a:r>
            <a:r>
              <a:rPr lang="es-P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Nebrija.</a:t>
            </a:r>
          </a:p>
          <a:p>
            <a:pPr marL="285750" indent="-285750"/>
            <a:r>
              <a:rPr lang="es-PE" sz="2000" b="1" dirty="0">
                <a:solidFill>
                  <a:srgbClr val="1F3C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recibido pagos/financiamiento de: 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UNSAAC, UCSUR, UPCH, MINSA (DIRESA Cusco), </a:t>
            </a:r>
            <a:r>
              <a:rPr lang="es-P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EviSalud</a:t>
            </a:r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SOPECARD, IETSI</a:t>
            </a:r>
          </a:p>
          <a:p>
            <a:pPr marL="285750" indent="-285750"/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tengo potenciales conflictos de interés con el tema de esta clase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6AB3AA1-7D23-4DF8-B52B-DDB0ACEC9831}"/>
              </a:ext>
            </a:extLst>
          </p:cNvPr>
          <p:cNvSpPr txBox="1">
            <a:spLocks/>
          </p:cNvSpPr>
          <p:nvPr/>
        </p:nvSpPr>
        <p:spPr>
          <a:xfrm>
            <a:off x="4494302" y="1400769"/>
            <a:ext cx="5632558" cy="746086"/>
          </a:xfrm>
          <a:prstGeom prst="rect">
            <a:avLst/>
          </a:prstGeom>
        </p:spPr>
        <p:txBody>
          <a:bodyPr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/>
              <a:t>Daniel Fernández Guzmán, MD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0FA2E07-7236-4B8D-8B39-2EDC68989339}"/>
              </a:ext>
            </a:extLst>
          </p:cNvPr>
          <p:cNvSpPr txBox="1">
            <a:spLocks/>
          </p:cNvSpPr>
          <p:nvPr/>
        </p:nvSpPr>
        <p:spPr>
          <a:xfrm>
            <a:off x="4494302" y="1916832"/>
            <a:ext cx="6170191" cy="640977"/>
          </a:xfrm>
          <a:prstGeom prst="rect">
            <a:avLst/>
          </a:prstGeom>
        </p:spPr>
        <p:txBody>
          <a:bodyPr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>
                <a:solidFill>
                  <a:srgbClr val="1E3E85"/>
                </a:solidFill>
              </a:rPr>
              <a:t>danferguz@gmail.com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23357EC-4156-496A-A2A9-A35B9FE2BB1D}"/>
              </a:ext>
            </a:extLst>
          </p:cNvPr>
          <p:cNvCxnSpPr>
            <a:cxnSpLocks/>
          </p:cNvCxnSpPr>
          <p:nvPr/>
        </p:nvCxnSpPr>
        <p:spPr>
          <a:xfrm>
            <a:off x="1197868" y="2502992"/>
            <a:ext cx="10729192" cy="0"/>
          </a:xfrm>
          <a:prstGeom prst="line">
            <a:avLst/>
          </a:prstGeom>
          <a:ln w="76200">
            <a:solidFill>
              <a:srgbClr val="4655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2C5BC422-0B59-4044-811E-2D0CC66C1C5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773932" y="603297"/>
            <a:ext cx="2412176" cy="2627069"/>
          </a:xfrm>
          <a:prstGeom prst="ellipse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185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Medidas de efecto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Resumen en 10 min</a:t>
            </a:r>
          </a:p>
        </p:txBody>
      </p:sp>
    </p:spTree>
    <p:extLst>
      <p:ext uri="{BB962C8B-B14F-4D97-AF65-F5344CB8AC3E}">
        <p14:creationId xmlns:p14="http://schemas.microsoft.com/office/powerpoint/2010/main" val="35209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93436" y="139701"/>
            <a:ext cx="9782801" cy="985044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dirty="0">
                <a:solidFill>
                  <a:srgbClr val="1232D0"/>
                </a:solidFill>
              </a:rPr>
              <a:t>Medidas en Epidemiología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82DEA70-704B-4295-BFD8-A2B884955048}"/>
              </a:ext>
            </a:extLst>
          </p:cNvPr>
          <p:cNvCxnSpPr>
            <a:cxnSpLocks/>
          </p:cNvCxnSpPr>
          <p:nvPr/>
        </p:nvCxnSpPr>
        <p:spPr>
          <a:xfrm>
            <a:off x="1197868" y="1340768"/>
            <a:ext cx="10729192" cy="0"/>
          </a:xfrm>
          <a:prstGeom prst="line">
            <a:avLst/>
          </a:prstGeom>
          <a:ln w="76200">
            <a:solidFill>
              <a:srgbClr val="596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D589CE00-BBFE-494B-B03A-866FB98DA061}"/>
              </a:ext>
            </a:extLst>
          </p:cNvPr>
          <p:cNvSpPr/>
          <p:nvPr/>
        </p:nvSpPr>
        <p:spPr>
          <a:xfrm>
            <a:off x="5158308" y="1474226"/>
            <a:ext cx="2952328" cy="432045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Medidas en epidemiología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DA6735-F27E-400A-A78F-B5DC10015420}"/>
              </a:ext>
            </a:extLst>
          </p:cNvPr>
          <p:cNvSpPr/>
          <p:nvPr/>
        </p:nvSpPr>
        <p:spPr>
          <a:xfrm>
            <a:off x="1701924" y="2276872"/>
            <a:ext cx="2952328" cy="43204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Medidas de frecuencia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610A95-D492-45A4-8A38-89177D263309}"/>
              </a:ext>
            </a:extLst>
          </p:cNvPr>
          <p:cNvSpPr/>
          <p:nvPr/>
        </p:nvSpPr>
        <p:spPr>
          <a:xfrm>
            <a:off x="5158308" y="2276418"/>
            <a:ext cx="2952328" cy="43204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Medidas de asociación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22A18FE-104D-4724-B35C-DF9E50DD8DA8}"/>
              </a:ext>
            </a:extLst>
          </p:cNvPr>
          <p:cNvSpPr/>
          <p:nvPr/>
        </p:nvSpPr>
        <p:spPr>
          <a:xfrm>
            <a:off x="8614692" y="2276417"/>
            <a:ext cx="2952328" cy="43204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Medidas de impacto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AA1FE40-878C-4246-8926-5A3B07B1F910}"/>
              </a:ext>
            </a:extLst>
          </p:cNvPr>
          <p:cNvSpPr/>
          <p:nvPr/>
        </p:nvSpPr>
        <p:spPr>
          <a:xfrm>
            <a:off x="2061963" y="2996955"/>
            <a:ext cx="2598757" cy="43204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De morbilidad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D1453F6-83D5-4240-89F1-A95C99B539C9}"/>
              </a:ext>
            </a:extLst>
          </p:cNvPr>
          <p:cNvSpPr/>
          <p:nvPr/>
        </p:nvSpPr>
        <p:spPr>
          <a:xfrm>
            <a:off x="2061963" y="5085187"/>
            <a:ext cx="2598757" cy="43204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De mortalidad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CDC708C-CD20-4600-B8CE-2F30BC4031A2}"/>
              </a:ext>
            </a:extLst>
          </p:cNvPr>
          <p:cNvSpPr/>
          <p:nvPr/>
        </p:nvSpPr>
        <p:spPr>
          <a:xfrm>
            <a:off x="2422004" y="3602837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/>
              <a:t>Prevalencia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9BF4954D-2DAC-41E6-AA1A-3373359903A3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6634472" y="1906271"/>
            <a:ext cx="0" cy="3701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AC0159-A605-429B-8634-5BF52926C72C}"/>
              </a:ext>
            </a:extLst>
          </p:cNvPr>
          <p:cNvCxnSpPr>
            <a:cxnSpLocks/>
          </p:cNvCxnSpPr>
          <p:nvPr/>
        </p:nvCxnSpPr>
        <p:spPr>
          <a:xfrm>
            <a:off x="3160086" y="2108260"/>
            <a:ext cx="69487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7915D72-4108-4D3B-A445-265EB7C660B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178088" y="2091344"/>
            <a:ext cx="0" cy="1855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A7045A2-65EE-44A5-8DC2-A9224F35A0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0090856" y="2108260"/>
            <a:ext cx="0" cy="1681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928888EC-7180-4024-9FD4-8B9CB7135977}"/>
              </a:ext>
            </a:extLst>
          </p:cNvPr>
          <p:cNvCxnSpPr>
            <a:cxnSpLocks/>
          </p:cNvCxnSpPr>
          <p:nvPr/>
        </p:nvCxnSpPr>
        <p:spPr>
          <a:xfrm flipH="1">
            <a:off x="1844750" y="2708462"/>
            <a:ext cx="1190" cy="25927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2488DA1-9618-4C72-B98C-F9D2B767701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845940" y="5301209"/>
            <a:ext cx="216023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6A642905-6E9F-4638-820C-E2B379B9022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844750" y="3212977"/>
            <a:ext cx="217213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ángulo 71">
            <a:extLst>
              <a:ext uri="{FF2B5EF4-FFF2-40B4-BE49-F238E27FC236}">
                <a16:creationId xmlns:a16="http://schemas.microsoft.com/office/drawing/2014/main" id="{8E140428-D1FD-4911-BAF1-AFA8C52F419F}"/>
              </a:ext>
            </a:extLst>
          </p:cNvPr>
          <p:cNvSpPr/>
          <p:nvPr/>
        </p:nvSpPr>
        <p:spPr>
          <a:xfrm>
            <a:off x="2422004" y="4037747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/>
              <a:t>Incidencia acumulada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B736A73-06C1-4D2E-A3F4-29DACE963D80}"/>
              </a:ext>
            </a:extLst>
          </p:cNvPr>
          <p:cNvSpPr/>
          <p:nvPr/>
        </p:nvSpPr>
        <p:spPr>
          <a:xfrm>
            <a:off x="2435613" y="4538211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/>
              <a:t>Tasa de incidencia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A5F4534-57AE-430A-9503-4E0CB4FD76A7}"/>
              </a:ext>
            </a:extLst>
          </p:cNvPr>
          <p:cNvSpPr/>
          <p:nvPr/>
        </p:nvSpPr>
        <p:spPr>
          <a:xfrm>
            <a:off x="5538020" y="3001474"/>
            <a:ext cx="2598757" cy="43204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Relativas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201AC88-83AA-45A4-9291-8F71090DF95D}"/>
              </a:ext>
            </a:extLst>
          </p:cNvPr>
          <p:cNvSpPr/>
          <p:nvPr/>
        </p:nvSpPr>
        <p:spPr>
          <a:xfrm>
            <a:off x="5898061" y="3607356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/>
              <a:t>Razón de prevalencias (RP)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C75C513-A51D-4857-A160-AEBC7219896E}"/>
              </a:ext>
            </a:extLst>
          </p:cNvPr>
          <p:cNvCxnSpPr>
            <a:cxnSpLocks/>
          </p:cNvCxnSpPr>
          <p:nvPr/>
        </p:nvCxnSpPr>
        <p:spPr>
          <a:xfrm flipH="1">
            <a:off x="5321997" y="2712981"/>
            <a:ext cx="1" cy="4999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360F8BF-6617-49AB-A29B-702517C1BE7A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5320807" y="3217496"/>
            <a:ext cx="217213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770D0FC-9440-4E64-9671-A90AC48503CC}"/>
              </a:ext>
            </a:extLst>
          </p:cNvPr>
          <p:cNvSpPr/>
          <p:nvPr/>
        </p:nvSpPr>
        <p:spPr>
          <a:xfrm>
            <a:off x="5898061" y="4071491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/>
              <a:t>Riesgo relativo (RR)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D181601-A890-4009-8441-0C4A333A6761}"/>
              </a:ext>
            </a:extLst>
          </p:cNvPr>
          <p:cNvSpPr/>
          <p:nvPr/>
        </p:nvSpPr>
        <p:spPr>
          <a:xfrm>
            <a:off x="5911670" y="4542730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/>
              <a:t>Razón de tasas de incidencias (RTI)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0BEAC60-F27A-4905-B9E4-5E0B78183438}"/>
              </a:ext>
            </a:extLst>
          </p:cNvPr>
          <p:cNvSpPr/>
          <p:nvPr/>
        </p:nvSpPr>
        <p:spPr>
          <a:xfrm>
            <a:off x="5937847" y="5039695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 err="1"/>
              <a:t>Odds</a:t>
            </a:r>
            <a:r>
              <a:rPr lang="es-PE" sz="1300" dirty="0"/>
              <a:t> ratio (OR)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41596CD-F8FC-478B-9A46-47D2ECEFD6E4}"/>
              </a:ext>
            </a:extLst>
          </p:cNvPr>
          <p:cNvSpPr/>
          <p:nvPr/>
        </p:nvSpPr>
        <p:spPr>
          <a:xfrm>
            <a:off x="8957523" y="2996955"/>
            <a:ext cx="2598757" cy="43204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Impacto potencial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C859BE7-EBFD-4004-A3AE-07E98E3B9366}"/>
              </a:ext>
            </a:extLst>
          </p:cNvPr>
          <p:cNvSpPr/>
          <p:nvPr/>
        </p:nvSpPr>
        <p:spPr>
          <a:xfrm>
            <a:off x="9317564" y="3602837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/>
              <a:t>Riesgo atribuible (RA)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388613C-5B10-4D35-88B9-8DF2D5C1BAC9}"/>
              </a:ext>
            </a:extLst>
          </p:cNvPr>
          <p:cNvCxnSpPr>
            <a:cxnSpLocks/>
          </p:cNvCxnSpPr>
          <p:nvPr/>
        </p:nvCxnSpPr>
        <p:spPr>
          <a:xfrm flipH="1">
            <a:off x="8740310" y="2708462"/>
            <a:ext cx="1190" cy="5045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87522FA-4B01-4C72-A3B7-60B8C679BAFC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8740310" y="3212977"/>
            <a:ext cx="217213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89D249B2-F9FB-4185-9718-DB2CB2967E97}"/>
              </a:ext>
            </a:extLst>
          </p:cNvPr>
          <p:cNvSpPr/>
          <p:nvPr/>
        </p:nvSpPr>
        <p:spPr>
          <a:xfrm>
            <a:off x="9317564" y="4066972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/>
              <a:t>Riesgo atribuible poblacional (RAP)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31B29102-C311-4AE4-9504-DDE06FBAE3DB}"/>
              </a:ext>
            </a:extLst>
          </p:cNvPr>
          <p:cNvSpPr/>
          <p:nvPr/>
        </p:nvSpPr>
        <p:spPr>
          <a:xfrm>
            <a:off x="9331173" y="4538211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/>
              <a:t>Fracción etiológica en expuestos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4F388EB-9CD9-41A6-898B-7650E3D56E42}"/>
              </a:ext>
            </a:extLst>
          </p:cNvPr>
          <p:cNvSpPr/>
          <p:nvPr/>
        </p:nvSpPr>
        <p:spPr>
          <a:xfrm>
            <a:off x="9331173" y="5002346"/>
            <a:ext cx="2225107" cy="330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300" dirty="0"/>
              <a:t>Fracción prevenible</a:t>
            </a:r>
          </a:p>
        </p:txBody>
      </p:sp>
    </p:spTree>
    <p:extLst>
      <p:ext uri="{BB962C8B-B14F-4D97-AF65-F5344CB8AC3E}">
        <p14:creationId xmlns:p14="http://schemas.microsoft.com/office/powerpoint/2010/main" val="93704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EB266A-F2E6-4155-AF85-7300B360E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930" y="571252"/>
            <a:ext cx="9060965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D60FE-E73F-4A50-B2C0-52627B24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>
                <a:solidFill>
                  <a:srgbClr val="1232D0"/>
                </a:solidFill>
              </a:rPr>
              <a:t>Odds</a:t>
            </a:r>
            <a:r>
              <a:rPr lang="es-PE" dirty="0">
                <a:solidFill>
                  <a:srgbClr val="1232D0"/>
                </a:solidFill>
              </a:rPr>
              <a:t> Ratio</a:t>
            </a:r>
          </a:p>
        </p:txBody>
      </p:sp>
      <p:pic>
        <p:nvPicPr>
          <p:cNvPr id="4" name="Google Shape;157;p5">
            <a:extLst>
              <a:ext uri="{FF2B5EF4-FFF2-40B4-BE49-F238E27FC236}">
                <a16:creationId xmlns:a16="http://schemas.microsoft.com/office/drawing/2014/main" id="{B5DB0F7E-4AA8-4543-A44C-9CE81F9040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042"/>
          <a:stretch/>
        </p:blipFill>
        <p:spPr>
          <a:xfrm>
            <a:off x="1341884" y="2002765"/>
            <a:ext cx="7072633" cy="3558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8;p5" descr="Meme Creator - Funny Biostatistics Biostatistics everywhere Meme Generator  at MemeCreator.org!">
            <a:extLst>
              <a:ext uri="{FF2B5EF4-FFF2-40B4-BE49-F238E27FC236}">
                <a16:creationId xmlns:a16="http://schemas.microsoft.com/office/drawing/2014/main" id="{D423903E-0BB9-488D-A836-E9A837F5EA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4482" y="2511449"/>
            <a:ext cx="3344726" cy="2540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53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title" idx="4294967295"/>
          </p:nvPr>
        </p:nvSpPr>
        <p:spPr>
          <a:xfrm>
            <a:off x="2387902" y="612745"/>
            <a:ext cx="748311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/>
              <a:t>Calculamos con un ejemplo</a:t>
            </a:r>
            <a:endParaRPr/>
          </a:p>
        </p:txBody>
      </p:sp>
      <p:graphicFrame>
        <p:nvGraphicFramePr>
          <p:cNvPr id="170" name="Google Shape;170;p7"/>
          <p:cNvGraphicFramePr/>
          <p:nvPr>
            <p:extLst>
              <p:ext uri="{D42A27DB-BD31-4B8C-83A1-F6EECF244321}">
                <p14:modId xmlns:p14="http://schemas.microsoft.com/office/powerpoint/2010/main" val="915684566"/>
              </p:ext>
            </p:extLst>
          </p:nvPr>
        </p:nvGraphicFramePr>
        <p:xfrm>
          <a:off x="2922525" y="1412776"/>
          <a:ext cx="6343773" cy="33855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56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756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u="none" strike="noStrike" cap="none"/>
                        <a:t>Eventos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51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Insuficiencia cardiaca</a:t>
                      </a:r>
                      <a:endParaRPr sz="1800" dirty="0"/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insuficiencia cardiaca</a:t>
                      </a:r>
                      <a:endParaRPr sz="2400" b="1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5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u="none" strike="noStrike" cap="none"/>
                        <a:t>Obesos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/>
                        <a:t>20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/>
                        <a:t>80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5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u="none" strike="noStrike" cap="none"/>
                        <a:t>No obesos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/>
                        <a:t>2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 dirty="0"/>
                        <a:t>100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1" name="Google Shape;171;p7"/>
          <p:cNvSpPr txBox="1"/>
          <p:nvPr/>
        </p:nvSpPr>
        <p:spPr>
          <a:xfrm>
            <a:off x="3225884" y="5102407"/>
            <a:ext cx="5480739" cy="133786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PE" sz="1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Odds de insuficiencia en obesos = </a:t>
            </a:r>
            <a:r>
              <a:rPr lang="es-PE" sz="17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20/80</a:t>
            </a:r>
            <a:endParaRPr sz="1799"/>
          </a:p>
          <a:p>
            <a:pPr algn="ctr">
              <a:lnSpc>
                <a:spcPct val="150000"/>
              </a:lnSpc>
            </a:pPr>
            <a:r>
              <a:rPr lang="es-PE" sz="1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Odds de insuficiencia en no obesos = </a:t>
            </a:r>
            <a:r>
              <a:rPr lang="es-PE" sz="17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2/100</a:t>
            </a:r>
            <a:endParaRPr sz="1799"/>
          </a:p>
          <a:p>
            <a:pPr algn="ctr">
              <a:lnSpc>
                <a:spcPct val="150000"/>
              </a:lnSpc>
            </a:pPr>
            <a:r>
              <a:rPr lang="es-PE" sz="1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s-PE" sz="17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(20/80) / (2/100) = 0.25/0.02 = 12.5</a:t>
            </a:r>
            <a:endParaRPr sz="1799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>
            <a:spLocks noGrp="1"/>
          </p:cNvSpPr>
          <p:nvPr>
            <p:ph type="title" idx="4294967295"/>
          </p:nvPr>
        </p:nvSpPr>
        <p:spPr>
          <a:xfrm>
            <a:off x="1197868" y="692696"/>
            <a:ext cx="748311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>
                <a:solidFill>
                  <a:srgbClr val="1232D0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Interpretación</a:t>
            </a:r>
            <a:endParaRPr>
              <a:solidFill>
                <a:srgbClr val="1232D0"/>
              </a:solidFill>
            </a:endParaRPr>
          </a:p>
        </p:txBody>
      </p:sp>
      <p:pic>
        <p:nvPicPr>
          <p:cNvPr id="182" name="Google Shape;18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844" y="1268760"/>
            <a:ext cx="9865096" cy="53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cf46416c1_0_8"/>
          <p:cNvSpPr txBox="1">
            <a:spLocks noGrp="1"/>
          </p:cNvSpPr>
          <p:nvPr>
            <p:ph type="title" idx="4294967295"/>
          </p:nvPr>
        </p:nvSpPr>
        <p:spPr>
          <a:xfrm>
            <a:off x="1341884" y="569279"/>
            <a:ext cx="748311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Interpretación</a:t>
            </a:r>
            <a:endParaRPr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84169FB-7165-48B1-826A-A0B91DA512AE}"/>
              </a:ext>
            </a:extLst>
          </p:cNvPr>
          <p:cNvGrpSpPr/>
          <p:nvPr/>
        </p:nvGrpSpPr>
        <p:grpSpPr>
          <a:xfrm>
            <a:off x="1053852" y="1412776"/>
            <a:ext cx="9865096" cy="5287867"/>
            <a:chOff x="409468" y="1397106"/>
            <a:chExt cx="11779362" cy="5519561"/>
          </a:xfrm>
        </p:grpSpPr>
        <p:pic>
          <p:nvPicPr>
            <p:cNvPr id="188" name="Google Shape;188;g2ccf46416c1_0_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09468" y="1397106"/>
              <a:ext cx="11779362" cy="55195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g2ccf46416c1_0_8"/>
            <p:cNvSpPr txBox="1"/>
            <p:nvPr/>
          </p:nvSpPr>
          <p:spPr>
            <a:xfrm>
              <a:off x="1608355" y="2229837"/>
              <a:ext cx="1897006" cy="321195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hospitalizados</a:t>
              </a:r>
              <a:endParaRPr sz="1400" dirty="0"/>
            </a:p>
          </p:txBody>
        </p:sp>
        <p:sp>
          <p:nvSpPr>
            <p:cNvPr id="190" name="Google Shape;190;g2ccf46416c1_0_8"/>
            <p:cNvSpPr txBox="1"/>
            <p:nvPr/>
          </p:nvSpPr>
          <p:spPr>
            <a:xfrm>
              <a:off x="4664558" y="2229837"/>
              <a:ext cx="1412632" cy="321195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el odds</a:t>
              </a:r>
              <a:endParaRPr sz="1400"/>
            </a:p>
          </p:txBody>
        </p:sp>
        <p:sp>
          <p:nvSpPr>
            <p:cNvPr id="191" name="Google Shape;191;g2ccf46416c1_0_8"/>
            <p:cNvSpPr txBox="1"/>
            <p:nvPr/>
          </p:nvSpPr>
          <p:spPr>
            <a:xfrm>
              <a:off x="7606293" y="2075977"/>
              <a:ext cx="1672664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insuficiencia cardiaca</a:t>
              </a:r>
              <a:endParaRPr sz="1400" dirty="0"/>
            </a:p>
          </p:txBody>
        </p:sp>
        <p:sp>
          <p:nvSpPr>
            <p:cNvPr id="192" name="Google Shape;192;g2ccf46416c1_0_8"/>
            <p:cNvSpPr txBox="1"/>
            <p:nvPr/>
          </p:nvSpPr>
          <p:spPr>
            <a:xfrm>
              <a:off x="2814666" y="3736195"/>
              <a:ext cx="2051766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de personas con obesidad</a:t>
              </a:r>
              <a:endParaRPr sz="14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g2ccf46416c1_0_8"/>
            <p:cNvSpPr txBox="1"/>
            <p:nvPr/>
          </p:nvSpPr>
          <p:spPr>
            <a:xfrm>
              <a:off x="6256095" y="3736195"/>
              <a:ext cx="1631275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1150% mayor / 12.5 veces más</a:t>
              </a:r>
              <a:endParaRPr sz="1400" dirty="0"/>
            </a:p>
          </p:txBody>
        </p:sp>
        <p:sp>
          <p:nvSpPr>
            <p:cNvPr id="194" name="Google Shape;194;g2ccf46416c1_0_8"/>
            <p:cNvSpPr txBox="1"/>
            <p:nvPr/>
          </p:nvSpPr>
          <p:spPr>
            <a:xfrm>
              <a:off x="1032356" y="5310885"/>
              <a:ext cx="2283605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de personas sin obesidad</a:t>
              </a:r>
              <a:endParaRPr sz="14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g2ccf46416c1_0_8"/>
            <p:cNvSpPr txBox="1"/>
            <p:nvPr/>
          </p:nvSpPr>
          <p:spPr>
            <a:xfrm>
              <a:off x="6053423" y="5550272"/>
              <a:ext cx="4318575" cy="321195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¿Cuándo diremos que es significativo?</a:t>
              </a:r>
              <a:endParaRPr sz="1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413AE8E-D0B3-4217-8594-4DA4691FF6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73932" y="488698"/>
            <a:ext cx="8014787" cy="509454"/>
          </a:xfrm>
        </p:spPr>
        <p:txBody>
          <a:bodyPr>
            <a:noAutofit/>
          </a:bodyPr>
          <a:lstStyle/>
          <a:p>
            <a:r>
              <a:rPr lang="es-PE" sz="2800" b="1" dirty="0">
                <a:solidFill>
                  <a:srgbClr val="1232D0"/>
                </a:solidFill>
              </a:rPr>
              <a:t>Recordemos el concepto de Inferencia (IC95%)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A7A23F1-802B-470C-91AC-A69409482376}"/>
              </a:ext>
            </a:extLst>
          </p:cNvPr>
          <p:cNvSpPr/>
          <p:nvPr/>
        </p:nvSpPr>
        <p:spPr>
          <a:xfrm>
            <a:off x="3299963" y="2311902"/>
            <a:ext cx="2695202" cy="36686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02DAC92-D64E-4442-B58E-2B9BFBBA6911}"/>
              </a:ext>
            </a:extLst>
          </p:cNvPr>
          <p:cNvSpPr/>
          <p:nvPr/>
        </p:nvSpPr>
        <p:spPr>
          <a:xfrm>
            <a:off x="7234941" y="3397057"/>
            <a:ext cx="1607664" cy="23957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cxnSp>
        <p:nvCxnSpPr>
          <p:cNvPr id="10" name="Conector curvado 6">
            <a:extLst>
              <a:ext uri="{FF2B5EF4-FFF2-40B4-BE49-F238E27FC236}">
                <a16:creationId xmlns:a16="http://schemas.microsoft.com/office/drawing/2014/main" id="{B0DC69DA-BBB6-4538-B777-C1F917E0CB67}"/>
              </a:ext>
            </a:extLst>
          </p:cNvPr>
          <p:cNvCxnSpPr>
            <a:stCxn id="8" idx="4"/>
            <a:endCxn id="7" idx="5"/>
          </p:cNvCxnSpPr>
          <p:nvPr/>
        </p:nvCxnSpPr>
        <p:spPr>
          <a:xfrm rot="5400000" flipH="1">
            <a:off x="6644859" y="4398878"/>
            <a:ext cx="349516" cy="2438311"/>
          </a:xfrm>
          <a:prstGeom prst="curvedConnector3">
            <a:avLst>
              <a:gd name="adj1" fmla="val -119103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D4DD22-552B-406D-A6FB-5D6646E4D8DD}"/>
              </a:ext>
            </a:extLst>
          </p:cNvPr>
          <p:cNvSpPr txBox="1"/>
          <p:nvPr/>
        </p:nvSpPr>
        <p:spPr>
          <a:xfrm>
            <a:off x="3615050" y="1777103"/>
            <a:ext cx="1934641" cy="52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799" b="1" dirty="0">
                <a:latin typeface="Century Gothic" panose="020B0502020202020204" pitchFamily="34" charset="0"/>
              </a:rPr>
              <a:t>Población</a:t>
            </a:r>
            <a:endParaRPr lang="es-PE" sz="2399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D751770-0558-4C65-8BA5-A91532F6912B}"/>
              </a:ext>
            </a:extLst>
          </p:cNvPr>
          <p:cNvSpPr txBox="1"/>
          <p:nvPr/>
        </p:nvSpPr>
        <p:spPr>
          <a:xfrm>
            <a:off x="7081089" y="2866964"/>
            <a:ext cx="1570855" cy="52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799" b="1" dirty="0">
                <a:latin typeface="Century Gothic" panose="020B0502020202020204" pitchFamily="34" charset="0"/>
              </a:rPr>
              <a:t>Muestra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184B35-AA1A-44C8-9B69-F3A40B9E8B13}"/>
              </a:ext>
            </a:extLst>
          </p:cNvPr>
          <p:cNvSpPr txBox="1"/>
          <p:nvPr/>
        </p:nvSpPr>
        <p:spPr>
          <a:xfrm>
            <a:off x="6209295" y="6272496"/>
            <a:ext cx="1314442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799" b="1" dirty="0">
                <a:latin typeface="Century Gothic" panose="020B0502020202020204" pitchFamily="34" charset="0"/>
              </a:rPr>
              <a:t>Inferencia</a:t>
            </a:r>
            <a:endParaRPr lang="es-PE" sz="1400" b="1" dirty="0">
              <a:latin typeface="Century Gothic" panose="020B0502020202020204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751ECC2-451E-4806-AAF0-5F8C21A7F0C7}"/>
              </a:ext>
            </a:extLst>
          </p:cNvPr>
          <p:cNvSpPr/>
          <p:nvPr/>
        </p:nvSpPr>
        <p:spPr>
          <a:xfrm>
            <a:off x="4037212" y="3276970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800D0FC-A5D6-4F0A-9549-2C7E978F3DED}"/>
              </a:ext>
            </a:extLst>
          </p:cNvPr>
          <p:cNvSpPr/>
          <p:nvPr/>
        </p:nvSpPr>
        <p:spPr>
          <a:xfrm>
            <a:off x="5346267" y="3525386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100058C-BFE0-4536-A573-81322141BCDC}"/>
              </a:ext>
            </a:extLst>
          </p:cNvPr>
          <p:cNvSpPr/>
          <p:nvPr/>
        </p:nvSpPr>
        <p:spPr>
          <a:xfrm>
            <a:off x="3745133" y="3886411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C749AD7-E5E1-4999-A1A2-34D412AE6D32}"/>
              </a:ext>
            </a:extLst>
          </p:cNvPr>
          <p:cNvSpPr/>
          <p:nvPr/>
        </p:nvSpPr>
        <p:spPr>
          <a:xfrm>
            <a:off x="4494293" y="3734050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6723BC8-585C-41CC-BB70-F19B57473132}"/>
              </a:ext>
            </a:extLst>
          </p:cNvPr>
          <p:cNvSpPr/>
          <p:nvPr/>
        </p:nvSpPr>
        <p:spPr>
          <a:xfrm>
            <a:off x="4799013" y="3130251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427ABB7-9822-4204-A92F-4992CFF24AF8}"/>
              </a:ext>
            </a:extLst>
          </p:cNvPr>
          <p:cNvSpPr/>
          <p:nvPr/>
        </p:nvSpPr>
        <p:spPr>
          <a:xfrm>
            <a:off x="4799013" y="4038771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D14321B-4B41-408D-B393-E43AD58C71CF}"/>
              </a:ext>
            </a:extLst>
          </p:cNvPr>
          <p:cNvSpPr/>
          <p:nvPr/>
        </p:nvSpPr>
        <p:spPr>
          <a:xfrm>
            <a:off x="4148667" y="4290632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7D33C1C-2D73-4674-AAA4-496A7806194F}"/>
              </a:ext>
            </a:extLst>
          </p:cNvPr>
          <p:cNvSpPr/>
          <p:nvPr/>
        </p:nvSpPr>
        <p:spPr>
          <a:xfrm>
            <a:off x="5103734" y="4343492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AF08576-ADF7-479B-95B3-8D1CAF724510}"/>
              </a:ext>
            </a:extLst>
          </p:cNvPr>
          <p:cNvSpPr/>
          <p:nvPr/>
        </p:nvSpPr>
        <p:spPr>
          <a:xfrm>
            <a:off x="4152260" y="4897714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3AC4F6D0-BEA4-4A83-9283-DBD1DAAD7116}"/>
              </a:ext>
            </a:extLst>
          </p:cNvPr>
          <p:cNvSpPr/>
          <p:nvPr/>
        </p:nvSpPr>
        <p:spPr>
          <a:xfrm>
            <a:off x="4864310" y="5018981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8C7C8FA0-1DE2-48B2-9B1F-55F771FCA0B5}"/>
              </a:ext>
            </a:extLst>
          </p:cNvPr>
          <p:cNvSpPr/>
          <p:nvPr/>
        </p:nvSpPr>
        <p:spPr>
          <a:xfrm>
            <a:off x="4354893" y="2677899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07F2EC30-65A9-4859-BBE0-D681C1F93522}"/>
              </a:ext>
            </a:extLst>
          </p:cNvPr>
          <p:cNvSpPr/>
          <p:nvPr/>
        </p:nvSpPr>
        <p:spPr>
          <a:xfrm>
            <a:off x="7887939" y="4048750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15582AD-8C24-4D5D-B99F-282F3D40AC78}"/>
              </a:ext>
            </a:extLst>
          </p:cNvPr>
          <p:cNvSpPr/>
          <p:nvPr/>
        </p:nvSpPr>
        <p:spPr>
          <a:xfrm>
            <a:off x="7523737" y="4225512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6C1D44B-B19F-4EE0-BF6E-29A1229BBA06}"/>
              </a:ext>
            </a:extLst>
          </p:cNvPr>
          <p:cNvSpPr/>
          <p:nvPr/>
        </p:nvSpPr>
        <p:spPr>
          <a:xfrm>
            <a:off x="8373407" y="4259700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60ABE5F-A37E-41F8-A927-BAE28F90F409}"/>
              </a:ext>
            </a:extLst>
          </p:cNvPr>
          <p:cNvSpPr/>
          <p:nvPr/>
        </p:nvSpPr>
        <p:spPr>
          <a:xfrm>
            <a:off x="7695344" y="4652663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A0768BC0-16BE-4E6A-A31F-E778E47D8844}"/>
              </a:ext>
            </a:extLst>
          </p:cNvPr>
          <p:cNvSpPr/>
          <p:nvPr/>
        </p:nvSpPr>
        <p:spPr>
          <a:xfrm>
            <a:off x="8133984" y="4935189"/>
            <a:ext cx="242533" cy="242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Century Gothic" panose="020B0502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62B7D7D-EAAB-41D7-AA61-1713F3BEFC83}"/>
              </a:ext>
            </a:extLst>
          </p:cNvPr>
          <p:cNvSpPr txBox="1"/>
          <p:nvPr/>
        </p:nvSpPr>
        <p:spPr>
          <a:xfrm>
            <a:off x="8790683" y="4026154"/>
            <a:ext cx="22115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latin typeface="Century Gothic" panose="020B0502020202020204" pitchFamily="34" charset="0"/>
              </a:rPr>
              <a:t>El </a:t>
            </a:r>
            <a:r>
              <a:rPr lang="es-PE" sz="1600" b="1" u="sng" dirty="0" err="1">
                <a:latin typeface="Century Gothic" panose="020B0502020202020204" pitchFamily="34" charset="0"/>
              </a:rPr>
              <a:t>odds</a:t>
            </a:r>
            <a:r>
              <a:rPr lang="es-PE" sz="1600" b="1" u="sng" dirty="0">
                <a:latin typeface="Century Gothic" panose="020B0502020202020204" pitchFamily="34" charset="0"/>
              </a:rPr>
              <a:t> </a:t>
            </a:r>
            <a:r>
              <a:rPr lang="es-PE" sz="1600" dirty="0">
                <a:latin typeface="Century Gothic" panose="020B0502020202020204" pitchFamily="34" charset="0"/>
              </a:rPr>
              <a:t>de presentar insuficiencia cardiaca en el grupo con obesidad, </a:t>
            </a:r>
            <a:r>
              <a:rPr lang="es-PE" sz="1600" b="1" u="sng" dirty="0">
                <a:latin typeface="Century Gothic" panose="020B0502020202020204" pitchFamily="34" charset="0"/>
              </a:rPr>
              <a:t>fue 12.5 veces el </a:t>
            </a:r>
            <a:r>
              <a:rPr lang="es-PE" sz="1600" b="1" u="sng" dirty="0" err="1">
                <a:latin typeface="Century Gothic" panose="020B0502020202020204" pitchFamily="34" charset="0"/>
              </a:rPr>
              <a:t>odds</a:t>
            </a:r>
            <a:r>
              <a:rPr lang="es-PE" sz="1600" b="1" u="sng" dirty="0">
                <a:latin typeface="Century Gothic" panose="020B0502020202020204" pitchFamily="34" charset="0"/>
              </a:rPr>
              <a:t> </a:t>
            </a:r>
            <a:r>
              <a:rPr lang="es-PE" sz="1600" dirty="0">
                <a:latin typeface="Century Gothic" panose="020B0502020202020204" pitchFamily="34" charset="0"/>
              </a:rPr>
              <a:t>en el grupo sin obesidad </a:t>
            </a:r>
          </a:p>
          <a:p>
            <a:pPr algn="ctr"/>
            <a:endParaRPr lang="es-PE" sz="1600" dirty="0">
              <a:latin typeface="Century Gothic" panose="020B0502020202020204" pitchFamily="34" charset="0"/>
            </a:endParaRPr>
          </a:p>
          <a:p>
            <a:pPr algn="ctr"/>
            <a:r>
              <a:rPr lang="es-PE" sz="1600" dirty="0">
                <a:latin typeface="Century Gothic" panose="020B0502020202020204" pitchFamily="34" charset="0"/>
              </a:rPr>
              <a:t>(OR = 12.50)</a:t>
            </a:r>
            <a:endParaRPr lang="es-PE" sz="1600" b="1" u="sng" dirty="0">
              <a:latin typeface="Century Gothic" panose="020B05020202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FA4F5B8-B76B-4822-84F5-24AF9B27C24F}"/>
              </a:ext>
            </a:extLst>
          </p:cNvPr>
          <p:cNvSpPr txBox="1"/>
          <p:nvPr/>
        </p:nvSpPr>
        <p:spPr>
          <a:xfrm>
            <a:off x="880100" y="4082889"/>
            <a:ext cx="25913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>
                <a:latin typeface="Century Gothic" panose="020B0502020202020204" pitchFamily="34" charset="0"/>
              </a:rPr>
              <a:t>El </a:t>
            </a:r>
            <a:r>
              <a:rPr lang="es-PE" sz="1600" b="1" u="sng" dirty="0" err="1">
                <a:latin typeface="Century Gothic" panose="020B0502020202020204" pitchFamily="34" charset="0"/>
              </a:rPr>
              <a:t>odds</a:t>
            </a:r>
            <a:r>
              <a:rPr lang="es-PE" sz="1600" b="1" u="sng" dirty="0">
                <a:latin typeface="Century Gothic" panose="020B0502020202020204" pitchFamily="34" charset="0"/>
              </a:rPr>
              <a:t> </a:t>
            </a:r>
            <a:r>
              <a:rPr lang="es-PE" sz="1600" dirty="0">
                <a:latin typeface="Century Gothic" panose="020B0502020202020204" pitchFamily="34" charset="0"/>
              </a:rPr>
              <a:t>de presentar insuficiencia cardiaca en el grupo con obesidad esta entre </a:t>
            </a:r>
            <a:r>
              <a:rPr lang="es-ES" sz="1600" b="1" u="sng" dirty="0">
                <a:latin typeface="Century Gothic" panose="020B0502020202020204" pitchFamily="34" charset="0"/>
              </a:rPr>
              <a:t>10.50 a 14.00 veces el </a:t>
            </a:r>
            <a:r>
              <a:rPr lang="es-PE" sz="1600" b="1" u="sng" dirty="0" err="1">
                <a:latin typeface="Century Gothic" panose="020B0502020202020204" pitchFamily="34" charset="0"/>
              </a:rPr>
              <a:t>odds</a:t>
            </a:r>
            <a:r>
              <a:rPr lang="es-PE" sz="1600" b="1" u="sng" dirty="0">
                <a:latin typeface="Century Gothic" panose="020B0502020202020204" pitchFamily="34" charset="0"/>
              </a:rPr>
              <a:t> </a:t>
            </a:r>
            <a:r>
              <a:rPr lang="es-PE" sz="1600" dirty="0">
                <a:latin typeface="Century Gothic" panose="020B0502020202020204" pitchFamily="34" charset="0"/>
              </a:rPr>
              <a:t>del grupo sin obesidad </a:t>
            </a:r>
            <a:endParaRPr lang="es-PE" sz="1600" b="1" u="sng" dirty="0">
              <a:latin typeface="Century Gothic" panose="020B050202020202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C363D81-AAC3-4D7D-9F0F-8FD758B2CD87}"/>
              </a:ext>
            </a:extLst>
          </p:cNvPr>
          <p:cNvSpPr/>
          <p:nvPr/>
        </p:nvSpPr>
        <p:spPr>
          <a:xfrm>
            <a:off x="5979458" y="2174987"/>
            <a:ext cx="4149095" cy="646074"/>
          </a:xfrm>
          <a:prstGeom prst="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1799" dirty="0">
                <a:latin typeface="Century Gothic" panose="020B0502020202020204" pitchFamily="34" charset="0"/>
              </a:rPr>
              <a:t>Resultado:</a:t>
            </a:r>
          </a:p>
          <a:p>
            <a:pPr algn="ctr"/>
            <a:r>
              <a:rPr lang="es-PE" sz="1799" dirty="0">
                <a:latin typeface="Century Gothic" panose="020B0502020202020204" pitchFamily="34" charset="0"/>
              </a:rPr>
              <a:t>OR </a:t>
            </a:r>
            <a:r>
              <a:rPr lang="es-ES" sz="1799" dirty="0">
                <a:latin typeface="Century Gothic" panose="020B0502020202020204" pitchFamily="34" charset="0"/>
              </a:rPr>
              <a:t>= 12.50 (IC 95%: 10.50 a 14.00)</a:t>
            </a:r>
          </a:p>
        </p:txBody>
      </p:sp>
    </p:spTree>
    <p:extLst>
      <p:ext uri="{BB962C8B-B14F-4D97-AF65-F5344CB8AC3E}">
        <p14:creationId xmlns:p14="http://schemas.microsoft.com/office/powerpoint/2010/main" val="4163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2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>
            <a:spLocks noGrp="1"/>
          </p:cNvSpPr>
          <p:nvPr>
            <p:ph type="title" idx="4294967295"/>
          </p:nvPr>
        </p:nvSpPr>
        <p:spPr>
          <a:xfrm>
            <a:off x="1061453" y="655834"/>
            <a:ext cx="8110012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 b="1" dirty="0">
                <a:solidFill>
                  <a:srgbClr val="1232D0"/>
                </a:solidFill>
              </a:rPr>
              <a:t>¿Estadísticamente significativo?</a:t>
            </a:r>
            <a:endParaRPr b="1" dirty="0">
              <a:solidFill>
                <a:srgbClr val="1232D0"/>
              </a:solidFill>
            </a:endParaRPr>
          </a:p>
        </p:txBody>
      </p:sp>
      <p:pic>
        <p:nvPicPr>
          <p:cNvPr id="202" name="Google Shape;20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5078" y="3266784"/>
            <a:ext cx="2526587" cy="159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34309" y="2529641"/>
            <a:ext cx="2526586" cy="159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5456651" y="2089333"/>
            <a:ext cx="45707" cy="453395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62E5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 rot="10800000">
            <a:off x="6831362" y="5122645"/>
            <a:ext cx="3205864" cy="64532"/>
          </a:xfrm>
          <a:prstGeom prst="rect">
            <a:avLst/>
          </a:prstGeom>
          <a:solidFill>
            <a:srgbClr val="92D050"/>
          </a:solidFill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 rot="10800000">
            <a:off x="1960358" y="4270332"/>
            <a:ext cx="3205864" cy="64532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 rot="10800000">
            <a:off x="4085860" y="2893056"/>
            <a:ext cx="3205864" cy="6453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5244555" y="1292197"/>
            <a:ext cx="3911912" cy="7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39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s-PE" sz="3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OVEJA NEGRA</a:t>
            </a:r>
            <a:endParaRPr sz="1799"/>
          </a:p>
        </p:txBody>
      </p:sp>
      <p:sp>
        <p:nvSpPr>
          <p:cNvPr id="209" name="Google Shape;209;p9"/>
          <p:cNvSpPr txBox="1"/>
          <p:nvPr/>
        </p:nvSpPr>
        <p:spPr>
          <a:xfrm>
            <a:off x="5607332" y="3164315"/>
            <a:ext cx="3114452" cy="52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Intervalo de confianza tocando el 1 = no estadísticamente significativo </a:t>
            </a:r>
            <a:endParaRPr sz="1799"/>
          </a:p>
        </p:txBody>
      </p:sp>
      <p:sp>
        <p:nvSpPr>
          <p:cNvPr id="210" name="Google Shape;210;p9"/>
          <p:cNvSpPr txBox="1"/>
          <p:nvPr/>
        </p:nvSpPr>
        <p:spPr>
          <a:xfrm>
            <a:off x="5663318" y="5411901"/>
            <a:ext cx="5111614" cy="5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el intervalo de confianza es mayor al 1 = estadísticamente significativo, </a:t>
            </a:r>
            <a:r>
              <a:rPr lang="es-PE" sz="1799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s-PE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r>
              <a:rPr lang="es-PE" sz="1799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s-PE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99" dirty="0"/>
          </a:p>
        </p:txBody>
      </p:sp>
      <p:sp>
        <p:nvSpPr>
          <p:cNvPr id="211" name="Google Shape;211;p9"/>
          <p:cNvSpPr txBox="1"/>
          <p:nvPr/>
        </p:nvSpPr>
        <p:spPr>
          <a:xfrm>
            <a:off x="1525301" y="4528896"/>
            <a:ext cx="3840045" cy="80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el intervalo de confianza es menor al 1 = estadísticamente </a:t>
            </a:r>
            <a:endParaRPr sz="1799" dirty="0"/>
          </a:p>
          <a:p>
            <a:pPr algn="ctr"/>
            <a:r>
              <a:rPr lang="es-PE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significativo, </a:t>
            </a:r>
            <a:r>
              <a:rPr lang="es-PE" sz="1799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s-PE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protector</a:t>
            </a:r>
            <a:r>
              <a:rPr lang="es-PE" sz="1799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799" dirty="0"/>
          </a:p>
        </p:txBody>
      </p:sp>
      <p:sp>
        <p:nvSpPr>
          <p:cNvPr id="212" name="Google Shape;212;p9"/>
          <p:cNvSpPr txBox="1"/>
          <p:nvPr/>
        </p:nvSpPr>
        <p:spPr>
          <a:xfrm>
            <a:off x="7185147" y="4790438"/>
            <a:ext cx="2707714" cy="36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OR: 1.</a:t>
            </a:r>
            <a:r>
              <a:rPr lang="es-PE" sz="1799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s-PE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(IC 95%: 1.10-1.90)</a:t>
            </a:r>
            <a:endParaRPr sz="1799"/>
          </a:p>
        </p:txBody>
      </p:sp>
      <p:sp>
        <p:nvSpPr>
          <p:cNvPr id="213" name="Google Shape;213;p9"/>
          <p:cNvSpPr txBox="1"/>
          <p:nvPr/>
        </p:nvSpPr>
        <p:spPr>
          <a:xfrm>
            <a:off x="5663322" y="2589697"/>
            <a:ext cx="2707714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OR: 1.15 (IC 95%: 0.90-1.35)</a:t>
            </a:r>
            <a:endParaRPr sz="1799"/>
          </a:p>
        </p:txBody>
      </p:sp>
      <p:sp>
        <p:nvSpPr>
          <p:cNvPr id="214" name="Google Shape;214;p9"/>
          <p:cNvSpPr txBox="1"/>
          <p:nvPr/>
        </p:nvSpPr>
        <p:spPr>
          <a:xfrm>
            <a:off x="2690369" y="3922452"/>
            <a:ext cx="2707714" cy="3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OR: 0.80 (IC 95%: 0.70-0.99)</a:t>
            </a:r>
            <a:endParaRPr sz="1799"/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71465" y="958192"/>
            <a:ext cx="1094680" cy="142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cf46416c1_0_8"/>
          <p:cNvSpPr txBox="1">
            <a:spLocks noGrp="1"/>
          </p:cNvSpPr>
          <p:nvPr>
            <p:ph type="title" idx="4294967295"/>
          </p:nvPr>
        </p:nvSpPr>
        <p:spPr>
          <a:xfrm>
            <a:off x="1341884" y="569279"/>
            <a:ext cx="748311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Interpretación</a:t>
            </a:r>
            <a:endParaRPr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84169FB-7165-48B1-826A-A0B91DA512AE}"/>
              </a:ext>
            </a:extLst>
          </p:cNvPr>
          <p:cNvGrpSpPr/>
          <p:nvPr/>
        </p:nvGrpSpPr>
        <p:grpSpPr>
          <a:xfrm>
            <a:off x="1053852" y="1412776"/>
            <a:ext cx="9865096" cy="5287867"/>
            <a:chOff x="409468" y="1397106"/>
            <a:chExt cx="11779362" cy="5519561"/>
          </a:xfrm>
        </p:grpSpPr>
        <p:pic>
          <p:nvPicPr>
            <p:cNvPr id="188" name="Google Shape;188;g2ccf46416c1_0_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09468" y="1397106"/>
              <a:ext cx="11779362" cy="55195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g2ccf46416c1_0_8"/>
            <p:cNvSpPr txBox="1"/>
            <p:nvPr/>
          </p:nvSpPr>
          <p:spPr>
            <a:xfrm>
              <a:off x="1608355" y="2229837"/>
              <a:ext cx="1897006" cy="321195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hospitalizados</a:t>
              </a:r>
              <a:endParaRPr sz="1400" dirty="0"/>
            </a:p>
          </p:txBody>
        </p:sp>
        <p:sp>
          <p:nvSpPr>
            <p:cNvPr id="190" name="Google Shape;190;g2ccf46416c1_0_8"/>
            <p:cNvSpPr txBox="1"/>
            <p:nvPr/>
          </p:nvSpPr>
          <p:spPr>
            <a:xfrm>
              <a:off x="4664558" y="2229837"/>
              <a:ext cx="1412632" cy="321195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el odds</a:t>
              </a:r>
              <a:endParaRPr sz="1400"/>
            </a:p>
          </p:txBody>
        </p:sp>
        <p:sp>
          <p:nvSpPr>
            <p:cNvPr id="191" name="Google Shape;191;g2ccf46416c1_0_8"/>
            <p:cNvSpPr txBox="1"/>
            <p:nvPr/>
          </p:nvSpPr>
          <p:spPr>
            <a:xfrm>
              <a:off x="7606293" y="2075977"/>
              <a:ext cx="1672664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insuficiencia cardiaca</a:t>
              </a:r>
              <a:endParaRPr sz="1400" dirty="0"/>
            </a:p>
          </p:txBody>
        </p:sp>
        <p:sp>
          <p:nvSpPr>
            <p:cNvPr id="192" name="Google Shape;192;g2ccf46416c1_0_8"/>
            <p:cNvSpPr txBox="1"/>
            <p:nvPr/>
          </p:nvSpPr>
          <p:spPr>
            <a:xfrm>
              <a:off x="2814666" y="3736195"/>
              <a:ext cx="2051766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de personas con obesidad</a:t>
              </a:r>
              <a:endParaRPr sz="14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g2ccf46416c1_0_8"/>
            <p:cNvSpPr txBox="1"/>
            <p:nvPr/>
          </p:nvSpPr>
          <p:spPr>
            <a:xfrm>
              <a:off x="6256095" y="3736195"/>
              <a:ext cx="1631275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1150% mayor / 12.5 veces más</a:t>
              </a:r>
              <a:endParaRPr sz="1400" dirty="0"/>
            </a:p>
          </p:txBody>
        </p:sp>
        <p:sp>
          <p:nvSpPr>
            <p:cNvPr id="194" name="Google Shape;194;g2ccf46416c1_0_8"/>
            <p:cNvSpPr txBox="1"/>
            <p:nvPr/>
          </p:nvSpPr>
          <p:spPr>
            <a:xfrm>
              <a:off x="1032356" y="5310885"/>
              <a:ext cx="2283605" cy="546079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de personas sin obesidad</a:t>
              </a:r>
              <a:endParaRPr sz="14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g2ccf46416c1_0_8"/>
            <p:cNvSpPr txBox="1"/>
            <p:nvPr/>
          </p:nvSpPr>
          <p:spPr>
            <a:xfrm>
              <a:off x="6053423" y="5550272"/>
              <a:ext cx="4318575" cy="321195"/>
            </a:xfrm>
            <a:prstGeom prst="rect">
              <a:avLst/>
            </a:prstGeom>
            <a:solidFill>
              <a:srgbClr val="FFFFFF"/>
            </a:solidFill>
            <a:ln w="381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t" anchorCtr="0">
              <a:spAutoFit/>
            </a:bodyPr>
            <a:lstStyle/>
            <a:p>
              <a:pPr algn="ctr"/>
              <a:r>
                <a:rPr lang="es-PE" sz="1400" dirty="0">
                  <a:solidFill>
                    <a:srgbClr val="0F6FC6"/>
                  </a:solidFill>
                  <a:latin typeface="Calibri"/>
                  <a:ea typeface="Calibri"/>
                  <a:cs typeface="Calibri"/>
                  <a:sym typeface="Calibri"/>
                </a:rPr>
                <a:t>fue estadísticamente significativo</a:t>
              </a:r>
              <a:endParaRPr sz="1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42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1F49FE9-00C6-416C-9FFC-D16C2BC9AF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93519" y="1748276"/>
            <a:ext cx="4789824" cy="2386978"/>
          </a:xfrm>
        </p:spPr>
        <p:txBody>
          <a:bodyPr>
            <a:noAutofit/>
          </a:bodyPr>
          <a:lstStyle/>
          <a:p>
            <a:pPr marL="38089" indent="0" algn="just">
              <a:buNone/>
            </a:pPr>
            <a:r>
              <a:rPr lang="es-P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Razón de prevalencias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P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Medida de asociación que </a:t>
            </a:r>
            <a:r>
              <a:rPr lang="es-PE" sz="2400" b="1" dirty="0">
                <a:solidFill>
                  <a:srgbClr val="1232D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 prevalencias</a:t>
            </a:r>
            <a:r>
              <a:rPr lang="es-PE" sz="2400" dirty="0">
                <a:solidFill>
                  <a:srgbClr val="1232D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P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 desenlace </a:t>
            </a:r>
            <a:r>
              <a:rPr lang="es-PE" sz="2400" b="1" dirty="0">
                <a:solidFill>
                  <a:srgbClr val="1232D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 dos grupos</a:t>
            </a:r>
            <a:r>
              <a:rPr lang="es-P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FA0FF12-CD71-4A85-A575-39BD90B27B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07913" y="642036"/>
            <a:ext cx="8221109" cy="422165"/>
          </a:xfrm>
        </p:spPr>
        <p:txBody>
          <a:bodyPr>
            <a:noAutofit/>
          </a:bodyPr>
          <a:lstStyle/>
          <a:p>
            <a:r>
              <a:rPr lang="es-PE" sz="2800" b="1" dirty="0">
                <a:solidFill>
                  <a:srgbClr val="1232D0"/>
                </a:solidFill>
              </a:rPr>
              <a:t>Razón de prevalencias (RP) y Riesgo Relativo (RR)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80D0A180-5641-42CD-814E-8E9A8052252D}"/>
              </a:ext>
            </a:extLst>
          </p:cNvPr>
          <p:cNvSpPr txBox="1">
            <a:spLocks/>
          </p:cNvSpPr>
          <p:nvPr/>
        </p:nvSpPr>
        <p:spPr>
          <a:xfrm>
            <a:off x="2642175" y="4199888"/>
            <a:ext cx="3093306" cy="622824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799" dirty="0"/>
              <a:t>Prevalencia del desenlace en el grupo expuesto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058A5708-53E9-41C5-B8B1-D7218212130F}"/>
              </a:ext>
            </a:extLst>
          </p:cNvPr>
          <p:cNvSpPr txBox="1">
            <a:spLocks/>
          </p:cNvSpPr>
          <p:nvPr/>
        </p:nvSpPr>
        <p:spPr>
          <a:xfrm>
            <a:off x="2769074" y="5073208"/>
            <a:ext cx="2898135" cy="690361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799" dirty="0"/>
              <a:t>Prevalencia del desenlace en el grupo no expuesto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9751FED-D46E-4D48-BD9B-73DECEBC05AB}"/>
              </a:ext>
            </a:extLst>
          </p:cNvPr>
          <p:cNvCxnSpPr>
            <a:cxnSpLocks/>
          </p:cNvCxnSpPr>
          <p:nvPr/>
        </p:nvCxnSpPr>
        <p:spPr>
          <a:xfrm>
            <a:off x="2628988" y="4970022"/>
            <a:ext cx="310649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948655E8-9425-4554-B5D4-87BD74EE1704}"/>
              </a:ext>
            </a:extLst>
          </p:cNvPr>
          <p:cNvSpPr txBox="1">
            <a:spLocks/>
          </p:cNvSpPr>
          <p:nvPr/>
        </p:nvSpPr>
        <p:spPr>
          <a:xfrm>
            <a:off x="1153469" y="4619929"/>
            <a:ext cx="909114" cy="622824"/>
          </a:xfrm>
          <a:prstGeom prst="rect">
            <a:avLst/>
          </a:prstGeom>
        </p:spPr>
        <p:txBody>
          <a:bodyPr vert="horz" lIns="91416" tIns="45708" rIns="91416" bIns="45708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799" b="1" dirty="0"/>
              <a:t>RP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9563767-979B-4285-96CA-9969D670C103}"/>
              </a:ext>
            </a:extLst>
          </p:cNvPr>
          <p:cNvSpPr/>
          <p:nvPr/>
        </p:nvSpPr>
        <p:spPr>
          <a:xfrm>
            <a:off x="2100203" y="4495299"/>
            <a:ext cx="355645" cy="769241"/>
          </a:xfrm>
          <a:prstGeom prst="rect">
            <a:avLst/>
          </a:prstGeom>
          <a:noFill/>
        </p:spPr>
        <p:txBody>
          <a:bodyPr wrap="square" lIns="91416" tIns="45708" rIns="91416" bIns="45708">
            <a:spAutoFit/>
          </a:bodyPr>
          <a:lstStyle/>
          <a:p>
            <a:pPr algn="ctr"/>
            <a:r>
              <a:rPr lang="es-ES" sz="4399" b="1" dirty="0">
                <a:ln w="10160">
                  <a:solidFill>
                    <a:schemeClr val="tx2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=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3FD1683-984C-4B96-B9E1-1E28105F6D81}"/>
              </a:ext>
            </a:extLst>
          </p:cNvPr>
          <p:cNvSpPr/>
          <p:nvPr/>
        </p:nvSpPr>
        <p:spPr>
          <a:xfrm>
            <a:off x="1049083" y="3997504"/>
            <a:ext cx="4789823" cy="186767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785B678E-B4AB-4D1B-B2E4-CABC4E95D827}"/>
              </a:ext>
            </a:extLst>
          </p:cNvPr>
          <p:cNvSpPr txBox="1">
            <a:spLocks/>
          </p:cNvSpPr>
          <p:nvPr/>
        </p:nvSpPr>
        <p:spPr>
          <a:xfrm>
            <a:off x="7514196" y="4193203"/>
            <a:ext cx="3093306" cy="622824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799" dirty="0"/>
              <a:t>Incidencia del desenlace en el grupo expuesto</a:t>
            </a: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CAE918AD-51A2-4009-8967-817856595853}"/>
              </a:ext>
            </a:extLst>
          </p:cNvPr>
          <p:cNvSpPr txBox="1">
            <a:spLocks/>
          </p:cNvSpPr>
          <p:nvPr/>
        </p:nvSpPr>
        <p:spPr>
          <a:xfrm>
            <a:off x="7641464" y="5066523"/>
            <a:ext cx="2898135" cy="690361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799" dirty="0"/>
              <a:t>Incidencia del desenlace en el grupo no expuesto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277CA2B8-A554-460D-82A3-8024BEAB358A}"/>
              </a:ext>
            </a:extLst>
          </p:cNvPr>
          <p:cNvCxnSpPr>
            <a:cxnSpLocks/>
          </p:cNvCxnSpPr>
          <p:nvPr/>
        </p:nvCxnSpPr>
        <p:spPr>
          <a:xfrm>
            <a:off x="7581929" y="4963337"/>
            <a:ext cx="310649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D7A865C4-731A-4B6F-AADC-32E8C546E3F9}"/>
              </a:ext>
            </a:extLst>
          </p:cNvPr>
          <p:cNvSpPr txBox="1">
            <a:spLocks/>
          </p:cNvSpPr>
          <p:nvPr/>
        </p:nvSpPr>
        <p:spPr>
          <a:xfrm>
            <a:off x="6150056" y="4613244"/>
            <a:ext cx="909114" cy="622824"/>
          </a:xfrm>
          <a:prstGeom prst="rect">
            <a:avLst/>
          </a:prstGeom>
        </p:spPr>
        <p:txBody>
          <a:bodyPr vert="horz" lIns="91416" tIns="45708" rIns="91416" bIns="45708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799" b="1" dirty="0"/>
              <a:t>RR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47DD45A-4CC8-47EA-B313-43F1AFED48A2}"/>
              </a:ext>
            </a:extLst>
          </p:cNvPr>
          <p:cNvSpPr/>
          <p:nvPr/>
        </p:nvSpPr>
        <p:spPr>
          <a:xfrm>
            <a:off x="7096790" y="4488614"/>
            <a:ext cx="355645" cy="769241"/>
          </a:xfrm>
          <a:prstGeom prst="rect">
            <a:avLst/>
          </a:prstGeom>
          <a:noFill/>
        </p:spPr>
        <p:txBody>
          <a:bodyPr wrap="square" lIns="91416" tIns="45708" rIns="91416" bIns="45708">
            <a:spAutoFit/>
          </a:bodyPr>
          <a:lstStyle/>
          <a:p>
            <a:pPr algn="ctr"/>
            <a:r>
              <a:rPr lang="es-ES" sz="4399" b="1" dirty="0">
                <a:ln w="10160">
                  <a:solidFill>
                    <a:schemeClr val="tx2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=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2610B35-8356-4DB5-AFD2-A01822F18FA8}"/>
              </a:ext>
            </a:extLst>
          </p:cNvPr>
          <p:cNvSpPr/>
          <p:nvPr/>
        </p:nvSpPr>
        <p:spPr>
          <a:xfrm>
            <a:off x="6045669" y="3990819"/>
            <a:ext cx="4789823" cy="186767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DF1E2DD-0776-482E-ABB7-B0C570612897}"/>
              </a:ext>
            </a:extLst>
          </p:cNvPr>
          <p:cNvSpPr txBox="1">
            <a:spLocks/>
          </p:cNvSpPr>
          <p:nvPr/>
        </p:nvSpPr>
        <p:spPr>
          <a:xfrm>
            <a:off x="6045669" y="6006564"/>
            <a:ext cx="4801271" cy="503982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lIns="91416" tIns="45708" rIns="91416" bIns="45708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/>
              <a:t>Incidencia = Probabilidad = Riesgo </a:t>
            </a:r>
          </a:p>
        </p:txBody>
      </p:sp>
      <p:sp>
        <p:nvSpPr>
          <p:cNvPr id="27" name="Marcador de contenido 4">
            <a:extLst>
              <a:ext uri="{FF2B5EF4-FFF2-40B4-BE49-F238E27FC236}">
                <a16:creationId xmlns:a16="http://schemas.microsoft.com/office/drawing/2014/main" id="{E1D66930-A960-49F8-BE1C-F13027D69B35}"/>
              </a:ext>
            </a:extLst>
          </p:cNvPr>
          <p:cNvSpPr txBox="1">
            <a:spLocks/>
          </p:cNvSpPr>
          <p:nvPr/>
        </p:nvSpPr>
        <p:spPr>
          <a:xfrm>
            <a:off x="6329931" y="1679142"/>
            <a:ext cx="4517009" cy="2254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19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191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089" indent="0" algn="just">
              <a:buNone/>
            </a:pPr>
            <a:r>
              <a:rPr lang="es-ES" sz="2400" b="1" dirty="0">
                <a:solidFill>
                  <a:schemeClr val="tx1"/>
                </a:solidFill>
              </a:rPr>
              <a:t>Riesgo relativo</a:t>
            </a:r>
          </a:p>
          <a:p>
            <a:pPr marL="380989" indent="-342900" algn="just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tx1"/>
                </a:solidFill>
              </a:rPr>
              <a:t>Medida de asociación que </a:t>
            </a:r>
            <a:r>
              <a:rPr lang="es-ES" sz="2400" b="1" dirty="0">
                <a:solidFill>
                  <a:srgbClr val="1232D0"/>
                </a:solidFill>
              </a:rPr>
              <a:t>compara la incidencia </a:t>
            </a:r>
            <a:r>
              <a:rPr lang="es-ES" sz="2400" dirty="0">
                <a:solidFill>
                  <a:schemeClr val="tx1"/>
                </a:solidFill>
              </a:rPr>
              <a:t>del desenlace </a:t>
            </a:r>
            <a:r>
              <a:rPr lang="es-ES" sz="2400" b="1" dirty="0">
                <a:solidFill>
                  <a:srgbClr val="1232D0"/>
                </a:solidFill>
              </a:rPr>
              <a:t>entre dos grupos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  <a:endParaRPr lang="es-PE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87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eb1d1a952_0_0"/>
          <p:cNvSpPr txBox="1">
            <a:spLocks noGrp="1"/>
          </p:cNvSpPr>
          <p:nvPr>
            <p:ph type="title" idx="4294967295"/>
          </p:nvPr>
        </p:nvSpPr>
        <p:spPr>
          <a:xfrm>
            <a:off x="1629916" y="685400"/>
            <a:ext cx="7483114" cy="422165"/>
          </a:xfrm>
          <a:prstGeom prst="rect">
            <a:avLst/>
          </a:prstGeom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s-PE" b="1" dirty="0">
                <a:solidFill>
                  <a:srgbClr val="1232D0"/>
                </a:solidFill>
              </a:rPr>
              <a:t>¿Cuándo utilizar RR y RP?</a:t>
            </a:r>
            <a:endParaRPr b="1" dirty="0">
              <a:solidFill>
                <a:srgbClr val="1232D0"/>
              </a:solidFill>
            </a:endParaRPr>
          </a:p>
        </p:txBody>
      </p:sp>
      <p:pic>
        <p:nvPicPr>
          <p:cNvPr id="150" name="Google Shape;150;g2beb1d1a95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860" y="2491063"/>
            <a:ext cx="9649072" cy="367672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2beb1d1a952_0_0"/>
          <p:cNvSpPr txBox="1"/>
          <p:nvPr/>
        </p:nvSpPr>
        <p:spPr>
          <a:xfrm>
            <a:off x="-1" y="1441692"/>
            <a:ext cx="11828019" cy="114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s-ES" sz="2399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 estudios longitudinales deberíamos usar el riesgo relativo (RR)</a:t>
            </a: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s-ES" sz="2399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 estudios transversales deberíamos usar la razón de prevalencias (RP)</a:t>
            </a: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endParaRPr lang="es-ES" sz="2399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498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0D91D8F-B31F-4CF2-939A-A9EB664D57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97868" y="629164"/>
            <a:ext cx="9649072" cy="666576"/>
          </a:xfrm>
        </p:spPr>
        <p:txBody>
          <a:bodyPr>
            <a:normAutofit fontScale="90000"/>
          </a:bodyPr>
          <a:lstStyle/>
          <a:p>
            <a:r>
              <a:rPr lang="es-PE" dirty="0">
                <a:solidFill>
                  <a:srgbClr val="1232D0"/>
                </a:solidFill>
                <a:latin typeface="Arial Black" panose="020B0A04020102020204" pitchFamily="34" charset="0"/>
              </a:rPr>
              <a:t>¿Cuándo calcular un RP y cuando un RR?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13FB57CD-9926-4EC0-93CE-90D175B8A0C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52386" y="1610308"/>
            <a:ext cx="9894554" cy="1088741"/>
          </a:xfrm>
        </p:spPr>
        <p:txBody>
          <a:bodyPr>
            <a:noAutofit/>
          </a:bodyPr>
          <a:lstStyle/>
          <a:p>
            <a:pPr algn="just"/>
            <a:r>
              <a:rPr lang="es-PE" sz="279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Elegir la medida de asociación a calcular para desenlaces categóricos (RR, OR, RP) depende del </a:t>
            </a:r>
            <a:r>
              <a:rPr lang="es-PE" sz="2799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 de estudio </a:t>
            </a:r>
            <a:r>
              <a:rPr lang="es-PE" sz="279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 estemos realizando.</a:t>
            </a:r>
          </a:p>
          <a:p>
            <a:pPr marL="0" indent="0" algn="just">
              <a:buNone/>
            </a:pPr>
            <a:endParaRPr lang="es-PE" sz="2799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258C4BB3-57C4-4602-9807-4077165B6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710675"/>
              </p:ext>
            </p:extLst>
          </p:nvPr>
        </p:nvGraphicFramePr>
        <p:xfrm>
          <a:off x="985261" y="3013618"/>
          <a:ext cx="9861680" cy="2768714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972336">
                  <a:extLst>
                    <a:ext uri="{9D8B030D-6E8A-4147-A177-3AD203B41FA5}">
                      <a16:colId xmlns:a16="http://schemas.microsoft.com/office/drawing/2014/main" val="1999413533"/>
                    </a:ext>
                  </a:extLst>
                </a:gridCol>
                <a:gridCol w="1972336">
                  <a:extLst>
                    <a:ext uri="{9D8B030D-6E8A-4147-A177-3AD203B41FA5}">
                      <a16:colId xmlns:a16="http://schemas.microsoft.com/office/drawing/2014/main" val="1452938829"/>
                    </a:ext>
                  </a:extLst>
                </a:gridCol>
                <a:gridCol w="1972336">
                  <a:extLst>
                    <a:ext uri="{9D8B030D-6E8A-4147-A177-3AD203B41FA5}">
                      <a16:colId xmlns:a16="http://schemas.microsoft.com/office/drawing/2014/main" val="1971486472"/>
                    </a:ext>
                  </a:extLst>
                </a:gridCol>
                <a:gridCol w="1972336">
                  <a:extLst>
                    <a:ext uri="{9D8B030D-6E8A-4147-A177-3AD203B41FA5}">
                      <a16:colId xmlns:a16="http://schemas.microsoft.com/office/drawing/2014/main" val="2205294438"/>
                    </a:ext>
                  </a:extLst>
                </a:gridCol>
                <a:gridCol w="1972336">
                  <a:extLst>
                    <a:ext uri="{9D8B030D-6E8A-4147-A177-3AD203B41FA5}">
                      <a16:colId xmlns:a16="http://schemas.microsoft.com/office/drawing/2014/main" val="2827446317"/>
                    </a:ext>
                  </a:extLst>
                </a:gridCol>
              </a:tblGrid>
              <a:tr h="1031426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Medida</a:t>
                      </a:r>
                    </a:p>
                  </a:txBody>
                  <a:tcPr marL="91416" marR="91416" marT="45708" marB="457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Transversales</a:t>
                      </a:r>
                    </a:p>
                  </a:txBody>
                  <a:tcPr marL="91416" marR="91416" marT="45708" marB="457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Cohorte</a:t>
                      </a:r>
                    </a:p>
                  </a:txBody>
                  <a:tcPr marL="91416" marR="91416" marT="45708" marB="457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Ensayos clínicos</a:t>
                      </a:r>
                    </a:p>
                  </a:txBody>
                  <a:tcPr marL="91416" marR="91416" marT="45708" marB="4570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Caso-control</a:t>
                      </a:r>
                    </a:p>
                  </a:txBody>
                  <a:tcPr marL="91416" marR="91416" marT="45708" marB="4570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669167"/>
                  </a:ext>
                </a:extLst>
              </a:tr>
              <a:tr h="578969"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RP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s-PE" sz="3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58797932"/>
                  </a:ext>
                </a:extLst>
              </a:tr>
              <a:tr h="578969"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s-PE" sz="3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3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730778607"/>
                  </a:ext>
                </a:extLst>
              </a:tr>
              <a:tr h="578969">
                <a:tc>
                  <a:txBody>
                    <a:bodyPr/>
                    <a:lstStyle/>
                    <a:p>
                      <a:pPr algn="ctr"/>
                      <a:r>
                        <a:rPr lang="es-PE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3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199640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21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>
            <a:spLocks noGrp="1"/>
          </p:cNvSpPr>
          <p:nvPr>
            <p:ph type="title" idx="4294967295"/>
          </p:nvPr>
        </p:nvSpPr>
        <p:spPr>
          <a:xfrm>
            <a:off x="1377920" y="671724"/>
            <a:ext cx="748311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 b="1" dirty="0">
                <a:solidFill>
                  <a:srgbClr val="1232D0"/>
                </a:solidFill>
              </a:rPr>
              <a:t>Calculamos con un ejemplo</a:t>
            </a:r>
            <a:endParaRPr b="1" dirty="0">
              <a:solidFill>
                <a:srgbClr val="1232D0"/>
              </a:solidFill>
            </a:endParaRPr>
          </a:p>
        </p:txBody>
      </p:sp>
      <p:graphicFrame>
        <p:nvGraphicFramePr>
          <p:cNvPr id="155" name="Google Shape;155;p8"/>
          <p:cNvGraphicFramePr/>
          <p:nvPr>
            <p:extLst>
              <p:ext uri="{D42A27DB-BD31-4B8C-83A1-F6EECF244321}">
                <p14:modId xmlns:p14="http://schemas.microsoft.com/office/powerpoint/2010/main" val="2608505512"/>
              </p:ext>
            </p:extLst>
          </p:nvPr>
        </p:nvGraphicFramePr>
        <p:xfrm>
          <a:off x="2284815" y="1772816"/>
          <a:ext cx="5669323" cy="26806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187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Eventos</a:t>
                      </a:r>
                      <a:endParaRPr sz="1800" dirty="0"/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16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u="none" strike="noStrike" cap="none"/>
                        <a:t>Tiene </a:t>
                      </a:r>
                      <a:endParaRPr sz="18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NAC</a:t>
                      </a:r>
                      <a:endParaRPr sz="1800"/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PE" sz="2400" b="1" u="none" strike="noStrike" cap="none"/>
                        <a:t>No tiene NAC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1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b="1"/>
                        <a:t>ACV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/>
                        <a:t>20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/>
                        <a:t>80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85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PE" sz="2400" b="1" u="none" strike="noStrike" cap="none"/>
                        <a:t>No </a:t>
                      </a:r>
                      <a:r>
                        <a:rPr lang="es-PE" sz="2400" b="1"/>
                        <a:t>ACV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/>
                        <a:t>2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400" u="none" strike="noStrike" cap="none" dirty="0"/>
                        <a:t>100</a:t>
                      </a: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3" marR="9523" marT="9523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6" name="Google Shape;156;p8"/>
          <p:cNvSpPr txBox="1"/>
          <p:nvPr/>
        </p:nvSpPr>
        <p:spPr>
          <a:xfrm>
            <a:off x="2588173" y="5066055"/>
            <a:ext cx="5480739" cy="133786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PE" sz="1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 de NAC en stroke = </a:t>
            </a:r>
            <a:r>
              <a:rPr lang="es-PE" sz="17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20/100</a:t>
            </a:r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50000"/>
              </a:lnSpc>
            </a:pPr>
            <a:r>
              <a:rPr lang="es-PE" sz="1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 de NAC en no stroke = </a:t>
            </a:r>
            <a:r>
              <a:rPr lang="es-PE" sz="17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2/102</a:t>
            </a:r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50000"/>
              </a:lnSpc>
            </a:pPr>
            <a:r>
              <a:rPr lang="es-PE" sz="1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</a:t>
            </a:r>
            <a:r>
              <a:rPr lang="es-PE" sz="17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(20/100) / (2/102) = 0.2/0.019 = 10.52</a:t>
            </a:r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 idx="4294967295"/>
          </p:nvPr>
        </p:nvSpPr>
        <p:spPr>
          <a:xfrm>
            <a:off x="1125860" y="548680"/>
            <a:ext cx="748311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 b="1">
                <a:solidFill>
                  <a:srgbClr val="1232D0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Interpretación</a:t>
            </a:r>
            <a:endParaRPr b="1">
              <a:solidFill>
                <a:srgbClr val="1232D0"/>
              </a:solidFill>
            </a:endParaRPr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605" y="1397106"/>
            <a:ext cx="11779362" cy="5519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f921df8cc_1_1"/>
          <p:cNvSpPr txBox="1">
            <a:spLocks noGrp="1"/>
          </p:cNvSpPr>
          <p:nvPr>
            <p:ph type="title" idx="4294967295"/>
          </p:nvPr>
        </p:nvSpPr>
        <p:spPr>
          <a:xfrm>
            <a:off x="1197868" y="709823"/>
            <a:ext cx="7483114" cy="422165"/>
          </a:xfrm>
          <a:prstGeom prst="rect">
            <a:avLst/>
          </a:prstGeom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s-PE" b="1" dirty="0">
                <a:solidFill>
                  <a:srgbClr val="1232D0"/>
                </a:solidFill>
              </a:rPr>
              <a:t>Interpretación</a:t>
            </a:r>
            <a:endParaRPr b="1" dirty="0">
              <a:solidFill>
                <a:srgbClr val="1232D0"/>
              </a:solidFill>
            </a:endParaRPr>
          </a:p>
        </p:txBody>
      </p:sp>
      <p:pic>
        <p:nvPicPr>
          <p:cNvPr id="175" name="Google Shape;175;g2bf921df8cc_1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468" y="1397106"/>
            <a:ext cx="11779362" cy="55195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bf921df8cc_1_1"/>
          <p:cNvSpPr txBox="1"/>
          <p:nvPr/>
        </p:nvSpPr>
        <p:spPr>
          <a:xfrm>
            <a:off x="1608355" y="2229837"/>
            <a:ext cx="1897006" cy="400096"/>
          </a:xfrm>
          <a:prstGeom prst="rect">
            <a:avLst/>
          </a:prstGeom>
          <a:solidFill>
            <a:schemeClr val="lt1"/>
          </a:solidFill>
          <a:ln w="381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hospitalizados,</a:t>
            </a:r>
            <a:endParaRPr sz="600"/>
          </a:p>
        </p:txBody>
      </p:sp>
      <p:sp>
        <p:nvSpPr>
          <p:cNvPr id="177" name="Google Shape;177;g2bf921df8cc_1_1"/>
          <p:cNvSpPr txBox="1"/>
          <p:nvPr/>
        </p:nvSpPr>
        <p:spPr>
          <a:xfrm>
            <a:off x="4664558" y="2229837"/>
            <a:ext cx="1412632" cy="400096"/>
          </a:xfrm>
          <a:prstGeom prst="rect">
            <a:avLst/>
          </a:prstGeom>
          <a:solidFill>
            <a:schemeClr val="lt1"/>
          </a:solidFill>
          <a:ln w="381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el riesgo</a:t>
            </a:r>
            <a:endParaRPr sz="600"/>
          </a:p>
        </p:txBody>
      </p:sp>
      <p:sp>
        <p:nvSpPr>
          <p:cNvPr id="178" name="Google Shape;178;g2bf921df8cc_1_1"/>
          <p:cNvSpPr txBox="1"/>
          <p:nvPr/>
        </p:nvSpPr>
        <p:spPr>
          <a:xfrm>
            <a:off x="7606293" y="2075977"/>
            <a:ext cx="1672664" cy="707816"/>
          </a:xfrm>
          <a:prstGeom prst="rect">
            <a:avLst/>
          </a:prstGeom>
          <a:solidFill>
            <a:schemeClr val="lt1"/>
          </a:solidFill>
          <a:ln w="381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de desarrollar </a:t>
            </a:r>
            <a:endParaRPr sz="1999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NAC</a:t>
            </a:r>
            <a:endParaRPr sz="600"/>
          </a:p>
        </p:txBody>
      </p:sp>
      <p:sp>
        <p:nvSpPr>
          <p:cNvPr id="179" name="Google Shape;179;g2bf921df8cc_1_1"/>
          <p:cNvSpPr txBox="1"/>
          <p:nvPr/>
        </p:nvSpPr>
        <p:spPr>
          <a:xfrm>
            <a:off x="2814666" y="3736195"/>
            <a:ext cx="2051766" cy="707816"/>
          </a:xfrm>
          <a:prstGeom prst="rect">
            <a:avLst/>
          </a:prstGeom>
          <a:solidFill>
            <a:schemeClr val="lt1"/>
          </a:solidFill>
          <a:ln w="381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con historia de</a:t>
            </a:r>
            <a:endParaRPr sz="1999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 ACV</a:t>
            </a:r>
            <a:endParaRPr sz="1999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2bf921df8cc_1_1"/>
          <p:cNvSpPr txBox="1"/>
          <p:nvPr/>
        </p:nvSpPr>
        <p:spPr>
          <a:xfrm>
            <a:off x="6256095" y="3736195"/>
            <a:ext cx="1631275" cy="707816"/>
          </a:xfrm>
          <a:prstGeom prst="rect">
            <a:avLst/>
          </a:prstGeom>
          <a:solidFill>
            <a:schemeClr val="lt1"/>
          </a:solidFill>
          <a:ln w="381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10.52 veces</a:t>
            </a:r>
            <a:endParaRPr sz="1999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 mayor</a:t>
            </a:r>
            <a:endParaRPr sz="600"/>
          </a:p>
        </p:txBody>
      </p:sp>
      <p:sp>
        <p:nvSpPr>
          <p:cNvPr id="181" name="Google Shape;181;g2bf921df8cc_1_1"/>
          <p:cNvSpPr txBox="1"/>
          <p:nvPr/>
        </p:nvSpPr>
        <p:spPr>
          <a:xfrm>
            <a:off x="1046627" y="5550272"/>
            <a:ext cx="2283605" cy="400096"/>
          </a:xfrm>
          <a:prstGeom prst="rect">
            <a:avLst/>
          </a:prstGeom>
          <a:solidFill>
            <a:schemeClr val="lt1"/>
          </a:solidFill>
          <a:ln w="381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sin historia de ACV.</a:t>
            </a:r>
            <a:endParaRPr sz="1999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2bf921df8cc_1_1"/>
          <p:cNvSpPr txBox="1"/>
          <p:nvPr/>
        </p:nvSpPr>
        <p:spPr>
          <a:xfrm>
            <a:off x="6053423" y="5550272"/>
            <a:ext cx="4318575" cy="400096"/>
          </a:xfrm>
          <a:prstGeom prst="rect">
            <a:avLst/>
          </a:prstGeom>
          <a:solidFill>
            <a:schemeClr val="lt1"/>
          </a:solidFill>
          <a:ln w="381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999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fue estadísticamente significativo.</a:t>
            </a:r>
            <a:endParaRPr sz="600"/>
          </a:p>
        </p:txBody>
      </p:sp>
      <p:pic>
        <p:nvPicPr>
          <p:cNvPr id="183" name="Google Shape;183;g2bf921df8cc_1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20828" y="5038904"/>
            <a:ext cx="1131681" cy="11372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bf921df8cc_1_1"/>
          <p:cNvSpPr txBox="1"/>
          <p:nvPr/>
        </p:nvSpPr>
        <p:spPr>
          <a:xfrm>
            <a:off x="8938721" y="4537061"/>
            <a:ext cx="3059803" cy="584848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pPr algn="ctr"/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¿Cómo sé que es estadísticamente significativo?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body" idx="4294967295"/>
          </p:nvPr>
        </p:nvSpPr>
        <p:spPr>
          <a:xfrm>
            <a:off x="1701923" y="1826042"/>
            <a:ext cx="8810937" cy="435020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SzPts val="4400"/>
              <a:buNone/>
            </a:pPr>
            <a:r>
              <a:rPr lang="es-PE" sz="4399" dirty="0"/>
              <a:t>El OR </a:t>
            </a:r>
            <a:r>
              <a:rPr lang="es-PE" sz="4399" b="1" u="sng" dirty="0"/>
              <a:t>sobreestima </a:t>
            </a:r>
            <a:r>
              <a:rPr lang="es-PE" sz="4399" dirty="0"/>
              <a:t>la fuerza de asociación del RR o RP cuando la prevalencia o incidencia de los eventos es &gt;10%.</a:t>
            </a:r>
            <a:endParaRPr dirty="0"/>
          </a:p>
        </p:txBody>
      </p:sp>
      <p:sp>
        <p:nvSpPr>
          <p:cNvPr id="210" name="Google Shape;210;p12"/>
          <p:cNvSpPr txBox="1">
            <a:spLocks noGrp="1"/>
          </p:cNvSpPr>
          <p:nvPr>
            <p:ph type="title" idx="4294967295"/>
          </p:nvPr>
        </p:nvSpPr>
        <p:spPr>
          <a:xfrm>
            <a:off x="1341884" y="764704"/>
            <a:ext cx="748311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 b="1" dirty="0">
                <a:solidFill>
                  <a:srgbClr val="1232D0"/>
                </a:solidFill>
              </a:rPr>
              <a:t>Tenemos que considerar que…</a:t>
            </a:r>
            <a:endParaRPr b="1" dirty="0">
              <a:solidFill>
                <a:srgbClr val="1232D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5740971" y="1518533"/>
            <a:ext cx="45707" cy="453395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62E5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 rot="10800000">
            <a:off x="2205980" y="5589240"/>
            <a:ext cx="7964830" cy="4570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62E5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5518852" y="810830"/>
            <a:ext cx="444236" cy="7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39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6188394" y="4910159"/>
            <a:ext cx="2147472" cy="5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2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 = 1.20</a:t>
            </a:r>
            <a:endParaRPr sz="2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852872" y="5503928"/>
            <a:ext cx="198672" cy="21633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3028027" y="4910159"/>
            <a:ext cx="2147472" cy="5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2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 = 0.70</a:t>
            </a:r>
            <a:endParaRPr sz="2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3882041" y="5503928"/>
            <a:ext cx="198672" cy="21633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119" y="2834651"/>
            <a:ext cx="1749196" cy="110169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3"/>
          <p:cNvSpPr txBox="1"/>
          <p:nvPr/>
        </p:nvSpPr>
        <p:spPr>
          <a:xfrm>
            <a:off x="8992729" y="2311568"/>
            <a:ext cx="2147472" cy="5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2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= 1.35</a:t>
            </a:r>
            <a:endParaRPr sz="2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367769" y="2834651"/>
            <a:ext cx="1920228" cy="110169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/>
          <p:cNvSpPr txBox="1"/>
          <p:nvPr/>
        </p:nvSpPr>
        <p:spPr>
          <a:xfrm>
            <a:off x="1293277" y="2311568"/>
            <a:ext cx="2147472" cy="5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279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= 0.55</a:t>
            </a:r>
            <a:endParaRPr sz="2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 rot="-8137779">
            <a:off x="2662529" y="4279381"/>
            <a:ext cx="1029700" cy="19867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 rot="-2245495">
            <a:off x="7447558" y="4190689"/>
            <a:ext cx="1029700" cy="19867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>
            <a:spLocks noGrp="1"/>
          </p:cNvSpPr>
          <p:nvPr>
            <p:ph type="title" idx="4294967295"/>
          </p:nvPr>
        </p:nvSpPr>
        <p:spPr>
          <a:xfrm>
            <a:off x="1305649" y="620688"/>
            <a:ext cx="8141754" cy="4221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01" tIns="45688" rIns="91401" bIns="45688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PE" sz="1999" b="1" dirty="0">
                <a:solidFill>
                  <a:srgbClr val="1232D0"/>
                </a:solidFill>
              </a:rPr>
              <a:t>Comparemos el RR y el OR para distintas prevalencias</a:t>
            </a:r>
            <a:endParaRPr sz="1999" b="1" dirty="0">
              <a:solidFill>
                <a:srgbClr val="1232D0"/>
              </a:solidFill>
            </a:endParaRPr>
          </a:p>
        </p:txBody>
      </p:sp>
      <p:pic>
        <p:nvPicPr>
          <p:cNvPr id="235" name="Google Shape;23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5649" y="1490848"/>
            <a:ext cx="7982550" cy="49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4"/>
          <p:cNvSpPr txBox="1"/>
          <p:nvPr/>
        </p:nvSpPr>
        <p:spPr>
          <a:xfrm>
            <a:off x="7670527" y="6573095"/>
            <a:ext cx="6092933" cy="27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spAutoFit/>
          </a:bodyPr>
          <a:lstStyle/>
          <a:p>
            <a:r>
              <a:rPr lang="es-PE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https://www.bmj.com/content/348/bmj.f7450</a:t>
            </a:r>
            <a:r>
              <a:rPr lang="es-P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99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racias | El hexágono de Guadalajara">
            <a:extLst>
              <a:ext uri="{FF2B5EF4-FFF2-40B4-BE49-F238E27FC236}">
                <a16:creationId xmlns:a16="http://schemas.microsoft.com/office/drawing/2014/main" id="{55369AE0-7ECA-41EB-8938-87CEC90AA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892" y="1628800"/>
            <a:ext cx="8758709" cy="383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74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emáticas 16 X 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86_TF02787947.potx" id="{47904E6C-F941-4E76-BCE5-98990F587331}" vid="{E19800A4-2B41-4D60-89B5-7A2C3CED113C}"/>
    </a:ext>
  </a:extLst>
</a:theme>
</file>

<file path=ppt/theme/theme2.xml><?xml version="1.0" encoding="utf-8"?>
<a:theme xmlns:a="http://schemas.openxmlformats.org/drawingml/2006/main" name="Tema de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sobre matemáticas para el ámbito educativo con Pi (panorámica)</Template>
  <TotalTime>94</TotalTime>
  <Words>714</Words>
  <Application>Microsoft Office PowerPoint</Application>
  <PresentationFormat>Personalizado</PresentationFormat>
  <Paragraphs>156</Paragraphs>
  <Slides>22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Century Gothic</vt:lpstr>
      <vt:lpstr>Euphemia</vt:lpstr>
      <vt:lpstr>Wingdings</vt:lpstr>
      <vt:lpstr>Matemáticas 16 X 9</vt:lpstr>
      <vt:lpstr>Medidas de asociación</vt:lpstr>
      <vt:lpstr>Presentación de PowerPoint</vt:lpstr>
      <vt:lpstr>Medidas de efecto</vt:lpstr>
      <vt:lpstr>Medidas en Epidemiología</vt:lpstr>
      <vt:lpstr>Presentación de PowerPoint</vt:lpstr>
      <vt:lpstr>Odds Ratio</vt:lpstr>
      <vt:lpstr>Calculamos con un ejemplo</vt:lpstr>
      <vt:lpstr>Interpretación</vt:lpstr>
      <vt:lpstr>Interpretación</vt:lpstr>
      <vt:lpstr>Recordemos el concepto de Inferencia (IC95%)</vt:lpstr>
      <vt:lpstr>¿Estadísticamente significativo?</vt:lpstr>
      <vt:lpstr>Interpretación</vt:lpstr>
      <vt:lpstr>Razón de prevalencias (RP) y Riesgo Relativo (RR)</vt:lpstr>
      <vt:lpstr>¿Cuándo utilizar RR y RP?</vt:lpstr>
      <vt:lpstr>¿Cuándo calcular un RP y cuando un RR?</vt:lpstr>
      <vt:lpstr>Calculamos con un ejemplo</vt:lpstr>
      <vt:lpstr>Interpretación</vt:lpstr>
      <vt:lpstr>Interpretación</vt:lpstr>
      <vt:lpstr>Tenemos que considerar que…</vt:lpstr>
      <vt:lpstr>Presentación de PowerPoint</vt:lpstr>
      <vt:lpstr>Comparemos el RR y el OR para distintas prevalencias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los Diseños de Estudios Epidemiológicos</dc:title>
  <dc:creator>Daniel Fernandez G</dc:creator>
  <cp:lastModifiedBy>Daniel Fernandez G</cp:lastModifiedBy>
  <cp:revision>15</cp:revision>
  <dcterms:created xsi:type="dcterms:W3CDTF">2024-05-02T21:22:54Z</dcterms:created>
  <dcterms:modified xsi:type="dcterms:W3CDTF">2024-06-03T16:18:41Z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