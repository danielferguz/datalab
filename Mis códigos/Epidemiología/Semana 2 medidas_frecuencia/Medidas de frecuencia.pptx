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handoutMasterIdLst>
    <p:handoutMasterId r:id="rId39"/>
  </p:handoutMasterIdLst>
  <p:sldIdLst>
    <p:sldId id="256" r:id="rId2"/>
    <p:sldId id="273" r:id="rId3"/>
    <p:sldId id="267" r:id="rId4"/>
    <p:sldId id="274" r:id="rId5"/>
    <p:sldId id="275" r:id="rId6"/>
    <p:sldId id="258" r:id="rId7"/>
    <p:sldId id="276" r:id="rId8"/>
    <p:sldId id="2340" r:id="rId9"/>
    <p:sldId id="2341" r:id="rId10"/>
    <p:sldId id="2342" r:id="rId11"/>
    <p:sldId id="2343" r:id="rId12"/>
    <p:sldId id="2352" r:id="rId13"/>
    <p:sldId id="278" r:id="rId14"/>
    <p:sldId id="279" r:id="rId15"/>
    <p:sldId id="280" r:id="rId16"/>
    <p:sldId id="2344" r:id="rId17"/>
    <p:sldId id="2356" r:id="rId18"/>
    <p:sldId id="2345" r:id="rId19"/>
    <p:sldId id="2346" r:id="rId20"/>
    <p:sldId id="2348" r:id="rId21"/>
    <p:sldId id="2349" r:id="rId22"/>
    <p:sldId id="2350" r:id="rId23"/>
    <p:sldId id="2351" r:id="rId24"/>
    <p:sldId id="2362" r:id="rId25"/>
    <p:sldId id="2363" r:id="rId26"/>
    <p:sldId id="2358" r:id="rId27"/>
    <p:sldId id="2357" r:id="rId28"/>
    <p:sldId id="2359" r:id="rId29"/>
    <p:sldId id="2360" r:id="rId30"/>
    <p:sldId id="2361" r:id="rId31"/>
    <p:sldId id="283" r:id="rId32"/>
    <p:sldId id="284" r:id="rId33"/>
    <p:sldId id="2353" r:id="rId34"/>
    <p:sldId id="2354" r:id="rId35"/>
    <p:sldId id="2355" r:id="rId36"/>
    <p:sldId id="287" r:id="rId37"/>
  </p:sldIdLst>
  <p:sldSz cx="12188825"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32D0"/>
    <a:srgbClr val="596671"/>
    <a:srgbClr val="5C6B77"/>
    <a:srgbClr val="465562"/>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4" autoAdjust="0"/>
    <p:restoredTop sz="95165" autoAdjust="0"/>
  </p:normalViewPr>
  <p:slideViewPr>
    <p:cSldViewPr showGuides="1">
      <p:cViewPr varScale="1">
        <p:scale>
          <a:sx n="85" d="100"/>
          <a:sy n="85" d="100"/>
        </p:scale>
        <p:origin x="590" y="48"/>
      </p:cViewPr>
      <p:guideLst>
        <p:guide orient="horz" pos="2160"/>
        <p:guide pos="3839"/>
        <p:guide pos="1007"/>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howGuides="1">
      <p:cViewPr varScale="1">
        <p:scale>
          <a:sx n="72" d="100"/>
          <a:sy n="72" d="100"/>
        </p:scale>
        <p:origin x="3108"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lang="es-ES" dirty="0"/>
          </a:p>
        </p:txBody>
      </p:sp>
      <p:sp>
        <p:nvSpPr>
          <p:cNvPr id="3" name="Marcador de posición de fech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rtl="0"/>
            <a:fld id="{69BBBD98-8689-4A62-BBFB-92BF328A7966}" type="datetime1">
              <a:rPr lang="es-ES" smtClean="0"/>
              <a:t>28/05/2024</a:t>
            </a:fld>
            <a:endParaRPr lang="es-ES" dirty="0"/>
          </a:p>
        </p:txBody>
      </p:sp>
      <p:sp>
        <p:nvSpPr>
          <p:cNvPr id="4" name="Marcador de posición de pie de pá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posición de número de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04360E59-1627-4404-ACC5-51C744AB0F27}" type="slidenum">
              <a:rPr lang="es-ES" smtClean="0"/>
              <a:t>‹Nº›</a:t>
            </a:fld>
            <a:endParaRPr lang="es-ES" dirty="0"/>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pPr rtl="0"/>
            <a:endParaRPr lang="es-ES" noProof="0" dirty="0"/>
          </a:p>
        </p:txBody>
      </p:sp>
      <p:sp>
        <p:nvSpPr>
          <p:cNvPr id="3" name="Marcador de posición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pPr rtl="0"/>
            <a:fld id="{8E41AB9B-16BF-4ECF-B92C-3E61E5BECA90}" type="datetime1">
              <a:rPr lang="es-ES" noProof="0" smtClean="0"/>
              <a:t>28/05/2024</a:t>
            </a:fld>
            <a:endParaRPr lang="es-ES" noProof="0" dirty="0"/>
          </a:p>
        </p:txBody>
      </p:sp>
      <p:sp>
        <p:nvSpPr>
          <p:cNvPr id="4" name="Marcador de posición de imagen de diapositiva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rtl="0"/>
            <a:endParaRPr lang="es-ES" noProof="0" dirty="0"/>
          </a:p>
        </p:txBody>
      </p:sp>
      <p:sp>
        <p:nvSpPr>
          <p:cNvPr id="5" name="Marcador de posición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osición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pPr rtl="0"/>
            <a:endParaRPr lang="es-ES" noProof="0" dirty="0"/>
          </a:p>
        </p:txBody>
      </p:sp>
      <p:sp>
        <p:nvSpPr>
          <p:cNvPr id="7" name="Marcador de posición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pPr rtl="0"/>
            <a:fld id="{841221E5-7225-48EB-A4EE-420E7BFCF705}" type="slidenum">
              <a:rPr lang="es-ES" noProof="0" smtClean="0"/>
              <a:pPr rtl="0"/>
              <a:t>‹Nº›</a:t>
            </a:fld>
            <a:endParaRPr lang="es-ES" noProof="0" dirty="0"/>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1</a:t>
            </a:fld>
            <a:endParaRPr lang="es-ES" dirty="0"/>
          </a:p>
        </p:txBody>
      </p:sp>
    </p:spTree>
    <p:extLst>
      <p:ext uri="{BB962C8B-B14F-4D97-AF65-F5344CB8AC3E}">
        <p14:creationId xmlns:p14="http://schemas.microsoft.com/office/powerpoint/2010/main" val="400800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3</a:t>
            </a:fld>
            <a:endParaRPr lang="es-ES" dirty="0"/>
          </a:p>
        </p:txBody>
      </p:sp>
    </p:spTree>
    <p:extLst>
      <p:ext uri="{BB962C8B-B14F-4D97-AF65-F5344CB8AC3E}">
        <p14:creationId xmlns:p14="http://schemas.microsoft.com/office/powerpoint/2010/main" val="2083989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4</a:t>
            </a:fld>
            <a:endParaRPr lang="es-ES" dirty="0"/>
          </a:p>
        </p:txBody>
      </p:sp>
    </p:spTree>
    <p:extLst>
      <p:ext uri="{BB962C8B-B14F-4D97-AF65-F5344CB8AC3E}">
        <p14:creationId xmlns:p14="http://schemas.microsoft.com/office/powerpoint/2010/main" val="8112033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5</a:t>
            </a:fld>
            <a:endParaRPr lang="es-ES" dirty="0"/>
          </a:p>
        </p:txBody>
      </p:sp>
    </p:spTree>
    <p:extLst>
      <p:ext uri="{BB962C8B-B14F-4D97-AF65-F5344CB8AC3E}">
        <p14:creationId xmlns:p14="http://schemas.microsoft.com/office/powerpoint/2010/main" val="16748116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6</a:t>
            </a:fld>
            <a:endParaRPr lang="es-ES" dirty="0"/>
          </a:p>
        </p:txBody>
      </p:sp>
    </p:spTree>
    <p:extLst>
      <p:ext uri="{BB962C8B-B14F-4D97-AF65-F5344CB8AC3E}">
        <p14:creationId xmlns:p14="http://schemas.microsoft.com/office/powerpoint/2010/main" val="514684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7</a:t>
            </a:fld>
            <a:endParaRPr lang="es-ES" dirty="0"/>
          </a:p>
        </p:txBody>
      </p:sp>
    </p:spTree>
    <p:extLst>
      <p:ext uri="{BB962C8B-B14F-4D97-AF65-F5344CB8AC3E}">
        <p14:creationId xmlns:p14="http://schemas.microsoft.com/office/powerpoint/2010/main" val="2793117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13</a:t>
            </a:fld>
            <a:endParaRPr lang="es-ES" dirty="0"/>
          </a:p>
        </p:txBody>
      </p:sp>
    </p:spTree>
    <p:extLst>
      <p:ext uri="{BB962C8B-B14F-4D97-AF65-F5344CB8AC3E}">
        <p14:creationId xmlns:p14="http://schemas.microsoft.com/office/powerpoint/2010/main" val="14596148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14</a:t>
            </a:fld>
            <a:endParaRPr lang="es-ES" dirty="0"/>
          </a:p>
        </p:txBody>
      </p:sp>
    </p:spTree>
    <p:extLst>
      <p:ext uri="{BB962C8B-B14F-4D97-AF65-F5344CB8AC3E}">
        <p14:creationId xmlns:p14="http://schemas.microsoft.com/office/powerpoint/2010/main" val="1488440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18</a:t>
            </a:fld>
            <a:endParaRPr lang="es-ES" dirty="0"/>
          </a:p>
        </p:txBody>
      </p:sp>
    </p:spTree>
    <p:extLst>
      <p:ext uri="{BB962C8B-B14F-4D97-AF65-F5344CB8AC3E}">
        <p14:creationId xmlns:p14="http://schemas.microsoft.com/office/powerpoint/2010/main" val="27911593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19</a:t>
            </a:fld>
            <a:endParaRPr lang="es-ES" dirty="0"/>
          </a:p>
        </p:txBody>
      </p:sp>
    </p:spTree>
    <p:extLst>
      <p:ext uri="{BB962C8B-B14F-4D97-AF65-F5344CB8AC3E}">
        <p14:creationId xmlns:p14="http://schemas.microsoft.com/office/powerpoint/2010/main" val="1978886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26</a:t>
            </a:fld>
            <a:endParaRPr lang="es-ES" dirty="0"/>
          </a:p>
        </p:txBody>
      </p:sp>
    </p:spTree>
    <p:extLst>
      <p:ext uri="{BB962C8B-B14F-4D97-AF65-F5344CB8AC3E}">
        <p14:creationId xmlns:p14="http://schemas.microsoft.com/office/powerpoint/2010/main" val="10290359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31</a:t>
            </a:fld>
            <a:endParaRPr lang="es-ES" dirty="0"/>
          </a:p>
        </p:txBody>
      </p:sp>
    </p:spTree>
    <p:extLst>
      <p:ext uri="{BB962C8B-B14F-4D97-AF65-F5344CB8AC3E}">
        <p14:creationId xmlns:p14="http://schemas.microsoft.com/office/powerpoint/2010/main" val="6182792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32</a:t>
            </a:fld>
            <a:endParaRPr lang="es-ES" dirty="0"/>
          </a:p>
        </p:txBody>
      </p:sp>
    </p:spTree>
    <p:extLst>
      <p:ext uri="{BB962C8B-B14F-4D97-AF65-F5344CB8AC3E}">
        <p14:creationId xmlns:p14="http://schemas.microsoft.com/office/powerpoint/2010/main" val="16845664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841221E5-7225-48EB-A4EE-420E7BFCF705}" type="slidenum">
              <a:rPr lang="es-ES" smtClean="0"/>
              <a:pPr rtl="0"/>
              <a:t>33</a:t>
            </a:fld>
            <a:endParaRPr lang="es-ES" dirty="0"/>
          </a:p>
        </p:txBody>
      </p:sp>
    </p:spTree>
    <p:extLst>
      <p:ext uri="{BB962C8B-B14F-4D97-AF65-F5344CB8AC3E}">
        <p14:creationId xmlns:p14="http://schemas.microsoft.com/office/powerpoint/2010/main" val="2009864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8" name="Rectángulo 7"/>
          <p:cNvSpPr/>
          <p:nvPr/>
        </p:nvSpPr>
        <p:spPr bwMode="ltGray">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9" name="Rectángulo 8"/>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10" name="Rectángulo 9"/>
          <p:cNvSpPr/>
          <p:nvPr/>
        </p:nvSpPr>
        <p:spPr bwMode="ltGray">
          <a:xfrm>
            <a:off x="121888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11" name="Rectángulo 10"/>
          <p:cNvSpPr/>
          <p:nvPr/>
        </p:nvSpPr>
        <p:spPr bwMode="gray">
          <a:xfrm>
            <a:off x="0" y="0"/>
            <a:ext cx="1218883"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12" name="Rectángulo 11"/>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cxnSp>
        <p:nvCxnSpPr>
          <p:cNvPr id="13" name="Conector recto 12"/>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Rectángulo 13"/>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cxnSp>
        <p:nvCxnSpPr>
          <p:cNvPr id="15" name="Conector recto 14"/>
          <p:cNvCxnSpPr/>
          <p:nvPr/>
        </p:nvCxnSpPr>
        <p:spPr bwMode="white">
          <a:xfrm>
            <a:off x="1218884"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Conector recto 15"/>
          <p:cNvCxnSpPr/>
          <p:nvPr/>
        </p:nvCxnSpPr>
        <p:spPr bwMode="white">
          <a:xfrm>
            <a:off x="0" y="5631204"/>
            <a:ext cx="182832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p:spPr>
        <p:txBody>
          <a:bodyPr vert="horz" wrap="square" lIns="121899" tIns="60949" rIns="121899" bIns="60949" numCol="1" rtlCol="0" anchor="t" anchorCtr="0" compatLnSpc="1">
            <a:prstTxWarp prst="textNoShape">
              <a:avLst/>
            </a:prstTxWarp>
          </a:bodyPr>
          <a:lstStyle/>
          <a:p>
            <a:pPr rtl="0"/>
            <a:endParaRPr lang="es-ES" noProof="0" dirty="0"/>
          </a:p>
        </p:txBody>
      </p:sp>
      <p:sp>
        <p:nvSpPr>
          <p:cNvPr id="2" name="Título 1"/>
          <p:cNvSpPr>
            <a:spLocks noGrp="1"/>
          </p:cNvSpPr>
          <p:nvPr>
            <p:ph type="ctrTitle"/>
          </p:nvPr>
        </p:nvSpPr>
        <p:spPr>
          <a:xfrm>
            <a:off x="2428669" y="1600200"/>
            <a:ext cx="8329031" cy="2680127"/>
          </a:xfrm>
        </p:spPr>
        <p:txBody>
          <a:bodyPr rtlCol="0">
            <a:noAutofit/>
          </a:bodyPr>
          <a:lstStyle>
            <a:lvl1pPr>
              <a:defRPr sz="5400"/>
            </a:lvl1pPr>
          </a:lstStyle>
          <a:p>
            <a:pPr rtl="0"/>
            <a:r>
              <a:rPr lang="es-ES" noProof="0"/>
              <a:t>Haga clic para modificar el estilo de título del patrón</a:t>
            </a:r>
            <a:endParaRPr lang="es-ES" noProof="0" dirty="0"/>
          </a:p>
        </p:txBody>
      </p:sp>
      <p:sp>
        <p:nvSpPr>
          <p:cNvPr id="3" name="Subtítulo 2"/>
          <p:cNvSpPr>
            <a:spLocks noGrp="1"/>
          </p:cNvSpPr>
          <p:nvPr>
            <p:ph type="subTitle" idx="1"/>
          </p:nvPr>
        </p:nvSpPr>
        <p:spPr>
          <a:xfrm>
            <a:off x="2428669" y="4344915"/>
            <a:ext cx="7516442" cy="1116085"/>
          </a:xfrm>
        </p:spPr>
        <p:txBody>
          <a:bodyPr rtlCol="0">
            <a:normAutofit/>
          </a:bodyPr>
          <a:lstStyle>
            <a:lvl1pPr marL="0" indent="0" algn="l">
              <a:spcBef>
                <a:spcPts val="0"/>
              </a:spcBef>
              <a:buNone/>
              <a:defRPr sz="3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s-ES" noProof="0"/>
              <a:t>Haga clic para modificar el estilo de subtítulo del patrón</a:t>
            </a:r>
            <a:endParaRPr lang="es-ES" noProof="0" dirty="0"/>
          </a:p>
        </p:txBody>
      </p:sp>
      <p:sp>
        <p:nvSpPr>
          <p:cNvPr id="4" name="Marcador de posición de fecha 3"/>
          <p:cNvSpPr>
            <a:spLocks noGrp="1"/>
          </p:cNvSpPr>
          <p:nvPr>
            <p:ph type="dt" sz="half" idx="10"/>
          </p:nvPr>
        </p:nvSpPr>
        <p:spPr/>
        <p:txBody>
          <a:bodyPr rtlCol="0"/>
          <a:lstStyle>
            <a:lvl1pPr>
              <a:defRPr baseline="0">
                <a:solidFill>
                  <a:schemeClr val="tx2"/>
                </a:solidFill>
              </a:defRPr>
            </a:lvl1pPr>
          </a:lstStyle>
          <a:p>
            <a:pPr rtl="0"/>
            <a:fld id="{466E6084-0988-49B4-BD4E-1264194D9864}" type="datetime1">
              <a:rPr lang="es-ES" noProof="0" smtClean="0"/>
              <a:t>28/05/2024</a:t>
            </a:fld>
            <a:endParaRPr lang="es-ES" noProof="0" dirty="0"/>
          </a:p>
        </p:txBody>
      </p:sp>
      <p:sp>
        <p:nvSpPr>
          <p:cNvPr id="5" name="Marcador de posición de pie de página 4"/>
          <p:cNvSpPr>
            <a:spLocks noGrp="1"/>
          </p:cNvSpPr>
          <p:nvPr>
            <p:ph type="ftr" sz="quarter" idx="11"/>
          </p:nvPr>
        </p:nvSpPr>
        <p:spPr/>
        <p:txBody>
          <a:bodyPr rtlCol="0"/>
          <a:lstStyle>
            <a:lvl1pPr>
              <a:defRPr baseline="0">
                <a:solidFill>
                  <a:schemeClr val="tx2"/>
                </a:solidFill>
              </a:defRPr>
            </a:lvl1pPr>
          </a:lstStyle>
          <a:p>
            <a:pPr rtl="0"/>
            <a:r>
              <a:rPr lang="es-ES" noProof="0" dirty="0"/>
              <a:t>Agregar un pie de página</a:t>
            </a:r>
          </a:p>
        </p:txBody>
      </p:sp>
      <p:sp>
        <p:nvSpPr>
          <p:cNvPr id="6" name="Marcador de posición de número de diapositiva 5"/>
          <p:cNvSpPr>
            <a:spLocks noGrp="1"/>
          </p:cNvSpPr>
          <p:nvPr>
            <p:ph type="sldNum" sz="quarter" idx="12"/>
          </p:nvPr>
        </p:nvSpPr>
        <p:spPr>
          <a:xfrm>
            <a:off x="10666412" y="6356351"/>
            <a:ext cx="609441" cy="365125"/>
          </a:xfrm>
        </p:spPr>
        <p:txBody>
          <a:bodyPr rtlCol="0"/>
          <a:lstStyle>
            <a:lvl1pPr>
              <a:defRPr baseline="0">
                <a:solidFill>
                  <a:schemeClr val="tx2"/>
                </a:solidFill>
              </a:defRPr>
            </a:lvl1pPr>
          </a:lstStyle>
          <a:p>
            <a:pPr rtl="0"/>
            <a:fld id="{7DC1BBB0-96F0-4077-A278-0F3FB5C104D3}" type="slidenum">
              <a:rPr lang="es-ES" noProof="0" smtClean="0"/>
              <a:pPr rtl="0"/>
              <a:t>‹Nº›</a:t>
            </a:fld>
            <a:endParaRPr lang="es-ES" noProof="0" dirty="0"/>
          </a:p>
        </p:txBody>
      </p:sp>
    </p:spTree>
    <p:extLst>
      <p:ext uri="{BB962C8B-B14F-4D97-AF65-F5344CB8AC3E}">
        <p14:creationId xmlns:p14="http://schemas.microsoft.com/office/powerpoint/2010/main" val="381795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contenido 2"/>
          <p:cNvSpPr>
            <a:spLocks noGrp="1"/>
          </p:cNvSpPr>
          <p:nvPr>
            <p:ph idx="1"/>
          </p:nvPr>
        </p:nvSpPr>
        <p:spPr/>
        <p:txBody>
          <a:bodyPr rtlCol="0"/>
          <a:lstStyle>
            <a:lvl5pPr>
              <a:defRPr/>
            </a:lvl5pPr>
            <a:lvl6pPr>
              <a:defRPr/>
            </a:lvl6pPr>
            <a:lvl7pPr>
              <a:defRPr/>
            </a:lvl7pPr>
            <a:lvl8pPr>
              <a:defRPr/>
            </a:lvl8pPr>
            <a:lvl9pPr>
              <a:defRPr/>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fecha 3"/>
          <p:cNvSpPr>
            <a:spLocks noGrp="1"/>
          </p:cNvSpPr>
          <p:nvPr>
            <p:ph type="dt" sz="half" idx="10"/>
          </p:nvPr>
        </p:nvSpPr>
        <p:spPr/>
        <p:txBody>
          <a:bodyPr rtlCol="0"/>
          <a:lstStyle/>
          <a:p>
            <a:pPr rtl="0"/>
            <a:fld id="{8B94D32F-F0D9-47B3-AAC6-D43DC057831A}" type="datetime1">
              <a:rPr lang="es-ES" noProof="0" smtClean="0"/>
              <a:t>28/05/2024</a:t>
            </a:fld>
            <a:endParaRPr lang="es-ES" noProof="0" dirty="0"/>
          </a:p>
        </p:txBody>
      </p:sp>
      <p:sp>
        <p:nvSpPr>
          <p:cNvPr id="5" name="Marcador de posición de pie de página 4"/>
          <p:cNvSpPr>
            <a:spLocks noGrp="1"/>
          </p:cNvSpPr>
          <p:nvPr>
            <p:ph type="ftr" sz="quarter" idx="11"/>
          </p:nvPr>
        </p:nvSpPr>
        <p:spPr/>
        <p:txBody>
          <a:bodyPr rtlCol="0"/>
          <a:lstStyle/>
          <a:p>
            <a:pPr rtl="0"/>
            <a:r>
              <a:rPr lang="es-ES" noProof="0" dirty="0"/>
              <a:t>Agregar un pie de página</a:t>
            </a:r>
          </a:p>
        </p:txBody>
      </p:sp>
      <p:sp>
        <p:nvSpPr>
          <p:cNvPr id="6" name="Marcador de posición de número de diapositiva 5"/>
          <p:cNvSpPr>
            <a:spLocks noGrp="1"/>
          </p:cNvSpPr>
          <p:nvPr>
            <p:ph type="sldNum" sz="quarter" idx="12"/>
          </p:nvPr>
        </p:nvSpPr>
        <p:spPr/>
        <p:txBody>
          <a:bodyPr rtlCol="0"/>
          <a:lstStyle/>
          <a:p>
            <a:pPr rtl="0"/>
            <a:fld id="{7DC1BBB0-96F0-4077-A278-0F3FB5C104D3}" type="slidenum">
              <a:rPr lang="es-ES" noProof="0"/>
              <a:t>‹Nº›</a:t>
            </a:fld>
            <a:endParaRPr lang="es-ES" noProof="0" dirty="0"/>
          </a:p>
        </p:txBody>
      </p:sp>
    </p:spTree>
    <p:extLst>
      <p:ext uri="{BB962C8B-B14F-4D97-AF65-F5344CB8AC3E}">
        <p14:creationId xmlns:p14="http://schemas.microsoft.com/office/powerpoint/2010/main" val="218553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19" name="Rectángulo 18"/>
          <p:cNvSpPr/>
          <p:nvPr/>
        </p:nvSpPr>
        <p:spPr bwMode="black">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20" name="Rectángulo 19"/>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24" name="Rectángulo 23"/>
          <p:cNvSpPr/>
          <p:nvPr/>
        </p:nvSpPr>
        <p:spPr bwMode="gray">
          <a:xfrm>
            <a:off x="1216152"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21" name="Rectángulo 20"/>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cxnSp>
        <p:nvCxnSpPr>
          <p:cNvPr id="22" name="Conector recto 21"/>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ángulo 15"/>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18"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p:spPr>
        <p:txBody>
          <a:bodyPr vert="horz" wrap="square" lIns="121899" tIns="60949" rIns="121899" bIns="60949" numCol="1" rtlCol="0" anchor="t" anchorCtr="0" compatLnSpc="1">
            <a:prstTxWarp prst="textNoShape">
              <a:avLst/>
            </a:prstTxWarp>
          </a:bodyPr>
          <a:lstStyle/>
          <a:p>
            <a:pPr rtl="0"/>
            <a:endParaRPr lang="es-ES" noProof="0" dirty="0"/>
          </a:p>
        </p:txBody>
      </p:sp>
      <p:cxnSp>
        <p:nvCxnSpPr>
          <p:cNvPr id="23" name="Conector recto 22"/>
          <p:cNvCxnSpPr/>
          <p:nvPr/>
        </p:nvCxnSpPr>
        <p:spPr bwMode="white">
          <a:xfrm>
            <a:off x="1216152"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Rectángulo 25"/>
          <p:cNvSpPr/>
          <p:nvPr/>
        </p:nvSpPr>
        <p:spPr bwMode="black">
          <a:xfrm>
            <a:off x="11579384"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27" name="Rectángulo 26"/>
          <p:cNvSpPr/>
          <p:nvPr/>
        </p:nvSpPr>
        <p:spPr bwMode="gray">
          <a:xfrm>
            <a:off x="11274663" y="0"/>
            <a:ext cx="304721"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28" name="Rectángulo 27"/>
          <p:cNvSpPr/>
          <p:nvPr/>
        </p:nvSpPr>
        <p:spPr bwMode="gray">
          <a:xfrm>
            <a:off x="1218883"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29" name="Rectángulo 28"/>
          <p:cNvSpPr/>
          <p:nvPr/>
        </p:nvSpPr>
        <p:spPr>
          <a:xfrm>
            <a:off x="-2" y="0"/>
            <a:ext cx="1218883"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30" name="Rectángulo 29"/>
          <p:cNvSpPr/>
          <p:nvPr/>
        </p:nvSpPr>
        <p:spPr bwMode="ltGray">
          <a:xfrm>
            <a:off x="0" y="0"/>
            <a:ext cx="12188825" cy="6096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cxnSp>
        <p:nvCxnSpPr>
          <p:cNvPr id="31" name="Conector recto 30"/>
          <p:cNvCxnSpPr/>
          <p:nvPr/>
        </p:nvCxnSpPr>
        <p:spPr bwMode="white">
          <a:xfrm>
            <a:off x="11573293"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Rectángulo 31"/>
          <p:cNvSpPr/>
          <p:nvPr/>
        </p:nvSpPr>
        <p:spPr bwMode="black">
          <a:xfrm>
            <a:off x="0" y="0"/>
            <a:ext cx="1216152"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cxnSp>
        <p:nvCxnSpPr>
          <p:cNvPr id="33" name="Conector recto 32"/>
          <p:cNvCxnSpPr/>
          <p:nvPr/>
        </p:nvCxnSpPr>
        <p:spPr bwMode="white">
          <a:xfrm>
            <a:off x="1218884"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ítulo 1"/>
          <p:cNvSpPr>
            <a:spLocks noGrp="1"/>
          </p:cNvSpPr>
          <p:nvPr>
            <p:ph type="title"/>
          </p:nvPr>
        </p:nvSpPr>
        <p:spPr>
          <a:xfrm>
            <a:off x="1598613" y="1600201"/>
            <a:ext cx="8283272" cy="2654064"/>
          </a:xfrm>
        </p:spPr>
        <p:txBody>
          <a:bodyPr rtlCol="0" anchor="b">
            <a:normAutofit/>
          </a:bodyPr>
          <a:lstStyle>
            <a:lvl1pPr algn="l">
              <a:defRPr sz="5400" b="0" cap="none" baseline="0"/>
            </a:lvl1pPr>
          </a:lstStyle>
          <a:p>
            <a:pPr rtl="0"/>
            <a:r>
              <a:rPr lang="es-ES" noProof="0"/>
              <a:t>Haga clic para modificar el estilo de título del patrón</a:t>
            </a:r>
            <a:endParaRPr lang="es-ES" noProof="0" dirty="0"/>
          </a:p>
        </p:txBody>
      </p:sp>
      <p:sp>
        <p:nvSpPr>
          <p:cNvPr id="3" name="Marcador de posición de texto 2"/>
          <p:cNvSpPr>
            <a:spLocks noGrp="1"/>
          </p:cNvSpPr>
          <p:nvPr>
            <p:ph type="body" idx="1"/>
          </p:nvPr>
        </p:nvSpPr>
        <p:spPr>
          <a:xfrm>
            <a:off x="1598613" y="4259996"/>
            <a:ext cx="7264623" cy="1150203"/>
          </a:xfrm>
        </p:spPr>
        <p:txBody>
          <a:bodyPr rtlCol="0" anchor="t">
            <a:normAutofit/>
          </a:bodyPr>
          <a:lstStyle>
            <a:lvl1pPr marL="0" indent="0">
              <a:spcBef>
                <a:spcPts val="0"/>
              </a:spcBef>
              <a:buNone/>
              <a:defRPr sz="3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sp>
        <p:nvSpPr>
          <p:cNvPr id="4" name="Marcador de posición de fecha 3"/>
          <p:cNvSpPr>
            <a:spLocks noGrp="1"/>
          </p:cNvSpPr>
          <p:nvPr>
            <p:ph type="dt" sz="half" idx="10"/>
          </p:nvPr>
        </p:nvSpPr>
        <p:spPr/>
        <p:txBody>
          <a:bodyPr rtlCol="0"/>
          <a:lstStyle>
            <a:lvl1pPr>
              <a:defRPr baseline="0">
                <a:solidFill>
                  <a:schemeClr val="tx2"/>
                </a:solidFill>
              </a:defRPr>
            </a:lvl1pPr>
          </a:lstStyle>
          <a:p>
            <a:pPr rtl="0"/>
            <a:fld id="{BB07FB1B-461B-4D1D-952B-7FEEFF2CFA29}" type="datetime1">
              <a:rPr lang="es-ES" noProof="0" smtClean="0"/>
              <a:t>28/05/2024</a:t>
            </a:fld>
            <a:endParaRPr lang="es-ES" noProof="0" dirty="0"/>
          </a:p>
        </p:txBody>
      </p:sp>
      <p:sp>
        <p:nvSpPr>
          <p:cNvPr id="5" name="Marcador de posición de pie de página 4"/>
          <p:cNvSpPr>
            <a:spLocks noGrp="1"/>
          </p:cNvSpPr>
          <p:nvPr>
            <p:ph type="ftr" sz="quarter" idx="11"/>
          </p:nvPr>
        </p:nvSpPr>
        <p:spPr/>
        <p:txBody>
          <a:bodyPr rtlCol="0"/>
          <a:lstStyle>
            <a:lvl1pPr>
              <a:defRPr baseline="0">
                <a:solidFill>
                  <a:schemeClr val="tx2"/>
                </a:solidFill>
              </a:defRPr>
            </a:lvl1pPr>
          </a:lstStyle>
          <a:p>
            <a:pPr rtl="0"/>
            <a:r>
              <a:rPr lang="es-ES" noProof="0" dirty="0"/>
              <a:t>Agregar un pie de página</a:t>
            </a:r>
          </a:p>
        </p:txBody>
      </p:sp>
      <p:sp>
        <p:nvSpPr>
          <p:cNvPr id="6" name="Marcador de posición de número de diapositiva 5"/>
          <p:cNvSpPr>
            <a:spLocks noGrp="1"/>
          </p:cNvSpPr>
          <p:nvPr>
            <p:ph type="sldNum" sz="quarter" idx="12"/>
          </p:nvPr>
        </p:nvSpPr>
        <p:spPr>
          <a:xfrm>
            <a:off x="10666571" y="6356351"/>
            <a:ext cx="609441" cy="365125"/>
          </a:xfrm>
        </p:spPr>
        <p:txBody>
          <a:bodyPr rtlCol="0"/>
          <a:lstStyle>
            <a:lvl1pPr>
              <a:defRPr baseline="0">
                <a:solidFill>
                  <a:schemeClr val="tx2"/>
                </a:solidFill>
              </a:defRPr>
            </a:lvl1pPr>
          </a:lstStyle>
          <a:p>
            <a:pPr rtl="0"/>
            <a:fld id="{7DC1BBB0-96F0-4077-A278-0F3FB5C104D3}" type="slidenum">
              <a:rPr lang="es-ES" noProof="0" smtClean="0"/>
              <a:pPr rtl="0"/>
              <a:t>‹Nº›</a:t>
            </a:fld>
            <a:endParaRPr lang="es-ES" noProof="0" dirty="0"/>
          </a:p>
        </p:txBody>
      </p:sp>
    </p:spTree>
    <p:extLst>
      <p:ext uri="{BB962C8B-B14F-4D97-AF65-F5344CB8AC3E}">
        <p14:creationId xmlns:p14="http://schemas.microsoft.com/office/powerpoint/2010/main" val="3234467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contenido 2"/>
          <p:cNvSpPr>
            <a:spLocks noGrp="1"/>
          </p:cNvSpPr>
          <p:nvPr>
            <p:ph sz="half" idx="1"/>
          </p:nvPr>
        </p:nvSpPr>
        <p:spPr>
          <a:xfrm>
            <a:off x="1593436" y="1600200"/>
            <a:ext cx="4814586" cy="4572000"/>
          </a:xfrm>
        </p:spPr>
        <p:txBody>
          <a:bodyPr rtlCol="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contenido 3"/>
          <p:cNvSpPr>
            <a:spLocks noGrp="1"/>
          </p:cNvSpPr>
          <p:nvPr>
            <p:ph sz="half" idx="2"/>
          </p:nvPr>
        </p:nvSpPr>
        <p:spPr>
          <a:xfrm>
            <a:off x="6561651" y="1600200"/>
            <a:ext cx="4814586" cy="4572000"/>
          </a:xfrm>
        </p:spPr>
        <p:txBody>
          <a:bodyPr rtlCol="0"/>
          <a:lstStyle>
            <a:lvl1pPr>
              <a:defRPr sz="2800"/>
            </a:lvl1pPr>
            <a:lvl2pPr>
              <a:defRPr sz="2400"/>
            </a:lvl2pPr>
            <a:lvl3pPr>
              <a:defRPr sz="2000"/>
            </a:lvl3pPr>
            <a:lvl4pPr>
              <a:defRPr sz="1800"/>
            </a:lvl4pPr>
            <a:lvl5pPr>
              <a:defRPr sz="1800"/>
            </a:lvl5pPr>
            <a:lvl6pPr>
              <a:defRPr sz="1800" baseline="0"/>
            </a:lvl6pPr>
            <a:lvl7pPr>
              <a:defRPr sz="1800" baseline="0"/>
            </a:lvl7pPr>
            <a:lvl8pPr>
              <a:defRPr sz="1800" baseline="0"/>
            </a:lvl8pPr>
            <a:lvl9pPr>
              <a:defRPr sz="1800" baseline="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posición de fecha 4"/>
          <p:cNvSpPr>
            <a:spLocks noGrp="1"/>
          </p:cNvSpPr>
          <p:nvPr>
            <p:ph type="dt" sz="half" idx="10"/>
          </p:nvPr>
        </p:nvSpPr>
        <p:spPr/>
        <p:txBody>
          <a:bodyPr rtlCol="0"/>
          <a:lstStyle/>
          <a:p>
            <a:pPr rtl="0"/>
            <a:fld id="{6EC9D876-84BE-45D9-9418-9FF24663C364}" type="datetime1">
              <a:rPr lang="es-ES" noProof="0" smtClean="0"/>
              <a:t>28/05/2024</a:t>
            </a:fld>
            <a:endParaRPr lang="es-ES" noProof="0" dirty="0"/>
          </a:p>
        </p:txBody>
      </p:sp>
      <p:sp>
        <p:nvSpPr>
          <p:cNvPr id="6" name="Marcador de posición de pie de página 5"/>
          <p:cNvSpPr>
            <a:spLocks noGrp="1"/>
          </p:cNvSpPr>
          <p:nvPr>
            <p:ph type="ftr" sz="quarter" idx="11"/>
          </p:nvPr>
        </p:nvSpPr>
        <p:spPr/>
        <p:txBody>
          <a:bodyPr rtlCol="0"/>
          <a:lstStyle/>
          <a:p>
            <a:pPr rtl="0"/>
            <a:r>
              <a:rPr lang="es-ES" noProof="0" dirty="0"/>
              <a:t>Agregar un pie de página</a:t>
            </a:r>
          </a:p>
        </p:txBody>
      </p:sp>
      <p:sp>
        <p:nvSpPr>
          <p:cNvPr id="7" name="Marcador de posición de número de diapositiva 6"/>
          <p:cNvSpPr>
            <a:spLocks noGrp="1"/>
          </p:cNvSpPr>
          <p:nvPr>
            <p:ph type="sldNum" sz="quarter" idx="12"/>
          </p:nvPr>
        </p:nvSpPr>
        <p:spPr/>
        <p:txBody>
          <a:bodyPr rtlCol="0"/>
          <a:lstStyle/>
          <a:p>
            <a:pPr rtl="0"/>
            <a:fld id="{7DC1BBB0-96F0-4077-A278-0F3FB5C104D3}" type="slidenum">
              <a:rPr lang="es-ES" noProof="0"/>
              <a:t>‹Nº›</a:t>
            </a:fld>
            <a:endParaRPr lang="es-ES" noProof="0" dirty="0"/>
          </a:p>
        </p:txBody>
      </p:sp>
    </p:spTree>
    <p:extLst>
      <p:ext uri="{BB962C8B-B14F-4D97-AF65-F5344CB8AC3E}">
        <p14:creationId xmlns:p14="http://schemas.microsoft.com/office/powerpoint/2010/main" val="1239113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a:defRPr/>
            </a:lvl1pPr>
          </a:lstStyle>
          <a:p>
            <a:pPr rtl="0"/>
            <a:r>
              <a:rPr lang="es-ES" noProof="0"/>
              <a:t>Haga clic para modificar el estilo de título del patrón</a:t>
            </a:r>
            <a:endParaRPr lang="es-ES" noProof="0" dirty="0"/>
          </a:p>
        </p:txBody>
      </p:sp>
      <p:sp>
        <p:nvSpPr>
          <p:cNvPr id="3" name="Marcador de posición de texto 2"/>
          <p:cNvSpPr>
            <a:spLocks noGrp="1"/>
          </p:cNvSpPr>
          <p:nvPr>
            <p:ph type="body" idx="1"/>
          </p:nvPr>
        </p:nvSpPr>
        <p:spPr>
          <a:xfrm>
            <a:off x="1593436" y="1499616"/>
            <a:ext cx="4818888" cy="938784"/>
          </a:xfrm>
        </p:spPr>
        <p:txBody>
          <a:bodyPr rtlCol="0"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posición de contenido 3"/>
          <p:cNvSpPr>
            <a:spLocks noGrp="1"/>
          </p:cNvSpPr>
          <p:nvPr>
            <p:ph sz="half" idx="2"/>
          </p:nvPr>
        </p:nvSpPr>
        <p:spPr>
          <a:xfrm>
            <a:off x="1593436" y="2514706"/>
            <a:ext cx="4814586" cy="3657493"/>
          </a:xfrm>
        </p:spPr>
        <p:txBody>
          <a:bodyPr rtlCol="0">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baseline="0"/>
            </a:lvl8pPr>
            <a:lvl9pPr>
              <a:defRPr sz="1600" baseline="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posición de texto 4"/>
          <p:cNvSpPr>
            <a:spLocks noGrp="1"/>
          </p:cNvSpPr>
          <p:nvPr>
            <p:ph type="body" sz="quarter" idx="3"/>
          </p:nvPr>
        </p:nvSpPr>
        <p:spPr>
          <a:xfrm>
            <a:off x="6557349" y="1499616"/>
            <a:ext cx="4818888" cy="938784"/>
          </a:xfrm>
        </p:spPr>
        <p:txBody>
          <a:bodyPr rtlCol="0"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posición de contenido 5"/>
          <p:cNvSpPr>
            <a:spLocks noGrp="1"/>
          </p:cNvSpPr>
          <p:nvPr>
            <p:ph sz="quarter" idx="4"/>
          </p:nvPr>
        </p:nvSpPr>
        <p:spPr>
          <a:xfrm>
            <a:off x="6557349" y="2514600"/>
            <a:ext cx="4818888" cy="3655568"/>
          </a:xfrm>
        </p:spPr>
        <p:txBody>
          <a:bodyPr rtlCol="0">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7" name="Marcador de posición de fecha 6"/>
          <p:cNvSpPr>
            <a:spLocks noGrp="1"/>
          </p:cNvSpPr>
          <p:nvPr>
            <p:ph type="dt" sz="half" idx="10"/>
          </p:nvPr>
        </p:nvSpPr>
        <p:spPr/>
        <p:txBody>
          <a:bodyPr rtlCol="0"/>
          <a:lstStyle/>
          <a:p>
            <a:pPr rtl="0"/>
            <a:fld id="{AACDF9AA-CFE1-4BA9-8C5D-54C264D423B8}" type="datetime1">
              <a:rPr lang="es-ES" noProof="0" smtClean="0"/>
              <a:t>28/05/2024</a:t>
            </a:fld>
            <a:endParaRPr lang="es-ES" noProof="0" dirty="0"/>
          </a:p>
        </p:txBody>
      </p:sp>
      <p:sp>
        <p:nvSpPr>
          <p:cNvPr id="8" name="Marcador de posición de pie de página 7"/>
          <p:cNvSpPr>
            <a:spLocks noGrp="1"/>
          </p:cNvSpPr>
          <p:nvPr>
            <p:ph type="ftr" sz="quarter" idx="11"/>
          </p:nvPr>
        </p:nvSpPr>
        <p:spPr/>
        <p:txBody>
          <a:bodyPr rtlCol="0"/>
          <a:lstStyle/>
          <a:p>
            <a:pPr rtl="0"/>
            <a:r>
              <a:rPr lang="es-ES" noProof="0" dirty="0"/>
              <a:t>Agregar un pie de página</a:t>
            </a:r>
          </a:p>
        </p:txBody>
      </p:sp>
      <p:sp>
        <p:nvSpPr>
          <p:cNvPr id="9" name="Marcador de posición de número de diapositiva 8"/>
          <p:cNvSpPr>
            <a:spLocks noGrp="1"/>
          </p:cNvSpPr>
          <p:nvPr>
            <p:ph type="sldNum" sz="quarter" idx="12"/>
          </p:nvPr>
        </p:nvSpPr>
        <p:spPr/>
        <p:txBody>
          <a:bodyPr rtlCol="0"/>
          <a:lstStyle/>
          <a:p>
            <a:pPr rtl="0"/>
            <a:fld id="{7DC1BBB0-96F0-4077-A278-0F3FB5C104D3}" type="slidenum">
              <a:rPr lang="es-ES" noProof="0"/>
              <a:t>‹Nº›</a:t>
            </a:fld>
            <a:endParaRPr lang="es-ES" noProof="0" dirty="0"/>
          </a:p>
        </p:txBody>
      </p:sp>
    </p:spTree>
    <p:extLst>
      <p:ext uri="{BB962C8B-B14F-4D97-AF65-F5344CB8AC3E}">
        <p14:creationId xmlns:p14="http://schemas.microsoft.com/office/powerpoint/2010/main" val="2138358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fecha 2"/>
          <p:cNvSpPr>
            <a:spLocks noGrp="1"/>
          </p:cNvSpPr>
          <p:nvPr>
            <p:ph type="dt" sz="half" idx="10"/>
          </p:nvPr>
        </p:nvSpPr>
        <p:spPr/>
        <p:txBody>
          <a:bodyPr rtlCol="0"/>
          <a:lstStyle/>
          <a:p>
            <a:pPr rtl="0"/>
            <a:fld id="{CDA51D7A-9E1F-4C6F-8B86-F39A8650CB7A}" type="datetime1">
              <a:rPr lang="es-ES" noProof="0" smtClean="0"/>
              <a:t>28/05/2024</a:t>
            </a:fld>
            <a:endParaRPr lang="es-ES" noProof="0" dirty="0"/>
          </a:p>
        </p:txBody>
      </p:sp>
      <p:sp>
        <p:nvSpPr>
          <p:cNvPr id="4" name="Marcador de posición de pie de página 3"/>
          <p:cNvSpPr>
            <a:spLocks noGrp="1"/>
          </p:cNvSpPr>
          <p:nvPr>
            <p:ph type="ftr" sz="quarter" idx="11"/>
          </p:nvPr>
        </p:nvSpPr>
        <p:spPr/>
        <p:txBody>
          <a:bodyPr rtlCol="0"/>
          <a:lstStyle/>
          <a:p>
            <a:pPr rtl="0"/>
            <a:r>
              <a:rPr lang="es-ES" noProof="0" dirty="0"/>
              <a:t>Agregar un pie de página</a:t>
            </a:r>
          </a:p>
        </p:txBody>
      </p:sp>
      <p:sp>
        <p:nvSpPr>
          <p:cNvPr id="5" name="Marcador de posición de número de diapositiva 4"/>
          <p:cNvSpPr>
            <a:spLocks noGrp="1"/>
          </p:cNvSpPr>
          <p:nvPr>
            <p:ph type="sldNum" sz="quarter" idx="12"/>
          </p:nvPr>
        </p:nvSpPr>
        <p:spPr/>
        <p:txBody>
          <a:bodyPr rtlCol="0"/>
          <a:lstStyle/>
          <a:p>
            <a:pPr rtl="0"/>
            <a:fld id="{7DC1BBB0-96F0-4077-A278-0F3FB5C104D3}" type="slidenum">
              <a:rPr lang="es-ES" noProof="0"/>
              <a:t>‹Nº›</a:t>
            </a:fld>
            <a:endParaRPr lang="es-ES" noProof="0" dirty="0"/>
          </a:p>
        </p:txBody>
      </p:sp>
    </p:spTree>
    <p:extLst>
      <p:ext uri="{BB962C8B-B14F-4D97-AF65-F5344CB8AC3E}">
        <p14:creationId xmlns:p14="http://schemas.microsoft.com/office/powerpoint/2010/main" val="3163578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ángulo 4"/>
          <p:cNvSpPr/>
          <p:nvPr/>
        </p:nvSpPr>
        <p:spPr bwMode="ltGray">
          <a:xfrm>
            <a:off x="626239" y="0"/>
            <a:ext cx="30472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sp>
        <p:nvSpPr>
          <p:cNvPr id="6" name="Rectángulo 5"/>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cxnSp>
        <p:nvCxnSpPr>
          <p:cNvPr id="7" name="Conector recto 6"/>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ángulo 7"/>
          <p:cNvSpPr/>
          <p:nvPr/>
        </p:nvSpPr>
        <p:spPr bwMode="gray">
          <a:xfrm>
            <a:off x="10969942" y="0"/>
            <a:ext cx="922621" cy="6858000"/>
          </a:xfrm>
          <a:prstGeom prst="rect">
            <a:avLst/>
          </a:prstGeom>
          <a:solidFill>
            <a:schemeClr val="accent1">
              <a:lumMod val="7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sp>
        <p:nvSpPr>
          <p:cNvPr id="9" name="Rectángulo 8"/>
          <p:cNvSpPr/>
          <p:nvPr/>
        </p:nvSpPr>
        <p:spPr bwMode="black">
          <a:xfrm>
            <a:off x="11892563"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sp>
        <p:nvSpPr>
          <p:cNvPr id="2" name="Marcador de posición de fecha 1"/>
          <p:cNvSpPr>
            <a:spLocks noGrp="1"/>
          </p:cNvSpPr>
          <p:nvPr>
            <p:ph type="dt" sz="half" idx="10"/>
          </p:nvPr>
        </p:nvSpPr>
        <p:spPr/>
        <p:txBody>
          <a:bodyPr rtlCol="0"/>
          <a:lstStyle/>
          <a:p>
            <a:pPr rtl="0"/>
            <a:fld id="{66A1E9FB-24DE-4A64-B35D-DF3FF6E51288}" type="datetime1">
              <a:rPr lang="es-ES" noProof="0" smtClean="0"/>
              <a:t>28/05/2024</a:t>
            </a:fld>
            <a:endParaRPr lang="es-ES" noProof="0" dirty="0"/>
          </a:p>
        </p:txBody>
      </p:sp>
      <p:sp>
        <p:nvSpPr>
          <p:cNvPr id="3" name="Marcador de posición de pie de página 2"/>
          <p:cNvSpPr>
            <a:spLocks noGrp="1"/>
          </p:cNvSpPr>
          <p:nvPr>
            <p:ph type="ftr" sz="quarter" idx="11"/>
          </p:nvPr>
        </p:nvSpPr>
        <p:spPr/>
        <p:txBody>
          <a:bodyPr rtlCol="0"/>
          <a:lstStyle/>
          <a:p>
            <a:pPr rtl="0"/>
            <a:r>
              <a:rPr lang="es-ES" noProof="0" dirty="0"/>
              <a:t>Agregar un pie de página</a:t>
            </a:r>
          </a:p>
        </p:txBody>
      </p:sp>
      <p:sp>
        <p:nvSpPr>
          <p:cNvPr id="4" name="Marcador de posición de número de diapositiva 3"/>
          <p:cNvSpPr>
            <a:spLocks noGrp="1"/>
          </p:cNvSpPr>
          <p:nvPr>
            <p:ph type="sldNum" sz="quarter" idx="12"/>
          </p:nvPr>
        </p:nvSpPr>
        <p:spPr/>
        <p:txBody>
          <a:bodyPr rtlCol="0"/>
          <a:lstStyle>
            <a:lvl1pPr>
              <a:defRPr>
                <a:solidFill>
                  <a:schemeClr val="bg1"/>
                </a:solidFill>
              </a:defRPr>
            </a:lvl1pPr>
          </a:lstStyle>
          <a:p>
            <a:pPr rtl="0"/>
            <a:fld id="{7DC1BBB0-96F0-4077-A278-0F3FB5C104D3}" type="slidenum">
              <a:rPr lang="es-ES" noProof="0"/>
              <a:pPr rtl="0"/>
              <a:t>‹Nº›</a:t>
            </a:fld>
            <a:endParaRPr lang="es-ES" noProof="0" dirty="0"/>
          </a:p>
        </p:txBody>
      </p:sp>
    </p:spTree>
    <p:extLst>
      <p:ext uri="{BB962C8B-B14F-4D97-AF65-F5344CB8AC3E}">
        <p14:creationId xmlns:p14="http://schemas.microsoft.com/office/powerpoint/2010/main" val="17838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leyenda">
    <p:spTree>
      <p:nvGrpSpPr>
        <p:cNvPr id="1" name=""/>
        <p:cNvGrpSpPr/>
        <p:nvPr/>
      </p:nvGrpSpPr>
      <p:grpSpPr>
        <a:xfrm>
          <a:off x="0" y="0"/>
          <a:ext cx="0" cy="0"/>
          <a:chOff x="0" y="0"/>
          <a:chExt cx="0" cy="0"/>
        </a:xfrm>
      </p:grpSpPr>
      <p:sp>
        <p:nvSpPr>
          <p:cNvPr id="8" name="Rectángulo 7"/>
          <p:cNvSpPr/>
          <p:nvPr/>
        </p:nvSpPr>
        <p:spPr bwMode="gray">
          <a:xfrm>
            <a:off x="621792" y="0"/>
            <a:ext cx="4147717"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sp>
        <p:nvSpPr>
          <p:cNvPr id="9" name="Rectángulo 8"/>
          <p:cNvSpPr/>
          <p:nvPr/>
        </p:nvSpPr>
        <p:spPr bwMode="lt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cxnSp>
        <p:nvCxnSpPr>
          <p:cNvPr id="10" name="Conector recto 9"/>
          <p:cNvCxnSpPr/>
          <p:nvPr/>
        </p:nvCxnSpPr>
        <p:spPr bwMode="white">
          <a:xfrm>
            <a:off x="621792"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ectángulo 10"/>
          <p:cNvSpPr/>
          <p:nvPr/>
        </p:nvSpPr>
        <p:spPr bwMode="gray">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sp>
        <p:nvSpPr>
          <p:cNvPr id="2" name="Título 1"/>
          <p:cNvSpPr>
            <a:spLocks noGrp="1"/>
          </p:cNvSpPr>
          <p:nvPr>
            <p:ph type="title"/>
          </p:nvPr>
        </p:nvSpPr>
        <p:spPr bwMode="white">
          <a:xfrm>
            <a:off x="1074240" y="381000"/>
            <a:ext cx="3293422" cy="1371600"/>
          </a:xfrm>
        </p:spPr>
        <p:txBody>
          <a:bodyPr rtlCol="0" anchor="b">
            <a:normAutofit/>
          </a:bodyPr>
          <a:lstStyle>
            <a:lvl1pPr algn="l">
              <a:defRPr sz="2800" b="0" cap="all" baseline="0">
                <a:solidFill>
                  <a:schemeClr val="bg1"/>
                </a:solidFill>
              </a:defRPr>
            </a:lvl1pPr>
          </a:lstStyle>
          <a:p>
            <a:pPr rtl="0"/>
            <a:r>
              <a:rPr lang="es-ES" noProof="0"/>
              <a:t>Haga clic para modificar el estilo de título del patrón</a:t>
            </a:r>
            <a:endParaRPr lang="es-ES" noProof="0" dirty="0"/>
          </a:p>
        </p:txBody>
      </p:sp>
      <p:sp>
        <p:nvSpPr>
          <p:cNvPr id="3" name="Marcador de posición de contenido 2"/>
          <p:cNvSpPr>
            <a:spLocks noGrp="1"/>
          </p:cNvSpPr>
          <p:nvPr>
            <p:ph idx="1"/>
          </p:nvPr>
        </p:nvSpPr>
        <p:spPr>
          <a:xfrm>
            <a:off x="5180251" y="482600"/>
            <a:ext cx="6195986" cy="5689600"/>
          </a:xfrm>
        </p:spPr>
        <p:txBody>
          <a:bodyPr rtlCol="0">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baseline="0"/>
            </a:lvl8pPr>
            <a:lvl9pPr>
              <a:defRPr sz="1800" baseline="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texto 3"/>
          <p:cNvSpPr>
            <a:spLocks noGrp="1"/>
          </p:cNvSpPr>
          <p:nvPr>
            <p:ph type="body" sz="half" idx="2"/>
          </p:nvPr>
        </p:nvSpPr>
        <p:spPr bwMode="white">
          <a:xfrm>
            <a:off x="1074240" y="1828800"/>
            <a:ext cx="3293422" cy="4343400"/>
          </a:xfrm>
        </p:spPr>
        <p:txBody>
          <a:bodyPr rtlCol="0">
            <a:normAutofit/>
          </a:bodyPr>
          <a:lstStyle>
            <a:lvl1pPr marL="0" indent="0">
              <a:buNone/>
              <a:defRPr sz="20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5" name="Marcador de posición de fecha 4"/>
          <p:cNvSpPr>
            <a:spLocks noGrp="1"/>
          </p:cNvSpPr>
          <p:nvPr>
            <p:ph type="dt" sz="half" idx="10"/>
          </p:nvPr>
        </p:nvSpPr>
        <p:spPr/>
        <p:txBody>
          <a:bodyPr rtlCol="0"/>
          <a:lstStyle/>
          <a:p>
            <a:pPr rtl="0"/>
            <a:fld id="{53CDA7DC-138B-4843-B77A-91873FF451A9}" type="datetime1">
              <a:rPr lang="es-ES" noProof="0" smtClean="0"/>
              <a:t>28/05/2024</a:t>
            </a:fld>
            <a:endParaRPr lang="es-ES" noProof="0" dirty="0"/>
          </a:p>
        </p:txBody>
      </p:sp>
      <p:sp>
        <p:nvSpPr>
          <p:cNvPr id="6" name="Marcador de posición de pie de página 5"/>
          <p:cNvSpPr>
            <a:spLocks noGrp="1"/>
          </p:cNvSpPr>
          <p:nvPr>
            <p:ph type="ftr" sz="quarter" idx="11"/>
          </p:nvPr>
        </p:nvSpPr>
        <p:spPr/>
        <p:txBody>
          <a:bodyPr rtlCol="0"/>
          <a:lstStyle/>
          <a:p>
            <a:pPr rtl="0"/>
            <a:r>
              <a:rPr lang="es-ES" noProof="0" dirty="0"/>
              <a:t>Agregar un pie de página</a:t>
            </a:r>
          </a:p>
        </p:txBody>
      </p:sp>
      <p:sp>
        <p:nvSpPr>
          <p:cNvPr id="7" name="Marcador de posición de número de diapositiva 6"/>
          <p:cNvSpPr>
            <a:spLocks noGrp="1"/>
          </p:cNvSpPr>
          <p:nvPr>
            <p:ph type="sldNum" sz="quarter" idx="12"/>
          </p:nvPr>
        </p:nvSpPr>
        <p:spPr/>
        <p:txBody>
          <a:bodyPr rtlCol="0"/>
          <a:lstStyle/>
          <a:p>
            <a:pPr rtl="0"/>
            <a:fld id="{7DC1BBB0-96F0-4077-A278-0F3FB5C104D3}" type="slidenum">
              <a:rPr lang="es-ES" noProof="0"/>
              <a:t>‹Nº›</a:t>
            </a:fld>
            <a:endParaRPr lang="es-ES" noProof="0" dirty="0"/>
          </a:p>
        </p:txBody>
      </p:sp>
    </p:spTree>
    <p:extLst>
      <p:ext uri="{BB962C8B-B14F-4D97-AF65-F5344CB8AC3E}">
        <p14:creationId xmlns:p14="http://schemas.microsoft.com/office/powerpoint/2010/main" val="3518043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leyenda">
    <p:spTree>
      <p:nvGrpSpPr>
        <p:cNvPr id="1" name=""/>
        <p:cNvGrpSpPr/>
        <p:nvPr/>
      </p:nvGrpSpPr>
      <p:grpSpPr>
        <a:xfrm>
          <a:off x="0" y="0"/>
          <a:ext cx="0" cy="0"/>
          <a:chOff x="0" y="0"/>
          <a:chExt cx="0" cy="0"/>
        </a:xfrm>
      </p:grpSpPr>
      <p:sp>
        <p:nvSpPr>
          <p:cNvPr id="11" name="Rectángulo 10"/>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sp>
        <p:nvSpPr>
          <p:cNvPr id="8" name="Rectángulo 7"/>
          <p:cNvSpPr/>
          <p:nvPr/>
        </p:nvSpPr>
        <p:spPr bwMode="black">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sp>
        <p:nvSpPr>
          <p:cNvPr id="9" name="Rectángulo 8"/>
          <p:cNvSpPr/>
          <p:nvPr/>
        </p:nvSpPr>
        <p:spPr bwMode="ltGray">
          <a:xfrm>
            <a:off x="4875530" y="0"/>
            <a:ext cx="7017034" cy="68580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sp>
        <p:nvSpPr>
          <p:cNvPr id="2" name="Título 1"/>
          <p:cNvSpPr>
            <a:spLocks noGrp="1"/>
          </p:cNvSpPr>
          <p:nvPr>
            <p:ph type="title"/>
          </p:nvPr>
        </p:nvSpPr>
        <p:spPr>
          <a:xfrm>
            <a:off x="1074240" y="381000"/>
            <a:ext cx="3293422" cy="1371600"/>
          </a:xfrm>
        </p:spPr>
        <p:txBody>
          <a:bodyPr rtlCol="0" anchor="b">
            <a:normAutofit/>
          </a:bodyPr>
          <a:lstStyle>
            <a:lvl1pPr algn="l">
              <a:defRPr sz="2800" b="0" cap="all" baseline="0">
                <a:solidFill>
                  <a:schemeClr val="tx1">
                    <a:lumMod val="75000"/>
                  </a:schemeClr>
                </a:solidFill>
              </a:defRPr>
            </a:lvl1pPr>
          </a:lstStyle>
          <a:p>
            <a:pPr rtl="0"/>
            <a:r>
              <a:rPr lang="es-ES" noProof="0"/>
              <a:t>Haga clic para modificar el estilo de título del patrón</a:t>
            </a:r>
            <a:endParaRPr lang="es-ES" noProof="0" dirty="0"/>
          </a:p>
        </p:txBody>
      </p:sp>
      <p:sp>
        <p:nvSpPr>
          <p:cNvPr id="3" name="Marcador de posición de imagen 2" descr="Marcador de posición vacío para agregar una imagen. Haga clic en el marcador de posición y seleccione la imagen que desee agregar"/>
          <p:cNvSpPr>
            <a:spLocks noGrp="1"/>
          </p:cNvSpPr>
          <p:nvPr>
            <p:ph type="pic" idx="1"/>
          </p:nvPr>
        </p:nvSpPr>
        <p:spPr bwMode="auto">
          <a:xfrm>
            <a:off x="5180251" y="482600"/>
            <a:ext cx="6195986" cy="5689600"/>
          </a:xfrm>
          <a:ln w="19050">
            <a:solidFill>
              <a:schemeClr val="bg1"/>
            </a:solidFill>
          </a:ln>
        </p:spPr>
        <p:txBody>
          <a:bodyPr rtlCol="0">
            <a:normAutofit/>
          </a:bodyPr>
          <a:lstStyle>
            <a:lvl1pPr marL="0" indent="0">
              <a:buNone/>
              <a:defRPr sz="2800" baseline="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endParaRPr lang="es-ES" noProof="0" dirty="0"/>
          </a:p>
        </p:txBody>
      </p:sp>
      <p:sp>
        <p:nvSpPr>
          <p:cNvPr id="4" name="Marcador de posición de texto 3"/>
          <p:cNvSpPr>
            <a:spLocks noGrp="1"/>
          </p:cNvSpPr>
          <p:nvPr>
            <p:ph type="body" sz="half" idx="2"/>
          </p:nvPr>
        </p:nvSpPr>
        <p:spPr>
          <a:xfrm>
            <a:off x="1074240" y="1828800"/>
            <a:ext cx="3293422" cy="4343400"/>
          </a:xfrm>
        </p:spPr>
        <p:txBody>
          <a:bodyPr rtlCol="0">
            <a:normAutofit/>
          </a:bodyPr>
          <a:lstStyle>
            <a:lvl1pPr marL="0" indent="0">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5" name="Marcador de posición de fecha 4"/>
          <p:cNvSpPr>
            <a:spLocks noGrp="1"/>
          </p:cNvSpPr>
          <p:nvPr>
            <p:ph type="dt" sz="half" idx="10"/>
          </p:nvPr>
        </p:nvSpPr>
        <p:spPr/>
        <p:txBody>
          <a:bodyPr rtlCol="0"/>
          <a:lstStyle>
            <a:lvl1pPr>
              <a:defRPr baseline="0">
                <a:solidFill>
                  <a:schemeClr val="tx2"/>
                </a:solidFill>
              </a:defRPr>
            </a:lvl1pPr>
          </a:lstStyle>
          <a:p>
            <a:pPr rtl="0"/>
            <a:fld id="{CB016917-91ED-4B62-9DC6-0583229F954A}" type="datetime1">
              <a:rPr lang="es-ES" noProof="0" smtClean="0"/>
              <a:t>28/05/2024</a:t>
            </a:fld>
            <a:endParaRPr lang="es-ES" noProof="0" dirty="0"/>
          </a:p>
        </p:txBody>
      </p:sp>
      <p:sp>
        <p:nvSpPr>
          <p:cNvPr id="6" name="Marcador de posición de pie de página 5"/>
          <p:cNvSpPr>
            <a:spLocks noGrp="1"/>
          </p:cNvSpPr>
          <p:nvPr>
            <p:ph type="ftr" sz="quarter" idx="11"/>
          </p:nvPr>
        </p:nvSpPr>
        <p:spPr/>
        <p:txBody>
          <a:bodyPr rtlCol="0"/>
          <a:lstStyle>
            <a:lvl1pPr>
              <a:defRPr baseline="0">
                <a:solidFill>
                  <a:schemeClr val="tx2"/>
                </a:solidFill>
              </a:defRPr>
            </a:lvl1pPr>
          </a:lstStyle>
          <a:p>
            <a:pPr rtl="0"/>
            <a:r>
              <a:rPr lang="es-ES" noProof="0" dirty="0"/>
              <a:t>Agregar un pie de página</a:t>
            </a:r>
          </a:p>
        </p:txBody>
      </p:sp>
      <p:sp>
        <p:nvSpPr>
          <p:cNvPr id="7" name="Marcador de posición de número de diapositiva 6"/>
          <p:cNvSpPr>
            <a:spLocks noGrp="1"/>
          </p:cNvSpPr>
          <p:nvPr>
            <p:ph type="sldNum" sz="quarter" idx="12"/>
          </p:nvPr>
        </p:nvSpPr>
        <p:spPr/>
        <p:txBody>
          <a:bodyPr rtlCol="0"/>
          <a:lstStyle>
            <a:lvl1pPr>
              <a:defRPr baseline="0">
                <a:solidFill>
                  <a:schemeClr val="tx2"/>
                </a:solidFill>
              </a:defRPr>
            </a:lvl1pPr>
          </a:lstStyle>
          <a:p>
            <a:pPr rtl="0"/>
            <a:fld id="{7DC1BBB0-96F0-4077-A278-0F3FB5C104D3}" type="slidenum">
              <a:rPr lang="es-ES" noProof="0" smtClean="0"/>
              <a:pPr rtl="0"/>
              <a:t>‹Nº›</a:t>
            </a:fld>
            <a:endParaRPr lang="es-ES" noProof="0" dirty="0"/>
          </a:p>
        </p:txBody>
      </p:sp>
      <p:cxnSp>
        <p:nvCxnSpPr>
          <p:cNvPr id="10" name="Conector recto 9"/>
          <p:cNvCxnSpPr/>
          <p:nvPr/>
        </p:nvCxnSpPr>
        <p:spPr bwMode="white">
          <a:xfrm>
            <a:off x="11879867"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3900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texto vertical 2"/>
          <p:cNvSpPr>
            <a:spLocks noGrp="1"/>
          </p:cNvSpPr>
          <p:nvPr>
            <p:ph type="body" orient="vert" idx="1"/>
          </p:nvPr>
        </p:nvSpPr>
        <p:spPr/>
        <p:txBody>
          <a:bodyPr vert="eaVert" rtlCol="0"/>
          <a:lstStyle>
            <a:lvl5pPr>
              <a:defRPr/>
            </a:lvl5pPr>
            <a:lvl6pPr>
              <a:defRPr/>
            </a:lvl6pPr>
            <a:lvl7pPr>
              <a:defRPr/>
            </a:lvl7pPr>
            <a:lvl8pPr>
              <a:defRPr/>
            </a:lvl8pPr>
            <a:lvl9pPr>
              <a:defRPr/>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fecha 3"/>
          <p:cNvSpPr>
            <a:spLocks noGrp="1"/>
          </p:cNvSpPr>
          <p:nvPr>
            <p:ph type="dt" sz="half" idx="10"/>
          </p:nvPr>
        </p:nvSpPr>
        <p:spPr/>
        <p:txBody>
          <a:bodyPr rtlCol="0"/>
          <a:lstStyle/>
          <a:p>
            <a:pPr rtl="0"/>
            <a:fld id="{45EEB305-4E92-401E-9FCA-996DF9FD55B6}" type="datetime1">
              <a:rPr lang="es-ES" noProof="0" smtClean="0"/>
              <a:t>28/05/2024</a:t>
            </a:fld>
            <a:endParaRPr lang="es-ES" noProof="0" dirty="0"/>
          </a:p>
        </p:txBody>
      </p:sp>
      <p:sp>
        <p:nvSpPr>
          <p:cNvPr id="5" name="Marcador de posición de pie de página 4"/>
          <p:cNvSpPr>
            <a:spLocks noGrp="1"/>
          </p:cNvSpPr>
          <p:nvPr>
            <p:ph type="ftr" sz="quarter" idx="11"/>
          </p:nvPr>
        </p:nvSpPr>
        <p:spPr/>
        <p:txBody>
          <a:bodyPr rtlCol="0"/>
          <a:lstStyle/>
          <a:p>
            <a:pPr rtl="0"/>
            <a:r>
              <a:rPr lang="es-ES" noProof="0" dirty="0"/>
              <a:t>Agregar un pie de página</a:t>
            </a:r>
          </a:p>
        </p:txBody>
      </p:sp>
      <p:sp>
        <p:nvSpPr>
          <p:cNvPr id="6" name="Marcador de posición de número de diapositiva 5"/>
          <p:cNvSpPr>
            <a:spLocks noGrp="1"/>
          </p:cNvSpPr>
          <p:nvPr>
            <p:ph type="sldNum" sz="quarter" idx="12"/>
          </p:nvPr>
        </p:nvSpPr>
        <p:spPr/>
        <p:txBody>
          <a:bodyPr rtlCol="0"/>
          <a:lstStyle/>
          <a:p>
            <a:pPr rtl="0"/>
            <a:fld id="{7DC1BBB0-96F0-4077-A278-0F3FB5C104D3}" type="slidenum">
              <a:rPr lang="es-ES" noProof="0"/>
              <a:t>‹Nº›</a:t>
            </a:fld>
            <a:endParaRPr lang="es-ES" noProof="0" dirty="0"/>
          </a:p>
        </p:txBody>
      </p:sp>
    </p:spTree>
    <p:extLst>
      <p:ext uri="{BB962C8B-B14F-4D97-AF65-F5344CB8AC3E}">
        <p14:creationId xmlns:p14="http://schemas.microsoft.com/office/powerpoint/2010/main" val="2040880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ángulo 6"/>
          <p:cNvSpPr/>
          <p:nvPr/>
        </p:nvSpPr>
        <p:spPr bwMode="black">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sp>
        <p:nvSpPr>
          <p:cNvPr id="8" name="Rectángulo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9" name="Rectángulo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10" name="Rectángulo 9"/>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cxnSp>
        <p:nvCxnSpPr>
          <p:cNvPr id="11" name="Conector recto 10"/>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ector recto 11"/>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Pi"/>
          <p:cNvSpPr>
            <a:spLocks/>
          </p:cNvSpPr>
          <p:nvPr/>
        </p:nvSpPr>
        <p:spPr bwMode="white">
          <a:xfrm rot="5400000">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p:spPr>
        <p:txBody>
          <a:bodyPr vert="horz" wrap="square" lIns="91440" tIns="45720" rIns="91440" bIns="45720" numCol="1" rtlCol="0" anchor="t" anchorCtr="0" compatLnSpc="1">
            <a:prstTxWarp prst="textNoShape">
              <a:avLst/>
            </a:prstTxWarp>
          </a:bodyPr>
          <a:lstStyle/>
          <a:p>
            <a:pPr rtl="0"/>
            <a:endParaRPr lang="es-ES" noProof="0" dirty="0"/>
          </a:p>
        </p:txBody>
      </p:sp>
      <p:cxnSp>
        <p:nvCxnSpPr>
          <p:cNvPr id="14" name="Conector recto 13"/>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ítulo vertical 1"/>
          <p:cNvSpPr>
            <a:spLocks noGrp="1"/>
          </p:cNvSpPr>
          <p:nvPr>
            <p:ph type="title" orient="vert"/>
          </p:nvPr>
        </p:nvSpPr>
        <p:spPr>
          <a:xfrm>
            <a:off x="9599612" y="685800"/>
            <a:ext cx="1787526" cy="5486400"/>
          </a:xfrm>
        </p:spPr>
        <p:txBody>
          <a:bodyPr vert="eaVert" rtlCol="0"/>
          <a:lstStyle/>
          <a:p>
            <a:pPr rtl="0"/>
            <a:r>
              <a:rPr lang="es-ES" noProof="0"/>
              <a:t>Haga clic para modificar el estilo de título del patrón</a:t>
            </a:r>
            <a:endParaRPr lang="es-ES" noProof="0" dirty="0"/>
          </a:p>
        </p:txBody>
      </p:sp>
      <p:sp>
        <p:nvSpPr>
          <p:cNvPr id="3" name="Marcador de posición de texto vertical 2"/>
          <p:cNvSpPr>
            <a:spLocks noGrp="1"/>
          </p:cNvSpPr>
          <p:nvPr>
            <p:ph type="body" orient="vert" idx="1"/>
          </p:nvPr>
        </p:nvSpPr>
        <p:spPr>
          <a:xfrm>
            <a:off x="1598613" y="685800"/>
            <a:ext cx="7848599" cy="5486400"/>
          </a:xfrm>
        </p:spPr>
        <p:txBody>
          <a:bodyPr vert="eaVert"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fecha 3"/>
          <p:cNvSpPr>
            <a:spLocks noGrp="1"/>
          </p:cNvSpPr>
          <p:nvPr>
            <p:ph type="dt" sz="half" idx="10"/>
          </p:nvPr>
        </p:nvSpPr>
        <p:spPr/>
        <p:txBody>
          <a:bodyPr rtlCol="0"/>
          <a:lstStyle/>
          <a:p>
            <a:pPr rtl="0"/>
            <a:fld id="{67E901BA-1555-4CE1-92B2-39682A57B7CA}" type="datetime1">
              <a:rPr lang="es-ES" noProof="0" smtClean="0"/>
              <a:t>28/05/2024</a:t>
            </a:fld>
            <a:endParaRPr lang="es-ES" noProof="0" dirty="0"/>
          </a:p>
        </p:txBody>
      </p:sp>
      <p:sp>
        <p:nvSpPr>
          <p:cNvPr id="5" name="Marcador de posición de pie de página 4"/>
          <p:cNvSpPr>
            <a:spLocks noGrp="1"/>
          </p:cNvSpPr>
          <p:nvPr>
            <p:ph type="ftr" sz="quarter" idx="11"/>
          </p:nvPr>
        </p:nvSpPr>
        <p:spPr/>
        <p:txBody>
          <a:bodyPr rtlCol="0"/>
          <a:lstStyle/>
          <a:p>
            <a:pPr rtl="0"/>
            <a:r>
              <a:rPr lang="es-ES" noProof="0" dirty="0"/>
              <a:t>Agregar un pie de página</a:t>
            </a:r>
          </a:p>
        </p:txBody>
      </p:sp>
      <p:sp>
        <p:nvSpPr>
          <p:cNvPr id="6" name="Marcador de posición de número de diapositiva 5"/>
          <p:cNvSpPr>
            <a:spLocks noGrp="1"/>
          </p:cNvSpPr>
          <p:nvPr>
            <p:ph type="sldNum" sz="quarter" idx="12"/>
          </p:nvPr>
        </p:nvSpPr>
        <p:spPr/>
        <p:txBody>
          <a:bodyPr rtlCol="0"/>
          <a:lstStyle/>
          <a:p>
            <a:pPr rtl="0"/>
            <a:fld id="{7DC1BBB0-96F0-4077-A278-0F3FB5C104D3}" type="slidenum">
              <a:rPr lang="es-ES" noProof="0"/>
              <a:t>‹Nº›</a:t>
            </a:fld>
            <a:endParaRPr lang="es-ES" noProof="0" dirty="0"/>
          </a:p>
        </p:txBody>
      </p:sp>
    </p:spTree>
    <p:extLst>
      <p:ext uri="{BB962C8B-B14F-4D97-AF65-F5344CB8AC3E}">
        <p14:creationId xmlns:p14="http://schemas.microsoft.com/office/powerpoint/2010/main" val="612817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ángulo 6"/>
          <p:cNvSpPr/>
          <p:nvPr/>
        </p:nvSpPr>
        <p:spPr bwMode="gray">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es-ES" noProof="0" dirty="0"/>
          </a:p>
        </p:txBody>
      </p:sp>
      <p:sp>
        <p:nvSpPr>
          <p:cNvPr id="8" name="Rectángulo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9" name="Rectángulo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13" name="Rectángulo 12"/>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cxnSp>
        <p:nvCxnSpPr>
          <p:cNvPr id="14" name="Conector recto 13"/>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Conector recto 14"/>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Pi"/>
          <p:cNvSpPr>
            <a:spLocks/>
          </p:cNvSpPr>
          <p:nvPr/>
        </p:nvSpPr>
        <p:spPr bwMode="white">
          <a:xfrm>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p:spPr>
        <p:txBody>
          <a:bodyPr vert="horz" wrap="square" lIns="91440" tIns="45720" rIns="91440" bIns="45720" numCol="1" rtlCol="0" anchor="t" anchorCtr="0" compatLnSpc="1">
            <a:prstTxWarp prst="textNoShape">
              <a:avLst/>
            </a:prstTxWarp>
          </a:bodyPr>
          <a:lstStyle/>
          <a:p>
            <a:pPr rtl="0"/>
            <a:endParaRPr lang="es-ES" noProof="0" dirty="0"/>
          </a:p>
        </p:txBody>
      </p:sp>
      <p:cxnSp>
        <p:nvCxnSpPr>
          <p:cNvPr id="16" name="Conector recto 15"/>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Marcador de posición de título 1"/>
          <p:cNvSpPr>
            <a:spLocks noGrp="1"/>
          </p:cNvSpPr>
          <p:nvPr>
            <p:ph type="title"/>
          </p:nvPr>
        </p:nvSpPr>
        <p:spPr>
          <a:xfrm>
            <a:off x="1593436" y="177800"/>
            <a:ext cx="9782801" cy="1239837"/>
          </a:xfrm>
          <a:prstGeom prst="rect">
            <a:avLst/>
          </a:prstGeom>
        </p:spPr>
        <p:txBody>
          <a:bodyPr vert="horz" lIns="91440" tIns="45720" rIns="91440" bIns="45720" rtlCol="0" anchor="b">
            <a:normAutofit/>
          </a:bodyPr>
          <a:lstStyle/>
          <a:p>
            <a:pPr rtl="0"/>
            <a:r>
              <a:rPr lang="es-ES" noProof="0" dirty="0"/>
              <a:t>Haga clic para modificar el estilo de título del patrón</a:t>
            </a:r>
          </a:p>
        </p:txBody>
      </p:sp>
      <p:sp>
        <p:nvSpPr>
          <p:cNvPr id="3" name="Marcador de posición de texto 2"/>
          <p:cNvSpPr>
            <a:spLocks noGrp="1"/>
          </p:cNvSpPr>
          <p:nvPr>
            <p:ph type="body" idx="1"/>
          </p:nvPr>
        </p:nvSpPr>
        <p:spPr>
          <a:xfrm>
            <a:off x="1593436" y="1600200"/>
            <a:ext cx="9782801" cy="4572000"/>
          </a:xfrm>
          <a:prstGeom prst="rect">
            <a:avLst/>
          </a:prstGeom>
        </p:spPr>
        <p:txBody>
          <a:bodyPr vert="horz" lIns="91440" tIns="45720" rIns="91440" bIns="45720" rtlCol="0">
            <a:normAutofit/>
          </a:body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posición de fecha 3"/>
          <p:cNvSpPr>
            <a:spLocks noGrp="1"/>
          </p:cNvSpPr>
          <p:nvPr>
            <p:ph type="dt" sz="half" idx="2"/>
          </p:nvPr>
        </p:nvSpPr>
        <p:spPr>
          <a:xfrm>
            <a:off x="5180250" y="6356351"/>
            <a:ext cx="1218883" cy="365125"/>
          </a:xfrm>
          <a:prstGeom prst="rect">
            <a:avLst/>
          </a:prstGeom>
        </p:spPr>
        <p:txBody>
          <a:bodyPr vert="horz" lIns="91440" tIns="45720" rIns="91440" bIns="45720" rtlCol="0" anchor="ctr"/>
          <a:lstStyle>
            <a:lvl1pPr algn="l">
              <a:defRPr sz="1200" cap="all" baseline="0">
                <a:solidFill>
                  <a:schemeClr val="tx1"/>
                </a:solidFill>
              </a:defRPr>
            </a:lvl1pPr>
          </a:lstStyle>
          <a:p>
            <a:pPr rtl="0"/>
            <a:fld id="{75031EA3-1207-456F-B1A7-F20CDD0C2E7B}" type="datetime1">
              <a:rPr lang="es-ES" noProof="0" smtClean="0"/>
              <a:t>28/05/2024</a:t>
            </a:fld>
            <a:endParaRPr lang="es-ES" noProof="0" dirty="0"/>
          </a:p>
        </p:txBody>
      </p:sp>
      <p:sp>
        <p:nvSpPr>
          <p:cNvPr id="5" name="Marcador de posición de pie de página 4"/>
          <p:cNvSpPr>
            <a:spLocks noGrp="1"/>
          </p:cNvSpPr>
          <p:nvPr>
            <p:ph type="ftr" sz="quarter" idx="3"/>
          </p:nvPr>
        </p:nvSpPr>
        <p:spPr>
          <a:xfrm>
            <a:off x="6595933" y="6356351"/>
            <a:ext cx="3974065" cy="365125"/>
          </a:xfrm>
          <a:prstGeom prst="rect">
            <a:avLst/>
          </a:prstGeom>
        </p:spPr>
        <p:txBody>
          <a:bodyPr vert="horz" lIns="91440" tIns="45720" rIns="91440" bIns="45720" rtlCol="0" anchor="ctr"/>
          <a:lstStyle>
            <a:lvl1pPr algn="ctr">
              <a:defRPr sz="1200" cap="all" baseline="0">
                <a:solidFill>
                  <a:schemeClr val="tx1"/>
                </a:solidFill>
              </a:defRPr>
            </a:lvl1pPr>
          </a:lstStyle>
          <a:p>
            <a:pPr rtl="0"/>
            <a:r>
              <a:rPr lang="es-ES" noProof="0" dirty="0"/>
              <a:t>Agregar un pie de página</a:t>
            </a:r>
          </a:p>
        </p:txBody>
      </p:sp>
      <p:sp>
        <p:nvSpPr>
          <p:cNvPr id="6" name="Marcador de posición de número de diapositiva 5"/>
          <p:cNvSpPr>
            <a:spLocks noGrp="1"/>
          </p:cNvSpPr>
          <p:nvPr>
            <p:ph type="sldNum" sz="quarter" idx="4"/>
          </p:nvPr>
        </p:nvSpPr>
        <p:spPr>
          <a:xfrm>
            <a:off x="10766796" y="6356351"/>
            <a:ext cx="609441" cy="365125"/>
          </a:xfrm>
          <a:prstGeom prst="rect">
            <a:avLst/>
          </a:prstGeom>
        </p:spPr>
        <p:txBody>
          <a:bodyPr vert="horz" lIns="91440" tIns="45720" rIns="91440" bIns="45720" rtlCol="0" anchor="ctr"/>
          <a:lstStyle>
            <a:lvl1pPr algn="r">
              <a:defRPr sz="1200" cap="all" baseline="0">
                <a:solidFill>
                  <a:schemeClr val="tx1"/>
                </a:solidFill>
              </a:defRPr>
            </a:lvl1pPr>
          </a:lstStyle>
          <a:p>
            <a:pPr rtl="0"/>
            <a:fld id="{7DC1BBB0-96F0-4077-A278-0F3FB5C104D3}" type="slidenum">
              <a:rPr lang="es-ES" noProof="0" smtClean="0"/>
              <a:pPr rtl="0"/>
              <a:t>‹Nº›</a:t>
            </a:fld>
            <a:endParaRPr lang="es-ES" noProof="0" dirty="0"/>
          </a:p>
        </p:txBody>
      </p:sp>
    </p:spTree>
    <p:extLst>
      <p:ext uri="{BB962C8B-B14F-4D97-AF65-F5344CB8AC3E}">
        <p14:creationId xmlns:p14="http://schemas.microsoft.com/office/powerpoint/2010/main" val="20543223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p:titleStyle>
    <p:body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0.jpeg"/></Relationships>
</file>

<file path=ppt/slides/_rels/slide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rtlCol="0"/>
          <a:lstStyle/>
          <a:p>
            <a:pPr rtl="0"/>
            <a:r>
              <a:rPr lang="es-ES" dirty="0"/>
              <a:t>Medidas de Frecuencia</a:t>
            </a:r>
          </a:p>
        </p:txBody>
      </p:sp>
      <p:sp>
        <p:nvSpPr>
          <p:cNvPr id="3" name="Subtítulo 2"/>
          <p:cNvSpPr>
            <a:spLocks noGrp="1"/>
          </p:cNvSpPr>
          <p:nvPr>
            <p:ph type="subTitle" idx="1"/>
          </p:nvPr>
        </p:nvSpPr>
        <p:spPr/>
        <p:txBody>
          <a:bodyPr rtlCol="0"/>
          <a:lstStyle/>
          <a:p>
            <a:pPr rtl="0"/>
            <a:r>
              <a:rPr lang="es-ES" dirty="0"/>
              <a:t>Resumen en 10 min</a:t>
            </a:r>
          </a:p>
        </p:txBody>
      </p:sp>
    </p:spTree>
    <p:extLst>
      <p:ext uri="{BB962C8B-B14F-4D97-AF65-F5344CB8AC3E}">
        <p14:creationId xmlns:p14="http://schemas.microsoft.com/office/powerpoint/2010/main" val="50676145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2">
            <a:extLst>
              <a:ext uri="{FF2B5EF4-FFF2-40B4-BE49-F238E27FC236}">
                <a16:creationId xmlns:a16="http://schemas.microsoft.com/office/drawing/2014/main" id="{596D4AE6-33AF-4C9A-BA0B-C9305D4F2900}"/>
              </a:ext>
            </a:extLst>
          </p:cNvPr>
          <p:cNvSpPr>
            <a:spLocks noGrp="1"/>
          </p:cNvSpPr>
          <p:nvPr>
            <p:ph idx="1"/>
          </p:nvPr>
        </p:nvSpPr>
        <p:spPr>
          <a:xfrm>
            <a:off x="4494301" y="3173758"/>
            <a:ext cx="6951749" cy="3170232"/>
          </a:xfrm>
        </p:spPr>
        <p:txBody>
          <a:bodyPr>
            <a:normAutofit/>
          </a:bodyPr>
          <a:lstStyle/>
          <a:p>
            <a:pPr marL="285750" indent="-285750"/>
            <a:r>
              <a:rPr lang="es-ES" sz="2000" b="1" dirty="0">
                <a:solidFill>
                  <a:srgbClr val="1F3C90"/>
                </a:solidFill>
                <a:latin typeface="Calibri" panose="020F0502020204030204" pitchFamily="34" charset="0"/>
                <a:ea typeface="Calibri" panose="020F0502020204030204" pitchFamily="34" charset="0"/>
                <a:cs typeface="Calibri" panose="020F0502020204030204" pitchFamily="34" charset="0"/>
              </a:rPr>
              <a:t>Filiación:</a:t>
            </a:r>
            <a:r>
              <a:rPr lang="es-ES" sz="2000" b="1" dirty="0">
                <a:latin typeface="Calibri" panose="020F0502020204030204" pitchFamily="34" charset="0"/>
                <a:ea typeface="Calibri" panose="020F0502020204030204" pitchFamily="34" charset="0"/>
                <a:cs typeface="Calibri" panose="020F0502020204030204" pitchFamily="34" charset="0"/>
              </a:rPr>
              <a:t> </a:t>
            </a:r>
            <a:r>
              <a:rPr lang="es-ES" sz="2000" dirty="0">
                <a:latin typeface="Calibri" panose="020F0502020204030204" pitchFamily="34" charset="0"/>
                <a:ea typeface="Calibri" panose="020F0502020204030204" pitchFamily="34" charset="0"/>
                <a:cs typeface="Calibri" panose="020F0502020204030204" pitchFamily="34" charset="0"/>
              </a:rPr>
              <a:t>UCSUR, </a:t>
            </a:r>
            <a:r>
              <a:rPr lang="es-ES" sz="2000" dirty="0" err="1">
                <a:latin typeface="Calibri" panose="020F0502020204030204" pitchFamily="34" charset="0"/>
                <a:ea typeface="Calibri" panose="020F0502020204030204" pitchFamily="34" charset="0"/>
                <a:cs typeface="Calibri" panose="020F0502020204030204" pitchFamily="34" charset="0"/>
              </a:rPr>
              <a:t>EviSalud</a:t>
            </a:r>
            <a:endParaRPr lang="es-ES" sz="2000" dirty="0">
              <a:latin typeface="Calibri" panose="020F0502020204030204" pitchFamily="34" charset="0"/>
              <a:ea typeface="Calibri" panose="020F0502020204030204" pitchFamily="34" charset="0"/>
              <a:cs typeface="Calibri" panose="020F0502020204030204" pitchFamily="34" charset="0"/>
            </a:endParaRPr>
          </a:p>
          <a:p>
            <a:pPr marL="285750" indent="-285750"/>
            <a:r>
              <a:rPr lang="es-PE" sz="2000" b="1" dirty="0">
                <a:solidFill>
                  <a:srgbClr val="1F3C90"/>
                </a:solidFill>
                <a:latin typeface="Calibri" panose="020F0502020204030204" pitchFamily="34" charset="0"/>
                <a:ea typeface="Calibri" panose="020F0502020204030204" pitchFamily="34" charset="0"/>
                <a:cs typeface="Calibri" panose="020F0502020204030204" pitchFamily="34" charset="0"/>
              </a:rPr>
              <a:t>Cursó estudios en: </a:t>
            </a:r>
            <a:r>
              <a:rPr lang="es-PE" sz="2000" dirty="0">
                <a:latin typeface="Calibri" panose="020F0502020204030204" pitchFamily="34" charset="0"/>
                <a:ea typeface="Calibri" panose="020F0502020204030204" pitchFamily="34" charset="0"/>
                <a:cs typeface="Calibri" panose="020F0502020204030204" pitchFamily="34" charset="0"/>
              </a:rPr>
              <a:t>UNSAAC, UCC, UPCH, IECS, </a:t>
            </a:r>
            <a:r>
              <a:rPr lang="es-PE" sz="2000" dirty="0" err="1">
                <a:latin typeface="Calibri" panose="020F0502020204030204" pitchFamily="34" charset="0"/>
                <a:ea typeface="Calibri" panose="020F0502020204030204" pitchFamily="34" charset="0"/>
                <a:cs typeface="Calibri" panose="020F0502020204030204" pitchFamily="34" charset="0"/>
              </a:rPr>
              <a:t>Univ</a:t>
            </a:r>
            <a:r>
              <a:rPr lang="es-PE" sz="2000" dirty="0">
                <a:latin typeface="Calibri" panose="020F0502020204030204" pitchFamily="34" charset="0"/>
                <a:ea typeface="Calibri" panose="020F0502020204030204" pitchFamily="34" charset="0"/>
                <a:cs typeface="Calibri" panose="020F0502020204030204" pitchFamily="34" charset="0"/>
              </a:rPr>
              <a:t> Nebrija.</a:t>
            </a:r>
          </a:p>
          <a:p>
            <a:pPr marL="285750" indent="-285750"/>
            <a:r>
              <a:rPr lang="es-PE" sz="2000" b="1" dirty="0">
                <a:solidFill>
                  <a:srgbClr val="1F3C90"/>
                </a:solidFill>
                <a:latin typeface="Calibri" panose="020F0502020204030204" pitchFamily="34" charset="0"/>
                <a:ea typeface="Calibri" panose="020F0502020204030204" pitchFamily="34" charset="0"/>
                <a:cs typeface="Calibri" panose="020F0502020204030204" pitchFamily="34" charset="0"/>
              </a:rPr>
              <a:t>Ha recibido pagos/financiamiento de: </a:t>
            </a:r>
            <a:r>
              <a:rPr lang="es-PE" sz="2000" dirty="0">
                <a:latin typeface="Calibri" panose="020F0502020204030204" pitchFamily="34" charset="0"/>
                <a:ea typeface="Calibri" panose="020F0502020204030204" pitchFamily="34" charset="0"/>
                <a:cs typeface="Calibri" panose="020F0502020204030204" pitchFamily="34" charset="0"/>
              </a:rPr>
              <a:t>UNSAAC, UCSUR, UPCH, MINSA (DIRESA Cusco), </a:t>
            </a:r>
            <a:r>
              <a:rPr lang="es-PE" sz="2000" dirty="0" err="1">
                <a:latin typeface="Calibri" panose="020F0502020204030204" pitchFamily="34" charset="0"/>
                <a:ea typeface="Calibri" panose="020F0502020204030204" pitchFamily="34" charset="0"/>
                <a:cs typeface="Calibri" panose="020F0502020204030204" pitchFamily="34" charset="0"/>
              </a:rPr>
              <a:t>EviSalud</a:t>
            </a:r>
            <a:r>
              <a:rPr lang="es-PE" sz="2000" dirty="0">
                <a:latin typeface="Calibri" panose="020F0502020204030204" pitchFamily="34" charset="0"/>
                <a:ea typeface="Calibri" panose="020F0502020204030204" pitchFamily="34" charset="0"/>
                <a:cs typeface="Calibri" panose="020F0502020204030204" pitchFamily="34" charset="0"/>
              </a:rPr>
              <a:t>, SOPECARD, IETSI</a:t>
            </a:r>
          </a:p>
          <a:p>
            <a:pPr marL="285750" indent="-285750"/>
            <a:r>
              <a:rPr lang="es-PE" sz="2000" dirty="0">
                <a:latin typeface="Calibri" panose="020F0502020204030204" pitchFamily="34" charset="0"/>
                <a:ea typeface="Calibri" panose="020F0502020204030204" pitchFamily="34" charset="0"/>
                <a:cs typeface="Calibri" panose="020F0502020204030204" pitchFamily="34" charset="0"/>
              </a:rPr>
              <a:t>No tengo potenciales conflictos de interés con el tema de esta clase</a:t>
            </a:r>
          </a:p>
        </p:txBody>
      </p:sp>
      <p:sp>
        <p:nvSpPr>
          <p:cNvPr id="5" name="Marcador de contenido 3">
            <a:extLst>
              <a:ext uri="{FF2B5EF4-FFF2-40B4-BE49-F238E27FC236}">
                <a16:creationId xmlns:a16="http://schemas.microsoft.com/office/drawing/2014/main" id="{A6AB3AA1-7D23-4DF8-B52B-DDB0ACEC9831}"/>
              </a:ext>
            </a:extLst>
          </p:cNvPr>
          <p:cNvSpPr txBox="1">
            <a:spLocks/>
          </p:cNvSpPr>
          <p:nvPr/>
        </p:nvSpPr>
        <p:spPr>
          <a:xfrm>
            <a:off x="4494302" y="1400769"/>
            <a:ext cx="5632558" cy="746086"/>
          </a:xfrm>
          <a:prstGeom prst="rect">
            <a:avLst/>
          </a:prstGeom>
        </p:spPr>
        <p:txBody>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es-PE" dirty="0"/>
              <a:t>Daniel Fernández Guzmán, MD</a:t>
            </a:r>
          </a:p>
        </p:txBody>
      </p:sp>
      <p:sp>
        <p:nvSpPr>
          <p:cNvPr id="6" name="Marcador de contenido 4">
            <a:extLst>
              <a:ext uri="{FF2B5EF4-FFF2-40B4-BE49-F238E27FC236}">
                <a16:creationId xmlns:a16="http://schemas.microsoft.com/office/drawing/2014/main" id="{D0FA2E07-7236-4B8D-8B39-2EDC68989339}"/>
              </a:ext>
            </a:extLst>
          </p:cNvPr>
          <p:cNvSpPr txBox="1">
            <a:spLocks/>
          </p:cNvSpPr>
          <p:nvPr/>
        </p:nvSpPr>
        <p:spPr>
          <a:xfrm>
            <a:off x="4494302" y="1916832"/>
            <a:ext cx="6170191" cy="640977"/>
          </a:xfrm>
          <a:prstGeom prst="rect">
            <a:avLst/>
          </a:prstGeom>
        </p:spPr>
        <p:txBody>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es-PE" dirty="0">
                <a:solidFill>
                  <a:srgbClr val="1E3E85"/>
                </a:solidFill>
              </a:rPr>
              <a:t>danferguz@gmail.com</a:t>
            </a:r>
          </a:p>
        </p:txBody>
      </p:sp>
      <p:cxnSp>
        <p:nvCxnSpPr>
          <p:cNvPr id="9" name="Conector recto 8">
            <a:extLst>
              <a:ext uri="{FF2B5EF4-FFF2-40B4-BE49-F238E27FC236}">
                <a16:creationId xmlns:a16="http://schemas.microsoft.com/office/drawing/2014/main" id="{523357EC-4156-496A-A2A9-A35B9FE2BB1D}"/>
              </a:ext>
            </a:extLst>
          </p:cNvPr>
          <p:cNvCxnSpPr>
            <a:cxnSpLocks/>
          </p:cNvCxnSpPr>
          <p:nvPr/>
        </p:nvCxnSpPr>
        <p:spPr>
          <a:xfrm>
            <a:off x="1197868" y="2502992"/>
            <a:ext cx="10729192" cy="0"/>
          </a:xfrm>
          <a:prstGeom prst="line">
            <a:avLst/>
          </a:prstGeom>
          <a:ln w="76200">
            <a:solidFill>
              <a:srgbClr val="465562"/>
            </a:solidFill>
          </a:ln>
        </p:spPr>
        <p:style>
          <a:lnRef idx="1">
            <a:schemeClr val="accent1"/>
          </a:lnRef>
          <a:fillRef idx="0">
            <a:schemeClr val="accent1"/>
          </a:fillRef>
          <a:effectRef idx="0">
            <a:schemeClr val="accent1"/>
          </a:effectRef>
          <a:fontRef idx="minor">
            <a:schemeClr val="tx1"/>
          </a:fontRef>
        </p:style>
      </p:cxnSp>
      <p:pic>
        <p:nvPicPr>
          <p:cNvPr id="12" name="Imagen 11">
            <a:extLst>
              <a:ext uri="{FF2B5EF4-FFF2-40B4-BE49-F238E27FC236}">
                <a16:creationId xmlns:a16="http://schemas.microsoft.com/office/drawing/2014/main" id="{2C5BC422-0B59-4044-811E-2D0CC66C1C56}"/>
              </a:ext>
            </a:extLst>
          </p:cNvPr>
          <p:cNvPicPr>
            <a:picLocks noChangeAspect="1"/>
          </p:cNvPicPr>
          <p:nvPr/>
        </p:nvPicPr>
        <p:blipFill>
          <a:blip r:embed="rId2">
            <a:grayscl/>
          </a:blip>
          <a:stretch>
            <a:fillRect/>
          </a:stretch>
        </p:blipFill>
        <p:spPr>
          <a:xfrm>
            <a:off x="1773932" y="603297"/>
            <a:ext cx="2412176" cy="2627069"/>
          </a:xfrm>
          <a:prstGeom prst="ellipse">
            <a:avLst/>
          </a:prstGeom>
          <a:ln w="76200">
            <a:solidFill>
              <a:schemeClr val="tx1"/>
            </a:solidFill>
          </a:ln>
        </p:spPr>
      </p:pic>
    </p:spTree>
    <p:extLst>
      <p:ext uri="{BB962C8B-B14F-4D97-AF65-F5344CB8AC3E}">
        <p14:creationId xmlns:p14="http://schemas.microsoft.com/office/powerpoint/2010/main" val="216185438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a:xfrm>
            <a:off x="1593436" y="139701"/>
            <a:ext cx="9782801" cy="985044"/>
          </a:xfrm>
        </p:spPr>
        <p:txBody>
          <a:bodyPr rtlCol="0">
            <a:normAutofit/>
          </a:bodyPr>
          <a:lstStyle/>
          <a:p>
            <a:pPr rtl="0"/>
            <a:r>
              <a:rPr lang="es-ES" sz="3200" b="1" dirty="0">
                <a:solidFill>
                  <a:srgbClr val="1232D0"/>
                </a:solidFill>
              </a:rPr>
              <a:t>Conceptos de medidas</a:t>
            </a:r>
          </a:p>
        </p:txBody>
      </p:sp>
      <p:sp>
        <p:nvSpPr>
          <p:cNvPr id="14" name="Marcador de posición de contenido 13"/>
          <p:cNvSpPr>
            <a:spLocks noGrp="1"/>
          </p:cNvSpPr>
          <p:nvPr>
            <p:ph idx="1"/>
          </p:nvPr>
        </p:nvSpPr>
        <p:spPr>
          <a:xfrm>
            <a:off x="1593436" y="2132856"/>
            <a:ext cx="9782801" cy="4039344"/>
          </a:xfrm>
        </p:spPr>
        <p:txBody>
          <a:bodyPr rtlCol="0">
            <a:normAutofit/>
          </a:bodyPr>
          <a:lstStyle/>
          <a:p>
            <a:pPr rtl="0"/>
            <a:r>
              <a:rPr lang="es-ES" dirty="0"/>
              <a:t>Proporciones</a:t>
            </a:r>
          </a:p>
          <a:p>
            <a:pPr rtl="0"/>
            <a:r>
              <a:rPr lang="es-ES" dirty="0"/>
              <a:t>Razones</a:t>
            </a:r>
          </a:p>
          <a:p>
            <a:pPr marL="0" indent="0" rtl="0">
              <a:buNone/>
            </a:pPr>
            <a:endParaRPr lang="es-ES" dirty="0"/>
          </a:p>
        </p:txBody>
      </p:sp>
      <p:cxnSp>
        <p:nvCxnSpPr>
          <p:cNvPr id="4" name="Conector recto 3">
            <a:extLst>
              <a:ext uri="{FF2B5EF4-FFF2-40B4-BE49-F238E27FC236}">
                <a16:creationId xmlns:a16="http://schemas.microsoft.com/office/drawing/2014/main" id="{382DEA70-704B-4295-BFD8-A2B884955048}"/>
              </a:ext>
            </a:extLst>
          </p:cNvPr>
          <p:cNvCxnSpPr>
            <a:cxnSpLocks/>
          </p:cNvCxnSpPr>
          <p:nvPr/>
        </p:nvCxnSpPr>
        <p:spPr>
          <a:xfrm>
            <a:off x="1197868" y="1340768"/>
            <a:ext cx="10729192" cy="0"/>
          </a:xfrm>
          <a:prstGeom prst="line">
            <a:avLst/>
          </a:prstGeom>
          <a:ln w="76200">
            <a:solidFill>
              <a:srgbClr val="596671"/>
            </a:solidFill>
          </a:ln>
        </p:spPr>
        <p:style>
          <a:lnRef idx="1">
            <a:schemeClr val="accent1"/>
          </a:lnRef>
          <a:fillRef idx="0">
            <a:schemeClr val="accent1"/>
          </a:fillRef>
          <a:effectRef idx="0">
            <a:schemeClr val="accent1"/>
          </a:effectRef>
          <a:fontRef idx="minor">
            <a:schemeClr val="tx1"/>
          </a:fontRef>
        </p:style>
      </p:cxnSp>
      <p:pic>
        <p:nvPicPr>
          <p:cNvPr id="3" name="Imagen 2">
            <a:extLst>
              <a:ext uri="{FF2B5EF4-FFF2-40B4-BE49-F238E27FC236}">
                <a16:creationId xmlns:a16="http://schemas.microsoft.com/office/drawing/2014/main" id="{B1967292-9966-4269-8AFB-06564B2E490F}"/>
              </a:ext>
            </a:extLst>
          </p:cNvPr>
          <p:cNvPicPr>
            <a:picLocks noChangeAspect="1"/>
          </p:cNvPicPr>
          <p:nvPr/>
        </p:nvPicPr>
        <p:blipFill>
          <a:blip r:embed="rId3"/>
          <a:stretch>
            <a:fillRect/>
          </a:stretch>
        </p:blipFill>
        <p:spPr>
          <a:xfrm>
            <a:off x="4582244" y="1906868"/>
            <a:ext cx="3024336" cy="3582885"/>
          </a:xfrm>
          <a:prstGeom prst="rect">
            <a:avLst/>
          </a:prstGeom>
        </p:spPr>
      </p:pic>
      <p:pic>
        <p:nvPicPr>
          <p:cNvPr id="6" name="Imagen 5">
            <a:extLst>
              <a:ext uri="{FF2B5EF4-FFF2-40B4-BE49-F238E27FC236}">
                <a16:creationId xmlns:a16="http://schemas.microsoft.com/office/drawing/2014/main" id="{F1B586D2-FAE2-455C-92A6-A8A9DF023234}"/>
              </a:ext>
            </a:extLst>
          </p:cNvPr>
          <p:cNvPicPr>
            <a:picLocks noChangeAspect="1"/>
          </p:cNvPicPr>
          <p:nvPr/>
        </p:nvPicPr>
        <p:blipFill>
          <a:blip r:embed="rId4"/>
          <a:stretch>
            <a:fillRect/>
          </a:stretch>
        </p:blipFill>
        <p:spPr>
          <a:xfrm>
            <a:off x="8902724" y="2132856"/>
            <a:ext cx="1692664" cy="1040989"/>
          </a:xfrm>
          <a:prstGeom prst="rect">
            <a:avLst/>
          </a:prstGeom>
        </p:spPr>
      </p:pic>
      <p:sp>
        <p:nvSpPr>
          <p:cNvPr id="10" name="CuadroTexto 9">
            <a:extLst>
              <a:ext uri="{FF2B5EF4-FFF2-40B4-BE49-F238E27FC236}">
                <a16:creationId xmlns:a16="http://schemas.microsoft.com/office/drawing/2014/main" id="{39018229-6780-4CAE-B4BA-1444540A97A9}"/>
              </a:ext>
            </a:extLst>
          </p:cNvPr>
          <p:cNvSpPr txBox="1"/>
          <p:nvPr/>
        </p:nvSpPr>
        <p:spPr>
          <a:xfrm>
            <a:off x="7174532" y="2330184"/>
            <a:ext cx="1249388" cy="646331"/>
          </a:xfrm>
          <a:prstGeom prst="rect">
            <a:avLst/>
          </a:prstGeom>
          <a:noFill/>
        </p:spPr>
        <p:txBody>
          <a:bodyPr wrap="square">
            <a:spAutoFit/>
          </a:bodyPr>
          <a:lstStyle/>
          <a:p>
            <a:pPr algn="ctr"/>
            <a:r>
              <a:rPr lang="es-ES" sz="3600" b="1" dirty="0"/>
              <a:t>VS</a:t>
            </a:r>
            <a:endParaRPr lang="es-PE" sz="3600" b="1" dirty="0"/>
          </a:p>
        </p:txBody>
      </p:sp>
    </p:spTree>
    <p:extLst>
      <p:ext uri="{BB962C8B-B14F-4D97-AF65-F5344CB8AC3E}">
        <p14:creationId xmlns:p14="http://schemas.microsoft.com/office/powerpoint/2010/main" val="172042638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a:xfrm>
            <a:off x="1593436" y="139701"/>
            <a:ext cx="9782801" cy="985044"/>
          </a:xfrm>
        </p:spPr>
        <p:txBody>
          <a:bodyPr rtlCol="0">
            <a:normAutofit/>
          </a:bodyPr>
          <a:lstStyle/>
          <a:p>
            <a:pPr rtl="0"/>
            <a:r>
              <a:rPr lang="es-ES" sz="3200" b="1" dirty="0">
                <a:solidFill>
                  <a:srgbClr val="1232D0"/>
                </a:solidFill>
              </a:rPr>
              <a:t>Concepto de medidas</a:t>
            </a:r>
          </a:p>
        </p:txBody>
      </p:sp>
      <p:sp>
        <p:nvSpPr>
          <p:cNvPr id="14" name="Marcador de posición de contenido 13"/>
          <p:cNvSpPr>
            <a:spLocks noGrp="1"/>
          </p:cNvSpPr>
          <p:nvPr>
            <p:ph idx="1"/>
          </p:nvPr>
        </p:nvSpPr>
        <p:spPr>
          <a:xfrm>
            <a:off x="1593435" y="1772815"/>
            <a:ext cx="6157162" cy="4752517"/>
          </a:xfrm>
        </p:spPr>
        <p:txBody>
          <a:bodyPr rtlCol="0">
            <a:normAutofit/>
          </a:bodyPr>
          <a:lstStyle/>
          <a:p>
            <a:pPr algn="just" rtl="0"/>
            <a:r>
              <a:rPr lang="es-ES" dirty="0"/>
              <a:t>Tasas</a:t>
            </a:r>
          </a:p>
          <a:p>
            <a:pPr lvl="1" algn="just"/>
            <a:r>
              <a:rPr lang="es-ES" dirty="0"/>
              <a:t>Expresan la dinámica de un suceso en una población a lo largo del tiempo</a:t>
            </a:r>
          </a:p>
          <a:p>
            <a:pPr lvl="1" algn="just"/>
            <a:r>
              <a:rPr lang="es-ES" dirty="0"/>
              <a:t>El numerador expresa el número de eventos acontecidos durante un periodo de tiempo•</a:t>
            </a:r>
          </a:p>
          <a:p>
            <a:pPr lvl="1" algn="just"/>
            <a:r>
              <a:rPr lang="es-ES" dirty="0"/>
              <a:t>Su denominador está basado en el tiempo, y expresa el tiempo durante el cual los sujetos estuvieron en riesgo de sufrir el evento</a:t>
            </a:r>
          </a:p>
          <a:p>
            <a:pPr lvl="1" algn="just"/>
            <a:r>
              <a:rPr lang="es-ES" dirty="0"/>
              <a:t>La unidad de medida se conoce como </a:t>
            </a:r>
            <a:r>
              <a:rPr lang="es-ES" b="1" dirty="0"/>
              <a:t>tiempo persona de seguimiento</a:t>
            </a:r>
          </a:p>
        </p:txBody>
      </p:sp>
      <p:cxnSp>
        <p:nvCxnSpPr>
          <p:cNvPr id="4" name="Conector recto 3">
            <a:extLst>
              <a:ext uri="{FF2B5EF4-FFF2-40B4-BE49-F238E27FC236}">
                <a16:creationId xmlns:a16="http://schemas.microsoft.com/office/drawing/2014/main" id="{382DEA70-704B-4295-BFD8-A2B884955048}"/>
              </a:ext>
            </a:extLst>
          </p:cNvPr>
          <p:cNvCxnSpPr>
            <a:cxnSpLocks/>
          </p:cNvCxnSpPr>
          <p:nvPr/>
        </p:nvCxnSpPr>
        <p:spPr>
          <a:xfrm>
            <a:off x="1197868" y="1340768"/>
            <a:ext cx="10729192" cy="0"/>
          </a:xfrm>
          <a:prstGeom prst="line">
            <a:avLst/>
          </a:prstGeom>
          <a:ln w="76200">
            <a:solidFill>
              <a:srgbClr val="596671"/>
            </a:solidFill>
          </a:ln>
        </p:spPr>
        <p:style>
          <a:lnRef idx="1">
            <a:schemeClr val="accent1"/>
          </a:lnRef>
          <a:fillRef idx="0">
            <a:schemeClr val="accent1"/>
          </a:fillRef>
          <a:effectRef idx="0">
            <a:schemeClr val="accent1"/>
          </a:effectRef>
          <a:fontRef idx="minor">
            <a:schemeClr val="tx1"/>
          </a:fontRef>
        </p:style>
      </p:cxnSp>
      <p:pic>
        <p:nvPicPr>
          <p:cNvPr id="3" name="Imagen 2">
            <a:extLst>
              <a:ext uri="{FF2B5EF4-FFF2-40B4-BE49-F238E27FC236}">
                <a16:creationId xmlns:a16="http://schemas.microsoft.com/office/drawing/2014/main" id="{F41761F7-4112-48AF-ADAA-2A36038F1373}"/>
              </a:ext>
            </a:extLst>
          </p:cNvPr>
          <p:cNvPicPr>
            <a:picLocks noChangeAspect="1"/>
          </p:cNvPicPr>
          <p:nvPr/>
        </p:nvPicPr>
        <p:blipFill>
          <a:blip r:embed="rId3"/>
          <a:stretch>
            <a:fillRect/>
          </a:stretch>
        </p:blipFill>
        <p:spPr>
          <a:xfrm>
            <a:off x="8254652" y="2348880"/>
            <a:ext cx="3353268" cy="1200318"/>
          </a:xfrm>
          <a:prstGeom prst="rect">
            <a:avLst/>
          </a:prstGeom>
        </p:spPr>
      </p:pic>
    </p:spTree>
    <p:extLst>
      <p:ext uri="{BB962C8B-B14F-4D97-AF65-F5344CB8AC3E}">
        <p14:creationId xmlns:p14="http://schemas.microsoft.com/office/powerpoint/2010/main" val="33544332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a:xfrm>
            <a:off x="1593436" y="139701"/>
            <a:ext cx="9782801" cy="985044"/>
          </a:xfrm>
        </p:spPr>
        <p:txBody>
          <a:bodyPr rtlCol="0">
            <a:normAutofit/>
          </a:bodyPr>
          <a:lstStyle/>
          <a:p>
            <a:pPr rtl="0"/>
            <a:r>
              <a:rPr lang="es-ES" sz="3200" b="1" dirty="0">
                <a:solidFill>
                  <a:srgbClr val="1232D0"/>
                </a:solidFill>
              </a:rPr>
              <a:t>Medidas en Epidemiología</a:t>
            </a:r>
          </a:p>
        </p:txBody>
      </p:sp>
      <p:cxnSp>
        <p:nvCxnSpPr>
          <p:cNvPr id="4" name="Conector recto 3">
            <a:extLst>
              <a:ext uri="{FF2B5EF4-FFF2-40B4-BE49-F238E27FC236}">
                <a16:creationId xmlns:a16="http://schemas.microsoft.com/office/drawing/2014/main" id="{382DEA70-704B-4295-BFD8-A2B884955048}"/>
              </a:ext>
            </a:extLst>
          </p:cNvPr>
          <p:cNvCxnSpPr>
            <a:cxnSpLocks/>
          </p:cNvCxnSpPr>
          <p:nvPr/>
        </p:nvCxnSpPr>
        <p:spPr>
          <a:xfrm>
            <a:off x="1197868" y="1340768"/>
            <a:ext cx="10729192" cy="0"/>
          </a:xfrm>
          <a:prstGeom prst="line">
            <a:avLst/>
          </a:prstGeom>
          <a:ln w="76200">
            <a:solidFill>
              <a:srgbClr val="596671"/>
            </a:solidFill>
          </a:ln>
        </p:spPr>
        <p:style>
          <a:lnRef idx="1">
            <a:schemeClr val="accent1"/>
          </a:lnRef>
          <a:fillRef idx="0">
            <a:schemeClr val="accent1"/>
          </a:fillRef>
          <a:effectRef idx="0">
            <a:schemeClr val="accent1"/>
          </a:effectRef>
          <a:fontRef idx="minor">
            <a:schemeClr val="tx1"/>
          </a:fontRef>
        </p:style>
      </p:cxnSp>
      <p:sp>
        <p:nvSpPr>
          <p:cNvPr id="3" name="Rectángulo 2">
            <a:extLst>
              <a:ext uri="{FF2B5EF4-FFF2-40B4-BE49-F238E27FC236}">
                <a16:creationId xmlns:a16="http://schemas.microsoft.com/office/drawing/2014/main" id="{D589CE00-BBFE-494B-B03A-866FB98DA061}"/>
              </a:ext>
            </a:extLst>
          </p:cNvPr>
          <p:cNvSpPr/>
          <p:nvPr/>
        </p:nvSpPr>
        <p:spPr>
          <a:xfrm>
            <a:off x="5158308" y="1474226"/>
            <a:ext cx="2952328" cy="432045"/>
          </a:xfrm>
          <a:prstGeom prst="rect">
            <a:avLst/>
          </a:prstGeom>
          <a:ln w="571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PE" dirty="0"/>
              <a:t>Medidas en epidemiología</a:t>
            </a:r>
          </a:p>
        </p:txBody>
      </p:sp>
      <p:sp>
        <p:nvSpPr>
          <p:cNvPr id="7" name="Rectángulo 6">
            <a:extLst>
              <a:ext uri="{FF2B5EF4-FFF2-40B4-BE49-F238E27FC236}">
                <a16:creationId xmlns:a16="http://schemas.microsoft.com/office/drawing/2014/main" id="{9CDA6735-F27E-400A-A78F-B5DC10015420}"/>
              </a:ext>
            </a:extLst>
          </p:cNvPr>
          <p:cNvSpPr/>
          <p:nvPr/>
        </p:nvSpPr>
        <p:spPr>
          <a:xfrm>
            <a:off x="1701924" y="2276872"/>
            <a:ext cx="2952328" cy="432045"/>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PE" dirty="0"/>
              <a:t>Medidas de frecuencia</a:t>
            </a:r>
          </a:p>
        </p:txBody>
      </p:sp>
      <p:sp>
        <p:nvSpPr>
          <p:cNvPr id="8" name="Rectángulo 7">
            <a:extLst>
              <a:ext uri="{FF2B5EF4-FFF2-40B4-BE49-F238E27FC236}">
                <a16:creationId xmlns:a16="http://schemas.microsoft.com/office/drawing/2014/main" id="{42610A95-D492-45A4-8A38-89177D263309}"/>
              </a:ext>
            </a:extLst>
          </p:cNvPr>
          <p:cNvSpPr/>
          <p:nvPr/>
        </p:nvSpPr>
        <p:spPr>
          <a:xfrm>
            <a:off x="5158308" y="2276418"/>
            <a:ext cx="2952328" cy="432045"/>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PE" dirty="0"/>
              <a:t>Medidas de asociación</a:t>
            </a:r>
          </a:p>
        </p:txBody>
      </p:sp>
      <p:sp>
        <p:nvSpPr>
          <p:cNvPr id="9" name="Rectángulo 8">
            <a:extLst>
              <a:ext uri="{FF2B5EF4-FFF2-40B4-BE49-F238E27FC236}">
                <a16:creationId xmlns:a16="http://schemas.microsoft.com/office/drawing/2014/main" id="{B22A18FE-104D-4724-B35C-DF9E50DD8DA8}"/>
              </a:ext>
            </a:extLst>
          </p:cNvPr>
          <p:cNvSpPr/>
          <p:nvPr/>
        </p:nvSpPr>
        <p:spPr>
          <a:xfrm>
            <a:off x="8614692" y="2276417"/>
            <a:ext cx="2952328" cy="432045"/>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PE" dirty="0"/>
              <a:t>Medidas de impacto</a:t>
            </a:r>
          </a:p>
        </p:txBody>
      </p:sp>
      <p:sp>
        <p:nvSpPr>
          <p:cNvPr id="10" name="Rectángulo 9">
            <a:extLst>
              <a:ext uri="{FF2B5EF4-FFF2-40B4-BE49-F238E27FC236}">
                <a16:creationId xmlns:a16="http://schemas.microsoft.com/office/drawing/2014/main" id="{AAA1FE40-878C-4246-8926-5A3B07B1F910}"/>
              </a:ext>
            </a:extLst>
          </p:cNvPr>
          <p:cNvSpPr/>
          <p:nvPr/>
        </p:nvSpPr>
        <p:spPr>
          <a:xfrm>
            <a:off x="2061963" y="2996955"/>
            <a:ext cx="2598757" cy="432045"/>
          </a:xfrm>
          <a:prstGeom prst="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PE" dirty="0"/>
              <a:t>De morbilidad</a:t>
            </a:r>
          </a:p>
        </p:txBody>
      </p:sp>
      <p:sp>
        <p:nvSpPr>
          <p:cNvPr id="11" name="Rectángulo 10">
            <a:extLst>
              <a:ext uri="{FF2B5EF4-FFF2-40B4-BE49-F238E27FC236}">
                <a16:creationId xmlns:a16="http://schemas.microsoft.com/office/drawing/2014/main" id="{6D1453F6-83D5-4240-89F1-A95C99B539C9}"/>
              </a:ext>
            </a:extLst>
          </p:cNvPr>
          <p:cNvSpPr/>
          <p:nvPr/>
        </p:nvSpPr>
        <p:spPr>
          <a:xfrm>
            <a:off x="2061963" y="5085187"/>
            <a:ext cx="2598757" cy="432045"/>
          </a:xfrm>
          <a:prstGeom prst="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PE" dirty="0"/>
              <a:t>De mortalidad</a:t>
            </a:r>
          </a:p>
        </p:txBody>
      </p:sp>
      <p:sp>
        <p:nvSpPr>
          <p:cNvPr id="21" name="Rectángulo 20">
            <a:extLst>
              <a:ext uri="{FF2B5EF4-FFF2-40B4-BE49-F238E27FC236}">
                <a16:creationId xmlns:a16="http://schemas.microsoft.com/office/drawing/2014/main" id="{4CDC708C-CD20-4600-B8CE-2F30BC4031A2}"/>
              </a:ext>
            </a:extLst>
          </p:cNvPr>
          <p:cNvSpPr/>
          <p:nvPr/>
        </p:nvSpPr>
        <p:spPr>
          <a:xfrm>
            <a:off x="2422004" y="3602837"/>
            <a:ext cx="2225107" cy="33022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PE" sz="1400" dirty="0"/>
              <a:t>Prevalencia</a:t>
            </a:r>
          </a:p>
        </p:txBody>
      </p:sp>
      <p:cxnSp>
        <p:nvCxnSpPr>
          <p:cNvPr id="6" name="Conector recto 5">
            <a:extLst>
              <a:ext uri="{FF2B5EF4-FFF2-40B4-BE49-F238E27FC236}">
                <a16:creationId xmlns:a16="http://schemas.microsoft.com/office/drawing/2014/main" id="{9BF4954D-2DAC-41E6-AA1A-3373359903A3}"/>
              </a:ext>
            </a:extLst>
          </p:cNvPr>
          <p:cNvCxnSpPr>
            <a:stCxn id="3" idx="2"/>
            <a:endCxn id="8" idx="0"/>
          </p:cNvCxnSpPr>
          <p:nvPr/>
        </p:nvCxnSpPr>
        <p:spPr>
          <a:xfrm>
            <a:off x="6634472" y="1906271"/>
            <a:ext cx="0" cy="3701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AC0159-A605-429B-8634-5BF52926C72C}"/>
              </a:ext>
            </a:extLst>
          </p:cNvPr>
          <p:cNvCxnSpPr>
            <a:cxnSpLocks/>
          </p:cNvCxnSpPr>
          <p:nvPr/>
        </p:nvCxnSpPr>
        <p:spPr>
          <a:xfrm>
            <a:off x="3160086" y="2108260"/>
            <a:ext cx="694877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F7915D72-4108-4D3B-A445-265EB7C660BD}"/>
              </a:ext>
            </a:extLst>
          </p:cNvPr>
          <p:cNvCxnSpPr>
            <a:cxnSpLocks/>
            <a:endCxn id="7" idx="0"/>
          </p:cNvCxnSpPr>
          <p:nvPr/>
        </p:nvCxnSpPr>
        <p:spPr>
          <a:xfrm>
            <a:off x="3178088" y="2091344"/>
            <a:ext cx="0" cy="185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7A7045A2-65EE-44A5-8DC2-A9224F35A045}"/>
              </a:ext>
            </a:extLst>
          </p:cNvPr>
          <p:cNvCxnSpPr>
            <a:cxnSpLocks/>
            <a:endCxn id="9" idx="0"/>
          </p:cNvCxnSpPr>
          <p:nvPr/>
        </p:nvCxnSpPr>
        <p:spPr>
          <a:xfrm>
            <a:off x="10090856" y="2108260"/>
            <a:ext cx="0" cy="16815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928888EC-7180-4024-9FD4-8B9CB7135977}"/>
              </a:ext>
            </a:extLst>
          </p:cNvPr>
          <p:cNvCxnSpPr>
            <a:cxnSpLocks/>
          </p:cNvCxnSpPr>
          <p:nvPr/>
        </p:nvCxnSpPr>
        <p:spPr>
          <a:xfrm flipH="1">
            <a:off x="1844750" y="2708462"/>
            <a:ext cx="1190" cy="25927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32488DA1-9618-4C72-B98C-F9D2B7677011}"/>
              </a:ext>
            </a:extLst>
          </p:cNvPr>
          <p:cNvCxnSpPr>
            <a:cxnSpLocks/>
            <a:endCxn id="11" idx="1"/>
          </p:cNvCxnSpPr>
          <p:nvPr/>
        </p:nvCxnSpPr>
        <p:spPr>
          <a:xfrm>
            <a:off x="1845940" y="5301209"/>
            <a:ext cx="216023"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Conector recto 47">
            <a:extLst>
              <a:ext uri="{FF2B5EF4-FFF2-40B4-BE49-F238E27FC236}">
                <a16:creationId xmlns:a16="http://schemas.microsoft.com/office/drawing/2014/main" id="{6A642905-6E9F-4638-820C-E2B379B90227}"/>
              </a:ext>
            </a:extLst>
          </p:cNvPr>
          <p:cNvCxnSpPr>
            <a:cxnSpLocks/>
            <a:endCxn id="10" idx="1"/>
          </p:cNvCxnSpPr>
          <p:nvPr/>
        </p:nvCxnSpPr>
        <p:spPr>
          <a:xfrm>
            <a:off x="1844750" y="3212977"/>
            <a:ext cx="217213"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Rectángulo 71">
            <a:extLst>
              <a:ext uri="{FF2B5EF4-FFF2-40B4-BE49-F238E27FC236}">
                <a16:creationId xmlns:a16="http://schemas.microsoft.com/office/drawing/2014/main" id="{8E140428-D1FD-4911-BAF1-AFA8C52F419F}"/>
              </a:ext>
            </a:extLst>
          </p:cNvPr>
          <p:cNvSpPr/>
          <p:nvPr/>
        </p:nvSpPr>
        <p:spPr>
          <a:xfrm>
            <a:off x="2422004" y="4037747"/>
            <a:ext cx="2225107" cy="33022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PE" sz="1400" dirty="0"/>
              <a:t>Incidencia acumulada</a:t>
            </a:r>
          </a:p>
        </p:txBody>
      </p:sp>
      <p:sp>
        <p:nvSpPr>
          <p:cNvPr id="37" name="Rectángulo 36">
            <a:extLst>
              <a:ext uri="{FF2B5EF4-FFF2-40B4-BE49-F238E27FC236}">
                <a16:creationId xmlns:a16="http://schemas.microsoft.com/office/drawing/2014/main" id="{FB736A73-06C1-4D2E-A3F4-29DACE963D80}"/>
              </a:ext>
            </a:extLst>
          </p:cNvPr>
          <p:cNvSpPr/>
          <p:nvPr/>
        </p:nvSpPr>
        <p:spPr>
          <a:xfrm>
            <a:off x="2435613" y="4538211"/>
            <a:ext cx="2225107" cy="33022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PE" sz="1400" dirty="0"/>
              <a:t>Tasa de incidencia</a:t>
            </a:r>
          </a:p>
        </p:txBody>
      </p:sp>
    </p:spTree>
    <p:extLst>
      <p:ext uri="{BB962C8B-B14F-4D97-AF65-F5344CB8AC3E}">
        <p14:creationId xmlns:p14="http://schemas.microsoft.com/office/powerpoint/2010/main" val="93704652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dirty="0"/>
              <a:t>Prevalencia </a:t>
            </a:r>
          </a:p>
        </p:txBody>
      </p:sp>
      <p:sp>
        <p:nvSpPr>
          <p:cNvPr id="5" name="Marcador de posición de texto 4"/>
          <p:cNvSpPr>
            <a:spLocks noGrp="1"/>
          </p:cNvSpPr>
          <p:nvPr>
            <p:ph type="body" idx="1"/>
          </p:nvPr>
        </p:nvSpPr>
        <p:spPr/>
        <p:txBody>
          <a:bodyPr rtlCol="0"/>
          <a:lstStyle/>
          <a:p>
            <a:pPr rtl="0"/>
            <a:r>
              <a:rPr lang="es-ES" dirty="0"/>
              <a:t>Resumen en 2 min</a:t>
            </a:r>
          </a:p>
        </p:txBody>
      </p:sp>
    </p:spTree>
    <p:extLst>
      <p:ext uri="{BB962C8B-B14F-4D97-AF65-F5344CB8AC3E}">
        <p14:creationId xmlns:p14="http://schemas.microsoft.com/office/powerpoint/2010/main" val="35209031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a:xfrm>
            <a:off x="1593436" y="139701"/>
            <a:ext cx="9782801" cy="985044"/>
          </a:xfrm>
        </p:spPr>
        <p:txBody>
          <a:bodyPr rtlCol="0">
            <a:normAutofit/>
          </a:bodyPr>
          <a:lstStyle/>
          <a:p>
            <a:pPr rtl="0"/>
            <a:r>
              <a:rPr lang="es-ES" sz="3200" b="1" dirty="0">
                <a:solidFill>
                  <a:srgbClr val="1232D0"/>
                </a:solidFill>
              </a:rPr>
              <a:t>Clasificaciones de los estudios epidemiológicos</a:t>
            </a:r>
          </a:p>
        </p:txBody>
      </p:sp>
      <p:sp>
        <p:nvSpPr>
          <p:cNvPr id="14" name="Marcador de posición de contenido 13"/>
          <p:cNvSpPr>
            <a:spLocks noGrp="1"/>
          </p:cNvSpPr>
          <p:nvPr>
            <p:ph idx="1"/>
          </p:nvPr>
        </p:nvSpPr>
        <p:spPr>
          <a:xfrm>
            <a:off x="1539668" y="1700808"/>
            <a:ext cx="10045592" cy="4039344"/>
          </a:xfrm>
        </p:spPr>
        <p:txBody>
          <a:bodyPr rtlCol="0">
            <a:normAutofit/>
          </a:bodyPr>
          <a:lstStyle/>
          <a:p>
            <a:pPr rtl="0"/>
            <a:r>
              <a:rPr lang="es-ES" dirty="0"/>
              <a:t>Definición:</a:t>
            </a:r>
          </a:p>
          <a:p>
            <a:pPr rtl="0"/>
            <a:endParaRPr lang="es-ES" dirty="0"/>
          </a:p>
          <a:p>
            <a:pPr rtl="0"/>
            <a:endParaRPr lang="es-ES" dirty="0"/>
          </a:p>
          <a:p>
            <a:pPr rtl="0"/>
            <a:endParaRPr lang="es-ES" dirty="0"/>
          </a:p>
          <a:p>
            <a:pPr rtl="0"/>
            <a:endParaRPr lang="es-ES" dirty="0"/>
          </a:p>
          <a:p>
            <a:pPr rtl="0"/>
            <a:r>
              <a:rPr lang="es-ES" dirty="0"/>
              <a:t>Rango de valores 0 a 100</a:t>
            </a:r>
          </a:p>
        </p:txBody>
      </p:sp>
      <p:cxnSp>
        <p:nvCxnSpPr>
          <p:cNvPr id="4" name="Conector recto 3">
            <a:extLst>
              <a:ext uri="{FF2B5EF4-FFF2-40B4-BE49-F238E27FC236}">
                <a16:creationId xmlns:a16="http://schemas.microsoft.com/office/drawing/2014/main" id="{382DEA70-704B-4295-BFD8-A2B884955048}"/>
              </a:ext>
            </a:extLst>
          </p:cNvPr>
          <p:cNvCxnSpPr>
            <a:cxnSpLocks/>
          </p:cNvCxnSpPr>
          <p:nvPr/>
        </p:nvCxnSpPr>
        <p:spPr>
          <a:xfrm>
            <a:off x="1197868" y="1340768"/>
            <a:ext cx="10729192" cy="0"/>
          </a:xfrm>
          <a:prstGeom prst="line">
            <a:avLst/>
          </a:prstGeom>
          <a:ln w="76200">
            <a:solidFill>
              <a:srgbClr val="596671"/>
            </a:solidFill>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6865D0CA-062B-4BA8-A3D7-1C508A748CBD}"/>
              </a:ext>
            </a:extLst>
          </p:cNvPr>
          <p:cNvPicPr>
            <a:picLocks noChangeAspect="1"/>
          </p:cNvPicPr>
          <p:nvPr/>
        </p:nvPicPr>
        <p:blipFill>
          <a:blip r:embed="rId3"/>
          <a:stretch>
            <a:fillRect/>
          </a:stretch>
        </p:blipFill>
        <p:spPr>
          <a:xfrm>
            <a:off x="1845940" y="2348880"/>
            <a:ext cx="8926171" cy="1552792"/>
          </a:xfrm>
          <a:prstGeom prst="rect">
            <a:avLst/>
          </a:prstGeom>
        </p:spPr>
      </p:pic>
    </p:spTree>
    <p:extLst>
      <p:ext uri="{BB962C8B-B14F-4D97-AF65-F5344CB8AC3E}">
        <p14:creationId xmlns:p14="http://schemas.microsoft.com/office/powerpoint/2010/main" val="424121573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CD8020-1751-49A4-9B07-726321AF9D77}"/>
              </a:ext>
            </a:extLst>
          </p:cNvPr>
          <p:cNvSpPr>
            <a:spLocks noGrp="1"/>
          </p:cNvSpPr>
          <p:nvPr>
            <p:ph type="title"/>
          </p:nvPr>
        </p:nvSpPr>
        <p:spPr/>
        <p:txBody>
          <a:bodyPr/>
          <a:lstStyle/>
          <a:p>
            <a:r>
              <a:rPr lang="es-PE" dirty="0">
                <a:solidFill>
                  <a:srgbClr val="1232D0"/>
                </a:solidFill>
              </a:rPr>
              <a:t>Tipos de prevalencia</a:t>
            </a:r>
          </a:p>
        </p:txBody>
      </p:sp>
      <p:sp>
        <p:nvSpPr>
          <p:cNvPr id="3" name="Marcador de contenido 2">
            <a:extLst>
              <a:ext uri="{FF2B5EF4-FFF2-40B4-BE49-F238E27FC236}">
                <a16:creationId xmlns:a16="http://schemas.microsoft.com/office/drawing/2014/main" id="{539A7A70-045D-45BF-BDA9-1056B9E422A1}"/>
              </a:ext>
            </a:extLst>
          </p:cNvPr>
          <p:cNvSpPr>
            <a:spLocks noGrp="1"/>
          </p:cNvSpPr>
          <p:nvPr>
            <p:ph sz="half" idx="1"/>
          </p:nvPr>
        </p:nvSpPr>
        <p:spPr>
          <a:xfrm>
            <a:off x="1593436" y="1600200"/>
            <a:ext cx="4814586" cy="2188840"/>
          </a:xfrm>
        </p:spPr>
        <p:txBody>
          <a:bodyPr>
            <a:normAutofit/>
          </a:bodyPr>
          <a:lstStyle/>
          <a:p>
            <a:pPr algn="l"/>
            <a:endParaRPr lang="es-PE" sz="1400" b="0" i="0" u="none" strike="noStrike" baseline="0" dirty="0">
              <a:solidFill>
                <a:srgbClr val="000000"/>
              </a:solidFill>
              <a:latin typeface="Arial" panose="020B0604020202020204" pitchFamily="34" charset="0"/>
            </a:endParaRPr>
          </a:p>
          <a:p>
            <a:r>
              <a:rPr lang="es-PE" sz="2800" b="1" i="0" u="none" strike="noStrike" baseline="0" dirty="0">
                <a:solidFill>
                  <a:srgbClr val="4F81BC"/>
                </a:solidFill>
                <a:latin typeface="Arial" panose="020B0604020202020204" pitchFamily="34" charset="0"/>
              </a:rPr>
              <a:t>Prevalencia puntual</a:t>
            </a:r>
            <a:endParaRPr lang="es-PE" sz="2800" b="0" i="0" u="none" strike="noStrike" baseline="0" dirty="0">
              <a:solidFill>
                <a:srgbClr val="4F81BC"/>
              </a:solidFill>
              <a:latin typeface="Arial" panose="020B0604020202020204" pitchFamily="34" charset="0"/>
            </a:endParaRPr>
          </a:p>
          <a:p>
            <a:r>
              <a:rPr lang="es-ES" sz="2000" dirty="0"/>
              <a:t>Prevalencia de enfermedad en un momento dado.</a:t>
            </a:r>
            <a:endParaRPr lang="es-PE" sz="2000" dirty="0"/>
          </a:p>
        </p:txBody>
      </p:sp>
      <p:sp>
        <p:nvSpPr>
          <p:cNvPr id="4" name="Marcador de contenido 3">
            <a:extLst>
              <a:ext uri="{FF2B5EF4-FFF2-40B4-BE49-F238E27FC236}">
                <a16:creationId xmlns:a16="http://schemas.microsoft.com/office/drawing/2014/main" id="{282A3EE8-67FF-4454-9AB7-019DE4BEA8F4}"/>
              </a:ext>
            </a:extLst>
          </p:cNvPr>
          <p:cNvSpPr>
            <a:spLocks noGrp="1"/>
          </p:cNvSpPr>
          <p:nvPr>
            <p:ph sz="half" idx="2"/>
          </p:nvPr>
        </p:nvSpPr>
        <p:spPr/>
        <p:txBody>
          <a:bodyPr>
            <a:normAutofit/>
          </a:bodyPr>
          <a:lstStyle/>
          <a:p>
            <a:pPr algn="l"/>
            <a:endParaRPr lang="es-PE" sz="1400" b="0" i="0" u="none" strike="noStrike" baseline="0" dirty="0">
              <a:solidFill>
                <a:srgbClr val="000000"/>
              </a:solidFill>
              <a:latin typeface="Arial" panose="020B0604020202020204" pitchFamily="34" charset="0"/>
            </a:endParaRPr>
          </a:p>
          <a:p>
            <a:r>
              <a:rPr lang="es-PE" sz="2800" b="1" i="0" u="none" strike="noStrike" baseline="0" dirty="0">
                <a:solidFill>
                  <a:srgbClr val="4F81BC"/>
                </a:solidFill>
                <a:latin typeface="Arial" panose="020B0604020202020204" pitchFamily="34" charset="0"/>
              </a:rPr>
              <a:t>Prevalencia de periodo</a:t>
            </a:r>
          </a:p>
          <a:p>
            <a:pPr algn="just"/>
            <a:r>
              <a:rPr lang="es-ES" sz="2000" dirty="0"/>
              <a:t>Cuántas personas han tenido la enfermedad en cierto periodo de tiempo (un mes o un año calendario). </a:t>
            </a:r>
          </a:p>
          <a:p>
            <a:pPr algn="just"/>
            <a:r>
              <a:rPr lang="es-ES" sz="2000" dirty="0"/>
              <a:t>En el numerador van: </a:t>
            </a:r>
          </a:p>
          <a:p>
            <a:pPr lvl="1" algn="just"/>
            <a:r>
              <a:rPr lang="es-ES" sz="1800" dirty="0"/>
              <a:t>1. Aquellos casos que se conservan cuando se inicia el periodo de observación </a:t>
            </a:r>
          </a:p>
          <a:p>
            <a:pPr lvl="1" algn="just"/>
            <a:r>
              <a:rPr lang="es-ES" sz="1800" dirty="0"/>
              <a:t>2. Nuevos casos que ocurren durante dicho periodo</a:t>
            </a:r>
            <a:endParaRPr lang="es-PE" sz="1800" dirty="0"/>
          </a:p>
        </p:txBody>
      </p:sp>
      <p:pic>
        <p:nvPicPr>
          <p:cNvPr id="6" name="Imagen 5">
            <a:extLst>
              <a:ext uri="{FF2B5EF4-FFF2-40B4-BE49-F238E27FC236}">
                <a16:creationId xmlns:a16="http://schemas.microsoft.com/office/drawing/2014/main" id="{D307859C-8ADF-4F73-8A5D-F78C8AA5CA6B}"/>
              </a:ext>
            </a:extLst>
          </p:cNvPr>
          <p:cNvPicPr>
            <a:picLocks noChangeAspect="1"/>
          </p:cNvPicPr>
          <p:nvPr/>
        </p:nvPicPr>
        <p:blipFill>
          <a:blip r:embed="rId2"/>
          <a:stretch>
            <a:fillRect/>
          </a:stretch>
        </p:blipFill>
        <p:spPr>
          <a:xfrm>
            <a:off x="2061964" y="3429000"/>
            <a:ext cx="3456384" cy="2872639"/>
          </a:xfrm>
          <a:prstGeom prst="rect">
            <a:avLst/>
          </a:prstGeom>
        </p:spPr>
      </p:pic>
    </p:spTree>
    <p:extLst>
      <p:ext uri="{BB962C8B-B14F-4D97-AF65-F5344CB8AC3E}">
        <p14:creationId xmlns:p14="http://schemas.microsoft.com/office/powerpoint/2010/main" val="81458895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64E9096D-4CA6-40DF-A2C8-D93E6F5A71F9}"/>
              </a:ext>
            </a:extLst>
          </p:cNvPr>
          <p:cNvGrpSpPr/>
          <p:nvPr/>
        </p:nvGrpSpPr>
        <p:grpSpPr>
          <a:xfrm>
            <a:off x="981844" y="1700808"/>
            <a:ext cx="9937104" cy="4309509"/>
            <a:chOff x="981844" y="1700808"/>
            <a:chExt cx="9937104" cy="4309509"/>
          </a:xfrm>
        </p:grpSpPr>
        <p:pic>
          <p:nvPicPr>
            <p:cNvPr id="3" name="Imagen 2">
              <a:extLst>
                <a:ext uri="{FF2B5EF4-FFF2-40B4-BE49-F238E27FC236}">
                  <a16:creationId xmlns:a16="http://schemas.microsoft.com/office/drawing/2014/main" id="{4FA3282A-1CB2-4A73-941B-56E9A1EB6F44}"/>
                </a:ext>
              </a:extLst>
            </p:cNvPr>
            <p:cNvPicPr>
              <a:picLocks noChangeAspect="1"/>
            </p:cNvPicPr>
            <p:nvPr/>
          </p:nvPicPr>
          <p:blipFill rotWithShape="1">
            <a:blip r:embed="rId2"/>
            <a:srcRect t="21764"/>
            <a:stretch/>
          </p:blipFill>
          <p:spPr>
            <a:xfrm>
              <a:off x="981844" y="1700808"/>
              <a:ext cx="9937104" cy="4309509"/>
            </a:xfrm>
            <a:prstGeom prst="rect">
              <a:avLst/>
            </a:prstGeom>
          </p:spPr>
        </p:pic>
        <p:pic>
          <p:nvPicPr>
            <p:cNvPr id="5" name="Imagen 4">
              <a:extLst>
                <a:ext uri="{FF2B5EF4-FFF2-40B4-BE49-F238E27FC236}">
                  <a16:creationId xmlns:a16="http://schemas.microsoft.com/office/drawing/2014/main" id="{F97DB698-85A1-43B8-905E-999B1EB27142}"/>
                </a:ext>
              </a:extLst>
            </p:cNvPr>
            <p:cNvPicPr>
              <a:picLocks noChangeAspect="1"/>
            </p:cNvPicPr>
            <p:nvPr/>
          </p:nvPicPr>
          <p:blipFill>
            <a:blip r:embed="rId3"/>
            <a:stretch>
              <a:fillRect/>
            </a:stretch>
          </p:blipFill>
          <p:spPr>
            <a:xfrm>
              <a:off x="8326660" y="5517232"/>
              <a:ext cx="2486372" cy="493085"/>
            </a:xfrm>
            <a:prstGeom prst="rect">
              <a:avLst/>
            </a:prstGeom>
          </p:spPr>
        </p:pic>
      </p:grpSp>
      <p:sp>
        <p:nvSpPr>
          <p:cNvPr id="8" name="CuadroTexto 7">
            <a:extLst>
              <a:ext uri="{FF2B5EF4-FFF2-40B4-BE49-F238E27FC236}">
                <a16:creationId xmlns:a16="http://schemas.microsoft.com/office/drawing/2014/main" id="{DE25B247-006A-4FAA-AD0C-9CC5912CFF13}"/>
              </a:ext>
            </a:extLst>
          </p:cNvPr>
          <p:cNvSpPr txBox="1"/>
          <p:nvPr/>
        </p:nvSpPr>
        <p:spPr>
          <a:xfrm>
            <a:off x="1125860" y="1124744"/>
            <a:ext cx="6100482" cy="584775"/>
          </a:xfrm>
          <a:prstGeom prst="rect">
            <a:avLst/>
          </a:prstGeom>
          <a:noFill/>
        </p:spPr>
        <p:txBody>
          <a:bodyPr wrap="square">
            <a:spAutoFit/>
          </a:bodyPr>
          <a:lstStyle/>
          <a:p>
            <a:r>
              <a:rPr lang="es-PE" sz="3200" b="1" i="0" u="none" strike="noStrike" baseline="0" dirty="0">
                <a:solidFill>
                  <a:srgbClr val="4F81BC"/>
                </a:solidFill>
                <a:latin typeface="Arial" panose="020B0604020202020204" pitchFamily="34" charset="0"/>
              </a:rPr>
              <a:t>Prevalencia de periodo</a:t>
            </a:r>
          </a:p>
        </p:txBody>
      </p:sp>
    </p:spTree>
    <p:extLst>
      <p:ext uri="{BB962C8B-B14F-4D97-AF65-F5344CB8AC3E}">
        <p14:creationId xmlns:p14="http://schemas.microsoft.com/office/powerpoint/2010/main" val="154526392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DE25B247-006A-4FAA-AD0C-9CC5912CFF13}"/>
              </a:ext>
            </a:extLst>
          </p:cNvPr>
          <p:cNvSpPr txBox="1"/>
          <p:nvPr/>
        </p:nvSpPr>
        <p:spPr>
          <a:xfrm>
            <a:off x="1125860" y="1124744"/>
            <a:ext cx="6100482" cy="584775"/>
          </a:xfrm>
          <a:prstGeom prst="rect">
            <a:avLst/>
          </a:prstGeom>
          <a:noFill/>
        </p:spPr>
        <p:txBody>
          <a:bodyPr wrap="square">
            <a:spAutoFit/>
          </a:bodyPr>
          <a:lstStyle/>
          <a:p>
            <a:r>
              <a:rPr lang="es-PE" sz="3200" b="1" i="0" u="none" strike="noStrike" baseline="0" dirty="0">
                <a:solidFill>
                  <a:srgbClr val="4F81BC"/>
                </a:solidFill>
                <a:latin typeface="Arial" panose="020B0604020202020204" pitchFamily="34" charset="0"/>
              </a:rPr>
              <a:t>Prevalencia puntual</a:t>
            </a:r>
          </a:p>
        </p:txBody>
      </p:sp>
      <p:pic>
        <p:nvPicPr>
          <p:cNvPr id="4" name="Imagen 3">
            <a:extLst>
              <a:ext uri="{FF2B5EF4-FFF2-40B4-BE49-F238E27FC236}">
                <a16:creationId xmlns:a16="http://schemas.microsoft.com/office/drawing/2014/main" id="{1382B6D1-91EB-4CDB-8DEC-6F0BB6516BD7}"/>
              </a:ext>
            </a:extLst>
          </p:cNvPr>
          <p:cNvPicPr>
            <a:picLocks noChangeAspect="1"/>
          </p:cNvPicPr>
          <p:nvPr/>
        </p:nvPicPr>
        <p:blipFill>
          <a:blip r:embed="rId2"/>
          <a:stretch>
            <a:fillRect/>
          </a:stretch>
        </p:blipFill>
        <p:spPr>
          <a:xfrm>
            <a:off x="1416984" y="1866015"/>
            <a:ext cx="7197708" cy="4463752"/>
          </a:xfrm>
          <a:prstGeom prst="rect">
            <a:avLst/>
          </a:prstGeom>
        </p:spPr>
      </p:pic>
      <p:pic>
        <p:nvPicPr>
          <p:cNvPr id="9" name="Imagen 8">
            <a:extLst>
              <a:ext uri="{FF2B5EF4-FFF2-40B4-BE49-F238E27FC236}">
                <a16:creationId xmlns:a16="http://schemas.microsoft.com/office/drawing/2014/main" id="{B5594D3A-E561-4D65-9D63-60F4A06CD386}"/>
              </a:ext>
            </a:extLst>
          </p:cNvPr>
          <p:cNvPicPr>
            <a:picLocks noChangeAspect="1"/>
          </p:cNvPicPr>
          <p:nvPr/>
        </p:nvPicPr>
        <p:blipFill>
          <a:blip r:embed="rId3"/>
          <a:stretch>
            <a:fillRect/>
          </a:stretch>
        </p:blipFill>
        <p:spPr>
          <a:xfrm>
            <a:off x="8398668" y="1988840"/>
            <a:ext cx="2527744" cy="1368152"/>
          </a:xfrm>
          <a:prstGeom prst="rect">
            <a:avLst/>
          </a:prstGeom>
        </p:spPr>
      </p:pic>
      <p:pic>
        <p:nvPicPr>
          <p:cNvPr id="10" name="Imagen 9">
            <a:extLst>
              <a:ext uri="{FF2B5EF4-FFF2-40B4-BE49-F238E27FC236}">
                <a16:creationId xmlns:a16="http://schemas.microsoft.com/office/drawing/2014/main" id="{272E0C12-336C-4866-99F1-46BBDB236EE9}"/>
              </a:ext>
            </a:extLst>
          </p:cNvPr>
          <p:cNvPicPr>
            <a:picLocks noChangeAspect="1"/>
          </p:cNvPicPr>
          <p:nvPr/>
        </p:nvPicPr>
        <p:blipFill>
          <a:blip r:embed="rId4"/>
          <a:stretch>
            <a:fillRect/>
          </a:stretch>
        </p:blipFill>
        <p:spPr>
          <a:xfrm>
            <a:off x="2710036" y="5867824"/>
            <a:ext cx="504056" cy="485843"/>
          </a:xfrm>
          <a:prstGeom prst="rect">
            <a:avLst/>
          </a:prstGeom>
        </p:spPr>
      </p:pic>
      <p:pic>
        <p:nvPicPr>
          <p:cNvPr id="11" name="Imagen 10">
            <a:extLst>
              <a:ext uri="{FF2B5EF4-FFF2-40B4-BE49-F238E27FC236}">
                <a16:creationId xmlns:a16="http://schemas.microsoft.com/office/drawing/2014/main" id="{D75767E1-7CF3-4112-A82E-A0787DA38AFA}"/>
              </a:ext>
            </a:extLst>
          </p:cNvPr>
          <p:cNvPicPr>
            <a:picLocks noChangeAspect="1"/>
          </p:cNvPicPr>
          <p:nvPr/>
        </p:nvPicPr>
        <p:blipFill>
          <a:blip r:embed="rId4"/>
          <a:stretch>
            <a:fillRect/>
          </a:stretch>
        </p:blipFill>
        <p:spPr>
          <a:xfrm>
            <a:off x="4870276" y="5900688"/>
            <a:ext cx="504056" cy="485843"/>
          </a:xfrm>
          <a:prstGeom prst="rect">
            <a:avLst/>
          </a:prstGeom>
        </p:spPr>
      </p:pic>
      <p:pic>
        <p:nvPicPr>
          <p:cNvPr id="12" name="Imagen 11">
            <a:extLst>
              <a:ext uri="{FF2B5EF4-FFF2-40B4-BE49-F238E27FC236}">
                <a16:creationId xmlns:a16="http://schemas.microsoft.com/office/drawing/2014/main" id="{B82274C3-17D9-4820-BDAA-83462D276DCC}"/>
              </a:ext>
            </a:extLst>
          </p:cNvPr>
          <p:cNvPicPr>
            <a:picLocks noChangeAspect="1"/>
          </p:cNvPicPr>
          <p:nvPr/>
        </p:nvPicPr>
        <p:blipFill>
          <a:blip r:embed="rId4"/>
          <a:stretch>
            <a:fillRect/>
          </a:stretch>
        </p:blipFill>
        <p:spPr>
          <a:xfrm>
            <a:off x="6325376" y="5900688"/>
            <a:ext cx="633132" cy="485843"/>
          </a:xfrm>
          <a:prstGeom prst="rect">
            <a:avLst/>
          </a:prstGeom>
        </p:spPr>
      </p:pic>
    </p:spTree>
    <p:extLst>
      <p:ext uri="{BB962C8B-B14F-4D97-AF65-F5344CB8AC3E}">
        <p14:creationId xmlns:p14="http://schemas.microsoft.com/office/powerpoint/2010/main" val="64802134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DE25B247-006A-4FAA-AD0C-9CC5912CFF13}"/>
              </a:ext>
            </a:extLst>
          </p:cNvPr>
          <p:cNvSpPr txBox="1"/>
          <p:nvPr/>
        </p:nvSpPr>
        <p:spPr>
          <a:xfrm>
            <a:off x="1125860" y="1124744"/>
            <a:ext cx="6100482" cy="584775"/>
          </a:xfrm>
          <a:prstGeom prst="rect">
            <a:avLst/>
          </a:prstGeom>
          <a:noFill/>
        </p:spPr>
        <p:txBody>
          <a:bodyPr wrap="square">
            <a:spAutoFit/>
          </a:bodyPr>
          <a:lstStyle/>
          <a:p>
            <a:r>
              <a:rPr lang="es-PE" sz="3200" b="1" i="0" u="none" strike="noStrike" baseline="0" dirty="0">
                <a:solidFill>
                  <a:srgbClr val="4F81BC"/>
                </a:solidFill>
                <a:latin typeface="Arial" panose="020B0604020202020204" pitchFamily="34" charset="0"/>
              </a:rPr>
              <a:t>Prevalencia de periodo</a:t>
            </a:r>
          </a:p>
        </p:txBody>
      </p:sp>
      <p:pic>
        <p:nvPicPr>
          <p:cNvPr id="7" name="Imagen 6">
            <a:extLst>
              <a:ext uri="{FF2B5EF4-FFF2-40B4-BE49-F238E27FC236}">
                <a16:creationId xmlns:a16="http://schemas.microsoft.com/office/drawing/2014/main" id="{34C7DE90-5884-44CC-AF42-A3E42F05BFA6}"/>
              </a:ext>
            </a:extLst>
          </p:cNvPr>
          <p:cNvPicPr>
            <a:picLocks noChangeAspect="1"/>
          </p:cNvPicPr>
          <p:nvPr/>
        </p:nvPicPr>
        <p:blipFill>
          <a:blip r:embed="rId2"/>
          <a:stretch>
            <a:fillRect/>
          </a:stretch>
        </p:blipFill>
        <p:spPr>
          <a:xfrm>
            <a:off x="8398668" y="1988840"/>
            <a:ext cx="2527744" cy="1368152"/>
          </a:xfrm>
          <a:prstGeom prst="rect">
            <a:avLst/>
          </a:prstGeom>
        </p:spPr>
      </p:pic>
      <p:pic>
        <p:nvPicPr>
          <p:cNvPr id="4" name="Imagen 3">
            <a:extLst>
              <a:ext uri="{FF2B5EF4-FFF2-40B4-BE49-F238E27FC236}">
                <a16:creationId xmlns:a16="http://schemas.microsoft.com/office/drawing/2014/main" id="{C7A09C23-5EA0-4AFD-A89E-04B2D122FAD1}"/>
              </a:ext>
            </a:extLst>
          </p:cNvPr>
          <p:cNvPicPr>
            <a:picLocks noChangeAspect="1"/>
          </p:cNvPicPr>
          <p:nvPr/>
        </p:nvPicPr>
        <p:blipFill>
          <a:blip r:embed="rId3"/>
          <a:stretch>
            <a:fillRect/>
          </a:stretch>
        </p:blipFill>
        <p:spPr>
          <a:xfrm>
            <a:off x="1125860" y="1910674"/>
            <a:ext cx="7256265" cy="4542662"/>
          </a:xfrm>
          <a:prstGeom prst="rect">
            <a:avLst/>
          </a:prstGeom>
        </p:spPr>
      </p:pic>
      <p:pic>
        <p:nvPicPr>
          <p:cNvPr id="9" name="Imagen 8">
            <a:extLst>
              <a:ext uri="{FF2B5EF4-FFF2-40B4-BE49-F238E27FC236}">
                <a16:creationId xmlns:a16="http://schemas.microsoft.com/office/drawing/2014/main" id="{723F528A-93AF-4B27-8D19-8C5C715A7F0F}"/>
              </a:ext>
            </a:extLst>
          </p:cNvPr>
          <p:cNvPicPr>
            <a:picLocks noChangeAspect="1"/>
          </p:cNvPicPr>
          <p:nvPr/>
        </p:nvPicPr>
        <p:blipFill>
          <a:blip r:embed="rId2"/>
          <a:stretch>
            <a:fillRect/>
          </a:stretch>
        </p:blipFill>
        <p:spPr>
          <a:xfrm>
            <a:off x="8391280" y="1988840"/>
            <a:ext cx="2527744" cy="1368152"/>
          </a:xfrm>
          <a:prstGeom prst="rect">
            <a:avLst/>
          </a:prstGeom>
        </p:spPr>
      </p:pic>
      <p:pic>
        <p:nvPicPr>
          <p:cNvPr id="10" name="Imagen 9">
            <a:extLst>
              <a:ext uri="{FF2B5EF4-FFF2-40B4-BE49-F238E27FC236}">
                <a16:creationId xmlns:a16="http://schemas.microsoft.com/office/drawing/2014/main" id="{F35AA0CD-6C10-4B95-B265-049771B3E3BE}"/>
              </a:ext>
            </a:extLst>
          </p:cNvPr>
          <p:cNvPicPr>
            <a:picLocks noChangeAspect="1"/>
          </p:cNvPicPr>
          <p:nvPr/>
        </p:nvPicPr>
        <p:blipFill>
          <a:blip r:embed="rId4"/>
          <a:stretch>
            <a:fillRect/>
          </a:stretch>
        </p:blipFill>
        <p:spPr>
          <a:xfrm>
            <a:off x="4753992" y="6039501"/>
            <a:ext cx="409632" cy="557851"/>
          </a:xfrm>
          <a:prstGeom prst="rect">
            <a:avLst/>
          </a:prstGeom>
        </p:spPr>
      </p:pic>
    </p:spTree>
    <p:extLst>
      <p:ext uri="{BB962C8B-B14F-4D97-AF65-F5344CB8AC3E}">
        <p14:creationId xmlns:p14="http://schemas.microsoft.com/office/powerpoint/2010/main" val="66667449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E9EBC82-6CF5-486F-ACF8-467FC9728A6D}"/>
              </a:ext>
            </a:extLst>
          </p:cNvPr>
          <p:cNvPicPr>
            <a:picLocks noChangeAspect="1"/>
          </p:cNvPicPr>
          <p:nvPr/>
        </p:nvPicPr>
        <p:blipFill rotWithShape="1">
          <a:blip r:embed="rId2"/>
          <a:srcRect l="1934" t="6495" r="1934" b="24623"/>
          <a:stretch/>
        </p:blipFill>
        <p:spPr>
          <a:xfrm>
            <a:off x="1629916" y="1700807"/>
            <a:ext cx="8928992" cy="2736305"/>
          </a:xfrm>
          <a:prstGeom prst="rect">
            <a:avLst/>
          </a:prstGeom>
          <a:ln>
            <a:solidFill>
              <a:schemeClr val="tx2">
                <a:lumMod val="95000"/>
                <a:lumOff val="5000"/>
              </a:schemeClr>
            </a:solidFill>
          </a:ln>
        </p:spPr>
      </p:pic>
      <p:sp>
        <p:nvSpPr>
          <p:cNvPr id="4" name="CuadroTexto 3">
            <a:extLst>
              <a:ext uri="{FF2B5EF4-FFF2-40B4-BE49-F238E27FC236}">
                <a16:creationId xmlns:a16="http://schemas.microsoft.com/office/drawing/2014/main" id="{4DCFE7B2-F78B-4DCC-B0FF-D1830EDA88AF}"/>
              </a:ext>
            </a:extLst>
          </p:cNvPr>
          <p:cNvSpPr txBox="1"/>
          <p:nvPr/>
        </p:nvSpPr>
        <p:spPr>
          <a:xfrm>
            <a:off x="1125860" y="836712"/>
            <a:ext cx="6100482" cy="584775"/>
          </a:xfrm>
          <a:prstGeom prst="rect">
            <a:avLst/>
          </a:prstGeom>
          <a:noFill/>
        </p:spPr>
        <p:txBody>
          <a:bodyPr wrap="square">
            <a:spAutoFit/>
          </a:bodyPr>
          <a:lstStyle/>
          <a:p>
            <a:r>
              <a:rPr lang="es-PE" sz="3200" b="1" i="0" u="none" strike="noStrike" baseline="0" dirty="0">
                <a:solidFill>
                  <a:srgbClr val="4F81BC"/>
                </a:solidFill>
                <a:latin typeface="Arial" panose="020B0604020202020204" pitchFamily="34" charset="0"/>
              </a:rPr>
              <a:t>Ejemplos</a:t>
            </a:r>
          </a:p>
        </p:txBody>
      </p:sp>
    </p:spTree>
    <p:extLst>
      <p:ext uri="{BB962C8B-B14F-4D97-AF65-F5344CB8AC3E}">
        <p14:creationId xmlns:p14="http://schemas.microsoft.com/office/powerpoint/2010/main" val="184729965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98612" y="1600201"/>
            <a:ext cx="9752384" cy="2654064"/>
          </a:xfrm>
        </p:spPr>
        <p:txBody>
          <a:bodyPr rtlCol="0"/>
          <a:lstStyle/>
          <a:p>
            <a:pPr rtl="0"/>
            <a:r>
              <a:rPr lang="es-ES" dirty="0"/>
              <a:t>Incidencia acumulada</a:t>
            </a:r>
          </a:p>
        </p:txBody>
      </p:sp>
      <p:sp>
        <p:nvSpPr>
          <p:cNvPr id="5" name="Marcador de posición de texto 4"/>
          <p:cNvSpPr>
            <a:spLocks noGrp="1"/>
          </p:cNvSpPr>
          <p:nvPr>
            <p:ph type="body" idx="1"/>
          </p:nvPr>
        </p:nvSpPr>
        <p:spPr/>
        <p:txBody>
          <a:bodyPr rtlCol="0"/>
          <a:lstStyle/>
          <a:p>
            <a:pPr rtl="0"/>
            <a:r>
              <a:rPr lang="es-ES" dirty="0"/>
              <a:t>Resumen en 2 min</a:t>
            </a:r>
          </a:p>
        </p:txBody>
      </p:sp>
    </p:spTree>
    <p:extLst>
      <p:ext uri="{BB962C8B-B14F-4D97-AF65-F5344CB8AC3E}">
        <p14:creationId xmlns:p14="http://schemas.microsoft.com/office/powerpoint/2010/main" val="342978280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a:xfrm>
            <a:off x="1593436" y="139701"/>
            <a:ext cx="9782801" cy="985044"/>
          </a:xfrm>
        </p:spPr>
        <p:txBody>
          <a:bodyPr rtlCol="0">
            <a:normAutofit/>
          </a:bodyPr>
          <a:lstStyle/>
          <a:p>
            <a:pPr rtl="0"/>
            <a:r>
              <a:rPr lang="es-ES" sz="3200" b="1" dirty="0">
                <a:solidFill>
                  <a:srgbClr val="1232D0"/>
                </a:solidFill>
              </a:rPr>
              <a:t>Incidencia</a:t>
            </a:r>
          </a:p>
        </p:txBody>
      </p:sp>
      <p:sp>
        <p:nvSpPr>
          <p:cNvPr id="14" name="Marcador de posición de contenido 13"/>
          <p:cNvSpPr>
            <a:spLocks noGrp="1"/>
          </p:cNvSpPr>
          <p:nvPr>
            <p:ph idx="1"/>
          </p:nvPr>
        </p:nvSpPr>
        <p:spPr>
          <a:xfrm>
            <a:off x="1773932" y="1700808"/>
            <a:ext cx="9865096" cy="3024336"/>
          </a:xfrm>
        </p:spPr>
        <p:txBody>
          <a:bodyPr rtlCol="0">
            <a:normAutofit fontScale="92500" lnSpcReduction="10000"/>
          </a:bodyPr>
          <a:lstStyle/>
          <a:p>
            <a:pPr rtl="0"/>
            <a:r>
              <a:rPr lang="es-ES" dirty="0"/>
              <a:t>Definición:</a:t>
            </a:r>
          </a:p>
          <a:p>
            <a:pPr rtl="0"/>
            <a:endParaRPr lang="es-ES" dirty="0"/>
          </a:p>
          <a:p>
            <a:pPr rtl="0"/>
            <a:endParaRPr lang="es-ES" dirty="0"/>
          </a:p>
          <a:p>
            <a:pPr rtl="0"/>
            <a:endParaRPr lang="es-ES" dirty="0"/>
          </a:p>
          <a:p>
            <a:pPr marL="0" indent="0" rtl="0">
              <a:buNone/>
            </a:pPr>
            <a:endParaRPr lang="es-ES" dirty="0"/>
          </a:p>
          <a:p>
            <a:pPr rtl="0"/>
            <a:r>
              <a:rPr lang="es-ES" dirty="0"/>
              <a:t>¿Qué entendemos por riesgo?</a:t>
            </a:r>
          </a:p>
        </p:txBody>
      </p:sp>
      <p:cxnSp>
        <p:nvCxnSpPr>
          <p:cNvPr id="4" name="Conector recto 3">
            <a:extLst>
              <a:ext uri="{FF2B5EF4-FFF2-40B4-BE49-F238E27FC236}">
                <a16:creationId xmlns:a16="http://schemas.microsoft.com/office/drawing/2014/main" id="{382DEA70-704B-4295-BFD8-A2B884955048}"/>
              </a:ext>
            </a:extLst>
          </p:cNvPr>
          <p:cNvCxnSpPr>
            <a:cxnSpLocks/>
          </p:cNvCxnSpPr>
          <p:nvPr/>
        </p:nvCxnSpPr>
        <p:spPr>
          <a:xfrm>
            <a:off x="1197868" y="1340768"/>
            <a:ext cx="10729192" cy="0"/>
          </a:xfrm>
          <a:prstGeom prst="line">
            <a:avLst/>
          </a:prstGeom>
          <a:ln w="76200">
            <a:solidFill>
              <a:srgbClr val="596671"/>
            </a:solidFill>
          </a:ln>
        </p:spPr>
        <p:style>
          <a:lnRef idx="1">
            <a:schemeClr val="accent1"/>
          </a:lnRef>
          <a:fillRef idx="0">
            <a:schemeClr val="accent1"/>
          </a:fillRef>
          <a:effectRef idx="0">
            <a:schemeClr val="accent1"/>
          </a:effectRef>
          <a:fontRef idx="minor">
            <a:schemeClr val="tx1"/>
          </a:fontRef>
        </p:style>
      </p:cxnSp>
      <p:pic>
        <p:nvPicPr>
          <p:cNvPr id="3" name="Imagen 2">
            <a:extLst>
              <a:ext uri="{FF2B5EF4-FFF2-40B4-BE49-F238E27FC236}">
                <a16:creationId xmlns:a16="http://schemas.microsoft.com/office/drawing/2014/main" id="{EB0B0B18-60F2-4939-A6BB-B388A0822D8F}"/>
              </a:ext>
            </a:extLst>
          </p:cNvPr>
          <p:cNvPicPr>
            <a:picLocks noChangeAspect="1"/>
          </p:cNvPicPr>
          <p:nvPr/>
        </p:nvPicPr>
        <p:blipFill>
          <a:blip r:embed="rId3"/>
          <a:stretch>
            <a:fillRect/>
          </a:stretch>
        </p:blipFill>
        <p:spPr>
          <a:xfrm>
            <a:off x="1840750" y="2276872"/>
            <a:ext cx="9288171" cy="1714739"/>
          </a:xfrm>
          <a:prstGeom prst="rect">
            <a:avLst/>
          </a:prstGeom>
        </p:spPr>
      </p:pic>
      <p:pic>
        <p:nvPicPr>
          <p:cNvPr id="8" name="Imagen 7">
            <a:extLst>
              <a:ext uri="{FF2B5EF4-FFF2-40B4-BE49-F238E27FC236}">
                <a16:creationId xmlns:a16="http://schemas.microsoft.com/office/drawing/2014/main" id="{83A001F8-A6BC-4BB1-B698-CA3604BD0DF3}"/>
              </a:ext>
            </a:extLst>
          </p:cNvPr>
          <p:cNvPicPr>
            <a:picLocks noChangeAspect="1"/>
          </p:cNvPicPr>
          <p:nvPr/>
        </p:nvPicPr>
        <p:blipFill>
          <a:blip r:embed="rId4"/>
          <a:stretch>
            <a:fillRect/>
          </a:stretch>
        </p:blipFill>
        <p:spPr>
          <a:xfrm>
            <a:off x="2205980" y="4597636"/>
            <a:ext cx="4680520" cy="2158571"/>
          </a:xfrm>
          <a:prstGeom prst="rect">
            <a:avLst/>
          </a:prstGeom>
        </p:spPr>
      </p:pic>
      <p:pic>
        <p:nvPicPr>
          <p:cNvPr id="7" name="Imagen 6">
            <a:extLst>
              <a:ext uri="{FF2B5EF4-FFF2-40B4-BE49-F238E27FC236}">
                <a16:creationId xmlns:a16="http://schemas.microsoft.com/office/drawing/2014/main" id="{8FD3909A-5F8B-45E7-A14B-EB654D6AA293}"/>
              </a:ext>
            </a:extLst>
          </p:cNvPr>
          <p:cNvPicPr>
            <a:picLocks noChangeAspect="1"/>
          </p:cNvPicPr>
          <p:nvPr/>
        </p:nvPicPr>
        <p:blipFill>
          <a:blip r:embed="rId5"/>
          <a:stretch>
            <a:fillRect/>
          </a:stretch>
        </p:blipFill>
        <p:spPr>
          <a:xfrm>
            <a:off x="6978833" y="4221922"/>
            <a:ext cx="4397404" cy="2158572"/>
          </a:xfrm>
          <a:prstGeom prst="rect">
            <a:avLst/>
          </a:prstGeom>
        </p:spPr>
      </p:pic>
    </p:spTree>
    <p:extLst>
      <p:ext uri="{BB962C8B-B14F-4D97-AF65-F5344CB8AC3E}">
        <p14:creationId xmlns:p14="http://schemas.microsoft.com/office/powerpoint/2010/main" val="336936564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FFBD43A-14C7-4D54-9EBC-A7AE554638E6}"/>
              </a:ext>
            </a:extLst>
          </p:cNvPr>
          <p:cNvPicPr>
            <a:picLocks noChangeAspect="1"/>
          </p:cNvPicPr>
          <p:nvPr/>
        </p:nvPicPr>
        <p:blipFill>
          <a:blip r:embed="rId2"/>
          <a:stretch>
            <a:fillRect/>
          </a:stretch>
        </p:blipFill>
        <p:spPr>
          <a:xfrm>
            <a:off x="9838828" y="5805263"/>
            <a:ext cx="943107" cy="591187"/>
          </a:xfrm>
          <a:prstGeom prst="rect">
            <a:avLst/>
          </a:prstGeom>
        </p:spPr>
      </p:pic>
      <p:pic>
        <p:nvPicPr>
          <p:cNvPr id="3" name="Imagen 2">
            <a:extLst>
              <a:ext uri="{FF2B5EF4-FFF2-40B4-BE49-F238E27FC236}">
                <a16:creationId xmlns:a16="http://schemas.microsoft.com/office/drawing/2014/main" id="{B83A9AF1-69B9-42D1-94E7-964DA25B7615}"/>
              </a:ext>
            </a:extLst>
          </p:cNvPr>
          <p:cNvPicPr>
            <a:picLocks noChangeAspect="1"/>
          </p:cNvPicPr>
          <p:nvPr/>
        </p:nvPicPr>
        <p:blipFill>
          <a:blip r:embed="rId3"/>
          <a:stretch>
            <a:fillRect/>
          </a:stretch>
        </p:blipFill>
        <p:spPr>
          <a:xfrm>
            <a:off x="1483669" y="418680"/>
            <a:ext cx="9221487" cy="6020640"/>
          </a:xfrm>
          <a:prstGeom prst="rect">
            <a:avLst/>
          </a:prstGeom>
        </p:spPr>
      </p:pic>
    </p:spTree>
    <p:extLst>
      <p:ext uri="{BB962C8B-B14F-4D97-AF65-F5344CB8AC3E}">
        <p14:creationId xmlns:p14="http://schemas.microsoft.com/office/powerpoint/2010/main" val="69705113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782DF46-A810-4723-BEAE-7B2E394903C5}"/>
              </a:ext>
            </a:extLst>
          </p:cNvPr>
          <p:cNvPicPr>
            <a:picLocks noChangeAspect="1"/>
          </p:cNvPicPr>
          <p:nvPr/>
        </p:nvPicPr>
        <p:blipFill>
          <a:blip r:embed="rId2"/>
          <a:stretch>
            <a:fillRect/>
          </a:stretch>
        </p:blipFill>
        <p:spPr>
          <a:xfrm>
            <a:off x="1053853" y="1556792"/>
            <a:ext cx="7536562" cy="4680520"/>
          </a:xfrm>
          <a:prstGeom prst="rect">
            <a:avLst/>
          </a:prstGeom>
        </p:spPr>
      </p:pic>
      <p:sp>
        <p:nvSpPr>
          <p:cNvPr id="4" name="CuadroTexto 3">
            <a:extLst>
              <a:ext uri="{FF2B5EF4-FFF2-40B4-BE49-F238E27FC236}">
                <a16:creationId xmlns:a16="http://schemas.microsoft.com/office/drawing/2014/main" id="{45C7132C-1FC4-4031-860A-61CBF0372DC5}"/>
              </a:ext>
            </a:extLst>
          </p:cNvPr>
          <p:cNvSpPr txBox="1"/>
          <p:nvPr/>
        </p:nvSpPr>
        <p:spPr>
          <a:xfrm>
            <a:off x="1125860" y="836712"/>
            <a:ext cx="6100482" cy="584775"/>
          </a:xfrm>
          <a:prstGeom prst="rect">
            <a:avLst/>
          </a:prstGeom>
          <a:noFill/>
        </p:spPr>
        <p:txBody>
          <a:bodyPr wrap="square">
            <a:spAutoFit/>
          </a:bodyPr>
          <a:lstStyle/>
          <a:p>
            <a:r>
              <a:rPr lang="es-PE" sz="3200" b="1" i="0" u="none" strike="noStrike" baseline="0" dirty="0">
                <a:solidFill>
                  <a:srgbClr val="4F81BC"/>
                </a:solidFill>
                <a:latin typeface="Arial" panose="020B0604020202020204" pitchFamily="34" charset="0"/>
              </a:rPr>
              <a:t>Incidencia acumulada</a:t>
            </a:r>
          </a:p>
        </p:txBody>
      </p:sp>
      <p:pic>
        <p:nvPicPr>
          <p:cNvPr id="5" name="Imagen 4">
            <a:extLst>
              <a:ext uri="{FF2B5EF4-FFF2-40B4-BE49-F238E27FC236}">
                <a16:creationId xmlns:a16="http://schemas.microsoft.com/office/drawing/2014/main" id="{6F07DA7A-C939-4E05-A476-DEBC502D2D77}"/>
              </a:ext>
            </a:extLst>
          </p:cNvPr>
          <p:cNvPicPr>
            <a:picLocks noChangeAspect="1"/>
          </p:cNvPicPr>
          <p:nvPr/>
        </p:nvPicPr>
        <p:blipFill>
          <a:blip r:embed="rId3"/>
          <a:stretch>
            <a:fillRect/>
          </a:stretch>
        </p:blipFill>
        <p:spPr>
          <a:xfrm>
            <a:off x="8391280" y="1988840"/>
            <a:ext cx="2527744" cy="1368152"/>
          </a:xfrm>
          <a:prstGeom prst="rect">
            <a:avLst/>
          </a:prstGeom>
        </p:spPr>
      </p:pic>
      <p:pic>
        <p:nvPicPr>
          <p:cNvPr id="7" name="Imagen 6">
            <a:extLst>
              <a:ext uri="{FF2B5EF4-FFF2-40B4-BE49-F238E27FC236}">
                <a16:creationId xmlns:a16="http://schemas.microsoft.com/office/drawing/2014/main" id="{BDDE0E6D-AAB2-444D-B060-2A015D252CB7}"/>
              </a:ext>
            </a:extLst>
          </p:cNvPr>
          <p:cNvPicPr>
            <a:picLocks noChangeAspect="1"/>
          </p:cNvPicPr>
          <p:nvPr/>
        </p:nvPicPr>
        <p:blipFill>
          <a:blip r:embed="rId4"/>
          <a:stretch>
            <a:fillRect/>
          </a:stretch>
        </p:blipFill>
        <p:spPr>
          <a:xfrm>
            <a:off x="3430116" y="5778366"/>
            <a:ext cx="409632" cy="485843"/>
          </a:xfrm>
          <a:prstGeom prst="rect">
            <a:avLst/>
          </a:prstGeom>
        </p:spPr>
      </p:pic>
      <p:pic>
        <p:nvPicPr>
          <p:cNvPr id="8" name="Imagen 7">
            <a:extLst>
              <a:ext uri="{FF2B5EF4-FFF2-40B4-BE49-F238E27FC236}">
                <a16:creationId xmlns:a16="http://schemas.microsoft.com/office/drawing/2014/main" id="{C7DEA70A-456D-41C0-BF95-10DD0D9E69D4}"/>
              </a:ext>
            </a:extLst>
          </p:cNvPr>
          <p:cNvPicPr>
            <a:picLocks noChangeAspect="1"/>
          </p:cNvPicPr>
          <p:nvPr/>
        </p:nvPicPr>
        <p:blipFill>
          <a:blip r:embed="rId4"/>
          <a:stretch>
            <a:fillRect/>
          </a:stretch>
        </p:blipFill>
        <p:spPr>
          <a:xfrm>
            <a:off x="8020361" y="5994390"/>
            <a:ext cx="409632" cy="485843"/>
          </a:xfrm>
          <a:prstGeom prst="rect">
            <a:avLst/>
          </a:prstGeom>
        </p:spPr>
      </p:pic>
    </p:spTree>
    <p:extLst>
      <p:ext uri="{BB962C8B-B14F-4D97-AF65-F5344CB8AC3E}">
        <p14:creationId xmlns:p14="http://schemas.microsoft.com/office/powerpoint/2010/main" val="275759032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537BF935-9714-466C-AC48-CF8740BB3402}"/>
              </a:ext>
            </a:extLst>
          </p:cNvPr>
          <p:cNvSpPr txBox="1"/>
          <p:nvPr/>
        </p:nvSpPr>
        <p:spPr>
          <a:xfrm>
            <a:off x="1269876" y="1700808"/>
            <a:ext cx="8496944" cy="3970318"/>
          </a:xfrm>
          <a:prstGeom prst="rect">
            <a:avLst/>
          </a:prstGeom>
          <a:noFill/>
        </p:spPr>
        <p:txBody>
          <a:bodyPr wrap="square">
            <a:spAutoFit/>
          </a:bodyPr>
          <a:lstStyle/>
          <a:p>
            <a:r>
              <a:rPr lang="es-ES" sz="2800" dirty="0"/>
              <a:t>Mejor para incidencias y prevalencias bajas:</a:t>
            </a:r>
          </a:p>
          <a:p>
            <a:endParaRPr lang="es-ES" sz="2800" dirty="0"/>
          </a:p>
          <a:p>
            <a:r>
              <a:rPr lang="es-ES" sz="2800" dirty="0"/>
              <a:t>P ≈ I × D	</a:t>
            </a:r>
          </a:p>
          <a:p>
            <a:endParaRPr lang="es-ES" sz="2800" dirty="0"/>
          </a:p>
          <a:p>
            <a:r>
              <a:rPr lang="es-ES" sz="2800" dirty="0"/>
              <a:t>Donde: </a:t>
            </a:r>
          </a:p>
          <a:p>
            <a:endParaRPr lang="es-ES" sz="2800" dirty="0"/>
          </a:p>
          <a:p>
            <a:r>
              <a:rPr lang="es-ES" sz="2800" dirty="0"/>
              <a:t>P = Prevalencia, </a:t>
            </a:r>
          </a:p>
          <a:p>
            <a:r>
              <a:rPr lang="es-ES" sz="2800" dirty="0"/>
              <a:t>I = Incidencia y </a:t>
            </a:r>
          </a:p>
          <a:p>
            <a:r>
              <a:rPr lang="es-ES" sz="2800" dirty="0"/>
              <a:t>D = Duración de la enfermedad</a:t>
            </a:r>
          </a:p>
        </p:txBody>
      </p:sp>
      <p:sp>
        <p:nvSpPr>
          <p:cNvPr id="6" name="CuadroTexto 5">
            <a:extLst>
              <a:ext uri="{FF2B5EF4-FFF2-40B4-BE49-F238E27FC236}">
                <a16:creationId xmlns:a16="http://schemas.microsoft.com/office/drawing/2014/main" id="{46C9353B-FA6A-4D34-9ACA-438E8A4CBFFC}"/>
              </a:ext>
            </a:extLst>
          </p:cNvPr>
          <p:cNvSpPr txBox="1"/>
          <p:nvPr/>
        </p:nvSpPr>
        <p:spPr>
          <a:xfrm>
            <a:off x="1125860" y="836712"/>
            <a:ext cx="9865096" cy="584775"/>
          </a:xfrm>
          <a:prstGeom prst="rect">
            <a:avLst/>
          </a:prstGeom>
          <a:noFill/>
        </p:spPr>
        <p:txBody>
          <a:bodyPr wrap="square">
            <a:spAutoFit/>
          </a:bodyPr>
          <a:lstStyle/>
          <a:p>
            <a:r>
              <a:rPr lang="es-PE" sz="3200" b="1" i="0" u="none" strike="noStrike" baseline="0" dirty="0">
                <a:solidFill>
                  <a:srgbClr val="4F81BC"/>
                </a:solidFill>
                <a:latin typeface="Arial" panose="020B0604020202020204" pitchFamily="34" charset="0"/>
              </a:rPr>
              <a:t>Relación entre prevalencia e Incidencia</a:t>
            </a:r>
          </a:p>
        </p:txBody>
      </p:sp>
    </p:spTree>
    <p:extLst>
      <p:ext uri="{BB962C8B-B14F-4D97-AF65-F5344CB8AC3E}">
        <p14:creationId xmlns:p14="http://schemas.microsoft.com/office/powerpoint/2010/main" val="2144275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98612" y="1600201"/>
            <a:ext cx="9752384" cy="2654064"/>
          </a:xfrm>
        </p:spPr>
        <p:txBody>
          <a:bodyPr rtlCol="0"/>
          <a:lstStyle/>
          <a:p>
            <a:pPr rtl="0"/>
            <a:r>
              <a:rPr lang="es-ES" dirty="0"/>
              <a:t>Tasa de incidencia (densidad)</a:t>
            </a:r>
          </a:p>
        </p:txBody>
      </p:sp>
      <p:sp>
        <p:nvSpPr>
          <p:cNvPr id="5" name="Marcador de posición de texto 4"/>
          <p:cNvSpPr>
            <a:spLocks noGrp="1"/>
          </p:cNvSpPr>
          <p:nvPr>
            <p:ph type="body" idx="1"/>
          </p:nvPr>
        </p:nvSpPr>
        <p:spPr/>
        <p:txBody>
          <a:bodyPr rtlCol="0"/>
          <a:lstStyle/>
          <a:p>
            <a:pPr rtl="0"/>
            <a:r>
              <a:rPr lang="es-ES" dirty="0"/>
              <a:t>Resumen en 2 min</a:t>
            </a:r>
          </a:p>
        </p:txBody>
      </p:sp>
    </p:spTree>
    <p:extLst>
      <p:ext uri="{BB962C8B-B14F-4D97-AF65-F5344CB8AC3E}">
        <p14:creationId xmlns:p14="http://schemas.microsoft.com/office/powerpoint/2010/main" val="8644797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a:xfrm>
            <a:off x="1593436" y="139701"/>
            <a:ext cx="9782801" cy="985044"/>
          </a:xfrm>
        </p:spPr>
        <p:txBody>
          <a:bodyPr rtlCol="0">
            <a:normAutofit/>
          </a:bodyPr>
          <a:lstStyle/>
          <a:p>
            <a:pPr rtl="0"/>
            <a:r>
              <a:rPr lang="es-ES" sz="3200" b="1" dirty="0">
                <a:solidFill>
                  <a:srgbClr val="1232D0"/>
                </a:solidFill>
              </a:rPr>
              <a:t>Incidencia</a:t>
            </a:r>
          </a:p>
        </p:txBody>
      </p:sp>
      <p:sp>
        <p:nvSpPr>
          <p:cNvPr id="14" name="Marcador de posición de contenido 13"/>
          <p:cNvSpPr>
            <a:spLocks noGrp="1"/>
          </p:cNvSpPr>
          <p:nvPr>
            <p:ph idx="1"/>
          </p:nvPr>
        </p:nvSpPr>
        <p:spPr>
          <a:xfrm>
            <a:off x="1773932" y="1700809"/>
            <a:ext cx="9865096" cy="1953126"/>
          </a:xfrm>
        </p:spPr>
        <p:txBody>
          <a:bodyPr rtlCol="0">
            <a:normAutofit fontScale="92500"/>
          </a:bodyPr>
          <a:lstStyle/>
          <a:p>
            <a:pPr rtl="0"/>
            <a:r>
              <a:rPr lang="es-ES" dirty="0"/>
              <a:t>Definición: Velocidad con la que ocurren casos nuevos</a:t>
            </a:r>
          </a:p>
          <a:p>
            <a:pPr rtl="0"/>
            <a:r>
              <a:rPr lang="es-ES" dirty="0"/>
              <a:t>Su rango de valores va de 0 al infinito</a:t>
            </a:r>
          </a:p>
          <a:p>
            <a:pPr rtl="0"/>
            <a:r>
              <a:rPr lang="es-ES" dirty="0"/>
              <a:t>Es una tasa no es una proporción, ya que el denominador tiene unidades de tiempo y mide casos por unidad de tiempo</a:t>
            </a:r>
          </a:p>
        </p:txBody>
      </p:sp>
      <p:cxnSp>
        <p:nvCxnSpPr>
          <p:cNvPr id="4" name="Conector recto 3">
            <a:extLst>
              <a:ext uri="{FF2B5EF4-FFF2-40B4-BE49-F238E27FC236}">
                <a16:creationId xmlns:a16="http://schemas.microsoft.com/office/drawing/2014/main" id="{382DEA70-704B-4295-BFD8-A2B884955048}"/>
              </a:ext>
            </a:extLst>
          </p:cNvPr>
          <p:cNvCxnSpPr>
            <a:cxnSpLocks/>
          </p:cNvCxnSpPr>
          <p:nvPr/>
        </p:nvCxnSpPr>
        <p:spPr>
          <a:xfrm>
            <a:off x="1197868" y="1340768"/>
            <a:ext cx="10729192" cy="0"/>
          </a:xfrm>
          <a:prstGeom prst="line">
            <a:avLst/>
          </a:prstGeom>
          <a:ln w="76200">
            <a:solidFill>
              <a:srgbClr val="596671"/>
            </a:solidFill>
          </a:ln>
        </p:spPr>
        <p:style>
          <a:lnRef idx="1">
            <a:schemeClr val="accent1"/>
          </a:lnRef>
          <a:fillRef idx="0">
            <a:schemeClr val="accent1"/>
          </a:fillRef>
          <a:effectRef idx="0">
            <a:schemeClr val="accent1"/>
          </a:effectRef>
          <a:fontRef idx="minor">
            <a:schemeClr val="tx1"/>
          </a:fontRef>
        </p:style>
      </p:cxnSp>
      <p:pic>
        <p:nvPicPr>
          <p:cNvPr id="1026" name="Picture 2" descr="Moneda Romana de oro (réplica) Caesar Augustus Fotografía de stock - Alamy">
            <a:extLst>
              <a:ext uri="{FF2B5EF4-FFF2-40B4-BE49-F238E27FC236}">
                <a16:creationId xmlns:a16="http://schemas.microsoft.com/office/drawing/2014/main" id="{B8E3174B-5A8B-414C-819B-FFF7313BD01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911"/>
          <a:stretch/>
        </p:blipFill>
        <p:spPr bwMode="auto">
          <a:xfrm>
            <a:off x="1845940" y="3869959"/>
            <a:ext cx="2924944" cy="2664296"/>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94C67414-2A4A-454F-9CA8-918F1A1D0F3C}"/>
              </a:ext>
            </a:extLst>
          </p:cNvPr>
          <p:cNvPicPr>
            <a:picLocks noChangeAspect="1"/>
          </p:cNvPicPr>
          <p:nvPr/>
        </p:nvPicPr>
        <p:blipFill>
          <a:blip r:embed="rId4"/>
          <a:stretch>
            <a:fillRect/>
          </a:stretch>
        </p:blipFill>
        <p:spPr>
          <a:xfrm>
            <a:off x="4770884" y="5218944"/>
            <a:ext cx="6508104" cy="1317674"/>
          </a:xfrm>
          <a:prstGeom prst="rect">
            <a:avLst/>
          </a:prstGeom>
        </p:spPr>
      </p:pic>
      <p:pic>
        <p:nvPicPr>
          <p:cNvPr id="10" name="Imagen 9">
            <a:extLst>
              <a:ext uri="{FF2B5EF4-FFF2-40B4-BE49-F238E27FC236}">
                <a16:creationId xmlns:a16="http://schemas.microsoft.com/office/drawing/2014/main" id="{85A22A96-3F4C-4E4B-A6B7-22B5183A9147}"/>
              </a:ext>
            </a:extLst>
          </p:cNvPr>
          <p:cNvPicPr>
            <a:picLocks noChangeAspect="1"/>
          </p:cNvPicPr>
          <p:nvPr/>
        </p:nvPicPr>
        <p:blipFill>
          <a:blip r:embed="rId5"/>
          <a:stretch>
            <a:fillRect/>
          </a:stretch>
        </p:blipFill>
        <p:spPr>
          <a:xfrm>
            <a:off x="5446340" y="3596267"/>
            <a:ext cx="4725620" cy="1605840"/>
          </a:xfrm>
          <a:prstGeom prst="rect">
            <a:avLst/>
          </a:prstGeom>
        </p:spPr>
      </p:pic>
    </p:spTree>
    <p:extLst>
      <p:ext uri="{BB962C8B-B14F-4D97-AF65-F5344CB8AC3E}">
        <p14:creationId xmlns:p14="http://schemas.microsoft.com/office/powerpoint/2010/main" val="407703286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5C7132C-1FC4-4031-860A-61CBF0372DC5}"/>
              </a:ext>
            </a:extLst>
          </p:cNvPr>
          <p:cNvSpPr txBox="1"/>
          <p:nvPr/>
        </p:nvSpPr>
        <p:spPr>
          <a:xfrm>
            <a:off x="1125860" y="836712"/>
            <a:ext cx="6100482" cy="584775"/>
          </a:xfrm>
          <a:prstGeom prst="rect">
            <a:avLst/>
          </a:prstGeom>
          <a:noFill/>
        </p:spPr>
        <p:txBody>
          <a:bodyPr wrap="square">
            <a:spAutoFit/>
          </a:bodyPr>
          <a:lstStyle/>
          <a:p>
            <a:r>
              <a:rPr lang="es-PE" sz="3200" b="1" i="0" u="none" strike="noStrike" baseline="0" dirty="0">
                <a:solidFill>
                  <a:srgbClr val="4F81BC"/>
                </a:solidFill>
                <a:latin typeface="Arial" panose="020B0604020202020204" pitchFamily="34" charset="0"/>
              </a:rPr>
              <a:t>Tasa de Incidencia</a:t>
            </a:r>
          </a:p>
        </p:txBody>
      </p:sp>
      <p:pic>
        <p:nvPicPr>
          <p:cNvPr id="6" name="Imagen 5">
            <a:extLst>
              <a:ext uri="{FF2B5EF4-FFF2-40B4-BE49-F238E27FC236}">
                <a16:creationId xmlns:a16="http://schemas.microsoft.com/office/drawing/2014/main" id="{25DB351B-F902-4EE0-AF2C-BD9C931A7742}"/>
              </a:ext>
            </a:extLst>
          </p:cNvPr>
          <p:cNvPicPr>
            <a:picLocks noChangeAspect="1"/>
          </p:cNvPicPr>
          <p:nvPr/>
        </p:nvPicPr>
        <p:blipFill>
          <a:blip r:embed="rId2"/>
          <a:stretch>
            <a:fillRect/>
          </a:stretch>
        </p:blipFill>
        <p:spPr>
          <a:xfrm>
            <a:off x="2494012" y="1556792"/>
            <a:ext cx="6100483" cy="5046882"/>
          </a:xfrm>
          <a:prstGeom prst="rect">
            <a:avLst/>
          </a:prstGeom>
        </p:spPr>
      </p:pic>
      <p:pic>
        <p:nvPicPr>
          <p:cNvPr id="11" name="Imagen 10">
            <a:extLst>
              <a:ext uri="{FF2B5EF4-FFF2-40B4-BE49-F238E27FC236}">
                <a16:creationId xmlns:a16="http://schemas.microsoft.com/office/drawing/2014/main" id="{1802A553-AE3A-4DCD-AD78-CDA902A6593A}"/>
              </a:ext>
            </a:extLst>
          </p:cNvPr>
          <p:cNvPicPr>
            <a:picLocks noChangeAspect="1"/>
          </p:cNvPicPr>
          <p:nvPr/>
        </p:nvPicPr>
        <p:blipFill>
          <a:blip r:embed="rId3"/>
          <a:stretch>
            <a:fillRect/>
          </a:stretch>
        </p:blipFill>
        <p:spPr>
          <a:xfrm>
            <a:off x="8429993" y="6237311"/>
            <a:ext cx="533221" cy="485843"/>
          </a:xfrm>
          <a:prstGeom prst="rect">
            <a:avLst/>
          </a:prstGeom>
        </p:spPr>
      </p:pic>
    </p:spTree>
    <p:extLst>
      <p:ext uri="{BB962C8B-B14F-4D97-AF65-F5344CB8AC3E}">
        <p14:creationId xmlns:p14="http://schemas.microsoft.com/office/powerpoint/2010/main" val="399630700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5C7132C-1FC4-4031-860A-61CBF0372DC5}"/>
              </a:ext>
            </a:extLst>
          </p:cNvPr>
          <p:cNvSpPr txBox="1"/>
          <p:nvPr/>
        </p:nvSpPr>
        <p:spPr>
          <a:xfrm>
            <a:off x="1125860" y="836712"/>
            <a:ext cx="6100482" cy="584775"/>
          </a:xfrm>
          <a:prstGeom prst="rect">
            <a:avLst/>
          </a:prstGeom>
          <a:noFill/>
        </p:spPr>
        <p:txBody>
          <a:bodyPr wrap="square">
            <a:spAutoFit/>
          </a:bodyPr>
          <a:lstStyle/>
          <a:p>
            <a:r>
              <a:rPr lang="es-PE" sz="3200" b="1" i="0" u="none" strike="noStrike" baseline="0" dirty="0">
                <a:solidFill>
                  <a:srgbClr val="4F81BC"/>
                </a:solidFill>
                <a:latin typeface="Arial" panose="020B0604020202020204" pitchFamily="34" charset="0"/>
              </a:rPr>
              <a:t>Tasa de Incidencia</a:t>
            </a:r>
          </a:p>
        </p:txBody>
      </p:sp>
      <p:pic>
        <p:nvPicPr>
          <p:cNvPr id="10" name="Imagen 9">
            <a:extLst>
              <a:ext uri="{FF2B5EF4-FFF2-40B4-BE49-F238E27FC236}">
                <a16:creationId xmlns:a16="http://schemas.microsoft.com/office/drawing/2014/main" id="{D4D77A73-F22D-4876-A466-19710BED9E0B}"/>
              </a:ext>
            </a:extLst>
          </p:cNvPr>
          <p:cNvPicPr>
            <a:picLocks noChangeAspect="1"/>
          </p:cNvPicPr>
          <p:nvPr/>
        </p:nvPicPr>
        <p:blipFill>
          <a:blip r:embed="rId2"/>
          <a:stretch>
            <a:fillRect/>
          </a:stretch>
        </p:blipFill>
        <p:spPr>
          <a:xfrm>
            <a:off x="2133972" y="1505753"/>
            <a:ext cx="6571404" cy="5319709"/>
          </a:xfrm>
          <a:prstGeom prst="rect">
            <a:avLst/>
          </a:prstGeom>
        </p:spPr>
      </p:pic>
      <p:pic>
        <p:nvPicPr>
          <p:cNvPr id="3" name="Imagen 2">
            <a:extLst>
              <a:ext uri="{FF2B5EF4-FFF2-40B4-BE49-F238E27FC236}">
                <a16:creationId xmlns:a16="http://schemas.microsoft.com/office/drawing/2014/main" id="{48CC763E-D8CB-4340-B229-44F714063FAB}"/>
              </a:ext>
            </a:extLst>
          </p:cNvPr>
          <p:cNvPicPr>
            <a:picLocks noChangeAspect="1"/>
          </p:cNvPicPr>
          <p:nvPr/>
        </p:nvPicPr>
        <p:blipFill>
          <a:blip r:embed="rId3"/>
          <a:stretch>
            <a:fillRect/>
          </a:stretch>
        </p:blipFill>
        <p:spPr>
          <a:xfrm>
            <a:off x="8542684" y="6353449"/>
            <a:ext cx="533221" cy="485843"/>
          </a:xfrm>
          <a:prstGeom prst="rect">
            <a:avLst/>
          </a:prstGeom>
        </p:spPr>
      </p:pic>
    </p:spTree>
    <p:extLst>
      <p:ext uri="{BB962C8B-B14F-4D97-AF65-F5344CB8AC3E}">
        <p14:creationId xmlns:p14="http://schemas.microsoft.com/office/powerpoint/2010/main" val="353782835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5C7132C-1FC4-4031-860A-61CBF0372DC5}"/>
              </a:ext>
            </a:extLst>
          </p:cNvPr>
          <p:cNvSpPr txBox="1"/>
          <p:nvPr/>
        </p:nvSpPr>
        <p:spPr>
          <a:xfrm>
            <a:off x="1125860" y="836712"/>
            <a:ext cx="6100482" cy="584775"/>
          </a:xfrm>
          <a:prstGeom prst="rect">
            <a:avLst/>
          </a:prstGeom>
          <a:noFill/>
        </p:spPr>
        <p:txBody>
          <a:bodyPr wrap="square">
            <a:spAutoFit/>
          </a:bodyPr>
          <a:lstStyle/>
          <a:p>
            <a:r>
              <a:rPr lang="es-PE" sz="3200" b="1" i="0" u="none" strike="noStrike" baseline="0" dirty="0">
                <a:solidFill>
                  <a:srgbClr val="4F81BC"/>
                </a:solidFill>
                <a:latin typeface="Arial" panose="020B0604020202020204" pitchFamily="34" charset="0"/>
              </a:rPr>
              <a:t>Tasa de Incidencia</a:t>
            </a:r>
          </a:p>
        </p:txBody>
      </p:sp>
      <p:pic>
        <p:nvPicPr>
          <p:cNvPr id="3" name="Imagen 2">
            <a:extLst>
              <a:ext uri="{FF2B5EF4-FFF2-40B4-BE49-F238E27FC236}">
                <a16:creationId xmlns:a16="http://schemas.microsoft.com/office/drawing/2014/main" id="{48CC763E-D8CB-4340-B229-44F714063FAB}"/>
              </a:ext>
            </a:extLst>
          </p:cNvPr>
          <p:cNvPicPr>
            <a:picLocks noChangeAspect="1"/>
          </p:cNvPicPr>
          <p:nvPr/>
        </p:nvPicPr>
        <p:blipFill>
          <a:blip r:embed="rId2"/>
          <a:stretch>
            <a:fillRect/>
          </a:stretch>
        </p:blipFill>
        <p:spPr>
          <a:xfrm>
            <a:off x="8542684" y="6353449"/>
            <a:ext cx="533221" cy="485843"/>
          </a:xfrm>
          <a:prstGeom prst="rect">
            <a:avLst/>
          </a:prstGeom>
        </p:spPr>
      </p:pic>
      <p:pic>
        <p:nvPicPr>
          <p:cNvPr id="5" name="Imagen 4">
            <a:extLst>
              <a:ext uri="{FF2B5EF4-FFF2-40B4-BE49-F238E27FC236}">
                <a16:creationId xmlns:a16="http://schemas.microsoft.com/office/drawing/2014/main" id="{2BE833CE-3BE7-454A-A2B1-6C655C2A178C}"/>
              </a:ext>
            </a:extLst>
          </p:cNvPr>
          <p:cNvPicPr>
            <a:picLocks noChangeAspect="1"/>
          </p:cNvPicPr>
          <p:nvPr/>
        </p:nvPicPr>
        <p:blipFill>
          <a:blip r:embed="rId3"/>
          <a:stretch>
            <a:fillRect/>
          </a:stretch>
        </p:blipFill>
        <p:spPr>
          <a:xfrm>
            <a:off x="981844" y="1486755"/>
            <a:ext cx="9858630" cy="4534533"/>
          </a:xfrm>
          <a:prstGeom prst="rect">
            <a:avLst/>
          </a:prstGeom>
        </p:spPr>
      </p:pic>
    </p:spTree>
    <p:extLst>
      <p:ext uri="{BB962C8B-B14F-4D97-AF65-F5344CB8AC3E}">
        <p14:creationId xmlns:p14="http://schemas.microsoft.com/office/powerpoint/2010/main" val="403297837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5C7132C-1FC4-4031-860A-61CBF0372DC5}"/>
              </a:ext>
            </a:extLst>
          </p:cNvPr>
          <p:cNvSpPr txBox="1"/>
          <p:nvPr/>
        </p:nvSpPr>
        <p:spPr>
          <a:xfrm>
            <a:off x="1125860" y="836712"/>
            <a:ext cx="6100482" cy="584775"/>
          </a:xfrm>
          <a:prstGeom prst="rect">
            <a:avLst/>
          </a:prstGeom>
          <a:noFill/>
        </p:spPr>
        <p:txBody>
          <a:bodyPr wrap="square">
            <a:spAutoFit/>
          </a:bodyPr>
          <a:lstStyle/>
          <a:p>
            <a:r>
              <a:rPr lang="es-PE" sz="3200" b="1" i="0" u="none" strike="noStrike" baseline="0" dirty="0">
                <a:solidFill>
                  <a:srgbClr val="4F81BC"/>
                </a:solidFill>
                <a:latin typeface="Arial" panose="020B0604020202020204" pitchFamily="34" charset="0"/>
              </a:rPr>
              <a:t>Tasa de Incidencia</a:t>
            </a:r>
          </a:p>
        </p:txBody>
      </p:sp>
      <p:pic>
        <p:nvPicPr>
          <p:cNvPr id="3" name="Imagen 2">
            <a:extLst>
              <a:ext uri="{FF2B5EF4-FFF2-40B4-BE49-F238E27FC236}">
                <a16:creationId xmlns:a16="http://schemas.microsoft.com/office/drawing/2014/main" id="{48CC763E-D8CB-4340-B229-44F714063FAB}"/>
              </a:ext>
            </a:extLst>
          </p:cNvPr>
          <p:cNvPicPr>
            <a:picLocks noChangeAspect="1"/>
          </p:cNvPicPr>
          <p:nvPr/>
        </p:nvPicPr>
        <p:blipFill>
          <a:blip r:embed="rId2"/>
          <a:stretch>
            <a:fillRect/>
          </a:stretch>
        </p:blipFill>
        <p:spPr>
          <a:xfrm>
            <a:off x="9877215" y="6377256"/>
            <a:ext cx="533221" cy="485843"/>
          </a:xfrm>
          <a:prstGeom prst="rect">
            <a:avLst/>
          </a:prstGeom>
        </p:spPr>
      </p:pic>
      <p:pic>
        <p:nvPicPr>
          <p:cNvPr id="9" name="Imagen 8">
            <a:extLst>
              <a:ext uri="{FF2B5EF4-FFF2-40B4-BE49-F238E27FC236}">
                <a16:creationId xmlns:a16="http://schemas.microsoft.com/office/drawing/2014/main" id="{4B62B878-3B70-4E1F-BCF6-1A78B5696C0E}"/>
              </a:ext>
            </a:extLst>
          </p:cNvPr>
          <p:cNvPicPr>
            <a:picLocks noChangeAspect="1"/>
          </p:cNvPicPr>
          <p:nvPr/>
        </p:nvPicPr>
        <p:blipFill>
          <a:blip r:embed="rId3"/>
          <a:stretch>
            <a:fillRect/>
          </a:stretch>
        </p:blipFill>
        <p:spPr>
          <a:xfrm>
            <a:off x="2638028" y="1580599"/>
            <a:ext cx="7239187" cy="4610760"/>
          </a:xfrm>
          <a:prstGeom prst="rect">
            <a:avLst/>
          </a:prstGeom>
        </p:spPr>
      </p:pic>
      <p:pic>
        <p:nvPicPr>
          <p:cNvPr id="6" name="Picture 2" descr="Moneda Romana de oro (réplica) Caesar Augustus Fotografía de stock - Alamy">
            <a:extLst>
              <a:ext uri="{FF2B5EF4-FFF2-40B4-BE49-F238E27FC236}">
                <a16:creationId xmlns:a16="http://schemas.microsoft.com/office/drawing/2014/main" id="{7EF13DD7-2332-4864-A2A2-9A35D08E7A2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8911"/>
          <a:stretch/>
        </p:blipFill>
        <p:spPr bwMode="auto">
          <a:xfrm>
            <a:off x="7932999" y="3308791"/>
            <a:ext cx="1748939" cy="1593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599473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FAD882D-D1D6-4844-B376-B19241A4AE3B}"/>
              </a:ext>
            </a:extLst>
          </p:cNvPr>
          <p:cNvSpPr txBox="1"/>
          <p:nvPr/>
        </p:nvSpPr>
        <p:spPr>
          <a:xfrm>
            <a:off x="1197868" y="147918"/>
            <a:ext cx="9721080" cy="923330"/>
          </a:xfrm>
          <a:prstGeom prst="rect">
            <a:avLst/>
          </a:prstGeom>
          <a:noFill/>
        </p:spPr>
        <p:txBody>
          <a:bodyPr wrap="square">
            <a:spAutoFit/>
          </a:bodyPr>
          <a:lstStyle/>
          <a:p>
            <a:pPr marL="342900" lvl="0" indent="-342900" algn="just">
              <a:buFont typeface="+mj-lt"/>
              <a:buAutoNum type="arabicPeriod"/>
            </a:pPr>
            <a:r>
              <a:rPr lang="es-PE" sz="1800" dirty="0">
                <a:effectLst/>
                <a:latin typeface="Arial" panose="020B0604020202020204" pitchFamily="34" charset="0"/>
                <a:ea typeface="Times New Roman" panose="02020603050405020304" pitchFamily="18" charset="0"/>
              </a:rPr>
              <a:t>El gráfico mostrado a continuación presenta el tiempo de seguimiento de 10 participantes en un estudio de cohorte para estudiar incidencia de </a:t>
            </a:r>
            <a:r>
              <a:rPr lang="es-PE" dirty="0">
                <a:latin typeface="Arial" panose="020B0604020202020204" pitchFamily="34" charset="0"/>
                <a:ea typeface="Times New Roman" panose="02020603050405020304" pitchFamily="18" charset="0"/>
              </a:rPr>
              <a:t>infarto agudo de miocardio (IM)</a:t>
            </a:r>
            <a:r>
              <a:rPr lang="es-PE" sz="1800" dirty="0">
                <a:effectLst/>
                <a:latin typeface="Arial" panose="020B0604020202020204" pitchFamily="34" charset="0"/>
                <a:ea typeface="Times New Roman" panose="02020603050405020304" pitchFamily="18" charset="0"/>
              </a:rPr>
              <a:t>.  El evento de interés, representado por un círculo, es el episodio de IM. </a:t>
            </a:r>
            <a:endParaRPr lang="es-PE" sz="1200" dirty="0">
              <a:effectLst/>
              <a:latin typeface="Times New Roman" panose="02020603050405020304" pitchFamily="18" charset="0"/>
              <a:ea typeface="Times New Roman" panose="02020603050405020304" pitchFamily="18" charset="0"/>
            </a:endParaRPr>
          </a:p>
        </p:txBody>
      </p:sp>
      <p:grpSp>
        <p:nvGrpSpPr>
          <p:cNvPr id="8" name="Grupo 7">
            <a:extLst>
              <a:ext uri="{FF2B5EF4-FFF2-40B4-BE49-F238E27FC236}">
                <a16:creationId xmlns:a16="http://schemas.microsoft.com/office/drawing/2014/main" id="{88BA1689-5EBC-4677-8DAA-71D6C82FA85B}"/>
              </a:ext>
            </a:extLst>
          </p:cNvPr>
          <p:cNvGrpSpPr/>
          <p:nvPr/>
        </p:nvGrpSpPr>
        <p:grpSpPr>
          <a:xfrm>
            <a:off x="981844" y="4383071"/>
            <a:ext cx="6264696" cy="2268367"/>
            <a:chOff x="2962064" y="4400993"/>
            <a:chExt cx="6264696" cy="2268367"/>
          </a:xfrm>
        </p:grpSpPr>
        <p:pic>
          <p:nvPicPr>
            <p:cNvPr id="6" name="Imagen 5">
              <a:extLst>
                <a:ext uri="{FF2B5EF4-FFF2-40B4-BE49-F238E27FC236}">
                  <a16:creationId xmlns:a16="http://schemas.microsoft.com/office/drawing/2014/main" id="{856EFCB7-4934-4B59-A477-B5549A2D4B7B}"/>
                </a:ext>
              </a:extLst>
            </p:cNvPr>
            <p:cNvPicPr>
              <a:picLocks noChangeAspect="1"/>
            </p:cNvPicPr>
            <p:nvPr/>
          </p:nvPicPr>
          <p:blipFill>
            <a:blip r:embed="rId2"/>
            <a:stretch>
              <a:fillRect/>
            </a:stretch>
          </p:blipFill>
          <p:spPr>
            <a:xfrm>
              <a:off x="2962064" y="4400993"/>
              <a:ext cx="6264696" cy="2268367"/>
            </a:xfrm>
            <a:prstGeom prst="rect">
              <a:avLst/>
            </a:prstGeom>
          </p:spPr>
        </p:pic>
        <p:sp>
          <p:nvSpPr>
            <p:cNvPr id="7" name="Rectángulo 6">
              <a:extLst>
                <a:ext uri="{FF2B5EF4-FFF2-40B4-BE49-F238E27FC236}">
                  <a16:creationId xmlns:a16="http://schemas.microsoft.com/office/drawing/2014/main" id="{2FAB5487-E541-44CF-B074-FA61EDA020D6}"/>
                </a:ext>
              </a:extLst>
            </p:cNvPr>
            <p:cNvSpPr/>
            <p:nvPr/>
          </p:nvSpPr>
          <p:spPr>
            <a:xfrm>
              <a:off x="6814492" y="4653137"/>
              <a:ext cx="1080120" cy="144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100" dirty="0">
                  <a:solidFill>
                    <a:schemeClr val="tx2">
                      <a:lumMod val="95000"/>
                      <a:lumOff val="5000"/>
                    </a:schemeClr>
                  </a:solidFill>
                </a:rPr>
                <a:t>IM</a:t>
              </a:r>
            </a:p>
          </p:txBody>
        </p:sp>
      </p:grpSp>
      <p:pic>
        <p:nvPicPr>
          <p:cNvPr id="9" name="Imagen 8" descr="cohorte sida 10 ppl">
            <a:extLst>
              <a:ext uri="{FF2B5EF4-FFF2-40B4-BE49-F238E27FC236}">
                <a16:creationId xmlns:a16="http://schemas.microsoft.com/office/drawing/2014/main" id="{E7B8DC37-9098-47B6-8BBC-5DF3438C5F17}"/>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93912" y="1180729"/>
            <a:ext cx="4534317" cy="3168352"/>
          </a:xfrm>
          <a:prstGeom prst="rect">
            <a:avLst/>
          </a:prstGeom>
          <a:noFill/>
          <a:ln>
            <a:noFill/>
          </a:ln>
        </p:spPr>
      </p:pic>
      <p:pic>
        <p:nvPicPr>
          <p:cNvPr id="11" name="Imagen 10">
            <a:extLst>
              <a:ext uri="{FF2B5EF4-FFF2-40B4-BE49-F238E27FC236}">
                <a16:creationId xmlns:a16="http://schemas.microsoft.com/office/drawing/2014/main" id="{E92ECAAA-0B7C-4CC5-9E46-4F058D1C03F9}"/>
              </a:ext>
            </a:extLst>
          </p:cNvPr>
          <p:cNvPicPr>
            <a:picLocks noChangeAspect="1"/>
          </p:cNvPicPr>
          <p:nvPr/>
        </p:nvPicPr>
        <p:blipFill>
          <a:blip r:embed="rId4"/>
          <a:stretch>
            <a:fillRect/>
          </a:stretch>
        </p:blipFill>
        <p:spPr>
          <a:xfrm>
            <a:off x="6382444" y="1412776"/>
            <a:ext cx="4534317" cy="581106"/>
          </a:xfrm>
          <a:prstGeom prst="rect">
            <a:avLst/>
          </a:prstGeom>
        </p:spPr>
      </p:pic>
      <p:pic>
        <p:nvPicPr>
          <p:cNvPr id="13" name="Imagen 12">
            <a:extLst>
              <a:ext uri="{FF2B5EF4-FFF2-40B4-BE49-F238E27FC236}">
                <a16:creationId xmlns:a16="http://schemas.microsoft.com/office/drawing/2014/main" id="{CE859976-E619-413C-B70E-603626D17DA7}"/>
              </a:ext>
            </a:extLst>
          </p:cNvPr>
          <p:cNvPicPr>
            <a:picLocks noChangeAspect="1"/>
          </p:cNvPicPr>
          <p:nvPr/>
        </p:nvPicPr>
        <p:blipFill>
          <a:blip r:embed="rId5"/>
          <a:stretch>
            <a:fillRect/>
          </a:stretch>
        </p:blipFill>
        <p:spPr>
          <a:xfrm>
            <a:off x="6526460" y="2068213"/>
            <a:ext cx="3384376" cy="521331"/>
          </a:xfrm>
          <a:prstGeom prst="rect">
            <a:avLst/>
          </a:prstGeom>
        </p:spPr>
      </p:pic>
    </p:spTree>
    <p:extLst>
      <p:ext uri="{BB962C8B-B14F-4D97-AF65-F5344CB8AC3E}">
        <p14:creationId xmlns:p14="http://schemas.microsoft.com/office/powerpoint/2010/main" val="4140462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F6A8FD59-0A49-423A-A2DB-9C48B494386A}"/>
              </a:ext>
            </a:extLst>
          </p:cNvPr>
          <p:cNvGrpSpPr/>
          <p:nvPr/>
        </p:nvGrpSpPr>
        <p:grpSpPr>
          <a:xfrm>
            <a:off x="2061964" y="260648"/>
            <a:ext cx="7632848" cy="2592288"/>
            <a:chOff x="2962064" y="4400993"/>
            <a:chExt cx="6264696" cy="2268367"/>
          </a:xfrm>
        </p:grpSpPr>
        <p:pic>
          <p:nvPicPr>
            <p:cNvPr id="3" name="Imagen 2">
              <a:extLst>
                <a:ext uri="{FF2B5EF4-FFF2-40B4-BE49-F238E27FC236}">
                  <a16:creationId xmlns:a16="http://schemas.microsoft.com/office/drawing/2014/main" id="{0F92EC7B-803C-4DCB-A85D-1FD10439B07C}"/>
                </a:ext>
              </a:extLst>
            </p:cNvPr>
            <p:cNvPicPr>
              <a:picLocks noChangeAspect="1"/>
            </p:cNvPicPr>
            <p:nvPr/>
          </p:nvPicPr>
          <p:blipFill>
            <a:blip r:embed="rId2"/>
            <a:stretch>
              <a:fillRect/>
            </a:stretch>
          </p:blipFill>
          <p:spPr>
            <a:xfrm>
              <a:off x="2962064" y="4400993"/>
              <a:ext cx="6264696" cy="2268367"/>
            </a:xfrm>
            <a:prstGeom prst="rect">
              <a:avLst/>
            </a:prstGeom>
          </p:spPr>
        </p:pic>
        <p:sp>
          <p:nvSpPr>
            <p:cNvPr id="4" name="Rectángulo 3">
              <a:extLst>
                <a:ext uri="{FF2B5EF4-FFF2-40B4-BE49-F238E27FC236}">
                  <a16:creationId xmlns:a16="http://schemas.microsoft.com/office/drawing/2014/main" id="{34A3168E-E08C-4898-A006-C2C44BCD384E}"/>
                </a:ext>
              </a:extLst>
            </p:cNvPr>
            <p:cNvSpPr/>
            <p:nvPr/>
          </p:nvSpPr>
          <p:spPr>
            <a:xfrm>
              <a:off x="6814492" y="4653137"/>
              <a:ext cx="1080120" cy="144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100" dirty="0">
                  <a:solidFill>
                    <a:schemeClr val="tx2">
                      <a:lumMod val="95000"/>
                      <a:lumOff val="5000"/>
                    </a:schemeClr>
                  </a:solidFill>
                </a:rPr>
                <a:t>IM</a:t>
              </a:r>
            </a:p>
          </p:txBody>
        </p:sp>
      </p:grpSp>
      <p:pic>
        <p:nvPicPr>
          <p:cNvPr id="6" name="Imagen 5">
            <a:extLst>
              <a:ext uri="{FF2B5EF4-FFF2-40B4-BE49-F238E27FC236}">
                <a16:creationId xmlns:a16="http://schemas.microsoft.com/office/drawing/2014/main" id="{5529BC2B-0172-4BEB-87F7-3CE2BA8730DC}"/>
              </a:ext>
            </a:extLst>
          </p:cNvPr>
          <p:cNvPicPr>
            <a:picLocks noChangeAspect="1"/>
          </p:cNvPicPr>
          <p:nvPr/>
        </p:nvPicPr>
        <p:blipFill>
          <a:blip r:embed="rId3"/>
          <a:stretch>
            <a:fillRect/>
          </a:stretch>
        </p:blipFill>
        <p:spPr>
          <a:xfrm>
            <a:off x="2061964" y="3068960"/>
            <a:ext cx="7897327" cy="3639058"/>
          </a:xfrm>
          <a:prstGeom prst="rect">
            <a:avLst/>
          </a:prstGeom>
        </p:spPr>
      </p:pic>
    </p:spTree>
    <p:extLst>
      <p:ext uri="{BB962C8B-B14F-4D97-AF65-F5344CB8AC3E}">
        <p14:creationId xmlns:p14="http://schemas.microsoft.com/office/powerpoint/2010/main" val="2583072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dirty="0"/>
              <a:t>Preguntas de repaso</a:t>
            </a:r>
          </a:p>
        </p:txBody>
      </p:sp>
      <p:sp>
        <p:nvSpPr>
          <p:cNvPr id="5" name="Marcador de posición de texto 4"/>
          <p:cNvSpPr>
            <a:spLocks noGrp="1"/>
          </p:cNvSpPr>
          <p:nvPr>
            <p:ph type="body" idx="1"/>
          </p:nvPr>
        </p:nvSpPr>
        <p:spPr/>
        <p:txBody>
          <a:bodyPr rtlCol="0"/>
          <a:lstStyle/>
          <a:p>
            <a:pPr rtl="0"/>
            <a:endParaRPr lang="es-ES" dirty="0"/>
          </a:p>
        </p:txBody>
      </p:sp>
    </p:spTree>
    <p:extLst>
      <p:ext uri="{BB962C8B-B14F-4D97-AF65-F5344CB8AC3E}">
        <p14:creationId xmlns:p14="http://schemas.microsoft.com/office/powerpoint/2010/main" val="90998457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6CA660A-C3FA-4D99-B297-DE303DFBDB13}"/>
              </a:ext>
            </a:extLst>
          </p:cNvPr>
          <p:cNvSpPr txBox="1"/>
          <p:nvPr/>
        </p:nvSpPr>
        <p:spPr>
          <a:xfrm>
            <a:off x="2422004" y="692696"/>
            <a:ext cx="6814674" cy="5632311"/>
          </a:xfrm>
          <a:prstGeom prst="rect">
            <a:avLst/>
          </a:prstGeom>
          <a:noFill/>
        </p:spPr>
        <p:txBody>
          <a:bodyPr wrap="square">
            <a:spAutoFit/>
          </a:bodyPr>
          <a:lstStyle/>
          <a:p>
            <a:pPr algn="just"/>
            <a:r>
              <a:rPr lang="es-ES" dirty="0"/>
              <a:t>1.	Responda verdadero (V) o falso (F) según corresponda.</a:t>
            </a:r>
          </a:p>
          <a:p>
            <a:pPr algn="just"/>
            <a:endParaRPr lang="es-ES" dirty="0"/>
          </a:p>
          <a:p>
            <a:pPr algn="just"/>
            <a:r>
              <a:rPr lang="es-ES" dirty="0"/>
              <a:t>(   )	A. La prevalencia de periodo es igual a la incidencia acumulada.</a:t>
            </a:r>
          </a:p>
          <a:p>
            <a:pPr algn="just"/>
            <a:endParaRPr lang="es-ES" dirty="0"/>
          </a:p>
          <a:p>
            <a:pPr algn="just"/>
            <a:r>
              <a:rPr lang="es-ES" dirty="0"/>
              <a:t>(   )	B. La incidencia acumulada asume un seguimiento completo de la población en estudio, desde el inicio hasta el final del estudio.</a:t>
            </a:r>
          </a:p>
          <a:p>
            <a:pPr algn="just"/>
            <a:endParaRPr lang="es-ES" dirty="0"/>
          </a:p>
          <a:p>
            <a:pPr algn="just"/>
            <a:r>
              <a:rPr lang="es-ES" dirty="0"/>
              <a:t>(   )	C. Todas las razones son tasas.</a:t>
            </a:r>
          </a:p>
          <a:p>
            <a:pPr algn="just"/>
            <a:endParaRPr lang="es-ES" dirty="0"/>
          </a:p>
          <a:p>
            <a:pPr algn="just"/>
            <a:endParaRPr lang="es-ES" dirty="0"/>
          </a:p>
          <a:p>
            <a:pPr algn="just"/>
            <a:r>
              <a:rPr lang="es-ES" dirty="0"/>
              <a:t>(   )	D. La prevalencia es una tasa.</a:t>
            </a:r>
          </a:p>
          <a:p>
            <a:pPr algn="just"/>
            <a:endParaRPr lang="es-ES" dirty="0"/>
          </a:p>
          <a:p>
            <a:pPr algn="just"/>
            <a:r>
              <a:rPr lang="es-ES" dirty="0"/>
              <a:t>(   )	E. En un estudio de la incidencia de cáncer de endometrio, la inclusión de mujeres histerectomizadas (sometidas a la extirpación quirúrgica del útero) sobrestimaría la densidad de incidencia del cáncer endometrial.</a:t>
            </a:r>
          </a:p>
          <a:p>
            <a:pPr algn="just"/>
            <a:endParaRPr lang="es-ES" dirty="0"/>
          </a:p>
        </p:txBody>
      </p:sp>
    </p:spTree>
    <p:extLst>
      <p:ext uri="{BB962C8B-B14F-4D97-AF65-F5344CB8AC3E}">
        <p14:creationId xmlns:p14="http://schemas.microsoft.com/office/powerpoint/2010/main" val="2372506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CD2822F-B436-40FD-A31A-38B3722A5B4A}"/>
              </a:ext>
            </a:extLst>
          </p:cNvPr>
          <p:cNvSpPr txBox="1"/>
          <p:nvPr/>
        </p:nvSpPr>
        <p:spPr>
          <a:xfrm>
            <a:off x="1557908" y="197346"/>
            <a:ext cx="8712968" cy="5909310"/>
          </a:xfrm>
          <a:prstGeom prst="rect">
            <a:avLst/>
          </a:prstGeom>
          <a:noFill/>
        </p:spPr>
        <p:txBody>
          <a:bodyPr wrap="square">
            <a:spAutoFit/>
          </a:bodyPr>
          <a:lstStyle/>
          <a:p>
            <a:pPr lvl="0" algn="just"/>
            <a:r>
              <a:rPr lang="es-PE" sz="1800" dirty="0">
                <a:effectLst/>
                <a:latin typeface="Arial" panose="020B0604020202020204" pitchFamily="34" charset="0"/>
                <a:ea typeface="Times New Roman" panose="02020603050405020304" pitchFamily="18" charset="0"/>
              </a:rPr>
              <a:t>2. ¿A qué medida de frecuencia hace referencia cada una de las siguientes situaciones?        </a:t>
            </a:r>
            <a:r>
              <a:rPr lang="es-PE" sz="1800" b="1" dirty="0">
                <a:effectLst/>
                <a:latin typeface="Arial" panose="020B0604020202020204" pitchFamily="34" charset="0"/>
                <a:ea typeface="Times New Roman" panose="02020603050405020304" pitchFamily="18" charset="0"/>
              </a:rPr>
              <a:t>Incidencia acumulada, Tasa de incidencia, o Prevalencia</a:t>
            </a:r>
            <a:endParaRPr lang="es-PE" sz="1200" b="1" dirty="0">
              <a:effectLst/>
              <a:latin typeface="Times New Roman" panose="02020603050405020304" pitchFamily="18" charset="0"/>
              <a:ea typeface="Times New Roman" panose="02020603050405020304" pitchFamily="18" charset="0"/>
            </a:endParaRPr>
          </a:p>
          <a:p>
            <a:pPr algn="just"/>
            <a:r>
              <a:rPr lang="es-PE" sz="1800" dirty="0">
                <a:effectLst/>
                <a:latin typeface="Arial" panose="020B0604020202020204" pitchFamily="34" charset="0"/>
                <a:ea typeface="Times New Roman" panose="02020603050405020304" pitchFamily="18" charset="0"/>
              </a:rPr>
              <a:t> </a:t>
            </a:r>
            <a:endParaRPr lang="es-PE" sz="1200" dirty="0">
              <a:effectLst/>
              <a:latin typeface="Times New Roman" panose="02020603050405020304" pitchFamily="18" charset="0"/>
              <a:ea typeface="Times New Roman" panose="02020603050405020304" pitchFamily="18" charset="0"/>
            </a:endParaRPr>
          </a:p>
          <a:p>
            <a:pPr marL="457200" algn="just"/>
            <a:r>
              <a:rPr lang="es-PE" sz="1800" dirty="0">
                <a:effectLst/>
                <a:latin typeface="Arial" panose="020B0604020202020204" pitchFamily="34" charset="0"/>
                <a:ea typeface="Times New Roman" panose="02020603050405020304" pitchFamily="18" charset="0"/>
              </a:rPr>
              <a:t>A. El porcentaje de alumnas de primer año que aprobaran los cinco años escolares de nivel secundaria.</a:t>
            </a:r>
            <a:endParaRPr lang="es-PE" sz="1200" dirty="0">
              <a:effectLst/>
              <a:latin typeface="Times New Roman" panose="02020603050405020304" pitchFamily="18" charset="0"/>
              <a:ea typeface="Times New Roman" panose="02020603050405020304" pitchFamily="18" charset="0"/>
            </a:endParaRPr>
          </a:p>
          <a:p>
            <a:pPr marL="457200" algn="just"/>
            <a:r>
              <a:rPr lang="es-PE" sz="1800" dirty="0">
                <a:effectLst/>
                <a:latin typeface="Arial" panose="020B0604020202020204" pitchFamily="34" charset="0"/>
                <a:ea typeface="Times New Roman" panose="02020603050405020304" pitchFamily="18" charset="0"/>
              </a:rPr>
              <a:t> </a:t>
            </a:r>
            <a:endParaRPr lang="es-PE" sz="1200" dirty="0">
              <a:effectLst/>
              <a:latin typeface="Times New Roman" panose="02020603050405020304" pitchFamily="18" charset="0"/>
              <a:ea typeface="Times New Roman" panose="02020603050405020304" pitchFamily="18" charset="0"/>
            </a:endParaRPr>
          </a:p>
          <a:p>
            <a:pPr marL="457200" algn="just"/>
            <a:r>
              <a:rPr lang="es-PE" sz="1800" dirty="0">
                <a:effectLst/>
                <a:latin typeface="Arial" panose="020B0604020202020204" pitchFamily="34" charset="0"/>
                <a:ea typeface="Times New Roman" panose="02020603050405020304" pitchFamily="18" charset="0"/>
              </a:rPr>
              <a:t> </a:t>
            </a:r>
            <a:endParaRPr lang="es-PE" sz="1200" dirty="0">
              <a:effectLst/>
              <a:latin typeface="Times New Roman" panose="02020603050405020304" pitchFamily="18" charset="0"/>
              <a:ea typeface="Times New Roman" panose="02020603050405020304" pitchFamily="18" charset="0"/>
            </a:endParaRPr>
          </a:p>
          <a:p>
            <a:pPr marL="457200" algn="just"/>
            <a:r>
              <a:rPr lang="es-PE" sz="1800" dirty="0">
                <a:effectLst/>
                <a:latin typeface="Arial" panose="020B0604020202020204" pitchFamily="34" charset="0"/>
                <a:ea typeface="Times New Roman" panose="02020603050405020304" pitchFamily="18" charset="0"/>
              </a:rPr>
              <a:t> </a:t>
            </a:r>
            <a:endParaRPr lang="es-PE" sz="1200" dirty="0">
              <a:effectLst/>
              <a:latin typeface="Times New Roman" panose="02020603050405020304" pitchFamily="18" charset="0"/>
              <a:ea typeface="Times New Roman" panose="02020603050405020304" pitchFamily="18" charset="0"/>
            </a:endParaRPr>
          </a:p>
          <a:p>
            <a:pPr marL="457200" algn="just"/>
            <a:r>
              <a:rPr lang="es-PE" sz="1800" dirty="0">
                <a:effectLst/>
                <a:latin typeface="Arial" panose="020B0604020202020204" pitchFamily="34" charset="0"/>
                <a:ea typeface="Times New Roman" panose="02020603050405020304" pitchFamily="18" charset="0"/>
              </a:rPr>
              <a:t>B. El porcentaje de alumnos de 5</a:t>
            </a:r>
            <a:r>
              <a:rPr lang="es-PE" sz="1800" baseline="30000" dirty="0">
                <a:effectLst/>
                <a:latin typeface="Arial" panose="020B0604020202020204" pitchFamily="34" charset="0"/>
                <a:ea typeface="Times New Roman" panose="02020603050405020304" pitchFamily="18" charset="0"/>
              </a:rPr>
              <a:t>to</a:t>
            </a:r>
            <a:r>
              <a:rPr lang="es-PE" sz="1800" dirty="0">
                <a:effectLst/>
                <a:latin typeface="Arial" panose="020B0604020202020204" pitchFamily="34" charset="0"/>
                <a:ea typeface="Times New Roman" panose="02020603050405020304" pitchFamily="18" charset="0"/>
              </a:rPr>
              <a:t> de secundaria que son padres (solo varones) al momento de la  graduación.</a:t>
            </a:r>
            <a:endParaRPr lang="es-PE" sz="1200" dirty="0">
              <a:effectLst/>
              <a:latin typeface="Times New Roman" panose="02020603050405020304" pitchFamily="18" charset="0"/>
              <a:ea typeface="Times New Roman" panose="02020603050405020304" pitchFamily="18" charset="0"/>
            </a:endParaRPr>
          </a:p>
          <a:p>
            <a:pPr marL="457200" algn="just"/>
            <a:r>
              <a:rPr lang="es-PE" sz="1800" dirty="0">
                <a:solidFill>
                  <a:srgbClr val="0000FF"/>
                </a:solidFill>
                <a:effectLst/>
                <a:latin typeface="Arial" panose="020B0604020202020204" pitchFamily="34" charset="0"/>
                <a:ea typeface="Times New Roman" panose="02020603050405020304" pitchFamily="18" charset="0"/>
              </a:rPr>
              <a:t> </a:t>
            </a:r>
            <a:endParaRPr lang="es-PE" sz="1200" dirty="0">
              <a:effectLst/>
              <a:latin typeface="Times New Roman" panose="02020603050405020304" pitchFamily="18" charset="0"/>
              <a:ea typeface="Times New Roman" panose="02020603050405020304" pitchFamily="18" charset="0"/>
            </a:endParaRPr>
          </a:p>
          <a:p>
            <a:pPr marL="457200" algn="just"/>
            <a:r>
              <a:rPr lang="es-PE" sz="1800" dirty="0">
                <a:solidFill>
                  <a:srgbClr val="0000FF"/>
                </a:solidFill>
                <a:effectLst/>
                <a:latin typeface="Arial" panose="020B0604020202020204" pitchFamily="34" charset="0"/>
                <a:ea typeface="Times New Roman" panose="02020603050405020304" pitchFamily="18" charset="0"/>
              </a:rPr>
              <a:t> </a:t>
            </a:r>
            <a:endParaRPr lang="es-PE" sz="1200" dirty="0">
              <a:effectLst/>
              <a:latin typeface="Times New Roman" panose="02020603050405020304" pitchFamily="18" charset="0"/>
              <a:ea typeface="Times New Roman" panose="02020603050405020304" pitchFamily="18" charset="0"/>
            </a:endParaRPr>
          </a:p>
          <a:p>
            <a:pPr marL="457200" algn="just"/>
            <a:r>
              <a:rPr lang="es-PE" sz="1800" dirty="0">
                <a:solidFill>
                  <a:srgbClr val="0000FF"/>
                </a:solidFill>
                <a:effectLst/>
                <a:latin typeface="Arial" panose="020B0604020202020204" pitchFamily="34" charset="0"/>
                <a:ea typeface="Times New Roman" panose="02020603050405020304" pitchFamily="18" charset="0"/>
              </a:rPr>
              <a:t> </a:t>
            </a:r>
            <a:endParaRPr lang="es-PE" sz="1200" dirty="0">
              <a:effectLst/>
              <a:latin typeface="Times New Roman" panose="02020603050405020304" pitchFamily="18" charset="0"/>
              <a:ea typeface="Times New Roman" panose="02020603050405020304" pitchFamily="18" charset="0"/>
            </a:endParaRPr>
          </a:p>
          <a:p>
            <a:pPr marL="457200" algn="just"/>
            <a:r>
              <a:rPr lang="es-PE" sz="1800" dirty="0">
                <a:solidFill>
                  <a:srgbClr val="0000FF"/>
                </a:solidFill>
                <a:effectLst/>
                <a:latin typeface="Arial" panose="020B0604020202020204" pitchFamily="34" charset="0"/>
                <a:ea typeface="Times New Roman" panose="02020603050405020304" pitchFamily="18" charset="0"/>
              </a:rPr>
              <a:t> </a:t>
            </a:r>
            <a:endParaRPr lang="es-PE" sz="1200" dirty="0">
              <a:effectLst/>
              <a:latin typeface="Times New Roman" panose="02020603050405020304" pitchFamily="18" charset="0"/>
              <a:ea typeface="Times New Roman" panose="02020603050405020304" pitchFamily="18" charset="0"/>
            </a:endParaRPr>
          </a:p>
          <a:p>
            <a:pPr marL="457200" algn="just"/>
            <a:r>
              <a:rPr lang="es-PE" sz="1800" dirty="0">
                <a:effectLst/>
                <a:latin typeface="Arial" panose="020B0604020202020204" pitchFamily="34" charset="0"/>
                <a:ea typeface="Times New Roman" panose="02020603050405020304" pitchFamily="18" charset="0"/>
              </a:rPr>
              <a:t>C. El número de recién nacidos vivos que murieron por el síndrome de muerte súbita del lactante durante el primer año de vida por cada 100,000 recién nacidos-mes de seguimiento.</a:t>
            </a:r>
            <a:endParaRPr lang="es-PE" sz="1200" dirty="0">
              <a:effectLst/>
              <a:latin typeface="Times New Roman" panose="02020603050405020304" pitchFamily="18" charset="0"/>
              <a:ea typeface="Times New Roman" panose="02020603050405020304" pitchFamily="18" charset="0"/>
            </a:endParaRPr>
          </a:p>
          <a:p>
            <a:pPr marL="457200" algn="just"/>
            <a:r>
              <a:rPr lang="es-PE" sz="1800" dirty="0">
                <a:solidFill>
                  <a:srgbClr val="0000FF"/>
                </a:solidFill>
                <a:effectLst/>
                <a:latin typeface="Arial" panose="020B0604020202020204" pitchFamily="34" charset="0"/>
                <a:ea typeface="Times New Roman" panose="02020603050405020304" pitchFamily="18" charset="0"/>
              </a:rPr>
              <a:t> </a:t>
            </a:r>
            <a:endParaRPr lang="es-PE" sz="1200" dirty="0">
              <a:effectLst/>
              <a:latin typeface="Times New Roman" panose="02020603050405020304" pitchFamily="18" charset="0"/>
              <a:ea typeface="Times New Roman" panose="02020603050405020304" pitchFamily="18" charset="0"/>
            </a:endParaRPr>
          </a:p>
          <a:p>
            <a:pPr marL="457200" algn="just"/>
            <a:r>
              <a:rPr lang="es-PE" sz="1800" dirty="0">
                <a:solidFill>
                  <a:srgbClr val="0000FF"/>
                </a:solidFill>
                <a:effectLst/>
                <a:latin typeface="Arial" panose="020B0604020202020204" pitchFamily="34" charset="0"/>
                <a:ea typeface="Times New Roman" panose="02020603050405020304" pitchFamily="18" charset="0"/>
              </a:rPr>
              <a:t> </a:t>
            </a:r>
            <a:endParaRPr lang="es-PE" sz="1200" dirty="0">
              <a:effectLst/>
              <a:latin typeface="Times New Roman" panose="02020603050405020304" pitchFamily="18" charset="0"/>
              <a:ea typeface="Times New Roman" panose="02020603050405020304" pitchFamily="18" charset="0"/>
            </a:endParaRPr>
          </a:p>
          <a:p>
            <a:pPr marL="457200" algn="just"/>
            <a:r>
              <a:rPr lang="es-PE" sz="1800" dirty="0">
                <a:solidFill>
                  <a:srgbClr val="0000FF"/>
                </a:solidFill>
                <a:effectLst/>
                <a:latin typeface="Arial" panose="020B0604020202020204" pitchFamily="34" charset="0"/>
                <a:ea typeface="Times New Roman" panose="02020603050405020304" pitchFamily="18" charset="0"/>
              </a:rPr>
              <a:t> </a:t>
            </a:r>
            <a:endParaRPr lang="es-PE" sz="1200" dirty="0">
              <a:effectLst/>
              <a:latin typeface="Times New Roman" panose="02020603050405020304" pitchFamily="18" charset="0"/>
              <a:ea typeface="Times New Roman" panose="02020603050405020304" pitchFamily="18" charset="0"/>
            </a:endParaRPr>
          </a:p>
          <a:p>
            <a:pPr marL="457200" algn="just"/>
            <a:r>
              <a:rPr lang="es-PE" sz="1800" dirty="0">
                <a:solidFill>
                  <a:srgbClr val="0000FF"/>
                </a:solidFill>
                <a:effectLst/>
                <a:latin typeface="Arial" panose="020B0604020202020204" pitchFamily="34" charset="0"/>
                <a:ea typeface="Times New Roman" panose="02020603050405020304" pitchFamily="18" charset="0"/>
              </a:rPr>
              <a:t> </a:t>
            </a:r>
            <a:endParaRPr lang="es-PE"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98676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977EBDA8-5770-4118-954A-29FFE501AF4C}"/>
              </a:ext>
            </a:extLst>
          </p:cNvPr>
          <p:cNvSpPr txBox="1"/>
          <p:nvPr/>
        </p:nvSpPr>
        <p:spPr>
          <a:xfrm>
            <a:off x="3044171" y="332656"/>
            <a:ext cx="6100482" cy="1477328"/>
          </a:xfrm>
          <a:prstGeom prst="rect">
            <a:avLst/>
          </a:prstGeom>
          <a:noFill/>
        </p:spPr>
        <p:txBody>
          <a:bodyPr wrap="square">
            <a:spAutoFit/>
          </a:bodyPr>
          <a:lstStyle/>
          <a:p>
            <a:pPr lvl="0" algn="just"/>
            <a:r>
              <a:rPr lang="es-PE" sz="1800" dirty="0">
                <a:effectLst/>
                <a:latin typeface="Arial" panose="020B0604020202020204" pitchFamily="34" charset="0"/>
                <a:ea typeface="Times New Roman" panose="02020603050405020304" pitchFamily="18" charset="0"/>
              </a:rPr>
              <a:t>3. En 2001, hubieron 2900 casos nuevos de cáncer de mama en mujeres en Alabama y 200 casos nuevos de cáncer de mama en Alaska. Basándose en estos datos, ¿es correcto decir que la incidencia de cáncer de mama es más alta en Alabama que en Alaska? </a:t>
            </a:r>
            <a:endParaRPr lang="es-PE"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58504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6D4BBAC-C693-42F9-92C6-7C7CFF8EEDA7}"/>
              </a:ext>
            </a:extLst>
          </p:cNvPr>
          <p:cNvSpPr txBox="1"/>
          <p:nvPr/>
        </p:nvSpPr>
        <p:spPr>
          <a:xfrm>
            <a:off x="2638028" y="404664"/>
            <a:ext cx="6552728" cy="2031325"/>
          </a:xfrm>
          <a:prstGeom prst="rect">
            <a:avLst/>
          </a:prstGeom>
          <a:noFill/>
        </p:spPr>
        <p:txBody>
          <a:bodyPr wrap="square">
            <a:spAutoFit/>
          </a:bodyPr>
          <a:lstStyle/>
          <a:p>
            <a:pPr lvl="0" algn="just"/>
            <a:r>
              <a:rPr lang="es-PE" sz="1800" dirty="0">
                <a:effectLst/>
                <a:latin typeface="Arial" panose="020B0604020202020204" pitchFamily="34" charset="0"/>
                <a:ea typeface="Times New Roman" panose="02020603050405020304" pitchFamily="18" charset="0"/>
              </a:rPr>
              <a:t>4. Una población de 100 hombres sanos fue seguida por 10 años para evaluar la aparición de cáncer de próstata. Diez hombres se perdieron al primer año de seguimiento, y 20 hombres desarrollaron cáncer de próstata al quinto año de seguimiento. El resto de participantes completó los 10 años de seguimiento sin desarrollar la enfermedad. Calcule el total de personas-año de seguimiento de la población de estudio.</a:t>
            </a:r>
            <a:endParaRPr lang="es-PE"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444574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dirty="0"/>
              <a:t>Medidas de mortalidad</a:t>
            </a:r>
          </a:p>
        </p:txBody>
      </p:sp>
      <p:sp>
        <p:nvSpPr>
          <p:cNvPr id="5" name="Marcador de posición de texto 4"/>
          <p:cNvSpPr>
            <a:spLocks noGrp="1"/>
          </p:cNvSpPr>
          <p:nvPr>
            <p:ph type="body" idx="1"/>
          </p:nvPr>
        </p:nvSpPr>
        <p:spPr/>
        <p:txBody>
          <a:bodyPr rtlCol="0"/>
          <a:lstStyle/>
          <a:p>
            <a:pPr rtl="0"/>
            <a:r>
              <a:rPr lang="es-ES" dirty="0"/>
              <a:t>Resumen en 3 min</a:t>
            </a:r>
          </a:p>
        </p:txBody>
      </p:sp>
    </p:spTree>
    <p:extLst>
      <p:ext uri="{BB962C8B-B14F-4D97-AF65-F5344CB8AC3E}">
        <p14:creationId xmlns:p14="http://schemas.microsoft.com/office/powerpoint/2010/main" val="33260306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a:xfrm>
            <a:off x="1593436" y="139701"/>
            <a:ext cx="9782801" cy="985044"/>
          </a:xfrm>
        </p:spPr>
        <p:txBody>
          <a:bodyPr rtlCol="0">
            <a:normAutofit/>
          </a:bodyPr>
          <a:lstStyle/>
          <a:p>
            <a:pPr rtl="0"/>
            <a:r>
              <a:rPr lang="es-ES" sz="3200" b="1" dirty="0">
                <a:solidFill>
                  <a:srgbClr val="1232D0"/>
                </a:solidFill>
              </a:rPr>
              <a:t>Tasas de mortalidad</a:t>
            </a:r>
          </a:p>
        </p:txBody>
      </p:sp>
      <p:cxnSp>
        <p:nvCxnSpPr>
          <p:cNvPr id="4" name="Conector recto 3">
            <a:extLst>
              <a:ext uri="{FF2B5EF4-FFF2-40B4-BE49-F238E27FC236}">
                <a16:creationId xmlns:a16="http://schemas.microsoft.com/office/drawing/2014/main" id="{382DEA70-704B-4295-BFD8-A2B884955048}"/>
              </a:ext>
            </a:extLst>
          </p:cNvPr>
          <p:cNvCxnSpPr>
            <a:cxnSpLocks/>
          </p:cNvCxnSpPr>
          <p:nvPr/>
        </p:nvCxnSpPr>
        <p:spPr>
          <a:xfrm>
            <a:off x="1197868" y="1340768"/>
            <a:ext cx="10729192" cy="0"/>
          </a:xfrm>
          <a:prstGeom prst="line">
            <a:avLst/>
          </a:prstGeom>
          <a:ln w="76200">
            <a:solidFill>
              <a:srgbClr val="596671"/>
            </a:solidFill>
          </a:ln>
        </p:spPr>
        <p:style>
          <a:lnRef idx="1">
            <a:schemeClr val="accent1"/>
          </a:lnRef>
          <a:fillRef idx="0">
            <a:schemeClr val="accent1"/>
          </a:fillRef>
          <a:effectRef idx="0">
            <a:schemeClr val="accent1"/>
          </a:effectRef>
          <a:fontRef idx="minor">
            <a:schemeClr val="tx1"/>
          </a:fontRef>
        </p:style>
      </p:cxnSp>
      <p:pic>
        <p:nvPicPr>
          <p:cNvPr id="9" name="Marcador de contenido 8">
            <a:extLst>
              <a:ext uri="{FF2B5EF4-FFF2-40B4-BE49-F238E27FC236}">
                <a16:creationId xmlns:a16="http://schemas.microsoft.com/office/drawing/2014/main" id="{8784C65B-1DA8-4D12-B0D1-71ECDED30525}"/>
              </a:ext>
            </a:extLst>
          </p:cNvPr>
          <p:cNvPicPr>
            <a:picLocks noGrp="1" noChangeAspect="1"/>
          </p:cNvPicPr>
          <p:nvPr>
            <p:ph idx="1"/>
          </p:nvPr>
        </p:nvPicPr>
        <p:blipFill>
          <a:blip r:embed="rId3"/>
          <a:stretch>
            <a:fillRect/>
          </a:stretch>
        </p:blipFill>
        <p:spPr>
          <a:xfrm>
            <a:off x="2139607" y="2628788"/>
            <a:ext cx="8249801" cy="800212"/>
          </a:xfrm>
        </p:spPr>
      </p:pic>
      <p:sp>
        <p:nvSpPr>
          <p:cNvPr id="15" name="CuadroTexto 14">
            <a:extLst>
              <a:ext uri="{FF2B5EF4-FFF2-40B4-BE49-F238E27FC236}">
                <a16:creationId xmlns:a16="http://schemas.microsoft.com/office/drawing/2014/main" id="{AAA225EB-1079-48E4-965E-97A0A77782B9}"/>
              </a:ext>
            </a:extLst>
          </p:cNvPr>
          <p:cNvSpPr txBox="1"/>
          <p:nvPr/>
        </p:nvSpPr>
        <p:spPr>
          <a:xfrm>
            <a:off x="1801525" y="2048785"/>
            <a:ext cx="6096000" cy="369332"/>
          </a:xfrm>
          <a:prstGeom prst="rect">
            <a:avLst/>
          </a:prstGeom>
          <a:noFill/>
        </p:spPr>
        <p:txBody>
          <a:bodyPr wrap="square">
            <a:spAutoFit/>
          </a:bodyPr>
          <a:lstStyle/>
          <a:p>
            <a:r>
              <a:rPr lang="es-PE" sz="1800" b="1" i="0" u="none" strike="noStrike" baseline="0" dirty="0">
                <a:solidFill>
                  <a:srgbClr val="000000"/>
                </a:solidFill>
                <a:latin typeface="Arial" panose="020B0604020202020204" pitchFamily="34" charset="0"/>
              </a:rPr>
              <a:t>1. Mortalidad anual (general)</a:t>
            </a:r>
            <a:endParaRPr lang="es-PE" dirty="0"/>
          </a:p>
        </p:txBody>
      </p:sp>
      <p:sp>
        <p:nvSpPr>
          <p:cNvPr id="16" name="CuadroTexto 15">
            <a:extLst>
              <a:ext uri="{FF2B5EF4-FFF2-40B4-BE49-F238E27FC236}">
                <a16:creationId xmlns:a16="http://schemas.microsoft.com/office/drawing/2014/main" id="{8F817AE9-2250-4CE8-9A6B-EF47E607BC12}"/>
              </a:ext>
            </a:extLst>
          </p:cNvPr>
          <p:cNvSpPr txBox="1"/>
          <p:nvPr/>
        </p:nvSpPr>
        <p:spPr>
          <a:xfrm>
            <a:off x="1827085" y="3639671"/>
            <a:ext cx="6096000" cy="369332"/>
          </a:xfrm>
          <a:prstGeom prst="rect">
            <a:avLst/>
          </a:prstGeom>
          <a:noFill/>
        </p:spPr>
        <p:txBody>
          <a:bodyPr wrap="square">
            <a:spAutoFit/>
          </a:bodyPr>
          <a:lstStyle/>
          <a:p>
            <a:r>
              <a:rPr lang="es-PE" sz="1800" b="1" i="0" u="none" strike="noStrike" baseline="0" dirty="0">
                <a:solidFill>
                  <a:srgbClr val="000000"/>
                </a:solidFill>
                <a:latin typeface="Arial" panose="020B0604020202020204" pitchFamily="34" charset="0"/>
              </a:rPr>
              <a:t>2. Mortalidad específica</a:t>
            </a:r>
            <a:endParaRPr lang="es-PE" dirty="0"/>
          </a:p>
        </p:txBody>
      </p:sp>
      <p:pic>
        <p:nvPicPr>
          <p:cNvPr id="12" name="Imagen 11">
            <a:extLst>
              <a:ext uri="{FF2B5EF4-FFF2-40B4-BE49-F238E27FC236}">
                <a16:creationId xmlns:a16="http://schemas.microsoft.com/office/drawing/2014/main" id="{56485F8E-5C00-4D64-845A-E1DAEF475C09}"/>
              </a:ext>
            </a:extLst>
          </p:cNvPr>
          <p:cNvPicPr>
            <a:picLocks noChangeAspect="1"/>
          </p:cNvPicPr>
          <p:nvPr/>
        </p:nvPicPr>
        <p:blipFill>
          <a:blip r:embed="rId4"/>
          <a:stretch>
            <a:fillRect/>
          </a:stretch>
        </p:blipFill>
        <p:spPr>
          <a:xfrm>
            <a:off x="2133972" y="4009003"/>
            <a:ext cx="5262176" cy="2494318"/>
          </a:xfrm>
          <a:prstGeom prst="rect">
            <a:avLst/>
          </a:prstGeom>
        </p:spPr>
      </p:pic>
    </p:spTree>
    <p:extLst>
      <p:ext uri="{BB962C8B-B14F-4D97-AF65-F5344CB8AC3E}">
        <p14:creationId xmlns:p14="http://schemas.microsoft.com/office/powerpoint/2010/main" val="306631815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a:xfrm>
            <a:off x="1593436" y="139701"/>
            <a:ext cx="9782801" cy="985044"/>
          </a:xfrm>
        </p:spPr>
        <p:txBody>
          <a:bodyPr rtlCol="0">
            <a:normAutofit/>
          </a:bodyPr>
          <a:lstStyle/>
          <a:p>
            <a:pPr rtl="0"/>
            <a:r>
              <a:rPr lang="es-ES" sz="3200" b="1" dirty="0">
                <a:solidFill>
                  <a:srgbClr val="1232D0"/>
                </a:solidFill>
              </a:rPr>
              <a:t>Tasas de letalidad</a:t>
            </a:r>
          </a:p>
        </p:txBody>
      </p:sp>
      <p:cxnSp>
        <p:nvCxnSpPr>
          <p:cNvPr id="4" name="Conector recto 3">
            <a:extLst>
              <a:ext uri="{FF2B5EF4-FFF2-40B4-BE49-F238E27FC236}">
                <a16:creationId xmlns:a16="http://schemas.microsoft.com/office/drawing/2014/main" id="{382DEA70-704B-4295-BFD8-A2B884955048}"/>
              </a:ext>
            </a:extLst>
          </p:cNvPr>
          <p:cNvCxnSpPr>
            <a:cxnSpLocks/>
          </p:cNvCxnSpPr>
          <p:nvPr/>
        </p:nvCxnSpPr>
        <p:spPr>
          <a:xfrm>
            <a:off x="1197868" y="1340768"/>
            <a:ext cx="10729192" cy="0"/>
          </a:xfrm>
          <a:prstGeom prst="line">
            <a:avLst/>
          </a:prstGeom>
          <a:ln w="76200">
            <a:solidFill>
              <a:srgbClr val="596671"/>
            </a:solidFill>
          </a:ln>
        </p:spPr>
        <p:style>
          <a:lnRef idx="1">
            <a:schemeClr val="accent1"/>
          </a:lnRef>
          <a:fillRef idx="0">
            <a:schemeClr val="accent1"/>
          </a:fillRef>
          <a:effectRef idx="0">
            <a:schemeClr val="accent1"/>
          </a:effectRef>
          <a:fontRef idx="minor">
            <a:schemeClr val="tx1"/>
          </a:fontRef>
        </p:style>
      </p:cxnSp>
      <p:pic>
        <p:nvPicPr>
          <p:cNvPr id="8" name="Marcador de contenido 7">
            <a:extLst>
              <a:ext uri="{FF2B5EF4-FFF2-40B4-BE49-F238E27FC236}">
                <a16:creationId xmlns:a16="http://schemas.microsoft.com/office/drawing/2014/main" id="{569171B8-DD22-4B3C-AD6A-79E52DDEF75A}"/>
              </a:ext>
            </a:extLst>
          </p:cNvPr>
          <p:cNvPicPr>
            <a:picLocks noGrp="1" noChangeAspect="1"/>
          </p:cNvPicPr>
          <p:nvPr>
            <p:ph idx="1"/>
          </p:nvPr>
        </p:nvPicPr>
        <p:blipFill>
          <a:blip r:embed="rId3"/>
          <a:stretch>
            <a:fillRect/>
          </a:stretch>
        </p:blipFill>
        <p:spPr>
          <a:xfrm>
            <a:off x="2061964" y="1700808"/>
            <a:ext cx="8421275" cy="914528"/>
          </a:xfrm>
        </p:spPr>
      </p:pic>
    </p:spTree>
    <p:extLst>
      <p:ext uri="{BB962C8B-B14F-4D97-AF65-F5344CB8AC3E}">
        <p14:creationId xmlns:p14="http://schemas.microsoft.com/office/powerpoint/2010/main" val="19702759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34C348-4A47-44B4-876F-AD1AE9B7D8FF}"/>
              </a:ext>
            </a:extLst>
          </p:cNvPr>
          <p:cNvSpPr>
            <a:spLocks noGrp="1"/>
          </p:cNvSpPr>
          <p:nvPr>
            <p:ph type="title"/>
          </p:nvPr>
        </p:nvSpPr>
        <p:spPr/>
        <p:txBody>
          <a:bodyPr/>
          <a:lstStyle/>
          <a:p>
            <a:endParaRPr lang="es-PE"/>
          </a:p>
        </p:txBody>
      </p:sp>
      <p:sp>
        <p:nvSpPr>
          <p:cNvPr id="3" name="Marcador de contenido 2">
            <a:extLst>
              <a:ext uri="{FF2B5EF4-FFF2-40B4-BE49-F238E27FC236}">
                <a16:creationId xmlns:a16="http://schemas.microsoft.com/office/drawing/2014/main" id="{C42C7A3B-6BC3-4F3D-A308-F9ABB08EB2B3}"/>
              </a:ext>
            </a:extLst>
          </p:cNvPr>
          <p:cNvSpPr>
            <a:spLocks noGrp="1"/>
          </p:cNvSpPr>
          <p:nvPr>
            <p:ph idx="1"/>
          </p:nvPr>
        </p:nvSpPr>
        <p:spPr/>
        <p:txBody>
          <a:bodyPr/>
          <a:lstStyle/>
          <a:p>
            <a:endParaRPr lang="es-PE"/>
          </a:p>
        </p:txBody>
      </p:sp>
      <p:pic>
        <p:nvPicPr>
          <p:cNvPr id="5" name="Imagen 4">
            <a:extLst>
              <a:ext uri="{FF2B5EF4-FFF2-40B4-BE49-F238E27FC236}">
                <a16:creationId xmlns:a16="http://schemas.microsoft.com/office/drawing/2014/main" id="{9753790E-D840-4407-A87A-BCEE1A4DC1F1}"/>
              </a:ext>
            </a:extLst>
          </p:cNvPr>
          <p:cNvPicPr>
            <a:picLocks noChangeAspect="1"/>
          </p:cNvPicPr>
          <p:nvPr/>
        </p:nvPicPr>
        <p:blipFill>
          <a:blip r:embed="rId2"/>
          <a:stretch>
            <a:fillRect/>
          </a:stretch>
        </p:blipFill>
        <p:spPr>
          <a:xfrm>
            <a:off x="1483669" y="285311"/>
            <a:ext cx="9221487" cy="6287377"/>
          </a:xfrm>
          <a:prstGeom prst="rect">
            <a:avLst/>
          </a:prstGeom>
        </p:spPr>
      </p:pic>
    </p:spTree>
    <p:extLst>
      <p:ext uri="{BB962C8B-B14F-4D97-AF65-F5344CB8AC3E}">
        <p14:creationId xmlns:p14="http://schemas.microsoft.com/office/powerpoint/2010/main" val="420523060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F85ACE-A4BC-4691-8A47-A63C4116200E}"/>
              </a:ext>
            </a:extLst>
          </p:cNvPr>
          <p:cNvSpPr>
            <a:spLocks noGrp="1"/>
          </p:cNvSpPr>
          <p:nvPr>
            <p:ph type="title"/>
          </p:nvPr>
        </p:nvSpPr>
        <p:spPr/>
        <p:txBody>
          <a:bodyPr/>
          <a:lstStyle/>
          <a:p>
            <a:endParaRPr lang="es-PE"/>
          </a:p>
        </p:txBody>
      </p:sp>
      <p:sp>
        <p:nvSpPr>
          <p:cNvPr id="3" name="Marcador de contenido 2">
            <a:extLst>
              <a:ext uri="{FF2B5EF4-FFF2-40B4-BE49-F238E27FC236}">
                <a16:creationId xmlns:a16="http://schemas.microsoft.com/office/drawing/2014/main" id="{551A848E-7A85-48E7-9FC5-D7FEC775CD09}"/>
              </a:ext>
            </a:extLst>
          </p:cNvPr>
          <p:cNvSpPr>
            <a:spLocks noGrp="1"/>
          </p:cNvSpPr>
          <p:nvPr>
            <p:ph idx="1"/>
          </p:nvPr>
        </p:nvSpPr>
        <p:spPr/>
        <p:txBody>
          <a:bodyPr/>
          <a:lstStyle/>
          <a:p>
            <a:endParaRPr lang="es-PE"/>
          </a:p>
        </p:txBody>
      </p:sp>
      <p:pic>
        <p:nvPicPr>
          <p:cNvPr id="5" name="Imagen 4">
            <a:extLst>
              <a:ext uri="{FF2B5EF4-FFF2-40B4-BE49-F238E27FC236}">
                <a16:creationId xmlns:a16="http://schemas.microsoft.com/office/drawing/2014/main" id="{6AE75799-7B17-4DA4-9EDF-36EE18590D70}"/>
              </a:ext>
            </a:extLst>
          </p:cNvPr>
          <p:cNvPicPr>
            <a:picLocks noChangeAspect="1"/>
          </p:cNvPicPr>
          <p:nvPr/>
        </p:nvPicPr>
        <p:blipFill>
          <a:blip r:embed="rId2"/>
          <a:stretch>
            <a:fillRect/>
          </a:stretch>
        </p:blipFill>
        <p:spPr>
          <a:xfrm>
            <a:off x="1293142" y="466311"/>
            <a:ext cx="9602540" cy="5925377"/>
          </a:xfrm>
          <a:prstGeom prst="rect">
            <a:avLst/>
          </a:prstGeom>
        </p:spPr>
      </p:pic>
    </p:spTree>
    <p:extLst>
      <p:ext uri="{BB962C8B-B14F-4D97-AF65-F5344CB8AC3E}">
        <p14:creationId xmlns:p14="http://schemas.microsoft.com/office/powerpoint/2010/main" val="86424637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Gracias | El hexágono de Guadalajara">
            <a:extLst>
              <a:ext uri="{FF2B5EF4-FFF2-40B4-BE49-F238E27FC236}">
                <a16:creationId xmlns:a16="http://schemas.microsoft.com/office/drawing/2014/main" id="{55369AE0-7ECA-41EB-8938-87CEC90AA2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3892" y="1628800"/>
            <a:ext cx="8758709" cy="3831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674994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heme/theme1.xml><?xml version="1.0" encoding="utf-8"?>
<a:theme xmlns:a="http://schemas.openxmlformats.org/drawingml/2006/main" name="Matemáticas 16 X 9">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9696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9086_TF02787947.potx" id="{47904E6C-F941-4E76-BCE5-98990F587331}" vid="{E19800A4-2B41-4D60-89B5-7A2C3CED113C}"/>
    </a:ext>
  </a:extLst>
</a:theme>
</file>

<file path=ppt/theme/theme2.xml><?xml version="1.0" encoding="utf-8"?>
<a:theme xmlns:a="http://schemas.openxmlformats.org/drawingml/2006/main" name="Tema de Offic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a de Offic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Presentación sobre matemáticas para el ámbito educativo con Pi (panorámica)</Template>
  <TotalTime>127</TotalTime>
  <Words>821</Words>
  <Application>Microsoft Office PowerPoint</Application>
  <PresentationFormat>Personalizado</PresentationFormat>
  <Paragraphs>135</Paragraphs>
  <Slides>36</Slides>
  <Notes>14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36</vt:i4>
      </vt:variant>
    </vt:vector>
  </HeadingPairs>
  <TitlesOfParts>
    <vt:vector size="41" baseType="lpstr">
      <vt:lpstr>Arial</vt:lpstr>
      <vt:lpstr>Calibri</vt:lpstr>
      <vt:lpstr>Euphemia</vt:lpstr>
      <vt:lpstr>Times New Roman</vt:lpstr>
      <vt:lpstr>Matemáticas 16 X 9</vt:lpstr>
      <vt:lpstr>Medidas de Frecuencia</vt:lpstr>
      <vt:lpstr>Presentación de PowerPoint</vt:lpstr>
      <vt:lpstr>Conceptos de medidas</vt:lpstr>
      <vt:lpstr>Concepto de medidas</vt:lpstr>
      <vt:lpstr>Medidas en Epidemiología</vt:lpstr>
      <vt:lpstr>Prevalencia </vt:lpstr>
      <vt:lpstr>Clasificaciones de los estudios epidemiológicos</vt:lpstr>
      <vt:lpstr>Tipos de prevalencia</vt:lpstr>
      <vt:lpstr>Presentación de PowerPoint</vt:lpstr>
      <vt:lpstr>Presentación de PowerPoint</vt:lpstr>
      <vt:lpstr>Presentación de PowerPoint</vt:lpstr>
      <vt:lpstr>Presentación de PowerPoint</vt:lpstr>
      <vt:lpstr>Incidencia acumulada</vt:lpstr>
      <vt:lpstr>Incidencia</vt:lpstr>
      <vt:lpstr>Presentación de PowerPoint</vt:lpstr>
      <vt:lpstr>Presentación de PowerPoint</vt:lpstr>
      <vt:lpstr>Presentación de PowerPoint</vt:lpstr>
      <vt:lpstr>Tasa de incidencia (densidad)</vt:lpstr>
      <vt:lpstr>Incidencia</vt:lpstr>
      <vt:lpstr>Presentación de PowerPoint</vt:lpstr>
      <vt:lpstr>Presentación de PowerPoint</vt:lpstr>
      <vt:lpstr>Presentación de PowerPoint</vt:lpstr>
      <vt:lpstr>Presentación de PowerPoint</vt:lpstr>
      <vt:lpstr>Presentación de PowerPoint</vt:lpstr>
      <vt:lpstr>Presentación de PowerPoint</vt:lpstr>
      <vt:lpstr>Preguntas de repaso</vt:lpstr>
      <vt:lpstr>Presentación de PowerPoint</vt:lpstr>
      <vt:lpstr>Presentación de PowerPoint</vt:lpstr>
      <vt:lpstr>Presentación de PowerPoint</vt:lpstr>
      <vt:lpstr>Presentación de PowerPoint</vt:lpstr>
      <vt:lpstr>Medidas de mortalidad</vt:lpstr>
      <vt:lpstr>Tasas de mortalidad</vt:lpstr>
      <vt:lpstr>Tasas de letalidad</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 los Diseños de Estudios Epidemiológicos</dc:title>
  <dc:creator>Daniel Fernandez G</dc:creator>
  <cp:lastModifiedBy>Daniel Fernandez G</cp:lastModifiedBy>
  <cp:revision>16</cp:revision>
  <dcterms:created xsi:type="dcterms:W3CDTF">2024-05-02T21:22:54Z</dcterms:created>
  <dcterms:modified xsi:type="dcterms:W3CDTF">2024-05-28T20:39:25Z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