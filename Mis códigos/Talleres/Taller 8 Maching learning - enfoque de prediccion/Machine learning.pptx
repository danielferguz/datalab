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Economica"/>
      <p:regular r:id="rId41"/>
      <p:bold r:id="rId42"/>
      <p:italic r:id="rId43"/>
      <p:boldItalic r:id="rId44"/>
    </p:embeddedFont>
    <p:embeddedFont>
      <p:font typeface="Shadows Into Light"/>
      <p:regular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Economica-bold.fntdata"/><Relationship Id="rId41" Type="http://schemas.openxmlformats.org/officeDocument/2006/relationships/font" Target="fonts/Economica-regular.fntdata"/><Relationship Id="rId44" Type="http://schemas.openxmlformats.org/officeDocument/2006/relationships/font" Target="fonts/Economica-boldItalic.fntdata"/><Relationship Id="rId43" Type="http://schemas.openxmlformats.org/officeDocument/2006/relationships/font" Target="fonts/Economica-italic.fntdata"/><Relationship Id="rId46" Type="http://schemas.openxmlformats.org/officeDocument/2006/relationships/font" Target="fonts/OpenSans-regular.fntdata"/><Relationship Id="rId45" Type="http://schemas.openxmlformats.org/officeDocument/2006/relationships/font" Target="fonts/ShadowsInto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647e7902a0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647e7902a0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a46434b6d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a46434b6d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a46434b6d8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a46434b6d8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a46434b6d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a46434b6d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a46434b6d8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a46434b6d8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63c91151d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63c91151d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a46434b6d8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a46434b6d8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a46434b6d8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a46434b6d8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a46434b6d8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a46434b6d8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46434b6d8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a46434b6d8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a46434b6d8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a46434b6d8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a46434b6d8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a46434b6d8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63c91151d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63c91151d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a46434b6d8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a46434b6d8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63c91151d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63c91151d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a46434b6d8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a46434b6d8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63c91151d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63c91151d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63c91151d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63c91151d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63e581835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63e581835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63e5818351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63e581835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63e5818351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63e5818351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63e5818351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63e5818351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63c91151d8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63c91151d8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63c91151d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63c91151d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63c91151d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63c91151d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63c91151d8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63c91151d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63c91151d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63c91151d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63c91151d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63c91151d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a46434b6d8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a46434b6d8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a46434b6d8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a46434b6d8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a46434b6d8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a46434b6d8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a46434b6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a46434b6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596a61170a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596a61170a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5200"/>
              <a:buFont typeface="Shadows Into Light"/>
              <a:buNone/>
              <a:defRPr sz="5200">
                <a:solidFill>
                  <a:srgbClr val="0091EA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b="1" sz="3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SzPts val="1800"/>
              <a:buFont typeface="Comic Sans MS"/>
              <a:buChar char="○"/>
              <a:defRPr sz="1800"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ctrTitle"/>
          </p:nvPr>
        </p:nvSpPr>
        <p:spPr>
          <a:xfrm>
            <a:off x="1700185" y="1020263"/>
            <a:ext cx="58074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b="1" sz="6000">
                <a:solidFill>
                  <a:srgbClr val="0091E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b="1" sz="6000">
                <a:solidFill>
                  <a:srgbClr val="0091E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b="1" sz="6000">
                <a:solidFill>
                  <a:srgbClr val="0091E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b="1" sz="6000">
                <a:solidFill>
                  <a:srgbClr val="0091E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b="1" sz="6000">
                <a:solidFill>
                  <a:srgbClr val="0091E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b="1" sz="6000">
                <a:solidFill>
                  <a:srgbClr val="0091E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b="1" sz="6000">
                <a:solidFill>
                  <a:srgbClr val="0091E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b="1" sz="6000">
                <a:solidFill>
                  <a:srgbClr val="0091E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b="1" sz="6000">
                <a:solidFill>
                  <a:srgbClr val="0091EA"/>
                </a:solidFill>
              </a:defRPr>
            </a:lvl9pPr>
          </a:lstStyle>
          <a:p/>
        </p:txBody>
      </p:sp>
      <p:sp>
        <p:nvSpPr>
          <p:cNvPr id="105" name="Google Shape;105;p25"/>
          <p:cNvSpPr/>
          <p:nvPr/>
        </p:nvSpPr>
        <p:spPr>
          <a:xfrm>
            <a:off x="6897625" y="4649963"/>
            <a:ext cx="126900" cy="951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5"/>
          <p:cNvSpPr/>
          <p:nvPr/>
        </p:nvSpPr>
        <p:spPr>
          <a:xfrm>
            <a:off x="7454375" y="4229100"/>
            <a:ext cx="126900" cy="951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5"/>
          <p:cNvSpPr/>
          <p:nvPr/>
        </p:nvSpPr>
        <p:spPr>
          <a:xfrm>
            <a:off x="8827727" y="3448165"/>
            <a:ext cx="75900" cy="570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5"/>
          <p:cNvSpPr/>
          <p:nvPr/>
        </p:nvSpPr>
        <p:spPr>
          <a:xfrm>
            <a:off x="8677050" y="4933406"/>
            <a:ext cx="126900" cy="951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5"/>
          <p:cNvSpPr/>
          <p:nvPr/>
        </p:nvSpPr>
        <p:spPr>
          <a:xfrm>
            <a:off x="2972225" y="475050"/>
            <a:ext cx="126900" cy="951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5"/>
          <p:cNvSpPr/>
          <p:nvPr/>
        </p:nvSpPr>
        <p:spPr>
          <a:xfrm>
            <a:off x="579635" y="2530109"/>
            <a:ext cx="126900" cy="951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5"/>
          <p:cNvSpPr/>
          <p:nvPr/>
        </p:nvSpPr>
        <p:spPr>
          <a:xfrm>
            <a:off x="311843" y="593639"/>
            <a:ext cx="126900" cy="951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5"/>
          <p:cNvSpPr/>
          <p:nvPr/>
        </p:nvSpPr>
        <p:spPr>
          <a:xfrm>
            <a:off x="626322" y="1004904"/>
            <a:ext cx="253800" cy="190500"/>
          </a:xfrm>
          <a:prstGeom prst="ellipse">
            <a:avLst/>
          </a:prstGeom>
          <a:noFill/>
          <a:ln cap="flat" cmpd="sng" w="19050">
            <a:solidFill>
              <a:srgbClr val="009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5"/>
          <p:cNvSpPr/>
          <p:nvPr/>
        </p:nvSpPr>
        <p:spPr>
          <a:xfrm>
            <a:off x="8104500" y="3722325"/>
            <a:ext cx="190200" cy="142800"/>
          </a:xfrm>
          <a:prstGeom prst="ellipse">
            <a:avLst/>
          </a:prstGeom>
          <a:noFill/>
          <a:ln cap="flat" cmpd="sng" w="19050">
            <a:solidFill>
              <a:srgbClr val="009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5"/>
          <p:cNvSpPr/>
          <p:nvPr/>
        </p:nvSpPr>
        <p:spPr>
          <a:xfrm>
            <a:off x="8803950" y="4240992"/>
            <a:ext cx="190200" cy="142800"/>
          </a:xfrm>
          <a:prstGeom prst="ellipse">
            <a:avLst/>
          </a:prstGeom>
          <a:noFill/>
          <a:ln cap="flat" cmpd="sng" w="19050">
            <a:solidFill>
              <a:srgbClr val="009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5"/>
          <p:cNvSpPr/>
          <p:nvPr/>
        </p:nvSpPr>
        <p:spPr>
          <a:xfrm>
            <a:off x="196310" y="1493168"/>
            <a:ext cx="75900" cy="570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5"/>
          <p:cNvSpPr/>
          <p:nvPr/>
        </p:nvSpPr>
        <p:spPr>
          <a:xfrm>
            <a:off x="1738050" y="203491"/>
            <a:ext cx="253800" cy="190500"/>
          </a:xfrm>
          <a:prstGeom prst="ellipse">
            <a:avLst/>
          </a:prstGeom>
          <a:noFill/>
          <a:ln cap="flat" cmpd="sng" w="19050">
            <a:solidFill>
              <a:srgbClr val="009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5"/>
          <p:cNvSpPr/>
          <p:nvPr/>
        </p:nvSpPr>
        <p:spPr>
          <a:xfrm>
            <a:off x="771659" y="1878364"/>
            <a:ext cx="75900" cy="570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5"/>
          <p:cNvSpPr/>
          <p:nvPr/>
        </p:nvSpPr>
        <p:spPr>
          <a:xfrm>
            <a:off x="4271584" y="356119"/>
            <a:ext cx="75900" cy="570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5"/>
          <p:cNvSpPr/>
          <p:nvPr/>
        </p:nvSpPr>
        <p:spPr>
          <a:xfrm>
            <a:off x="7729213" y="4595578"/>
            <a:ext cx="253800" cy="190500"/>
          </a:xfrm>
          <a:prstGeom prst="ellipse">
            <a:avLst/>
          </a:prstGeom>
          <a:noFill/>
          <a:ln cap="flat" cmpd="sng" w="19050">
            <a:solidFill>
              <a:srgbClr val="009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type="ctrTitle"/>
          </p:nvPr>
        </p:nvSpPr>
        <p:spPr>
          <a:xfrm>
            <a:off x="1546025" y="15261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9pPr>
          </a:lstStyle>
          <a:p/>
        </p:txBody>
      </p:sp>
      <p:sp>
        <p:nvSpPr>
          <p:cNvPr id="122" name="Google Shape;122;p26"/>
          <p:cNvSpPr txBox="1"/>
          <p:nvPr>
            <p:ph idx="1" type="subTitle"/>
          </p:nvPr>
        </p:nvSpPr>
        <p:spPr>
          <a:xfrm>
            <a:off x="1546025" y="2782911"/>
            <a:ext cx="5832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2400"/>
              <a:buNone/>
              <a:defRPr>
                <a:solidFill>
                  <a:srgbClr val="607D8B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nections-05.png" id="124" name="Google Shape;124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5945" y="1"/>
            <a:ext cx="684908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1215300" y="1876050"/>
            <a:ext cx="67134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●"/>
              <a:defRPr i="1" sz="3600"/>
            </a:lvl1pPr>
            <a:lvl2pPr indent="-457200" lvl="1" marL="914400" rtl="0" algn="ctr">
              <a:spcBef>
                <a:spcPts val="1600"/>
              </a:spcBef>
              <a:spcAft>
                <a:spcPts val="0"/>
              </a:spcAft>
              <a:buClr>
                <a:srgbClr val="263238"/>
              </a:buClr>
              <a:buSzPts val="3600"/>
              <a:buChar char="○"/>
              <a:defRPr i="1" sz="3600"/>
            </a:lvl2pPr>
            <a:lvl3pPr indent="-457200" lvl="2" marL="1371600" rtl="0" algn="ctr">
              <a:spcBef>
                <a:spcPts val="1600"/>
              </a:spcBef>
              <a:spcAft>
                <a:spcPts val="0"/>
              </a:spcAft>
              <a:buClr>
                <a:srgbClr val="263238"/>
              </a:buClr>
              <a:buSzPts val="3600"/>
              <a:buChar char="■"/>
              <a:defRPr i="1" sz="3600"/>
            </a:lvl3pPr>
            <a:lvl4pPr indent="-457200" lvl="3" marL="1828800" rtl="0" algn="ctr">
              <a:spcBef>
                <a:spcPts val="1600"/>
              </a:spcBef>
              <a:spcAft>
                <a:spcPts val="0"/>
              </a:spcAft>
              <a:buClr>
                <a:srgbClr val="263238"/>
              </a:buClr>
              <a:buSzPts val="3600"/>
              <a:buChar char="●"/>
              <a:defRPr i="1" sz="3600"/>
            </a:lvl4pPr>
            <a:lvl5pPr indent="-457200" lvl="4" marL="2286000" rtl="0" algn="ctr">
              <a:spcBef>
                <a:spcPts val="1600"/>
              </a:spcBef>
              <a:spcAft>
                <a:spcPts val="0"/>
              </a:spcAft>
              <a:buClr>
                <a:srgbClr val="263238"/>
              </a:buClr>
              <a:buSzPts val="3600"/>
              <a:buChar char="○"/>
              <a:defRPr i="1" sz="3600"/>
            </a:lvl5pPr>
            <a:lvl6pPr indent="-457200" lvl="5" marL="2743200" rtl="0" algn="ctr">
              <a:spcBef>
                <a:spcPts val="1600"/>
              </a:spcBef>
              <a:spcAft>
                <a:spcPts val="0"/>
              </a:spcAft>
              <a:buClr>
                <a:srgbClr val="263238"/>
              </a:buClr>
              <a:buSzPts val="3600"/>
              <a:buChar char="■"/>
              <a:defRPr i="1" sz="3600"/>
            </a:lvl6pPr>
            <a:lvl7pPr indent="-457200" lvl="6" marL="3200400" rtl="0" algn="ctr">
              <a:spcBef>
                <a:spcPts val="1600"/>
              </a:spcBef>
              <a:spcAft>
                <a:spcPts val="0"/>
              </a:spcAft>
              <a:buClr>
                <a:srgbClr val="263238"/>
              </a:buClr>
              <a:buSzPts val="3600"/>
              <a:buChar char="●"/>
              <a:defRPr i="1" sz="3600"/>
            </a:lvl7pPr>
            <a:lvl8pPr indent="-457200" lvl="7" marL="3657600" rtl="0" algn="ctr">
              <a:spcBef>
                <a:spcPts val="1600"/>
              </a:spcBef>
              <a:spcAft>
                <a:spcPts val="0"/>
              </a:spcAft>
              <a:buClr>
                <a:srgbClr val="263238"/>
              </a:buClr>
              <a:buSzPts val="3600"/>
              <a:buChar char="○"/>
              <a:defRPr i="1" sz="3600"/>
            </a:lvl8pPr>
            <a:lvl9pPr indent="-457200" lvl="8" marL="4114800" rtl="0" algn="ctr">
              <a:spcBef>
                <a:spcPts val="1600"/>
              </a:spcBef>
              <a:spcAft>
                <a:spcPts val="1600"/>
              </a:spcAft>
              <a:buClr>
                <a:srgbClr val="263238"/>
              </a:buClr>
              <a:buSzPts val="3600"/>
              <a:buChar char="■"/>
              <a:defRPr i="1" sz="3600"/>
            </a:lvl9pPr>
          </a:lstStyle>
          <a:p/>
        </p:txBody>
      </p:sp>
      <p:grpSp>
        <p:nvGrpSpPr>
          <p:cNvPr id="126" name="Google Shape;126;p27"/>
          <p:cNvGrpSpPr/>
          <p:nvPr/>
        </p:nvGrpSpPr>
        <p:grpSpPr>
          <a:xfrm>
            <a:off x="3593400" y="805714"/>
            <a:ext cx="1957200" cy="819900"/>
            <a:chOff x="3593400" y="1760085"/>
            <a:chExt cx="1957200" cy="1093200"/>
          </a:xfrm>
        </p:grpSpPr>
        <p:sp>
          <p:nvSpPr>
            <p:cNvPr id="127" name="Google Shape;127;p27"/>
            <p:cNvSpPr txBox="1"/>
            <p:nvPr/>
          </p:nvSpPr>
          <p:spPr>
            <a:xfrm>
              <a:off x="3593400" y="1872097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0">
                  <a:solidFill>
                    <a:srgbClr val="0091E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b="1" sz="6000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28" name="Google Shape;128;p27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cap="flat" cmpd="sng" w="9525">
              <a:solidFill>
                <a:srgbClr val="CFD8D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7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cap="flat" cmpd="sng" w="19050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" name="Google Shape;130;p27"/>
          <p:cNvCxnSpPr>
            <a:endCxn id="128" idx="1"/>
          </p:cNvCxnSpPr>
          <p:nvPr/>
        </p:nvCxnSpPr>
        <p:spPr>
          <a:xfrm>
            <a:off x="3742095" y="653985"/>
            <a:ext cx="443400" cy="2718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7"/>
          <p:cNvCxnSpPr/>
          <p:nvPr/>
        </p:nvCxnSpPr>
        <p:spPr>
          <a:xfrm rot="10800000">
            <a:off x="4114800" y="202114"/>
            <a:ext cx="457200" cy="603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7"/>
          <p:cNvCxnSpPr/>
          <p:nvPr/>
        </p:nvCxnSpPr>
        <p:spPr>
          <a:xfrm flipH="1" rot="10800000">
            <a:off x="4749075" y="564919"/>
            <a:ext cx="95100" cy="261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27"/>
          <p:cNvSpPr txBox="1"/>
          <p:nvPr>
            <p:ph idx="12" type="sldNum"/>
          </p:nvPr>
        </p:nvSpPr>
        <p:spPr>
          <a:xfrm>
            <a:off x="-87" y="4749844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/>
            </a:lvl1pPr>
            <a:lvl2pPr lvl="1" rtl="0" algn="ctr">
              <a:buNone/>
              <a:defRPr/>
            </a:lvl2pPr>
            <a:lvl3pPr lvl="2" rtl="0" algn="ctr">
              <a:buNone/>
              <a:defRPr/>
            </a:lvl3pPr>
            <a:lvl4pPr lvl="3" rtl="0" algn="ctr">
              <a:buNone/>
              <a:defRPr/>
            </a:lvl4pPr>
            <a:lvl5pPr lvl="4" rtl="0" algn="ctr">
              <a:buNone/>
              <a:defRPr/>
            </a:lvl5pPr>
            <a:lvl6pPr lvl="5" rtl="0" algn="ctr">
              <a:buNone/>
              <a:defRPr/>
            </a:lvl6pPr>
            <a:lvl7pPr lvl="6" rtl="0" algn="ctr">
              <a:buNone/>
              <a:defRPr/>
            </a:lvl7pPr>
            <a:lvl8pPr lvl="7" rtl="0" algn="ctr">
              <a:buNone/>
              <a:defRPr/>
            </a:lvl8pPr>
            <a:lvl9pPr lvl="8" rtl="0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28"/>
          <p:cNvSpPr txBox="1"/>
          <p:nvPr>
            <p:ph idx="1" type="body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37" name="Google Shape;137;p28"/>
          <p:cNvSpPr txBox="1"/>
          <p:nvPr>
            <p:ph idx="2" type="body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38" name="Google Shape;138;p28"/>
          <p:cNvSpPr txBox="1"/>
          <p:nvPr>
            <p:ph idx="3" type="body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39" name="Google Shape;139;p2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3600"/>
              <a:buFont typeface="Shadows Into Light"/>
              <a:buNone/>
              <a:defRPr sz="3600">
                <a:solidFill>
                  <a:srgbClr val="0091EA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mic Sans MS"/>
              <a:buChar char="●"/>
              <a:defRPr sz="24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towardsdatascience.com/light-on-math-machine-learning-intuitive-guide-to-understanding-decision-trees-adb2165ccab7" TargetMode="External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ctrTitle"/>
          </p:nvPr>
        </p:nvSpPr>
        <p:spPr>
          <a:xfrm>
            <a:off x="537675" y="1233625"/>
            <a:ext cx="8337300" cy="144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97A7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Machine learning</a:t>
            </a:r>
            <a:endParaRPr b="1" sz="4800">
              <a:solidFill>
                <a:srgbClr val="0097A7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97A7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in Epidemiological Models</a:t>
            </a:r>
            <a:endParaRPr b="1" sz="4800">
              <a:solidFill>
                <a:srgbClr val="0097A7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148" name="Google Shape;148;p30"/>
          <p:cNvSpPr txBox="1"/>
          <p:nvPr>
            <p:ph idx="1" type="subTitle"/>
          </p:nvPr>
        </p:nvSpPr>
        <p:spPr>
          <a:xfrm>
            <a:off x="311700" y="3215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latin typeface="Comic Sans MS"/>
                <a:ea typeface="Comic Sans MS"/>
                <a:cs typeface="Comic Sans MS"/>
                <a:sym typeface="Comic Sans MS"/>
              </a:rPr>
              <a:t>ehsan.karim@ubc.ca</a:t>
            </a:r>
            <a:endParaRPr sz="2400">
              <a:solidFill>
                <a:srgbClr val="6666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ic Sans MS"/>
                <a:ea typeface="Comic Sans MS"/>
                <a:cs typeface="Comic Sans MS"/>
                <a:sym typeface="Comic Sans MS"/>
              </a:rPr>
              <a:t>Oct 21, 2020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SPPH 504/007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</a:t>
            </a:r>
            <a:endParaRPr/>
          </a:p>
        </p:txBody>
      </p:sp>
      <p:sp>
        <p:nvSpPr>
          <p:cNvPr id="154" name="Google Shape;15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Reference for reading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56" name="Google Shape;15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450" y="1554275"/>
            <a:ext cx="6467475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Epidemiological models</a:t>
            </a:r>
            <a:endParaRPr/>
          </a:p>
        </p:txBody>
      </p:sp>
      <p:sp>
        <p:nvSpPr>
          <p:cNvPr id="162" name="Google Shape;16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1EA"/>
              </a:solidFill>
            </a:endParaRPr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91EA"/>
                </a:solidFill>
              </a:rPr>
              <a:t>Y ~ A + C</a:t>
            </a:r>
            <a:endParaRPr>
              <a:solidFill>
                <a:srgbClr val="0091EA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1EA"/>
              </a:solidFill>
            </a:endParaRPr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91EA"/>
                </a:solidFill>
              </a:rPr>
              <a:t>Cardiovascular disease (CVD) ~ smoking + </a:t>
            </a:r>
            <a:endParaRPr>
              <a:solidFill>
                <a:srgbClr val="0091EA"/>
              </a:solidFill>
            </a:endParaRPr>
          </a:p>
          <a:p>
            <a:pPr indent="45720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91EA"/>
                </a:solidFill>
              </a:rPr>
              <a:t>A</a:t>
            </a:r>
            <a:r>
              <a:rPr lang="en">
                <a:solidFill>
                  <a:srgbClr val="0091EA"/>
                </a:solidFill>
              </a:rPr>
              <a:t>ge + diet + obesity + cholesterol levels +</a:t>
            </a:r>
            <a:endParaRPr>
              <a:solidFill>
                <a:srgbClr val="0091EA"/>
              </a:solidFill>
            </a:endParaRPr>
          </a:p>
          <a:p>
            <a:pPr indent="45720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91EA"/>
                </a:solidFill>
              </a:rPr>
              <a:t>family history of heart disease</a:t>
            </a:r>
            <a:endParaRPr/>
          </a:p>
        </p:txBody>
      </p:sp>
      <p:sp>
        <p:nvSpPr>
          <p:cNvPr id="163" name="Google Shape;16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Epidemiological models</a:t>
            </a:r>
            <a:endParaRPr/>
          </a:p>
        </p:txBody>
      </p:sp>
      <p:sp>
        <p:nvSpPr>
          <p:cNvPr id="169" name="Google Shape;16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Predictive models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Predicting a health outcome,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e.g., cardiovascular diseases (</a:t>
            </a:r>
            <a:r>
              <a:rPr lang="en" sz="2400">
                <a:solidFill>
                  <a:srgbClr val="0091EA"/>
                </a:solidFill>
              </a:rPr>
              <a:t>CDV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Causal or explanatory models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Relationship between two health components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e.g., association between cardiovascular diseases (</a:t>
            </a:r>
            <a:r>
              <a:rPr lang="en" sz="2400">
                <a:solidFill>
                  <a:srgbClr val="0091EA"/>
                </a:solidFill>
              </a:rPr>
              <a:t>CDV</a:t>
            </a:r>
            <a:r>
              <a:rPr lang="en"/>
              <a:t>) and smoking (</a:t>
            </a:r>
            <a:r>
              <a:rPr lang="en" sz="2400">
                <a:solidFill>
                  <a:srgbClr val="0091EA"/>
                </a:solidFill>
              </a:rPr>
              <a:t>smoking</a:t>
            </a:r>
            <a:r>
              <a:rPr lang="en"/>
              <a:t>)</a:t>
            </a:r>
            <a:endParaRPr/>
          </a:p>
        </p:txBody>
      </p:sp>
      <p:sp>
        <p:nvSpPr>
          <p:cNvPr id="170" name="Google Shape;17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Epidemiological Study data</a:t>
            </a:r>
            <a:endParaRPr/>
          </a:p>
        </p:txBody>
      </p:sp>
      <p:sp>
        <p:nvSpPr>
          <p:cNvPr id="176" name="Google Shape;17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Historically</a:t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Statistical techniques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Logistic regression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Parametric regression (more restrictive)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Big data era</a:t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Large datasets available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Large number of variables / observation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Conventional statistical techniques struggle</a:t>
            </a:r>
            <a:endParaRPr/>
          </a:p>
        </p:txBody>
      </p:sp>
      <p:sp>
        <p:nvSpPr>
          <p:cNvPr id="177" name="Google Shape;17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(ML)</a:t>
            </a:r>
            <a:endParaRPr/>
          </a:p>
        </p:txBody>
      </p:sp>
      <p:sp>
        <p:nvSpPr>
          <p:cNvPr id="183" name="Google Shape;18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Followings are examples of machine learning?</a:t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Stepwise regression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AIC as a criterion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LASSO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cross validation to select parameters</a:t>
            </a:r>
            <a:endParaRPr/>
          </a:p>
        </p:txBody>
      </p:sp>
      <p:sp>
        <p:nvSpPr>
          <p:cNvPr id="184" name="Google Shape;18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5"/>
          <p:cNvSpPr txBox="1"/>
          <p:nvPr/>
        </p:nvSpPr>
        <p:spPr>
          <a:xfrm>
            <a:off x="356050" y="3676225"/>
            <a:ext cx="78684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mic Sans MS"/>
              <a:buChar char="●"/>
            </a:pPr>
            <a:r>
              <a:rPr lang="en" sz="24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Answer differs depending on who you ask.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Oversimplified</a:t>
            </a:r>
            <a:r>
              <a:rPr lang="en"/>
              <a:t> </a:t>
            </a:r>
            <a:r>
              <a:rPr lang="en"/>
              <a:t>definition</a:t>
            </a:r>
            <a:r>
              <a:rPr lang="en"/>
              <a:t> of ML</a:t>
            </a:r>
            <a:endParaRPr/>
          </a:p>
        </p:txBody>
      </p:sp>
      <p:sp>
        <p:nvSpPr>
          <p:cNvPr id="191" name="Google Shape;19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</a:t>
            </a:r>
            <a:r>
              <a:rPr lang="en"/>
              <a:t> </a:t>
            </a:r>
            <a:r>
              <a:rPr lang="en"/>
              <a:t>characteristics</a:t>
            </a:r>
            <a:r>
              <a:rPr lang="en"/>
              <a:t>:</a:t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</a:t>
            </a:r>
            <a:r>
              <a:rPr lang="en"/>
              <a:t>rioritizes</a:t>
            </a:r>
            <a:r>
              <a:rPr lang="en"/>
              <a:t> predictive accuracy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Less focus on inference/hypothesis testing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Handles big-data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Large number of observations?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Large number of covariates?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What about causal models?</a:t>
            </a:r>
            <a:endParaRPr/>
          </a:p>
        </p:txBody>
      </p:sp>
      <p:sp>
        <p:nvSpPr>
          <p:cNvPr id="192" name="Google Shape;19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Terminologies - I</a:t>
            </a:r>
            <a:endParaRPr/>
          </a:p>
        </p:txBody>
      </p:sp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Outcome variable: </a:t>
            </a:r>
            <a:r>
              <a:rPr lang="en">
                <a:solidFill>
                  <a:srgbClr val="0091EA"/>
                </a:solidFill>
              </a:rPr>
              <a:t>CDV</a:t>
            </a:r>
            <a:endParaRPr>
              <a:solidFill>
                <a:srgbClr val="0091EA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Output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Possible values of outcome: </a:t>
            </a:r>
            <a:r>
              <a:rPr lang="en">
                <a:solidFill>
                  <a:srgbClr val="0091EA"/>
                </a:solidFill>
              </a:rPr>
              <a:t>CVD vs. no CVD</a:t>
            </a:r>
            <a:endParaRPr>
              <a:solidFill>
                <a:srgbClr val="0091EA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Label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Rare outcome: </a:t>
            </a:r>
            <a:r>
              <a:rPr lang="en">
                <a:solidFill>
                  <a:srgbClr val="0091EA"/>
                </a:solidFill>
              </a:rPr>
              <a:t>CVD rare</a:t>
            </a:r>
            <a:endParaRPr>
              <a:solidFill>
                <a:srgbClr val="0091EA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Imbalanced data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Outcome group with highest frequency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Majority class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Outcome group with lowest frequency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Minority class</a:t>
            </a:r>
            <a:endParaRPr/>
          </a:p>
        </p:txBody>
      </p:sp>
      <p:sp>
        <p:nvSpPr>
          <p:cNvPr id="199" name="Google Shape;19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7"/>
          <p:cNvSpPr txBox="1"/>
          <p:nvPr/>
        </p:nvSpPr>
        <p:spPr>
          <a:xfrm>
            <a:off x="2459325" y="1537725"/>
            <a:ext cx="3279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ic Sans MS"/>
              <a:buChar char="○"/>
            </a:pPr>
            <a:r>
              <a:rPr lang="en" sz="1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Dependent variable</a:t>
            </a:r>
            <a:endParaRPr/>
          </a:p>
        </p:txBody>
      </p:sp>
      <p:sp>
        <p:nvSpPr>
          <p:cNvPr id="201" name="Google Shape;201;p37"/>
          <p:cNvSpPr txBox="1"/>
          <p:nvPr/>
        </p:nvSpPr>
        <p:spPr>
          <a:xfrm>
            <a:off x="5739000" y="1537725"/>
            <a:ext cx="31989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ic Sans MS"/>
              <a:buChar char="○"/>
            </a:pPr>
            <a:r>
              <a:rPr lang="en" sz="1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Predicted variable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Terminologies - II</a:t>
            </a:r>
            <a:endParaRPr/>
          </a:p>
        </p:txBody>
      </p:sp>
      <p:sp>
        <p:nvSpPr>
          <p:cNvPr id="207" name="Google Shape;207;p38"/>
          <p:cNvSpPr txBox="1"/>
          <p:nvPr>
            <p:ph idx="1" type="body"/>
          </p:nvPr>
        </p:nvSpPr>
        <p:spPr>
          <a:xfrm>
            <a:off x="311700" y="1152475"/>
            <a:ext cx="59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Independent variables / covariates: </a:t>
            </a:r>
            <a:endParaRPr>
              <a:solidFill>
                <a:srgbClr val="0091EA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Attribute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Feature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Predictor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Field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Exposure variable: </a:t>
            </a:r>
            <a:r>
              <a:rPr lang="en">
                <a:solidFill>
                  <a:srgbClr val="0091EA"/>
                </a:solidFill>
              </a:rPr>
              <a:t>smoking</a:t>
            </a:r>
            <a:endParaRPr>
              <a:solidFill>
                <a:srgbClr val="0091EA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Input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# of covariates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Dimensionality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8"/>
          <p:cNvSpPr txBox="1"/>
          <p:nvPr/>
        </p:nvSpPr>
        <p:spPr>
          <a:xfrm>
            <a:off x="2919600" y="1690125"/>
            <a:ext cx="48801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ic Sans MS"/>
              <a:buChar char="○"/>
            </a:pPr>
            <a:r>
              <a:rPr lang="en" sz="1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Explanatory variable</a:t>
            </a:r>
            <a:endParaRPr sz="18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ic Sans MS"/>
              <a:buChar char="○"/>
            </a:pPr>
            <a:r>
              <a:rPr lang="en" sz="1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Predictor variable</a:t>
            </a:r>
            <a:endParaRPr/>
          </a:p>
        </p:txBody>
      </p:sp>
      <p:sp>
        <p:nvSpPr>
          <p:cNvPr id="210" name="Google Shape;210;p38"/>
          <p:cNvSpPr txBox="1"/>
          <p:nvPr/>
        </p:nvSpPr>
        <p:spPr>
          <a:xfrm>
            <a:off x="6144000" y="1152475"/>
            <a:ext cx="30000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91EA"/>
                </a:solidFill>
                <a:latin typeface="Comic Sans MS"/>
                <a:ea typeface="Comic Sans MS"/>
                <a:cs typeface="Comic Sans MS"/>
                <a:sym typeface="Comic Sans MS"/>
              </a:rPr>
              <a:t>age, diet, obesity, cholesterol levels. family history of heart disease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Terminologies - III</a:t>
            </a:r>
            <a:endParaRPr/>
          </a:p>
        </p:txBody>
      </p:sp>
      <p:sp>
        <p:nvSpPr>
          <p:cNvPr id="216" name="Google Shape;21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Model: </a:t>
            </a:r>
            <a:r>
              <a:rPr lang="en">
                <a:solidFill>
                  <a:srgbClr val="0091EA"/>
                </a:solidFill>
              </a:rPr>
              <a:t>Logistic regression</a:t>
            </a:r>
            <a:endParaRPr>
              <a:solidFill>
                <a:srgbClr val="0091EA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Classifier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Estimator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Model fitting algorithm: </a:t>
            </a:r>
            <a:r>
              <a:rPr lang="en">
                <a:solidFill>
                  <a:srgbClr val="0091EA"/>
                </a:solidFill>
              </a:rPr>
              <a:t>stepwise based on AIC</a:t>
            </a:r>
            <a:endParaRPr>
              <a:solidFill>
                <a:srgbClr val="0091EA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Learner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Domain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Range of possible values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Error measure: </a:t>
            </a:r>
            <a:r>
              <a:rPr lang="en">
                <a:solidFill>
                  <a:srgbClr val="0091EA"/>
                </a:solidFill>
              </a:rPr>
              <a:t>MSE</a:t>
            </a:r>
            <a:endParaRPr>
              <a:solidFill>
                <a:srgbClr val="0091EA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2400"/>
              <a:t>Loss function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of ML</a:t>
            </a:r>
            <a:endParaRPr/>
          </a:p>
        </p:txBody>
      </p:sp>
      <p:sp>
        <p:nvSpPr>
          <p:cNvPr id="223" name="Google Shape;223;p40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Supervised learning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Values of outcome (label) are known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Logistic regression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0"/>
          <p:cNvSpPr txBox="1"/>
          <p:nvPr/>
        </p:nvSpPr>
        <p:spPr>
          <a:xfrm>
            <a:off x="740450" y="2513350"/>
            <a:ext cx="300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= age, obesity levels, cholesterol levels</a:t>
            </a:r>
            <a:endParaRPr sz="1800"/>
          </a:p>
        </p:txBody>
      </p:sp>
      <p:sp>
        <p:nvSpPr>
          <p:cNvPr id="226" name="Google Shape;226;p40"/>
          <p:cNvSpPr txBox="1"/>
          <p:nvPr/>
        </p:nvSpPr>
        <p:spPr>
          <a:xfrm>
            <a:off x="740450" y="3503950"/>
            <a:ext cx="300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Y = experienced a cardiovascular event or not</a:t>
            </a:r>
            <a:endParaRPr sz="1800"/>
          </a:p>
        </p:txBody>
      </p:sp>
      <p:sp>
        <p:nvSpPr>
          <p:cNvPr id="227" name="Google Shape;227;p40"/>
          <p:cNvSpPr txBox="1"/>
          <p:nvPr/>
        </p:nvSpPr>
        <p:spPr>
          <a:xfrm>
            <a:off x="664250" y="4418350"/>
            <a:ext cx="300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2019</a:t>
            </a:r>
            <a:endParaRPr sz="1800"/>
          </a:p>
        </p:txBody>
      </p:sp>
      <p:sp>
        <p:nvSpPr>
          <p:cNvPr id="228" name="Google Shape;228;p40"/>
          <p:cNvSpPr txBox="1"/>
          <p:nvPr/>
        </p:nvSpPr>
        <p:spPr>
          <a:xfrm>
            <a:off x="3758150" y="3227875"/>
            <a:ext cx="144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Build model</a:t>
            </a:r>
            <a:endParaRPr sz="1800"/>
          </a:p>
        </p:txBody>
      </p:sp>
      <p:sp>
        <p:nvSpPr>
          <p:cNvPr id="229" name="Google Shape;229;p40"/>
          <p:cNvSpPr txBox="1"/>
          <p:nvPr/>
        </p:nvSpPr>
        <p:spPr>
          <a:xfrm>
            <a:off x="5655250" y="3086050"/>
            <a:ext cx="167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New subject from 2020,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data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0" name="Google Shape;230;p40"/>
          <p:cNvSpPr txBox="1"/>
          <p:nvPr/>
        </p:nvSpPr>
        <p:spPr>
          <a:xfrm>
            <a:off x="7321750" y="3081625"/>
            <a:ext cx="17322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Risk of a cardiovascular event </a:t>
            </a:r>
            <a:endParaRPr/>
          </a:p>
        </p:txBody>
      </p:sp>
      <p:sp>
        <p:nvSpPr>
          <p:cNvPr id="231" name="Google Shape;231;p40"/>
          <p:cNvSpPr/>
          <p:nvPr/>
        </p:nvSpPr>
        <p:spPr>
          <a:xfrm>
            <a:off x="660500" y="2459325"/>
            <a:ext cx="2543700" cy="86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0"/>
          <p:cNvSpPr/>
          <p:nvPr/>
        </p:nvSpPr>
        <p:spPr>
          <a:xfrm>
            <a:off x="740450" y="3503950"/>
            <a:ext cx="2843100" cy="86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40"/>
          <p:cNvSpPr/>
          <p:nvPr/>
        </p:nvSpPr>
        <p:spPr>
          <a:xfrm>
            <a:off x="3773725" y="3017075"/>
            <a:ext cx="1440000" cy="86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0"/>
          <p:cNvSpPr/>
          <p:nvPr/>
        </p:nvSpPr>
        <p:spPr>
          <a:xfrm>
            <a:off x="5579038" y="2905975"/>
            <a:ext cx="1440000" cy="1457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0"/>
          <p:cNvSpPr/>
          <p:nvPr/>
        </p:nvSpPr>
        <p:spPr>
          <a:xfrm>
            <a:off x="7384375" y="3081625"/>
            <a:ext cx="1553400" cy="1106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" name="Google Shape;236;p40"/>
          <p:cNvCxnSpPr>
            <a:stCxn id="231" idx="3"/>
            <a:endCxn id="233" idx="1"/>
          </p:cNvCxnSpPr>
          <p:nvPr/>
        </p:nvCxnSpPr>
        <p:spPr>
          <a:xfrm>
            <a:off x="3204200" y="2891925"/>
            <a:ext cx="569400" cy="5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40"/>
          <p:cNvCxnSpPr>
            <a:stCxn id="232" idx="3"/>
            <a:endCxn id="233" idx="1"/>
          </p:cNvCxnSpPr>
          <p:nvPr/>
        </p:nvCxnSpPr>
        <p:spPr>
          <a:xfrm flipH="1" rot="10800000">
            <a:off x="3583550" y="3449650"/>
            <a:ext cx="190200" cy="4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40"/>
          <p:cNvCxnSpPr>
            <a:stCxn id="233" idx="3"/>
            <a:endCxn id="234" idx="1"/>
          </p:cNvCxnSpPr>
          <p:nvPr/>
        </p:nvCxnSpPr>
        <p:spPr>
          <a:xfrm>
            <a:off x="5213725" y="3449675"/>
            <a:ext cx="365400" cy="18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40"/>
          <p:cNvCxnSpPr>
            <a:stCxn id="234" idx="3"/>
            <a:endCxn id="235" idx="1"/>
          </p:cNvCxnSpPr>
          <p:nvPr/>
        </p:nvCxnSpPr>
        <p:spPr>
          <a:xfrm>
            <a:off x="7019038" y="3634825"/>
            <a:ext cx="36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1974" y="1453800"/>
            <a:ext cx="2572000" cy="29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of ML</a:t>
            </a:r>
            <a:endParaRPr/>
          </a:p>
        </p:txBody>
      </p:sp>
      <p:sp>
        <p:nvSpPr>
          <p:cNvPr id="246" name="Google Shape;246;p41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Supervised learning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Values of outcome (label) are known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Logistic regression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unsupervised learning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Values of outcome (label) are unknown, needs to be discovered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Clustering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Without being an expert, grouping data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Semi-supervised learning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between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 training dataset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with both labeled and unlabeled data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Medical imaging is a great application</a:t>
            </a:r>
            <a:endParaRPr/>
          </a:p>
        </p:txBody>
      </p:sp>
      <p:sp>
        <p:nvSpPr>
          <p:cNvPr id="247" name="Google Shape;24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41"/>
          <p:cNvSpPr txBox="1"/>
          <p:nvPr/>
        </p:nvSpPr>
        <p:spPr>
          <a:xfrm>
            <a:off x="5749175" y="4342150"/>
            <a:ext cx="3326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clustering data set involving 3 groups</a:t>
            </a:r>
            <a:endParaRPr sz="1200">
              <a:solidFill>
                <a:srgbClr val="6666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49" name="Google Shape;24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5700" y="36050"/>
            <a:ext cx="4149875" cy="8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Classification of Supervised learning</a:t>
            </a:r>
            <a:endParaRPr/>
          </a:p>
        </p:txBody>
      </p:sp>
      <p:sp>
        <p:nvSpPr>
          <p:cNvPr id="255" name="Google Shape;25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Classification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Prediction of categorical outcomes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Logistic regression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Regression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Prediction of continuous outcomes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Linear regression</a:t>
            </a:r>
            <a:endParaRPr/>
          </a:p>
        </p:txBody>
      </p:sp>
      <p:sp>
        <p:nvSpPr>
          <p:cNvPr id="256" name="Google Shape;25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classifications</a:t>
            </a:r>
            <a:endParaRPr/>
          </a:p>
        </p:txBody>
      </p:sp>
      <p:sp>
        <p:nvSpPr>
          <p:cNvPr id="262" name="Google Shape;26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Generative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Computes the</a:t>
            </a:r>
            <a:r>
              <a:rPr lang="en"/>
              <a:t> conditional probability indirectly via joint probability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Models P(X,Y) first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then decomposes as P(Y|X) = P(X,Y)/P(X)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Hidden markov model / naive bayes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Discriminative </a:t>
            </a:r>
            <a:r>
              <a:rPr lang="en" sz="1800">
                <a:solidFill>
                  <a:srgbClr val="0091EA"/>
                </a:solidFill>
              </a:rPr>
              <a:t>[epidemiologists mostly use this]</a:t>
            </a:r>
            <a:endParaRPr sz="1800">
              <a:solidFill>
                <a:srgbClr val="0091EA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Models the </a:t>
            </a:r>
            <a:r>
              <a:rPr lang="en"/>
              <a:t>conditional</a:t>
            </a:r>
            <a:r>
              <a:rPr lang="en"/>
              <a:t> probability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P(Y|X)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Logistic / linear regression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Reinforced learning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Self-adaptive, learns gradually/iteratively to improve performance</a:t>
            </a:r>
            <a:endParaRPr/>
          </a:p>
        </p:txBody>
      </p:sp>
      <p:sp>
        <p:nvSpPr>
          <p:cNvPr id="263" name="Google Shape;26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Popular ML algorithms</a:t>
            </a:r>
            <a:endParaRPr/>
          </a:p>
        </p:txBody>
      </p:sp>
      <p:sp>
        <p:nvSpPr>
          <p:cNvPr id="269" name="Google Shape;26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Decision tree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Regression and classification trees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Shrinkage methods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lasso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Ensemble methods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Super learner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Decision tree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 flow-chart like structure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 decision support tool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Referred to as CART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Classification and regression trees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Covers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Classification (categorical outcome)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Regression (continuous outcome)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Easy to understand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Flexible to incorporate non-linear effects automatically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 need to specify higher order terms / interactions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Unstable, prone to overfitting, suffers from high variance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algorithm I: Decision tree</a:t>
            </a:r>
            <a:endParaRPr/>
          </a:p>
        </p:txBody>
      </p:sp>
      <p:sp>
        <p:nvSpPr>
          <p:cNvPr id="277" name="Google Shape;27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algorithm I: Decision tree</a:t>
            </a:r>
            <a:endParaRPr/>
          </a:p>
        </p:txBody>
      </p:sp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Ref: </a:t>
            </a:r>
            <a:r>
              <a:rPr lang="en" sz="1000" u="sng">
                <a:solidFill>
                  <a:schemeClr val="hlink"/>
                </a:solidFill>
                <a:hlinkClick r:id="rId3"/>
              </a:rPr>
              <a:t>https://towardsdatascience.com/light-on-math-machine-learning-intuitive-guide-to-understanding-decision-trees-adb2165ccab7</a:t>
            </a:r>
            <a:endParaRPr sz="1000"/>
          </a:p>
        </p:txBody>
      </p:sp>
      <p:sp>
        <p:nvSpPr>
          <p:cNvPr id="284" name="Google Shape;28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5" name="Google Shape;28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9363" y="1888113"/>
            <a:ext cx="505777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4949" y="60825"/>
            <a:ext cx="3902799" cy="115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7875" y="1285875"/>
            <a:ext cx="5579926" cy="35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algorithm I: Decision tree</a:t>
            </a:r>
            <a:endParaRPr/>
          </a:p>
        </p:txBody>
      </p:sp>
      <p:sp>
        <p:nvSpPr>
          <p:cNvPr id="293" name="Google Shape;293;p47"/>
          <p:cNvSpPr txBox="1"/>
          <p:nvPr>
            <p:ph idx="1" type="body"/>
          </p:nvPr>
        </p:nvSpPr>
        <p:spPr>
          <a:xfrm>
            <a:off x="311700" y="1152475"/>
            <a:ext cx="367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Terminologies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Root node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Splitting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Minimize Residual SS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Brunch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Sub-node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decision node / attribute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Terminal node/leaf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Prunning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reduces the size of decision trees by removing not so useful sections/nodes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47"/>
          <p:cNvSpPr txBox="1"/>
          <p:nvPr/>
        </p:nvSpPr>
        <p:spPr>
          <a:xfrm>
            <a:off x="7087350" y="1820325"/>
            <a:ext cx="13851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91EA"/>
                </a:solidFill>
                <a:latin typeface="Comic Sans MS"/>
                <a:ea typeface="Comic Sans MS"/>
                <a:cs typeface="Comic Sans MS"/>
                <a:sym typeface="Comic Sans MS"/>
              </a:rPr>
              <a:t>Root node</a:t>
            </a:r>
            <a:endParaRPr sz="1200">
              <a:solidFill>
                <a:srgbClr val="0091EA"/>
              </a:solidFill>
            </a:endParaRPr>
          </a:p>
        </p:txBody>
      </p:sp>
      <p:sp>
        <p:nvSpPr>
          <p:cNvPr id="296" name="Google Shape;296;p47"/>
          <p:cNvSpPr txBox="1"/>
          <p:nvPr/>
        </p:nvSpPr>
        <p:spPr>
          <a:xfrm>
            <a:off x="5986800" y="2215000"/>
            <a:ext cx="13851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91EA"/>
                </a:solidFill>
                <a:latin typeface="Comic Sans MS"/>
                <a:ea typeface="Comic Sans MS"/>
                <a:cs typeface="Comic Sans MS"/>
                <a:sym typeface="Comic Sans MS"/>
              </a:rPr>
              <a:t>Splitting based on splitting rule</a:t>
            </a:r>
            <a:endParaRPr sz="1200">
              <a:solidFill>
                <a:srgbClr val="0091EA"/>
              </a:solidFill>
            </a:endParaRPr>
          </a:p>
        </p:txBody>
      </p:sp>
      <p:sp>
        <p:nvSpPr>
          <p:cNvPr id="297" name="Google Shape;297;p47"/>
          <p:cNvSpPr txBox="1"/>
          <p:nvPr/>
        </p:nvSpPr>
        <p:spPr>
          <a:xfrm>
            <a:off x="5360825" y="2813288"/>
            <a:ext cx="13851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91EA"/>
                </a:solidFill>
                <a:latin typeface="Comic Sans MS"/>
                <a:ea typeface="Comic Sans MS"/>
                <a:cs typeface="Comic Sans MS"/>
                <a:sym typeface="Comic Sans MS"/>
              </a:rPr>
              <a:t>Brunch/section</a:t>
            </a:r>
            <a:endParaRPr sz="1200">
              <a:solidFill>
                <a:srgbClr val="0091EA"/>
              </a:solidFill>
            </a:endParaRPr>
          </a:p>
        </p:txBody>
      </p:sp>
      <p:sp>
        <p:nvSpPr>
          <p:cNvPr id="298" name="Google Shape;298;p47"/>
          <p:cNvSpPr txBox="1"/>
          <p:nvPr/>
        </p:nvSpPr>
        <p:spPr>
          <a:xfrm>
            <a:off x="5589425" y="3194288"/>
            <a:ext cx="13851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91EA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decision-node</a:t>
            </a:r>
            <a:endParaRPr sz="1200">
              <a:solidFill>
                <a:srgbClr val="0091EA"/>
              </a:solidFill>
            </a:endParaRPr>
          </a:p>
        </p:txBody>
      </p:sp>
      <p:sp>
        <p:nvSpPr>
          <p:cNvPr id="299" name="Google Shape;299;p47"/>
          <p:cNvSpPr txBox="1"/>
          <p:nvPr/>
        </p:nvSpPr>
        <p:spPr>
          <a:xfrm>
            <a:off x="7636050" y="4663223"/>
            <a:ext cx="138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91EA"/>
                </a:solidFill>
                <a:latin typeface="Comic Sans MS"/>
                <a:ea typeface="Comic Sans MS"/>
                <a:cs typeface="Comic Sans MS"/>
                <a:sym typeface="Comic Sans MS"/>
              </a:rPr>
              <a:t>Terminal node</a:t>
            </a:r>
            <a:endParaRPr sz="1200">
              <a:solidFill>
                <a:srgbClr val="0091EA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8"/>
          <p:cNvSpPr txBox="1"/>
          <p:nvPr>
            <p:ph idx="1" type="body"/>
          </p:nvPr>
        </p:nvSpPr>
        <p:spPr>
          <a:xfrm>
            <a:off x="311700" y="1152475"/>
            <a:ext cx="339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Regression </a:t>
            </a:r>
            <a:r>
              <a:rPr lang="en" sz="1200"/>
              <a:t>(no shrinkage)</a:t>
            </a:r>
            <a:endParaRPr sz="1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Minimize Residual SS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algorithm 2: </a:t>
            </a:r>
            <a:r>
              <a:rPr lang="en"/>
              <a:t>Shrinkage Methods</a:t>
            </a:r>
            <a:endParaRPr/>
          </a:p>
        </p:txBody>
      </p:sp>
      <p:sp>
        <p:nvSpPr>
          <p:cNvPr id="306" name="Google Shape;306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7" name="Google Shape;30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4500" y="1080757"/>
            <a:ext cx="3951076" cy="1151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p48"/>
          <p:cNvCxnSpPr>
            <a:endCxn id="307" idx="1"/>
          </p:cNvCxnSpPr>
          <p:nvPr/>
        </p:nvCxnSpPr>
        <p:spPr>
          <a:xfrm flipH="1" rot="10800000">
            <a:off x="3709300" y="1656370"/>
            <a:ext cx="1105200" cy="16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09" name="Google Shape;30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295000"/>
            <a:ext cx="773430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8"/>
          <p:cNvSpPr/>
          <p:nvPr/>
        </p:nvSpPr>
        <p:spPr>
          <a:xfrm>
            <a:off x="1301000" y="3771900"/>
            <a:ext cx="3066000" cy="40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7542" y="2970050"/>
            <a:ext cx="215016" cy="24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8767" y="3346075"/>
            <a:ext cx="215016" cy="24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9"/>
          <p:cNvSpPr txBox="1"/>
          <p:nvPr>
            <p:ph idx="1" type="body"/>
          </p:nvPr>
        </p:nvSpPr>
        <p:spPr>
          <a:xfrm>
            <a:off x="311700" y="1152475"/>
            <a:ext cx="360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Ridge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All coef = non-zero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algorithm 2: Shrinkage Methods</a:t>
            </a:r>
            <a:endParaRPr/>
          </a:p>
        </p:txBody>
      </p:sp>
      <p:sp>
        <p:nvSpPr>
          <p:cNvPr id="319" name="Google Shape;31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0" name="Google Shape;32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5894" y="1152475"/>
            <a:ext cx="4984457" cy="865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1" name="Google Shape;321;p49"/>
          <p:cNvCxnSpPr>
            <a:endCxn id="320" idx="1"/>
          </p:cNvCxnSpPr>
          <p:nvPr/>
        </p:nvCxnSpPr>
        <p:spPr>
          <a:xfrm>
            <a:off x="1704294" y="1472337"/>
            <a:ext cx="2301600" cy="113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" name="Google Shape;322;p49"/>
          <p:cNvSpPr txBox="1"/>
          <p:nvPr/>
        </p:nvSpPr>
        <p:spPr>
          <a:xfrm>
            <a:off x="387900" y="3974575"/>
            <a:ext cx="8623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mic Sans MS"/>
              <a:buChar char="●"/>
            </a:pPr>
            <a:r>
              <a:rPr lang="en" sz="24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to estimate lambda? </a:t>
            </a:r>
            <a:endParaRPr sz="24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mic Sans MS"/>
              <a:buChar char="○"/>
            </a:pPr>
            <a:r>
              <a:rPr lang="en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Cross validation</a:t>
            </a:r>
            <a:r>
              <a:rPr lang="en" sz="24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 to minimize error (e.g., </a:t>
            </a:r>
            <a:r>
              <a:rPr lang="en" sz="2400">
                <a:solidFill>
                  <a:srgbClr val="0091EA"/>
                </a:solidFill>
                <a:latin typeface="Comic Sans MS"/>
                <a:ea typeface="Comic Sans MS"/>
                <a:cs typeface="Comic Sans MS"/>
                <a:sym typeface="Comic Sans MS"/>
              </a:rPr>
              <a:t>RMSE</a:t>
            </a:r>
            <a:r>
              <a:rPr lang="en" sz="24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).</a:t>
            </a:r>
            <a:endParaRPr/>
          </a:p>
        </p:txBody>
      </p:sp>
      <p:pic>
        <p:nvPicPr>
          <p:cNvPr id="323" name="Google Shape;323;p49"/>
          <p:cNvPicPr preferRelativeResize="0"/>
          <p:nvPr/>
        </p:nvPicPr>
        <p:blipFill rotWithShape="1">
          <a:blip r:embed="rId4">
            <a:alphaModFix/>
          </a:blip>
          <a:srcRect b="0" l="0" r="0" t="4306"/>
          <a:stretch/>
        </p:blipFill>
        <p:spPr>
          <a:xfrm>
            <a:off x="407875" y="2080925"/>
            <a:ext cx="6934200" cy="173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9"/>
          <p:cNvSpPr/>
          <p:nvPr/>
        </p:nvSpPr>
        <p:spPr>
          <a:xfrm>
            <a:off x="1270750" y="2332325"/>
            <a:ext cx="2238900" cy="865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0"/>
          <p:cNvSpPr txBox="1"/>
          <p:nvPr>
            <p:ph idx="1" type="body"/>
          </p:nvPr>
        </p:nvSpPr>
        <p:spPr>
          <a:xfrm>
            <a:off x="311700" y="1152475"/>
            <a:ext cx="360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LASSO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Assigns some coef = 0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Can be unstable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Addresses collinearity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30" name="Google Shape;330;p50"/>
          <p:cNvPicPr preferRelativeResize="0"/>
          <p:nvPr/>
        </p:nvPicPr>
        <p:blipFill rotWithShape="1">
          <a:blip r:embed="rId3">
            <a:alphaModFix/>
          </a:blip>
          <a:srcRect b="0" l="0" r="95991" t="4306"/>
          <a:stretch/>
        </p:blipFill>
        <p:spPr>
          <a:xfrm>
            <a:off x="474000" y="2748800"/>
            <a:ext cx="277925" cy="173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algorithm 2: Shrinkage Methods</a:t>
            </a:r>
            <a:endParaRPr/>
          </a:p>
        </p:txBody>
      </p:sp>
      <p:sp>
        <p:nvSpPr>
          <p:cNvPr id="332" name="Google Shape;33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3" name="Google Shape;33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2752" y="1152463"/>
            <a:ext cx="4927598" cy="7117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" name="Google Shape;334;p50"/>
          <p:cNvCxnSpPr>
            <a:endCxn id="333" idx="1"/>
          </p:cNvCxnSpPr>
          <p:nvPr/>
        </p:nvCxnSpPr>
        <p:spPr>
          <a:xfrm>
            <a:off x="2017052" y="1462444"/>
            <a:ext cx="2045700" cy="4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35" name="Google Shape;335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850" y="2748801"/>
            <a:ext cx="4925100" cy="110048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50"/>
          <p:cNvSpPr/>
          <p:nvPr/>
        </p:nvSpPr>
        <p:spPr>
          <a:xfrm>
            <a:off x="1270750" y="3018125"/>
            <a:ext cx="2511300" cy="865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1"/>
          <p:cNvSpPr txBox="1"/>
          <p:nvPr>
            <p:ph idx="1" type="body"/>
          </p:nvPr>
        </p:nvSpPr>
        <p:spPr>
          <a:xfrm>
            <a:off x="311700" y="1152475"/>
            <a:ext cx="797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Elastic net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Compromise (2 parameters): Alpha and lambda</a:t>
            </a:r>
            <a:endParaRPr/>
          </a:p>
        </p:txBody>
      </p:sp>
      <p:sp>
        <p:nvSpPr>
          <p:cNvPr id="342" name="Google Shape;34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algorithm 2: Shrinkage Methods</a:t>
            </a:r>
            <a:endParaRPr/>
          </a:p>
        </p:txBody>
      </p:sp>
      <p:sp>
        <p:nvSpPr>
          <p:cNvPr id="343" name="Google Shape;34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4" name="Google Shape;34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00" y="2045363"/>
            <a:ext cx="666750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1"/>
          <p:cNvSpPr/>
          <p:nvPr/>
        </p:nvSpPr>
        <p:spPr>
          <a:xfrm>
            <a:off x="1270750" y="2692375"/>
            <a:ext cx="3761700" cy="393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311700" y="1152475"/>
            <a:ext cx="360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Regression </a:t>
            </a:r>
            <a:r>
              <a:rPr lang="en" sz="1200"/>
              <a:t>(no shrinkage)</a:t>
            </a:r>
            <a:endParaRPr sz="1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Minimize Residual SS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Ridge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All coef = non-zero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LASSO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Assigns some coef = 0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Can be unstable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Addresses collinearity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Elasticnet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Compromise</a:t>
            </a:r>
            <a:endParaRPr/>
          </a:p>
        </p:txBody>
      </p:sp>
      <p:sp>
        <p:nvSpPr>
          <p:cNvPr id="351" name="Google Shape;35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algorithm 2: Shrinkage Methods</a:t>
            </a:r>
            <a:endParaRPr/>
          </a:p>
        </p:txBody>
      </p:sp>
      <p:sp>
        <p:nvSpPr>
          <p:cNvPr id="352" name="Google Shape;352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3" name="Google Shape;35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4500" y="1080757"/>
            <a:ext cx="3951076" cy="115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5894" y="2407525"/>
            <a:ext cx="4984457" cy="8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8827" y="3628763"/>
            <a:ext cx="4927598" cy="7117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6" name="Google Shape;356;p52"/>
          <p:cNvCxnSpPr>
            <a:endCxn id="353" idx="1"/>
          </p:cNvCxnSpPr>
          <p:nvPr/>
        </p:nvCxnSpPr>
        <p:spPr>
          <a:xfrm flipH="1" rot="10800000">
            <a:off x="3709300" y="1656370"/>
            <a:ext cx="1105200" cy="16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52"/>
          <p:cNvCxnSpPr>
            <a:endCxn id="354" idx="1"/>
          </p:cNvCxnSpPr>
          <p:nvPr/>
        </p:nvCxnSpPr>
        <p:spPr>
          <a:xfrm>
            <a:off x="1721394" y="2223387"/>
            <a:ext cx="2284500" cy="61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52"/>
          <p:cNvCxnSpPr>
            <a:endCxn id="355" idx="1"/>
          </p:cNvCxnSpPr>
          <p:nvPr/>
        </p:nvCxnSpPr>
        <p:spPr>
          <a:xfrm>
            <a:off x="2018627" y="2985944"/>
            <a:ext cx="2110200" cy="99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9" name="Google Shape;359;p52"/>
          <p:cNvSpPr txBox="1"/>
          <p:nvPr/>
        </p:nvSpPr>
        <p:spPr>
          <a:xfrm>
            <a:off x="2790238" y="4568875"/>
            <a:ext cx="62001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to estimate lambda? Cross validation.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3"/>
          <p:cNvSpPr txBox="1"/>
          <p:nvPr>
            <p:ph idx="1" type="body"/>
          </p:nvPr>
        </p:nvSpPr>
        <p:spPr>
          <a:xfrm>
            <a:off x="311700" y="1152475"/>
            <a:ext cx="732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Note: generally speaking: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Not okay to select variables from a shrinkage model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And then put those variables in non-shrinkage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common issue in </a:t>
            </a:r>
            <a:r>
              <a:rPr lang="en"/>
              <a:t>epidemiologic</a:t>
            </a:r>
            <a:r>
              <a:rPr lang="en"/>
              <a:t> literature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Shrinkage parameter determines predictions that is obtained via cross-validation</a:t>
            </a:r>
            <a:endParaRPr/>
          </a:p>
        </p:txBody>
      </p:sp>
      <p:sp>
        <p:nvSpPr>
          <p:cNvPr id="365" name="Google Shape;36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algorithm 2: Shrinkage Methods</a:t>
            </a:r>
            <a:endParaRPr/>
          </a:p>
        </p:txBody>
      </p:sp>
      <p:sp>
        <p:nvSpPr>
          <p:cNvPr id="366" name="Google Shape;36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7" name="Google Shape;36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850" y="3215504"/>
            <a:ext cx="4599452" cy="135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methods</a:t>
            </a:r>
            <a:endParaRPr/>
          </a:p>
        </p:txBody>
      </p:sp>
      <p:sp>
        <p:nvSpPr>
          <p:cNvPr id="373" name="Google Shape;373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Uses information from multiple models to improve predictive performance compared to a single model.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Basic idea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Individual models may not be adequate to capture the characteristics of the entire data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can build k models from k samples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Once we combine these k models, we should get a better ‘full model’ in terms of predictive accuracy</a:t>
            </a:r>
            <a:endParaRPr/>
          </a:p>
        </p:txBody>
      </p:sp>
      <p:sp>
        <p:nvSpPr>
          <p:cNvPr id="374" name="Google Shape;37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5" name="Google Shape;37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3875" y="72924"/>
            <a:ext cx="3940125" cy="12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methods: Type - I</a:t>
            </a:r>
            <a:endParaRPr/>
          </a:p>
        </p:txBody>
      </p:sp>
      <p:sp>
        <p:nvSpPr>
          <p:cNvPr id="381" name="Google Shape;381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Training same model to different samples </a:t>
            </a:r>
            <a:r>
              <a:rPr lang="en" sz="1200"/>
              <a:t>(of the same data)</a:t>
            </a:r>
            <a:endParaRPr sz="1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Bagging</a:t>
            </a:r>
            <a:r>
              <a:rPr lang="en"/>
              <a:t> or </a:t>
            </a:r>
            <a:r>
              <a:rPr lang="en"/>
              <a:t>bootstrap</a:t>
            </a:r>
            <a:r>
              <a:rPr lang="en"/>
              <a:t> aggregation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independent bootstrap samples (i = 1, 2, … B training sets),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applies CART on each i (no prunning)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Average the resulting predictions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Reduces variance as a result of using </a:t>
            </a:r>
            <a:r>
              <a:rPr lang="en"/>
              <a:t>bootstrap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Boosting</a:t>
            </a:r>
            <a:r>
              <a:rPr lang="en"/>
              <a:t>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sequentially updated/weighted bootstrap based on previous learning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Another variation could be “different models” in different samples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Random forest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Improvement over bagging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Tweaks the algorithm so that predictions from all of the sub-nodes have less correlation</a:t>
            </a:r>
            <a:endParaRPr/>
          </a:p>
        </p:txBody>
      </p:sp>
      <p:sp>
        <p:nvSpPr>
          <p:cNvPr id="382" name="Google Shape;38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3825" y="71725"/>
            <a:ext cx="2980175" cy="25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methods: VIM</a:t>
            </a:r>
            <a:endParaRPr/>
          </a:p>
        </p:txBody>
      </p:sp>
      <p:sp>
        <p:nvSpPr>
          <p:cNvPr id="389" name="Google Shape;389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Variable Importance measure (VIM)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bagging improves prediction accuracy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over prediction using a single tree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Looses interpretability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this is an average of many diagrams now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But we can get a summary of the importance of each variable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VIM</a:t>
            </a:r>
            <a:r>
              <a:rPr baseline="-25000" lang="en"/>
              <a:t>i</a:t>
            </a:r>
            <a:r>
              <a:rPr lang="en"/>
              <a:t> = sum of the decrease in error when a variable i is used to split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Relative </a:t>
            </a:r>
            <a:r>
              <a:rPr lang="en"/>
              <a:t>VIM</a:t>
            </a:r>
            <a:r>
              <a:rPr baseline="-25000" lang="en"/>
              <a:t>i</a:t>
            </a:r>
            <a:r>
              <a:rPr lang="en"/>
              <a:t> = VIM</a:t>
            </a:r>
            <a:r>
              <a:rPr baseline="-25000" lang="en"/>
              <a:t>i</a:t>
            </a:r>
            <a:r>
              <a:rPr lang="en"/>
              <a:t>/max(VIM) so that VIMs are between 0 and 1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VIMs are also possible from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random forest and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boosting </a:t>
            </a:r>
            <a:endParaRPr/>
          </a:p>
        </p:txBody>
      </p:sp>
      <p:sp>
        <p:nvSpPr>
          <p:cNvPr id="390" name="Google Shape;39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methods: Type - II</a:t>
            </a:r>
            <a:endParaRPr/>
          </a:p>
        </p:txBody>
      </p:sp>
      <p:sp>
        <p:nvSpPr>
          <p:cNvPr id="396" name="Google Shape;39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Training different models on the same data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Bayesian model averaging</a:t>
            </a:r>
            <a:r>
              <a:rPr lang="en"/>
              <a:t> (BMA) can use wide range of learners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Super learner</a:t>
            </a:r>
            <a:r>
              <a:rPr lang="en"/>
              <a:t> (SL)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Large number of candidate learners (CL) with different strengths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Parametric (logistic)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Non-parametric (CART)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Cross-validation: CL applied on training data, prediction made on test data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Final prediction uses a weighted version of all predictions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Weights = coef of Observed outcome ~ prediction from each CL</a:t>
            </a:r>
            <a:endParaRPr/>
          </a:p>
        </p:txBody>
      </p:sp>
      <p:sp>
        <p:nvSpPr>
          <p:cNvPr id="397" name="Google Shape;397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2448" y="1076275"/>
            <a:ext cx="5279854" cy="39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methods: Types</a:t>
            </a:r>
            <a:endParaRPr/>
          </a:p>
        </p:txBody>
      </p:sp>
      <p:sp>
        <p:nvSpPr>
          <p:cNvPr id="404" name="Google Shape;404;p58"/>
          <p:cNvSpPr txBox="1"/>
          <p:nvPr>
            <p:ph idx="1" type="body"/>
          </p:nvPr>
        </p:nvSpPr>
        <p:spPr>
          <a:xfrm>
            <a:off x="311700" y="1152475"/>
            <a:ext cx="302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Differences</a:t>
            </a:r>
            <a:endParaRPr/>
          </a:p>
        </p:txBody>
      </p:sp>
      <p:sp>
        <p:nvSpPr>
          <p:cNvPr id="405" name="Google Shape;40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58"/>
          <p:cNvSpPr txBox="1"/>
          <p:nvPr/>
        </p:nvSpPr>
        <p:spPr>
          <a:xfrm>
            <a:off x="5851875" y="321925"/>
            <a:ext cx="29055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91EA"/>
                </a:solidFill>
                <a:latin typeface="Comic Sans MS"/>
                <a:ea typeface="Comic Sans MS"/>
                <a:cs typeface="Comic Sans MS"/>
                <a:sym typeface="Comic Sans MS"/>
              </a:rPr>
              <a:t>Web-appendix</a:t>
            </a:r>
            <a:endParaRPr sz="2400">
              <a:solidFill>
                <a:srgbClr val="0091EA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0407" y="19926"/>
            <a:ext cx="3903593" cy="11325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Epidemiologic applications</a:t>
            </a:r>
            <a:endParaRPr/>
          </a:p>
        </p:txBody>
      </p:sp>
      <p:sp>
        <p:nvSpPr>
          <p:cNvPr id="413" name="Google Shape;41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4" name="Google Shape;41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4050" y="1679075"/>
            <a:ext cx="3903600" cy="1228096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9"/>
          <p:cNvSpPr txBox="1"/>
          <p:nvPr>
            <p:ph idx="1" type="body"/>
          </p:nvPr>
        </p:nvSpPr>
        <p:spPr>
          <a:xfrm>
            <a:off x="62775" y="1152475"/>
            <a:ext cx="739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34343"/>
                </a:solidFill>
              </a:rPr>
              <a:t>●Causal Modelling: </a:t>
            </a:r>
            <a:r>
              <a:rPr lang="en">
                <a:solidFill>
                  <a:srgbClr val="4A86E8"/>
                </a:solidFill>
              </a:rPr>
              <a:t>CVD versus smoking</a:t>
            </a:r>
            <a:endParaRPr>
              <a:solidFill>
                <a:srgbClr val="4A86E8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434343"/>
                </a:solidFill>
              </a:rPr>
              <a:t>○Propensity score modelling</a:t>
            </a:r>
            <a:endParaRPr sz="1800">
              <a:solidFill>
                <a:srgbClr val="434343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■</a:t>
            </a:r>
            <a:r>
              <a:rPr lang="en" sz="2300">
                <a:solidFill>
                  <a:srgbClr val="434343"/>
                </a:solidFill>
              </a:rPr>
              <a:t>Exposure modelling:</a:t>
            </a:r>
            <a:endParaRPr sz="2300">
              <a:solidFill>
                <a:srgbClr val="434343"/>
              </a:solidFill>
            </a:endParaRPr>
          </a:p>
          <a:p>
            <a:pPr indent="0" lvl="0" marL="1054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434343"/>
                </a:solidFill>
              </a:rPr>
              <a:t>  </a:t>
            </a:r>
            <a:r>
              <a:rPr lang="en" sz="2300">
                <a:solidFill>
                  <a:srgbClr val="4A86E8"/>
                </a:solidFill>
              </a:rPr>
              <a:t>smoking ~ features</a:t>
            </a:r>
            <a:endParaRPr sz="2300">
              <a:solidFill>
                <a:srgbClr val="4A86E8"/>
              </a:solidFill>
            </a:endParaRPr>
          </a:p>
          <a:p>
            <a:pPr indent="0" lvl="0" marL="1054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4A86E8"/>
                </a:solidFill>
              </a:rPr>
              <a:t>  </a:t>
            </a:r>
            <a:r>
              <a:rPr lang="en" sz="2300">
                <a:solidFill>
                  <a:srgbClr val="38761D"/>
                </a:solidFill>
              </a:rPr>
              <a:t>=&gt; propensity score</a:t>
            </a:r>
            <a:endParaRPr sz="2300">
              <a:solidFill>
                <a:srgbClr val="38761D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■</a:t>
            </a:r>
            <a:r>
              <a:rPr lang="en" sz="2000">
                <a:solidFill>
                  <a:srgbClr val="434343"/>
                </a:solidFill>
              </a:rPr>
              <a:t>In Logistic regression we need to add</a:t>
            </a:r>
            <a:endParaRPr sz="2000">
              <a:solidFill>
                <a:srgbClr val="434343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●</a:t>
            </a:r>
            <a:r>
              <a:rPr lang="en" sz="2000">
                <a:solidFill>
                  <a:srgbClr val="434343"/>
                </a:solidFill>
              </a:rPr>
              <a:t>interactions and non-linearities</a:t>
            </a:r>
            <a:endParaRPr sz="2000">
              <a:solidFill>
                <a:srgbClr val="434343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■</a:t>
            </a:r>
            <a:r>
              <a:rPr lang="en" sz="2000">
                <a:solidFill>
                  <a:srgbClr val="434343"/>
                </a:solidFill>
              </a:rPr>
              <a:t>No need to specify them in CART methods</a:t>
            </a:r>
            <a:endParaRPr sz="2000">
              <a:solidFill>
                <a:srgbClr val="434343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■</a:t>
            </a:r>
            <a:r>
              <a:rPr lang="en" sz="2300">
                <a:solidFill>
                  <a:srgbClr val="434343"/>
                </a:solidFill>
              </a:rPr>
              <a:t>Outcome modelling:</a:t>
            </a:r>
            <a:endParaRPr sz="2300">
              <a:solidFill>
                <a:srgbClr val="434343"/>
              </a:solidFill>
            </a:endParaRPr>
          </a:p>
          <a:p>
            <a:pPr indent="0" lvl="0" marL="1054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434343"/>
                </a:solidFill>
              </a:rPr>
              <a:t>  </a:t>
            </a:r>
            <a:r>
              <a:rPr lang="en" sz="2300">
                <a:solidFill>
                  <a:srgbClr val="4A86E8"/>
                </a:solidFill>
              </a:rPr>
              <a:t>CVD ~ smoking + f(</a:t>
            </a:r>
            <a:r>
              <a:rPr lang="en" sz="2300">
                <a:solidFill>
                  <a:srgbClr val="38761D"/>
                </a:solidFill>
              </a:rPr>
              <a:t>propensity score</a:t>
            </a:r>
            <a:r>
              <a:rPr lang="en" sz="2300">
                <a:solidFill>
                  <a:srgbClr val="4A86E8"/>
                </a:solidFill>
              </a:rPr>
              <a:t>)</a:t>
            </a:r>
            <a:endParaRPr sz="23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050" y="3151150"/>
            <a:ext cx="3903599" cy="1327001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Epidemiologic applications</a:t>
            </a:r>
            <a:endParaRPr/>
          </a:p>
        </p:txBody>
      </p:sp>
      <p:sp>
        <p:nvSpPr>
          <p:cNvPr id="422" name="Google Shape;422;p60"/>
          <p:cNvSpPr txBox="1"/>
          <p:nvPr>
            <p:ph idx="1" type="body"/>
          </p:nvPr>
        </p:nvSpPr>
        <p:spPr>
          <a:xfrm>
            <a:off x="62775" y="1152475"/>
            <a:ext cx="598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Causal inference: </a:t>
            </a:r>
            <a:r>
              <a:rPr lang="en">
                <a:solidFill>
                  <a:srgbClr val="4A86E8"/>
                </a:solidFill>
              </a:rPr>
              <a:t>CVD versus smoking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High-dimensional propensity score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ML versions (LASSO) to add proxy variables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Super learner (SL)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Causal trees / causal forests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Causal discovery to build DAGs automatically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Epidemiologic applications</a:t>
            </a:r>
            <a:endParaRPr/>
          </a:p>
        </p:txBody>
      </p:sp>
      <p:sp>
        <p:nvSpPr>
          <p:cNvPr id="429" name="Google Shape;429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61"/>
          <p:cNvSpPr txBox="1"/>
          <p:nvPr>
            <p:ph idx="1" type="body"/>
          </p:nvPr>
        </p:nvSpPr>
        <p:spPr>
          <a:xfrm>
            <a:off x="431550" y="1246825"/>
            <a:ext cx="828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Big data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LASSO for dimension reduction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ML on Gene expression data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Many covariates compared to observations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Forecasting infectious disease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Propensity score modelling in the high dimensions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Prognostic model building / risk score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Geo-spatial data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Text mining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Reading</a:t>
            </a:r>
            <a:endParaRPr/>
          </a:p>
        </p:txBody>
      </p:sp>
      <p:sp>
        <p:nvSpPr>
          <p:cNvPr id="436" name="Google Shape;436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7" name="Google Shape;43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2825" y="1974925"/>
            <a:ext cx="64770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0097A7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Thanks!</a:t>
            </a:r>
            <a:endParaRPr sz="9600">
              <a:solidFill>
                <a:srgbClr val="0097A7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ehsan.karim@ubc.ca</a:t>
            </a:r>
            <a:endParaRPr sz="30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www.ehsank.com</a:t>
            </a:r>
            <a:endParaRPr sz="3000">
              <a:solidFill>
                <a:srgbClr val="3C7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3C78D8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3C78D8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443" name="Google Shape;443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op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