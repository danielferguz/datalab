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159" r:id="rId3"/>
    <p:sldId id="2480" r:id="rId4"/>
    <p:sldId id="2481" r:id="rId5"/>
    <p:sldId id="2482" r:id="rId6"/>
    <p:sldId id="308" r:id="rId7"/>
    <p:sldId id="315" r:id="rId8"/>
    <p:sldId id="316" r:id="rId9"/>
    <p:sldId id="317" r:id="rId10"/>
    <p:sldId id="318" r:id="rId11"/>
    <p:sldId id="2470" r:id="rId12"/>
    <p:sldId id="2486" r:id="rId13"/>
    <p:sldId id="2469" r:id="rId14"/>
    <p:sldId id="322" r:id="rId15"/>
    <p:sldId id="2477" r:id="rId16"/>
    <p:sldId id="2487" r:id="rId17"/>
    <p:sldId id="319" r:id="rId18"/>
    <p:sldId id="320" r:id="rId19"/>
    <p:sldId id="321" r:id="rId20"/>
    <p:sldId id="323" r:id="rId21"/>
    <p:sldId id="324" r:id="rId22"/>
    <p:sldId id="2472" r:id="rId23"/>
    <p:sldId id="2473" r:id="rId24"/>
    <p:sldId id="325" r:id="rId25"/>
    <p:sldId id="327" r:id="rId26"/>
    <p:sldId id="2476" r:id="rId27"/>
    <p:sldId id="328" r:id="rId28"/>
    <p:sldId id="2471" r:id="rId29"/>
    <p:sldId id="2474" r:id="rId30"/>
    <p:sldId id="2483" r:id="rId31"/>
    <p:sldId id="2484" r:id="rId32"/>
    <p:sldId id="2485" r:id="rId33"/>
    <p:sldId id="2160" r:id="rId34"/>
    <p:sldId id="331" r:id="rId35"/>
    <p:sldId id="2478" r:id="rId36"/>
    <p:sldId id="2479" r:id="rId37"/>
    <p:sldId id="2475" r:id="rId3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0FC822-C8F3-4494-A851-B8316CE64AED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24874-97D1-4275-8A22-6C2B6C16E69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5800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6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21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2712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5807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24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8CD20-2FE5-4917-BF2B-88876E79A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D306D0-D5DE-4F8B-B166-556824983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D6B8DB-64FE-49A4-9C6E-881B8CC6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D9B5-4C9A-4C1F-B512-F69A205905A5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FB3B1A-464A-4FCD-A8AB-4DFDB6440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6E7D-92C6-4012-9788-36CF9E533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ECD8-16F3-400E-A475-645FB7A1610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881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D7477-89C8-4242-9F9C-F1165DC8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A0BE53-26E6-4ACA-B378-56F832652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4046E8-BB2E-4D12-805D-C15DFC36E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D9B5-4C9A-4C1F-B512-F69A205905A5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033516-3BF2-4997-A481-F81C6A57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C986EB-8104-49F4-80DA-7F380D239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ECD8-16F3-400E-A475-645FB7A1610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459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1B2FE2-3320-444F-AE1A-C259CABD7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8403E6-6441-42BE-A928-ED5C334FC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69962-FAAE-4C7F-BD3E-BFE280FCF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D9B5-4C9A-4C1F-B512-F69A205905A5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43F617-405D-4FC3-BEB9-2560BAC5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D61FE-A3BC-4ADD-95F5-0B8910BA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ECD8-16F3-400E-A475-645FB7A1610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15416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204BE-376D-40D7-B4B5-B7195C98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C8293E-7157-4E04-961B-381200090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FAFCF4-6528-4532-8D7F-1C2104D0E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D94757-E8E5-4DC2-9129-E3EE30FD4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D9B5-4C9A-4C1F-B512-F69A205905A5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56B099-597C-4809-A0BF-AE3320870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9D861D-E30C-4320-B7CA-8B3289F51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ECD8-16F3-400E-A475-645FB7A1610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8947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EC7E8-DD75-42EC-B276-A143F98BC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08D065-2A37-468D-805E-8F242C357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B28E8C-DB9A-4C6F-85BA-69C0CD777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F9D345B-A96C-4C3D-98CA-83A1BB289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A670C7F-5CB1-417F-A02E-8B5E9CAD6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91E946F-EFC7-4536-BF33-E949AD28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D9B5-4C9A-4C1F-B512-F69A205905A5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C29ED99-BD9B-430F-B073-A9D1DA9C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C61B8C4-DECB-448E-B4C9-DFF0F501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ECD8-16F3-400E-A475-645FB7A1610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431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78D13C-C37A-437E-9736-0E293C58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F04973-2F2E-4C7F-84CC-B1DEDFD2F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D9B5-4C9A-4C1F-B512-F69A205905A5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5C3735-9790-48F2-B83D-5C2165AF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10F397-E621-4613-B4D9-76BCBD2B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ECD8-16F3-400E-A475-645FB7A1610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1884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DE2731-9A39-4375-982B-C7876512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D9B5-4C9A-4C1F-B512-F69A205905A5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922A01A-DBDA-49F6-BD98-3736E0EB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65E704-D3C0-4F6D-B5F6-A6D99A909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ECD8-16F3-400E-A475-645FB7A1610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264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A7EA9-6277-4F90-9798-AC69C2D1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AC4ACC-BD50-44B8-8830-F2A11E7F3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4FDE95-8610-4A22-92AE-C51CA59F9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10F76F-87F1-4317-BE93-C92E47DCC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D9B5-4C9A-4C1F-B512-F69A205905A5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6780A9-8213-4D7C-B6BA-333BEFAE9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AF86CE-96EB-4B5C-9542-70F1C648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ECD8-16F3-400E-A475-645FB7A1610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28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27E0C-16B3-4C08-9C58-D267A796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15DB6C-5CB1-44A2-8B27-7DC9A9E4B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57F832-A503-47E4-B101-01CAB25AC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F2CACF-6F5B-4A84-B505-A63C2E2F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D9B5-4C9A-4C1F-B512-F69A205905A5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1DA83B-386C-4D12-88E1-3D60233A9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0AA87A-A637-4BDB-8651-9B2E25810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ECD8-16F3-400E-A475-645FB7A1610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1896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FFD18-371A-4D86-AA01-A2252236F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471E24-3394-4B3F-9B41-FBA79DDD3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52E863-454D-49A9-B02C-606D400A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D9B5-4C9A-4C1F-B512-F69A205905A5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6B1AB7-EC26-4652-BA7F-760E2EC6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5C4089-06E3-42CD-AD68-E819CEF3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ECD8-16F3-400E-A475-645FB7A1610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927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250A09F-F0CA-48B5-AB3F-FD744ED7E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24887C0-266F-4059-A1E2-4598AF045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626F05-F30C-4531-88A0-FF9C082BE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D9B5-4C9A-4C1F-B512-F69A205905A5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2F2CB2-AB4E-4229-8B67-427FE57F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62597C-AE8A-42DB-9143-F85ABC26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ECD8-16F3-400E-A475-645FB7A1610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55430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ítulo y objetos">
  <p:cSld name="1_Título y objetos">
    <p:bg>
      <p:bgRef idx="1001">
        <a:schemeClr val="bg1"/>
      </p:bgRef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 b="0" i="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>
                <a:solidFill>
                  <a:srgbClr val="595959"/>
                </a:solidFill>
              </a:defRPr>
            </a:lvl2pPr>
            <a:lvl3pPr marL="1371600" marR="0" lvl="2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>
                <a:solidFill>
                  <a:srgbClr val="595959"/>
                </a:solidFill>
              </a:defRPr>
            </a:lvl3pPr>
            <a:lvl4pPr marL="1828800" marR="0" lvl="3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Char char="•"/>
              <a:defRPr sz="30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838200" y="699983"/>
            <a:ext cx="7485185" cy="42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0" i="0">
                <a:solidFill>
                  <a:schemeClr val="tx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9251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9_Título y objet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F21A9C-9BA5-9440-A20A-651CEBC78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CF0F33-65C2-4C4B-BD87-3B5136480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F993AEEE-6DD4-3D43-A9F8-0585FF776E99}" type="datetimeFigureOut">
              <a:rPr lang="es-PE" smtClean="0"/>
              <a:pPr/>
              <a:t>1/09/2024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CFE02-9496-D749-8104-F69D17F4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7E15FA-0F51-A047-AF99-7D502E2B0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E1513474-25ED-AB43-B0B5-53FBCD15E933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14420BA-EC42-444B-99A2-C5F38A4BD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3396"/>
            <a:ext cx="7485185" cy="5108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51885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A7E264D-247D-4315-BB72-298A48AA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251EC7-F698-4E60-A13A-6428F3111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9DDAE3-5A0E-4713-A5B6-CD4CB1A49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FD9B5-4C9A-4C1F-B512-F69A205905A5}" type="datetimeFigureOut">
              <a:rPr lang="es-PE" smtClean="0"/>
              <a:t>1/09/2024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8B9CEE-4692-484B-AF0F-19D97D3FD1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D2ED97-54DE-47FE-9525-8BB1187D5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AECD8-16F3-400E-A475-645FB7A1610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0738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hsprogram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hsprogram.com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yectos.inei.gob.pe/endes/2022/SALUD/ENFERMEDADES_ENDES_2022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royectos.inei.gob.pe/microdatos/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royectos.inei.gob.pe/microdato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proyectos.inei.gob.pe/endes/2022/DOCUMENTOS/FICHA_TECNICA_ENDES_2022.pdf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28077-C14E-47CD-ACD4-A9FFFA222B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b="1" dirty="0">
                <a:latin typeface="Arial Black" panose="020B0A04020102020204" pitchFamily="34" charset="0"/>
              </a:rPr>
              <a:t>Análisis con ENDES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CD3E1E-AAE1-4EC6-8D8F-7C8867EE7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663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83B8CAC-F15E-40CB-8348-0A72CCBAA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933" y="1223490"/>
            <a:ext cx="10961451" cy="1360684"/>
          </a:xfrm>
          <a:ln w="57150"/>
        </p:spPr>
        <p:txBody>
          <a:bodyPr>
            <a:normAutofit fontScale="92500"/>
          </a:bodyPr>
          <a:lstStyle/>
          <a:p>
            <a:r>
              <a:rPr lang="es-PE" sz="2400" dirty="0">
                <a:solidFill>
                  <a:schemeClr val="tx1"/>
                </a:solidFill>
              </a:rPr>
              <a:t>Todos los individuos tienen una probabilidad conocida de ser incluidos en la muestra</a:t>
            </a:r>
          </a:p>
          <a:p>
            <a:r>
              <a:rPr lang="es-PE" sz="2400" dirty="0">
                <a:solidFill>
                  <a:schemeClr val="tx1"/>
                </a:solidFill>
              </a:rPr>
              <a:t>Es necesario tener un marco muestral</a:t>
            </a:r>
          </a:p>
          <a:p>
            <a:r>
              <a:rPr lang="es-PE" sz="2400" dirty="0">
                <a:solidFill>
                  <a:schemeClr val="tx1"/>
                </a:solidFill>
              </a:rPr>
              <a:t>Se realiza un muestreo cuando no se puede abordar a toda la población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E91E46D-2599-478F-B9B0-B9CAB0DEF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34" y="699983"/>
            <a:ext cx="8098046" cy="423064"/>
          </a:xfrm>
        </p:spPr>
        <p:txBody>
          <a:bodyPr/>
          <a:lstStyle/>
          <a:p>
            <a:r>
              <a:rPr lang="es-PE" dirty="0"/>
              <a:t>Tipos de muestreo - Probabilístico</a:t>
            </a:r>
            <a:endParaRPr lang="en-U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EA9AE1B-C99D-472A-8736-C5A85F594A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-674"/>
          <a:stretch/>
        </p:blipFill>
        <p:spPr>
          <a:xfrm>
            <a:off x="970138" y="2684617"/>
            <a:ext cx="10320714" cy="380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73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0228DC0-58E0-40B5-8304-BFA18A724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E2EE5D6-063B-41A6-BD76-3E73C0C26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0540D9-8F3E-4D1D-B010-4AE6F69BD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75" y="681036"/>
            <a:ext cx="11303533" cy="561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86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8C66994-6821-4690-84C7-675EE1851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949ED0E-D350-4866-A735-DF72BD50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0120FA-6918-4351-8120-E8AFB1492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63" y="553237"/>
            <a:ext cx="10774836" cy="562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49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D7A93E8-41D3-4A78-83D3-4540624D2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CC975D2-C932-4D6F-A787-520FD3879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B09C32-B9E6-420B-9B2E-D3B98782A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14" y="421352"/>
            <a:ext cx="10748794" cy="595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01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/>
        </p:nvSpPr>
        <p:spPr>
          <a:xfrm>
            <a:off x="9312343" y="3859628"/>
            <a:ext cx="2545400" cy="25852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b="1">
                <a:latin typeface="Calibri"/>
                <a:ea typeface="Calibri"/>
                <a:cs typeface="Calibri"/>
                <a:sym typeface="Calibri"/>
              </a:rPr>
              <a:t>Selecciono aleatoriamente algunos conglomerados (cuadras) y luego encuesto a todos los habitantes de las cuadras seleccionadas para determinar si tienen depresión</a:t>
            </a:r>
            <a:endParaRPr b="1" u="sng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1301376" y="1583866"/>
            <a:ext cx="9589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400"/>
              <a:buFont typeface="Calibri"/>
              <a:buNone/>
            </a:pPr>
            <a:r>
              <a:rPr lang="es-PE" sz="2400" b="1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Quiero saber cuál es la prevalencia de depresión en el distrito de Lince (Lima, Perú)</a:t>
            </a:r>
            <a:endParaRPr sz="2400" b="1" i="0" u="sng" strike="noStrike" cap="none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3254600" y="4113550"/>
            <a:ext cx="1077300" cy="931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45511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7426001" y="4113562"/>
            <a:ext cx="1077300" cy="931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 w="12700" cap="flat" cmpd="sng">
            <a:solidFill>
              <a:srgbClr val="45511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4330600" y="3979038"/>
            <a:ext cx="3095400" cy="12006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400"/>
              <a:buFont typeface="Calibri"/>
              <a:buNone/>
            </a:pPr>
            <a:r>
              <a:rPr lang="es-PE" sz="2400" b="1" dirty="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Divido al distrito en conglomerados </a:t>
            </a:r>
            <a:endParaRPr sz="2400" b="1" dirty="0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400"/>
              <a:buFont typeface="Calibri"/>
              <a:buNone/>
            </a:pPr>
            <a:r>
              <a:rPr lang="es-PE" sz="2400" b="1" dirty="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(ejm: cuadras)*</a:t>
            </a:r>
            <a:endParaRPr sz="2400" b="1" i="0" u="sng" strike="noStrike" cap="none" dirty="0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-665892" y="6377260"/>
            <a:ext cx="72383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1600"/>
              <a:buFont typeface="Calibri"/>
              <a:buNone/>
            </a:pPr>
            <a:r>
              <a:rPr lang="es-PE" sz="1600" b="1" i="0" u="sng" strike="noStrike" cap="none" dirty="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*Puede ser en múltiples fases: unidades primarias y secundarias</a:t>
            </a:r>
            <a:endParaRPr sz="1600" b="1" i="0" u="sng" strike="noStrike" cap="none" dirty="0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 txBox="1">
            <a:spLocks noGrp="1"/>
          </p:cNvSpPr>
          <p:nvPr>
            <p:ph type="title"/>
          </p:nvPr>
        </p:nvSpPr>
        <p:spPr>
          <a:xfrm>
            <a:off x="823725" y="699975"/>
            <a:ext cx="75984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s-PE" dirty="0"/>
              <a:t>Muestreo </a:t>
            </a:r>
            <a:r>
              <a:rPr lang="es-PE" dirty="0" err="1"/>
              <a:t>multi-etápico</a:t>
            </a:r>
            <a:endParaRPr dirty="0"/>
          </a:p>
        </p:txBody>
      </p:sp>
      <p:pic>
        <p:nvPicPr>
          <p:cNvPr id="240" name="Google Shape;240;p17"/>
          <p:cNvPicPr preferRelativeResize="0"/>
          <p:nvPr/>
        </p:nvPicPr>
        <p:blipFill rotWithShape="1">
          <a:blip r:embed="rId3">
            <a:alphaModFix/>
          </a:blip>
          <a:srcRect b="34764"/>
          <a:stretch/>
        </p:blipFill>
        <p:spPr>
          <a:xfrm>
            <a:off x="-4" y="3828750"/>
            <a:ext cx="3254610" cy="150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75;p7">
            <a:extLst>
              <a:ext uri="{FF2B5EF4-FFF2-40B4-BE49-F238E27FC236}">
                <a16:creationId xmlns:a16="http://schemas.microsoft.com/office/drawing/2014/main" id="{EEC4AB4D-9777-4DD4-AE9B-A59C8964D2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75135" t="34185"/>
          <a:stretch/>
        </p:blipFill>
        <p:spPr>
          <a:xfrm>
            <a:off x="6821357" y="3892361"/>
            <a:ext cx="2309113" cy="2965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76;p7">
            <a:extLst>
              <a:ext uri="{FF2B5EF4-FFF2-40B4-BE49-F238E27FC236}">
                <a16:creationId xmlns:a16="http://schemas.microsoft.com/office/drawing/2014/main" id="{F1AB8F1A-6E77-4C6A-AF3C-6309E1A1B0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0835" r="75135"/>
          <a:stretch/>
        </p:blipFill>
        <p:spPr>
          <a:xfrm>
            <a:off x="-3607" y="3290782"/>
            <a:ext cx="2309113" cy="3567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77;p7">
            <a:extLst>
              <a:ext uri="{FF2B5EF4-FFF2-40B4-BE49-F238E27FC236}">
                <a16:creationId xmlns:a16="http://schemas.microsoft.com/office/drawing/2014/main" id="{2D2420A4-7735-40D7-91BE-2BEAAB7586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5133" t="20835" r="50269"/>
          <a:stretch/>
        </p:blipFill>
        <p:spPr>
          <a:xfrm>
            <a:off x="2330519" y="3290782"/>
            <a:ext cx="2284098" cy="3567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78;p7">
            <a:extLst>
              <a:ext uri="{FF2B5EF4-FFF2-40B4-BE49-F238E27FC236}">
                <a16:creationId xmlns:a16="http://schemas.microsoft.com/office/drawing/2014/main" id="{2A5E0B5C-1E94-479D-AAA6-2E06CFFEF4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50000" t="25374" r="25135"/>
          <a:stretch/>
        </p:blipFill>
        <p:spPr>
          <a:xfrm>
            <a:off x="4487231" y="3495319"/>
            <a:ext cx="2309113" cy="336268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79;p7">
            <a:extLst>
              <a:ext uri="{FF2B5EF4-FFF2-40B4-BE49-F238E27FC236}">
                <a16:creationId xmlns:a16="http://schemas.microsoft.com/office/drawing/2014/main" id="{EA2ACF72-A982-4F7B-8D8D-07F167862CA5}"/>
              </a:ext>
            </a:extLst>
          </p:cNvPr>
          <p:cNvSpPr txBox="1"/>
          <p:nvPr/>
        </p:nvSpPr>
        <p:spPr>
          <a:xfrm>
            <a:off x="-209507" y="2694389"/>
            <a:ext cx="331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Viviendas seleccionadas </a:t>
            </a:r>
            <a:endParaRPr sz="2000" i="0" strike="noStrike" cap="none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80;p7">
            <a:extLst>
              <a:ext uri="{FF2B5EF4-FFF2-40B4-BE49-F238E27FC236}">
                <a16:creationId xmlns:a16="http://schemas.microsoft.com/office/drawing/2014/main" id="{2D2C63A9-CCE9-4E95-9030-8DA4033B6031}"/>
              </a:ext>
            </a:extLst>
          </p:cNvPr>
          <p:cNvSpPr txBox="1"/>
          <p:nvPr/>
        </p:nvSpPr>
        <p:spPr>
          <a:xfrm>
            <a:off x="2153106" y="6858000"/>
            <a:ext cx="308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Hogares encuestados</a:t>
            </a:r>
            <a:endParaRPr sz="2000" i="0" strike="noStrike" cap="none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81;p7">
            <a:extLst>
              <a:ext uri="{FF2B5EF4-FFF2-40B4-BE49-F238E27FC236}">
                <a16:creationId xmlns:a16="http://schemas.microsoft.com/office/drawing/2014/main" id="{C03E03BB-F3F8-4417-B776-E576BA526E9E}"/>
              </a:ext>
            </a:extLst>
          </p:cNvPr>
          <p:cNvSpPr txBox="1"/>
          <p:nvPr/>
        </p:nvSpPr>
        <p:spPr>
          <a:xfrm>
            <a:off x="3992317" y="2772189"/>
            <a:ext cx="433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Residentes que respondieron PHQ-9</a:t>
            </a:r>
            <a:endParaRPr sz="2000" i="0" strike="noStrike" cap="none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2;p7">
            <a:extLst>
              <a:ext uri="{FF2B5EF4-FFF2-40B4-BE49-F238E27FC236}">
                <a16:creationId xmlns:a16="http://schemas.microsoft.com/office/drawing/2014/main" id="{3B69C689-143E-43F9-9459-D14E2876E410}"/>
              </a:ext>
            </a:extLst>
          </p:cNvPr>
          <p:cNvSpPr/>
          <p:nvPr/>
        </p:nvSpPr>
        <p:spPr>
          <a:xfrm>
            <a:off x="5734119" y="3412091"/>
            <a:ext cx="584100" cy="423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83;p7">
            <a:extLst>
              <a:ext uri="{FF2B5EF4-FFF2-40B4-BE49-F238E27FC236}">
                <a16:creationId xmlns:a16="http://schemas.microsoft.com/office/drawing/2014/main" id="{643E7F5D-4959-484D-A5E5-6673A4CBD76E}"/>
              </a:ext>
            </a:extLst>
          </p:cNvPr>
          <p:cNvSpPr txBox="1"/>
          <p:nvPr/>
        </p:nvSpPr>
        <p:spPr>
          <a:xfrm>
            <a:off x="6796356" y="6858000"/>
            <a:ext cx="3083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1800"/>
              <a:buFont typeface="Calibri"/>
              <a:buNone/>
            </a:pPr>
            <a:r>
              <a:rPr lang="es-PE" sz="18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Residentes con variables de interés completas</a:t>
            </a:r>
            <a:endParaRPr sz="1800" i="0" strike="noStrike" cap="none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body" idx="1"/>
          </p:nvPr>
        </p:nvSpPr>
        <p:spPr>
          <a:xfrm>
            <a:off x="627650" y="1430450"/>
            <a:ext cx="9565200" cy="53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57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DHS = </a:t>
            </a:r>
            <a:r>
              <a:rPr lang="es-PE" b="1"/>
              <a:t>Demographic and Health Surveys</a:t>
            </a:r>
            <a:endParaRPr b="1"/>
          </a:p>
          <a:p>
            <a:pPr marL="228600" lvl="0" indent="-2571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Programa que nace en Estados Unidos en 1984 con el objetivo de medir indicadores de países</a:t>
            </a:r>
            <a:endParaRPr/>
          </a:p>
          <a:p>
            <a:pPr marL="228600" lvl="0" indent="-2571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Los resultados de las DHS se pueden </a:t>
            </a:r>
            <a:r>
              <a:rPr lang="es-PE" b="1" u="sng"/>
              <a:t>extrapolar</a:t>
            </a:r>
            <a:r>
              <a:rPr lang="es-PE"/>
              <a:t> a nivel </a:t>
            </a:r>
            <a:r>
              <a:rPr lang="es-PE" b="1" u="sng"/>
              <a:t>nacional</a:t>
            </a:r>
            <a:endParaRPr/>
          </a:p>
          <a:p>
            <a:pPr marL="228600" lvl="0" indent="-2571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Se basan en diseño transversal y </a:t>
            </a:r>
            <a:r>
              <a:rPr lang="es-PE" b="1"/>
              <a:t>muestreo multietápico</a:t>
            </a:r>
            <a:endParaRPr b="1"/>
          </a:p>
          <a:p>
            <a:pPr marL="228600" lvl="0" indent="-2571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Se evalúan características del hogar, características de la mujer y características de salud</a:t>
            </a:r>
            <a:endParaRPr/>
          </a:p>
          <a:p>
            <a:pPr marL="228600" lvl="0" indent="-2571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Las bases recolectadas de cada país son de acceso libre para analizar y publicar</a:t>
            </a:r>
            <a:endParaRPr/>
          </a:p>
          <a:p>
            <a:pPr marL="228600" marR="0" lvl="0" indent="-666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Arial"/>
              <a:buNone/>
            </a:pPr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s-PE"/>
              <a:t>Conceptos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28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Muestreo multi-etápico</a:t>
            </a:r>
            <a:endParaRPr/>
          </a:p>
          <a:p>
            <a:pPr marL="228600" lvl="0" indent="-2428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Los conglomerados geográficos se seleccionan aleatoriamente </a:t>
            </a:r>
            <a:endParaRPr/>
          </a:p>
          <a:p>
            <a:pPr marL="228600" lvl="0" indent="-2428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Los encuestadores visitan tales lugares y compilan una lista de hogares</a:t>
            </a:r>
            <a:endParaRPr/>
          </a:p>
          <a:p>
            <a:pPr marL="228600" lvl="0" indent="-2428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Se seleccionan entre 20-30 hogares por conglomerado, usando un muestreo sistemático</a:t>
            </a:r>
            <a:endParaRPr/>
          </a:p>
          <a:p>
            <a:pPr marL="228600" lvl="0" indent="-2428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Se entrevistan a las personas viviendo en dichos hogares</a:t>
            </a:r>
            <a:endParaRPr/>
          </a:p>
        </p:txBody>
      </p:sp>
      <p:sp>
        <p:nvSpPr>
          <p:cNvPr id="149" name="Google Shape;149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s-PE"/>
              <a:t>Metodología de las DHS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>
            <a:spLocks noGrp="1"/>
          </p:cNvSpPr>
          <p:nvPr>
            <p:ph type="title"/>
          </p:nvPr>
        </p:nvSpPr>
        <p:spPr>
          <a:xfrm>
            <a:off x="834200" y="680025"/>
            <a:ext cx="75024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lang="es-PE" sz="2400"/>
              <a:t>¿Cómo encontrar las bases de datos de las DHS de cada país?</a:t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834189" y="4947163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https://dhsprogram.com/</a:t>
            </a:r>
            <a:r>
              <a:rPr lang="es-PE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57" name="Google Shape;15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649" y="2263482"/>
            <a:ext cx="4723190" cy="249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2763" y="2191167"/>
            <a:ext cx="5812588" cy="2246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5226341" y="3355596"/>
            <a:ext cx="511729" cy="54528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062E5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344025" y="3043238"/>
            <a:ext cx="847725" cy="104775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5033" y="1320084"/>
            <a:ext cx="5673722" cy="483793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 txBox="1"/>
          <p:nvPr/>
        </p:nvSpPr>
        <p:spPr>
          <a:xfrm>
            <a:off x="176463" y="6435980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https://dhsprogram.com/</a:t>
            </a: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8323385" y="2488727"/>
            <a:ext cx="2228336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latin typeface="Calibri"/>
                <a:ea typeface="Calibri"/>
                <a:cs typeface="Calibri"/>
                <a:sym typeface="Calibri"/>
              </a:rPr>
              <a:t>OJO: Para Perú es mejor buscar en el Instituto Nacional de Estadística e Informática. Perú dejó de estar en el programa DHS pero continúa utilizando el modelo ENDES.</a:t>
            </a:r>
            <a:endParaRPr dirty="0"/>
          </a:p>
        </p:txBody>
      </p:sp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838200" y="699983"/>
            <a:ext cx="11162122" cy="42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lang="es-PE" sz="2400" dirty="0"/>
              <a:t>¿Cómo encontrar las bases de datos de las DHS de cada país?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B49B7EF-2047-42C8-9492-9A9C96775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7795AB9-8C62-4D1B-9991-8EEDAFE4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8B83F4-8BEB-4618-8840-354AD2276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4" y="18574"/>
            <a:ext cx="12117491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70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2798AA0-45F1-4E7A-AF2F-B7466EB7A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57ED916-86A6-47DF-8788-CCC4E7A11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8D15BF-5A80-4D0B-A2C4-764BF8A65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82" y="728285"/>
            <a:ext cx="10650436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37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735D77D-6E5A-4CFA-989B-B901DC337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463256E-23FE-4D6D-A709-07CAD951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240E6E-A83C-46BD-B711-E4E594F66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90" y="0"/>
            <a:ext cx="108942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766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Black"/>
              <a:buNone/>
            </a:pPr>
            <a:r>
              <a:rPr lang="es-PE" sz="2800" dirty="0"/>
              <a:t>Áreas abordadas por la ENDES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C318CEB-37E7-4312-98D9-5A9EA7BB7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24" y="1237362"/>
            <a:ext cx="6001588" cy="18671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E20314C-F48D-4E83-BF64-C3A9C6EE7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525" y="1284993"/>
            <a:ext cx="6001588" cy="193384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0A53399-58B7-400C-BB8F-68841204A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98" y="3266469"/>
            <a:ext cx="6011114" cy="177189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C3D04BB-2016-49A2-8472-1D1505D6F2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963" y="3115214"/>
            <a:ext cx="3486637" cy="245779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C2558C1-40FD-4709-891E-AFC08FE9CE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324" y="4918406"/>
            <a:ext cx="2990083" cy="167092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7639187-2D40-4869-92EB-16188397C7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432037" y="1237362"/>
            <a:ext cx="6382641" cy="155279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E1D5041-B089-4150-A5A2-1E238F5540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229201" y="2922292"/>
            <a:ext cx="3700010" cy="8479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8BEAC24-EE57-4CB3-9D67-A81EAED83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89626E6-FE0C-4895-B039-698F7C5A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28A1D1-502D-46E1-8400-7F91D274D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223" y="241651"/>
            <a:ext cx="9568992" cy="637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21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1E50F1E-9244-4B87-BB66-413D60776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D2FAF48-5F03-4AE5-B644-B6AE3F80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1814F7F-1C8E-4FB5-B98B-802740EB3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318" y="646845"/>
            <a:ext cx="7939483" cy="556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62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>
            <a:spLocks noGrp="1"/>
          </p:cNvSpPr>
          <p:nvPr>
            <p:ph type="title"/>
          </p:nvPr>
        </p:nvSpPr>
        <p:spPr>
          <a:xfrm>
            <a:off x="103124" y="699975"/>
            <a:ext cx="82203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s-PE" sz="2800"/>
              <a:t>Reporte de la DHS peruana 2022: ENDES</a:t>
            </a:r>
            <a:endParaRPr sz="2800"/>
          </a:p>
        </p:txBody>
      </p:sp>
      <p:sp>
        <p:nvSpPr>
          <p:cNvPr id="177" name="Google Shape;177;p8"/>
          <p:cNvSpPr txBox="1"/>
          <p:nvPr/>
        </p:nvSpPr>
        <p:spPr>
          <a:xfrm>
            <a:off x="994050" y="6112225"/>
            <a:ext cx="851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https://proyectos.inei.gob.pe/endes/2022/SALUD/ENFERMEDADES_ENDES_2022.pdf</a:t>
            </a: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78" name="Google Shape;17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51907" y="1358112"/>
            <a:ext cx="3501746" cy="4470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57156" y="1873543"/>
            <a:ext cx="5350198" cy="329281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 txBox="1"/>
          <p:nvPr/>
        </p:nvSpPr>
        <p:spPr>
          <a:xfrm>
            <a:off x="5113929" y="5355654"/>
            <a:ext cx="60944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https://proyectos.inei.gob.pe/microdatos/</a:t>
            </a: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 txBox="1">
            <a:spLocks noGrp="1"/>
          </p:cNvSpPr>
          <p:nvPr>
            <p:ph type="title"/>
          </p:nvPr>
        </p:nvSpPr>
        <p:spPr>
          <a:xfrm>
            <a:off x="363825" y="658725"/>
            <a:ext cx="81441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s-PE"/>
              <a:t>Reporte de ENDES de HTA (2022)</a:t>
            </a:r>
            <a:endParaRPr/>
          </a:p>
        </p:txBody>
      </p:sp>
      <p:pic>
        <p:nvPicPr>
          <p:cNvPr id="186" name="Google Shape;18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613" y="1282586"/>
            <a:ext cx="11736775" cy="27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 txBox="1"/>
          <p:nvPr/>
        </p:nvSpPr>
        <p:spPr>
          <a:xfrm>
            <a:off x="2432500" y="6268931"/>
            <a:ext cx="807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400"/>
              <a:buFont typeface="Calibri"/>
              <a:buNone/>
            </a:pPr>
            <a:r>
              <a:rPr lang="es-PE" sz="2400" b="1" i="0" u="none" strike="noStrike" cap="none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Estos resultados se pueden </a:t>
            </a:r>
            <a:r>
              <a:rPr lang="es-PE" sz="2400" b="1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generalizar </a:t>
            </a:r>
            <a:r>
              <a:rPr lang="es-PE" sz="2400" b="1" i="0" u="none" strike="noStrike" cap="none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a nivel nacional </a:t>
            </a:r>
            <a:endParaRPr/>
          </a:p>
        </p:txBody>
      </p:sp>
      <p:pic>
        <p:nvPicPr>
          <p:cNvPr id="189" name="Google Shape;18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0975" y="3553651"/>
            <a:ext cx="3472350" cy="23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>
            <a:spLocks noGrp="1"/>
          </p:cNvSpPr>
          <p:nvPr>
            <p:ph type="body" idx="1"/>
          </p:nvPr>
        </p:nvSpPr>
        <p:spPr>
          <a:xfrm>
            <a:off x="627649" y="1518675"/>
            <a:ext cx="8463300" cy="51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 b="1" dirty="0"/>
              <a:t>Objetivo:</a:t>
            </a:r>
            <a:r>
              <a:rPr lang="es-PE" dirty="0"/>
              <a:t> Ofrecer información sobre salud materna, salud infantil y estado de enfermedades transmisibles y no transmisibles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 dirty="0"/>
              <a:t>Encargado: </a:t>
            </a:r>
            <a:r>
              <a:rPr lang="es-PE" b="1" dirty="0"/>
              <a:t>INEI</a:t>
            </a:r>
            <a:endParaRPr b="1" dirty="0"/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•"/>
            </a:pPr>
            <a:r>
              <a:rPr lang="es-PE" dirty="0"/>
              <a:t>Periodicidad: </a:t>
            </a:r>
            <a:r>
              <a:rPr lang="es-PE" b="1" dirty="0"/>
              <a:t>anual</a:t>
            </a:r>
            <a:endParaRPr b="1" dirty="0"/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•"/>
            </a:pPr>
            <a:r>
              <a:rPr lang="es-PE" dirty="0"/>
              <a:t>Se encuestaron: todas las mujeres de 12-49 años, niños &lt;12 años y una persona &gt;15 años por hogar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•"/>
            </a:pPr>
            <a:r>
              <a:rPr lang="es-PE" dirty="0"/>
              <a:t>Inferencia a nivel nacional, urbana, rural y regional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000"/>
              <a:buChar char="•"/>
            </a:pPr>
            <a:r>
              <a:rPr lang="es-PE" b="1" dirty="0">
                <a:solidFill>
                  <a:srgbClr val="FF0000"/>
                </a:solidFill>
              </a:rPr>
              <a:t>El 33.3% de los conglomerados es reemplazado cada año</a:t>
            </a:r>
            <a:endParaRPr b="1" dirty="0">
              <a:solidFill>
                <a:srgbClr val="FF0000"/>
              </a:solidFill>
            </a:endParaRPr>
          </a:p>
          <a:p>
            <a:pPr marL="228600" lvl="0" indent="-215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s-PE" sz="2800" dirty="0"/>
              <a:t>13 bases de datos descargables en el sitio web (</a:t>
            </a:r>
            <a:r>
              <a:rPr lang="es-PE" sz="2800" u="sng" dirty="0">
                <a:solidFill>
                  <a:schemeClr val="hlink"/>
                </a:solidFill>
                <a:hlinkClick r:id="rId3"/>
              </a:rPr>
              <a:t>https://proyectos.inei.gob.pe/microdatos/</a:t>
            </a:r>
            <a:r>
              <a:rPr lang="es-PE" sz="2800" dirty="0"/>
              <a:t>)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95" name="Google Shape;195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s-PE"/>
              <a:t>Objetivo y población</a:t>
            </a:r>
            <a:endParaRPr/>
          </a:p>
        </p:txBody>
      </p:sp>
      <p:pic>
        <p:nvPicPr>
          <p:cNvPr id="197" name="Google Shape;197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91075" y="2288994"/>
            <a:ext cx="2473275" cy="151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>
            <a:spLocks noGrp="1"/>
          </p:cNvSpPr>
          <p:nvPr>
            <p:ph type="body" idx="1"/>
          </p:nvPr>
        </p:nvSpPr>
        <p:spPr>
          <a:xfrm>
            <a:off x="477156" y="1545390"/>
            <a:ext cx="11613244" cy="531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</a:pPr>
            <a:r>
              <a:rPr lang="es-PE" sz="2800" dirty="0"/>
              <a:t>El marco muestral se establece en base a los censos nacionales (2007, 2017)</a:t>
            </a:r>
            <a:endParaRPr sz="3400" dirty="0"/>
          </a:p>
          <a:p>
            <a:pPr marL="228600" lvl="0" indent="-254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</a:pPr>
            <a:r>
              <a:rPr lang="es-PE" sz="2800" dirty="0"/>
              <a:t>Unidades de muestreo en área urbana: </a:t>
            </a:r>
            <a:r>
              <a:rPr lang="es-PE" sz="2800" b="1" u="sng" dirty="0"/>
              <a:t>conglomerado</a:t>
            </a:r>
            <a:r>
              <a:rPr lang="es-PE" sz="2800" dirty="0"/>
              <a:t> (1ria) y </a:t>
            </a:r>
            <a:r>
              <a:rPr lang="es-PE" sz="2800" b="1" u="sng" dirty="0"/>
              <a:t>vivienda</a:t>
            </a:r>
            <a:r>
              <a:rPr lang="es-PE" sz="2800" dirty="0"/>
              <a:t> (2ria)</a:t>
            </a:r>
            <a:endParaRPr sz="3400" dirty="0"/>
          </a:p>
          <a:p>
            <a:pPr marL="228600" lvl="0" indent="-254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</a:pPr>
            <a:r>
              <a:rPr lang="es-PE" sz="2800" dirty="0"/>
              <a:t>Unidades de muestreo en área rural: </a:t>
            </a:r>
            <a:r>
              <a:rPr lang="es-PE" sz="2800" b="1" u="sng" dirty="0"/>
              <a:t>área de empadronamiento rural</a:t>
            </a:r>
            <a:r>
              <a:rPr lang="es-PE" sz="2800" dirty="0"/>
              <a:t> (1ria) y </a:t>
            </a:r>
            <a:r>
              <a:rPr lang="es-PE" sz="2800" b="1" u="sng" dirty="0"/>
              <a:t>vivienda</a:t>
            </a:r>
            <a:r>
              <a:rPr lang="es-PE" sz="2800" dirty="0"/>
              <a:t> (2ria)</a:t>
            </a:r>
            <a:endParaRPr sz="3400" dirty="0"/>
          </a:p>
          <a:p>
            <a:pPr marL="228600" lvl="0" indent="-254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</a:pPr>
            <a:r>
              <a:rPr lang="es-PE" sz="2800" dirty="0"/>
              <a:t>Muestreo </a:t>
            </a:r>
            <a:r>
              <a:rPr lang="es-PE" sz="2800" dirty="0" err="1"/>
              <a:t>multietápico</a:t>
            </a:r>
            <a:r>
              <a:rPr lang="es-PE" sz="2800" dirty="0"/>
              <a:t> de </a:t>
            </a:r>
            <a:r>
              <a:rPr lang="es-PE" sz="2800" b="1" u="sng" dirty="0"/>
              <a:t>dos etapas</a:t>
            </a:r>
            <a:r>
              <a:rPr lang="es-PE" sz="2800" dirty="0"/>
              <a:t>: probabilístico de tipo equilibrado, estratificado, a nivel departamental por área urbano y rural</a:t>
            </a:r>
            <a:endParaRPr sz="3400" dirty="0"/>
          </a:p>
          <a:p>
            <a:pPr marL="228600" lvl="0" indent="-254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</a:pPr>
            <a:r>
              <a:rPr lang="es-PE" sz="2800" dirty="0"/>
              <a:t>Número de viviendas: 36 000 aproximadamente</a:t>
            </a:r>
            <a:endParaRPr sz="2800" dirty="0"/>
          </a:p>
          <a:p>
            <a:pPr marL="22860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s-PE" sz="2800" b="1" u="sng" dirty="0"/>
              <a:t>Unidad de investigación:</a:t>
            </a:r>
            <a:r>
              <a:rPr lang="es-PE" sz="2800" dirty="0"/>
              <a:t> residentes habituales que hayan pernoctado la noche anterior a la entrevista</a:t>
            </a:r>
            <a:endParaRPr sz="2800" dirty="0"/>
          </a:p>
          <a:p>
            <a:pPr marL="2286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211" name="Google Shape;211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s-PE"/>
              <a:t>Características del diseño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>
            <a:spLocks noGrp="1"/>
          </p:cNvSpPr>
          <p:nvPr>
            <p:ph type="title"/>
          </p:nvPr>
        </p:nvSpPr>
        <p:spPr>
          <a:xfrm>
            <a:off x="613610" y="681036"/>
            <a:ext cx="2261565" cy="1949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Black"/>
              <a:buNone/>
            </a:pPr>
            <a:r>
              <a:rPr lang="es-PE" sz="2800" dirty="0"/>
              <a:t>Proceso de selección de la muestra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1A607F-CB8D-41EB-80EC-744CE0D9A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726" y="0"/>
            <a:ext cx="7878274" cy="68399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>
            <a:spLocks noGrp="1"/>
          </p:cNvSpPr>
          <p:nvPr>
            <p:ph type="title"/>
          </p:nvPr>
        </p:nvSpPr>
        <p:spPr>
          <a:xfrm>
            <a:off x="613610" y="681036"/>
            <a:ext cx="2261565" cy="1949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Black"/>
              <a:buNone/>
            </a:pPr>
            <a:r>
              <a:rPr lang="es-PE" sz="2800" dirty="0"/>
              <a:t>Proceso de selección de la muestra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348696-F51A-435A-9B65-D6DDFE31F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164" y="242883"/>
            <a:ext cx="7811590" cy="35819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EAA810F-9B70-4B11-B3D9-F8DA681C30B3}"/>
              </a:ext>
            </a:extLst>
          </p:cNvPr>
          <p:cNvSpPr txBox="1"/>
          <p:nvPr/>
        </p:nvSpPr>
        <p:spPr>
          <a:xfrm>
            <a:off x="1284403" y="5530632"/>
            <a:ext cx="993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/>
              <a:t>https://www.inei.gob.pe/media/MenuRecursivo/publicaciones_digitales/Est/Lib1898/libro.pdf</a:t>
            </a:r>
          </a:p>
        </p:txBody>
      </p:sp>
    </p:spTree>
    <p:extLst>
      <p:ext uri="{BB962C8B-B14F-4D97-AF65-F5344CB8AC3E}">
        <p14:creationId xmlns:p14="http://schemas.microsoft.com/office/powerpoint/2010/main" val="3610580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>
            <a:spLocks noGrp="1"/>
          </p:cNvSpPr>
          <p:nvPr>
            <p:ph type="title"/>
          </p:nvPr>
        </p:nvSpPr>
        <p:spPr>
          <a:xfrm>
            <a:off x="613610" y="681036"/>
            <a:ext cx="2261565" cy="1949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Black"/>
              <a:buNone/>
            </a:pPr>
            <a:r>
              <a:rPr lang="es-PE" sz="2800" dirty="0"/>
              <a:t>Proceso de selección de la muestra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B34557-53A9-43C6-9616-1B37A9729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274" y="106638"/>
            <a:ext cx="7821116" cy="67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5252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>
            <a:spLocks noGrp="1"/>
          </p:cNvSpPr>
          <p:nvPr>
            <p:ph type="title"/>
          </p:nvPr>
        </p:nvSpPr>
        <p:spPr>
          <a:xfrm>
            <a:off x="610875" y="681033"/>
            <a:ext cx="74853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Black"/>
              <a:buNone/>
            </a:pPr>
            <a:r>
              <a:rPr lang="es-PE" sz="2800"/>
              <a:t>Proceso de selección de la muestra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492202" y="2374574"/>
            <a:ext cx="1942500" cy="70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 dirty="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Áreas urbanas </a:t>
            </a:r>
            <a:r>
              <a:rPr lang="es-PE" sz="20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del </a:t>
            </a:r>
            <a:r>
              <a:rPr lang="es-PE" sz="2000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dpto</a:t>
            </a:r>
            <a:endParaRPr sz="2000" b="1" i="0" u="sng" strike="noStrike" cap="none" dirty="0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492202" y="4969462"/>
            <a:ext cx="1942500" cy="70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Áreas rurales </a:t>
            </a:r>
            <a:endParaRPr sz="2000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del dpto</a:t>
            </a:r>
            <a:endParaRPr sz="2000" b="1" i="0" u="sng" strike="noStrike" cap="none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2507726" y="2451800"/>
            <a:ext cx="500100" cy="3459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8D8A7"/>
              </a:gs>
              <a:gs pos="50000">
                <a:srgbClr val="05D89E"/>
              </a:gs>
              <a:gs pos="100000">
                <a:srgbClr val="00C68F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2507726" y="5049676"/>
            <a:ext cx="500100" cy="3459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8D8A7"/>
              </a:gs>
              <a:gs pos="50000">
                <a:srgbClr val="05D89E"/>
              </a:gs>
              <a:gs pos="100000">
                <a:srgbClr val="00C68F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3071270" y="4507803"/>
            <a:ext cx="2446200" cy="2247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 b="1" u="sng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Primera etapa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Muestreo aleatorio sistemático de conglomerados llamados “</a:t>
            </a:r>
            <a:r>
              <a:rPr lang="es-PE" sz="2000" b="1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áreas de empadronamiento rural</a:t>
            </a: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2000" b="1" i="0" u="sng" strike="noStrike" cap="none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3071074" y="2093175"/>
            <a:ext cx="2446200" cy="13236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 b="1" u="sng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Primera etapa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Muestreo aleatorio sistemático de </a:t>
            </a:r>
            <a:r>
              <a:rPr lang="es-PE" sz="2000" b="1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conglomerados</a:t>
            </a: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i="0" u="sng" strike="noStrike" cap="none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5554578" y="2542725"/>
            <a:ext cx="500100" cy="3459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8D8A7"/>
              </a:gs>
              <a:gs pos="50000">
                <a:srgbClr val="05D89E"/>
              </a:gs>
              <a:gs pos="100000">
                <a:srgbClr val="00C68F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5554578" y="5125900"/>
            <a:ext cx="500100" cy="3459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8D8A7"/>
              </a:gs>
              <a:gs pos="50000">
                <a:srgbClr val="05D89E"/>
              </a:gs>
              <a:gs pos="100000">
                <a:srgbClr val="00C68F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6134589" y="3646283"/>
            <a:ext cx="2637900" cy="923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36650 viviendas en total (2022)</a:t>
            </a:r>
            <a:endParaRPr sz="1800" b="1" u="sng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 b="1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Se encuesta a residentes</a:t>
            </a:r>
            <a:endParaRPr sz="1800" b="1" i="0" u="sng" strike="noStrike" cap="none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6086976" y="2207750"/>
            <a:ext cx="2637900" cy="1015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 b="1" u="sng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Segunda etapa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Muestreo </a:t>
            </a:r>
            <a:r>
              <a:rPr lang="es-PE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equilibrado*</a:t>
            </a: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PE" sz="2000" b="1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viviendas</a:t>
            </a: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i="0" u="sng" strike="noStrike" cap="none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6134589" y="5020504"/>
            <a:ext cx="2637900" cy="1015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 b="1" u="sng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Segunda etapa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Muestreo </a:t>
            </a:r>
            <a:r>
              <a:rPr lang="es-PE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equilibrado*</a:t>
            </a: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PE" sz="2000" b="1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viviendas</a:t>
            </a:r>
            <a:r>
              <a:rPr lang="es-PE" sz="20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i="0" u="sng" strike="noStrike" cap="none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7239071" y="3187508"/>
            <a:ext cx="335700" cy="4173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 rot="10800000">
            <a:off x="7315131" y="4596559"/>
            <a:ext cx="335700" cy="4173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8" descr="PERÚ Instituto Nacional de Estadística e Informátic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94633" y="2816378"/>
            <a:ext cx="2289188" cy="168443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8"/>
          <p:cNvSpPr txBox="1"/>
          <p:nvPr/>
        </p:nvSpPr>
        <p:spPr>
          <a:xfrm>
            <a:off x="9294569" y="4229863"/>
            <a:ext cx="2289300" cy="11697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1400"/>
              <a:buFont typeface="Calibri"/>
              <a:buNone/>
            </a:pPr>
            <a:r>
              <a:rPr lang="es-PE" sz="14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- Residentes habituales que hayan pernoctado la noche previa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1400"/>
              <a:buFont typeface="Calibri"/>
              <a:buNone/>
            </a:pPr>
            <a:r>
              <a:rPr lang="es-PE" sz="140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- Persona de edad de 15 años a más</a:t>
            </a:r>
            <a:endParaRPr sz="1400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8772503" y="3935025"/>
            <a:ext cx="500100" cy="3459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8D8A7"/>
              </a:gs>
              <a:gs pos="50000">
                <a:srgbClr val="05D89E"/>
              </a:gs>
              <a:gs pos="100000">
                <a:srgbClr val="00C68F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5992850" y="6324300"/>
            <a:ext cx="6059400" cy="430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1400"/>
              <a:buFont typeface="Calibri"/>
              <a:buNone/>
            </a:pPr>
            <a:r>
              <a:rPr lang="es-PE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*Nota. El muestreo de viviendas es probabilístico. Un muestreo </a:t>
            </a:r>
            <a:r>
              <a:rPr lang="es-PE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equilibrado </a:t>
            </a:r>
            <a:r>
              <a:rPr lang="es-PE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también llamado el método del cubo, el cual permite obtener estimaciones similares a las características de la  población.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35;p18">
            <a:extLst>
              <a:ext uri="{FF2B5EF4-FFF2-40B4-BE49-F238E27FC236}">
                <a16:creationId xmlns:a16="http://schemas.microsoft.com/office/drawing/2014/main" id="{D985675F-4527-4615-A9BE-DCB8637133ED}"/>
              </a:ext>
            </a:extLst>
          </p:cNvPr>
          <p:cNvSpPr txBox="1"/>
          <p:nvPr/>
        </p:nvSpPr>
        <p:spPr>
          <a:xfrm>
            <a:off x="248202" y="3824173"/>
            <a:ext cx="1942500" cy="4000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2000"/>
              <a:buFont typeface="Calibri"/>
              <a:buNone/>
            </a:pPr>
            <a:r>
              <a:rPr lang="es-PE" sz="2000" b="1" dirty="0">
                <a:solidFill>
                  <a:srgbClr val="0F6FC6"/>
                </a:solidFill>
                <a:latin typeface="Calibri"/>
                <a:ea typeface="Calibri"/>
                <a:cs typeface="Calibri"/>
                <a:sym typeface="Calibri"/>
              </a:rPr>
              <a:t>Estratos</a:t>
            </a:r>
            <a:endParaRPr sz="2000" b="1" i="0" u="sng" strike="noStrike" cap="none" dirty="0">
              <a:solidFill>
                <a:srgbClr val="0F6F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 txBox="1">
            <a:spLocks noGrp="1"/>
          </p:cNvSpPr>
          <p:nvPr>
            <p:ph type="body" idx="1"/>
          </p:nvPr>
        </p:nvSpPr>
        <p:spPr>
          <a:xfrm>
            <a:off x="838200" y="1344361"/>
            <a:ext cx="10515599" cy="5305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28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Factores de ponderación = factor de corrección para realizar la inferencia poblacional. Son </a:t>
            </a:r>
            <a:r>
              <a:rPr lang="es-PE" b="1" u="sng"/>
              <a:t>4 factores</a:t>
            </a:r>
            <a:r>
              <a:rPr lang="es-PE"/>
              <a:t>:</a:t>
            </a:r>
            <a:endParaRPr/>
          </a:p>
          <a:p>
            <a:pPr marL="685800" lvl="1" indent="-2428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Factor </a:t>
            </a:r>
            <a:r>
              <a:rPr lang="es-PE" b="1" u="sng"/>
              <a:t>Hogar</a:t>
            </a:r>
            <a:r>
              <a:rPr lang="es-PE"/>
              <a:t> </a:t>
            </a:r>
            <a:endParaRPr/>
          </a:p>
          <a:p>
            <a:pPr marL="685800" lvl="1" indent="-2428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Factor </a:t>
            </a:r>
            <a:r>
              <a:rPr lang="es-PE" b="1" u="sng"/>
              <a:t>Mujer</a:t>
            </a:r>
            <a:endParaRPr/>
          </a:p>
          <a:p>
            <a:pPr marL="685800" lvl="1" indent="-2428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Personas </a:t>
            </a:r>
            <a:r>
              <a:rPr lang="es-PE" b="1" u="sng"/>
              <a:t>≥15 años </a:t>
            </a:r>
            <a:endParaRPr/>
          </a:p>
          <a:p>
            <a:pPr marL="685800" lvl="1" indent="-24288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Char char="•"/>
            </a:pPr>
            <a:r>
              <a:rPr lang="es-PE"/>
              <a:t>Niños </a:t>
            </a:r>
            <a:r>
              <a:rPr lang="es-PE" b="1" u="sng"/>
              <a:t>&lt;12 años</a:t>
            </a:r>
            <a:endParaRPr/>
          </a:p>
        </p:txBody>
      </p:sp>
      <p:sp>
        <p:nvSpPr>
          <p:cNvPr id="265" name="Google Shape;265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s-PE"/>
              <a:t>Características del diseño</a:t>
            </a:r>
            <a:endParaRPr/>
          </a:p>
        </p:txBody>
      </p:sp>
      <p:sp>
        <p:nvSpPr>
          <p:cNvPr id="266" name="Google Shape;266;p14"/>
          <p:cNvSpPr txBox="1"/>
          <p:nvPr/>
        </p:nvSpPr>
        <p:spPr>
          <a:xfrm>
            <a:off x="4901800" y="2736350"/>
            <a:ext cx="5558400" cy="36932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1400"/>
              <a:buFont typeface="Calibri"/>
              <a:buNone/>
            </a:pPr>
            <a:r>
              <a:rPr lang="es-PE" sz="1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factores de ponderación restituyen las probabilidades desiguales de selección a las unidades de muestreo seleccionadas, lo que facilita reconstruir la estructura de la población de referencia.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1400"/>
              <a:buFont typeface="Calibri"/>
              <a:buNone/>
            </a:pPr>
            <a:endParaRPr lang="es-PE" sz="18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C6"/>
              </a:buClr>
              <a:buSzPts val="1400"/>
              <a:buFont typeface="Calibri"/>
              <a:buNone/>
            </a:pPr>
            <a:r>
              <a:rPr lang="es-PE" sz="1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 un investigador encuesta una muestra de 2000 pacientes con COVID-19 para conocer la prevalencia de trombosis venosa profunda, y espera que el 50% de la muestra sean mujeres y el otro 50% sea masculinos. Pero los datos observados resultan 1200 hombres (60%) y 800 mujeres (40%). Para corregir este desequilibrio se emplea un factor de ponderación de las mujeres para darle mayor peso (50%).</a:t>
            </a:r>
            <a:endParaRPr sz="18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288" y="4299708"/>
            <a:ext cx="1732061" cy="2441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FB9BDBA-0918-4C70-87CC-912554E21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74A391-67FE-4943-B073-D673B3EEE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8" y="238843"/>
            <a:ext cx="12000882" cy="5096420"/>
          </a:xfrm>
          <a:prstGeom prst="rect">
            <a:avLst/>
          </a:prstGeom>
        </p:spPr>
      </p:pic>
      <p:sp>
        <p:nvSpPr>
          <p:cNvPr id="6" name="Marcador de texto 1">
            <a:extLst>
              <a:ext uri="{FF2B5EF4-FFF2-40B4-BE49-F238E27FC236}">
                <a16:creationId xmlns:a16="http://schemas.microsoft.com/office/drawing/2014/main" id="{C63F7884-6FE1-4807-8606-260ED57B8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1163" y="238842"/>
            <a:ext cx="4047391" cy="5186011"/>
          </a:xfrm>
          <a:solidFill>
            <a:schemeClr val="bg1"/>
          </a:solidFill>
        </p:spPr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161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" name="Google Shape;272;p15"/>
          <p:cNvGraphicFramePr/>
          <p:nvPr/>
        </p:nvGraphicFramePr>
        <p:xfrm>
          <a:off x="838199" y="1825625"/>
          <a:ext cx="10664000" cy="4299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6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3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b="1" u="none" strike="noStrike" cap="none"/>
                        <a:t>Factores de ponderación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b="1" u="none" strike="noStrike" cap="none"/>
                        <a:t>Base de datos (módulo)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b="1" u="none" strike="noStrike" cap="none"/>
                        <a:t>Utilidad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b="1" u="none" strike="noStrike" cap="none"/>
                        <a:t>Ecuación para el peso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b="1" u="none" strike="noStrike" cap="none"/>
                        <a:t>Hogar (HV005)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u="none" strike="noStrike" cap="none"/>
                        <a:t>RECH0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u="none" strike="noStrike" cap="none"/>
                        <a:t>Variables de hogar, desnutrición y anemia &lt;5 años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u="none" strike="noStrike" cap="none"/>
                        <a:t>HV005/1000000 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b="1" u="none" strike="noStrike" cap="none"/>
                        <a:t>Mujer (V005)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u="none" strike="noStrike" cap="none"/>
                        <a:t>REC0111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u="none" strike="noStrike" cap="none"/>
                        <a:t>Planificación femenina, parto, control prenatal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u="none" strike="noStrike" cap="none"/>
                        <a:t>V005/1000000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b="1" u="none" strike="noStrike" cap="none"/>
                        <a:t>≥15 años (PESO15_AMAS)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u="none" strike="noStrike" cap="none"/>
                        <a:t>CSALUD01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u="none" strike="noStrike" cap="none"/>
                        <a:t>Enfermedades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strike="noStrike" cap="none"/>
                        <a:t>PESO15_AMAS /1000000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b="1" u="none" strike="noStrike" cap="none"/>
                        <a:t>&lt;12  años (Pesomen12)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u="none" strike="noStrike" cap="none"/>
                        <a:t>CSALUD08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u="none" strike="noStrike" cap="none"/>
                        <a:t>Salud bucal, salud ocular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2000" u="none" strike="noStrike" cap="none" dirty="0"/>
                        <a:t>Pesomen12/1000000 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3" name="Google Shape;273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rPr lang="es-PE"/>
              <a:t>Factores de ponderación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C3CF9EB-2A57-4F4C-B6AC-4EE78664A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2CB434C-15D5-465A-8D1F-5EDC6EDFC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Ponderación por base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F78DCA-3AC9-481D-BFD7-94B4D421B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" y="1433234"/>
            <a:ext cx="12146070" cy="399153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6BDC2FF-4733-43E5-87FC-228B6A3F3E98}"/>
              </a:ext>
            </a:extLst>
          </p:cNvPr>
          <p:cNvSpPr txBox="1"/>
          <p:nvPr/>
        </p:nvSpPr>
        <p:spPr>
          <a:xfrm>
            <a:off x="1284403" y="5530632"/>
            <a:ext cx="993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/>
              <a:t>https://www.inei.gob.pe/media/MenuRecursivo/publicaciones_digitales/Est/Lib1898/libro.pdf</a:t>
            </a:r>
          </a:p>
        </p:txBody>
      </p:sp>
    </p:spTree>
    <p:extLst>
      <p:ext uri="{BB962C8B-B14F-4D97-AF65-F5344CB8AC3E}">
        <p14:creationId xmlns:p14="http://schemas.microsoft.com/office/powerpoint/2010/main" val="2063778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01CF360-E6AE-41F8-85B4-0B026120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Importancia de los pesos</a:t>
            </a:r>
          </a:p>
        </p:txBody>
      </p:sp>
      <p:pic>
        <p:nvPicPr>
          <p:cNvPr id="1026" name="Picture 2" descr="Inverse Probability Weighting Enhances Absolute Risk Estimation in Thr |  CLEP">
            <a:extLst>
              <a:ext uri="{FF2B5EF4-FFF2-40B4-BE49-F238E27FC236}">
                <a16:creationId xmlns:a16="http://schemas.microsoft.com/office/drawing/2014/main" id="{22557B62-3D90-44BD-B100-A1F3F52598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63"/>
          <a:stretch/>
        </p:blipFill>
        <p:spPr bwMode="auto">
          <a:xfrm>
            <a:off x="0" y="1970202"/>
            <a:ext cx="12192000" cy="3719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596141D-EF51-4639-A397-2974DCA486D8}"/>
              </a:ext>
            </a:extLst>
          </p:cNvPr>
          <p:cNvSpPr/>
          <p:nvPr/>
        </p:nvSpPr>
        <p:spPr>
          <a:xfrm>
            <a:off x="8691513" y="2384981"/>
            <a:ext cx="471341" cy="301658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W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244ADA-4E01-43ED-93FA-031116927444}"/>
              </a:ext>
            </a:extLst>
          </p:cNvPr>
          <p:cNvSpPr/>
          <p:nvPr/>
        </p:nvSpPr>
        <p:spPr>
          <a:xfrm>
            <a:off x="9890288" y="2384981"/>
            <a:ext cx="471341" cy="301658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W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2D14D8F-CC91-42E5-B54E-4BC2A411EE24}"/>
              </a:ext>
            </a:extLst>
          </p:cNvPr>
          <p:cNvSpPr/>
          <p:nvPr/>
        </p:nvSpPr>
        <p:spPr>
          <a:xfrm>
            <a:off x="11065888" y="2384981"/>
            <a:ext cx="471341" cy="301658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232062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5152252-9D19-40D3-91B0-E1F010FDE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DBF5C59-80E4-4DA7-A8F3-951BDA85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992A17-316C-4E58-A63A-112F0427C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98" y="42390"/>
            <a:ext cx="9878804" cy="677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14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812BB40-BA47-4164-95FF-EDD1B5AB5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A8DB479-F647-4CB2-8A8F-E3F7FD86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F2E028-D6E9-4C8D-8C28-C644913C6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6" y="318653"/>
            <a:ext cx="9945488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60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FF969AB-74D4-4161-A775-D8C6B6E62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8A819F6-134D-49FD-8497-6B21A303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4606BE-BFAF-496A-A2B0-6B753AE0F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50" y="313890"/>
            <a:ext cx="10021699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285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BDA4D46-2E6A-4F25-9376-06F933F929F1}"/>
              </a:ext>
            </a:extLst>
          </p:cNvPr>
          <p:cNvSpPr/>
          <p:nvPr/>
        </p:nvSpPr>
        <p:spPr>
          <a:xfrm>
            <a:off x="838200" y="1825625"/>
            <a:ext cx="5162549" cy="4351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45700" rIns="91425" bIns="45700" rtlCol="0" anchor="t" anchorCtr="0">
            <a:normAutofit/>
          </a:bodyPr>
          <a:lstStyle/>
          <a:p>
            <a:pPr marL="38100">
              <a:spcBef>
                <a:spcPts val="600"/>
              </a:spcBef>
              <a:buClr>
                <a:srgbClr val="595959"/>
              </a:buClr>
              <a:buSzPts val="3000"/>
            </a:pP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Puedes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visitar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enlace de la 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ficha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técnica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la ENDES para 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conocer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los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aspectos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metodólogicos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resumidos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la </a:t>
            </a:r>
            <a:r>
              <a:rPr 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encuesta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sz="2800" b="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86A9833-53FE-46D9-9515-65521F68B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 fontScale="90000"/>
          </a:bodyPr>
          <a:lstStyle/>
          <a:p>
            <a:r>
              <a:rPr lang="es-PE" sz="3200" dirty="0"/>
              <a:t>Ficha técnica de la ENDES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5509B2-423F-F6E1-24EC-EAC48A8156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29" r="1" b="1"/>
          <a:stretch/>
        </p:blipFill>
        <p:spPr>
          <a:xfrm>
            <a:off x="6904792" y="1221541"/>
            <a:ext cx="3764948" cy="3173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A9F60A-F391-5E59-ABDC-7092FB04D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88" y="4273574"/>
            <a:ext cx="5953956" cy="235300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C43B2EB-EF6C-B6DF-A152-6CD1658697B6}"/>
              </a:ext>
            </a:extLst>
          </p:cNvPr>
          <p:cNvSpPr txBox="1"/>
          <p:nvPr/>
        </p:nvSpPr>
        <p:spPr>
          <a:xfrm>
            <a:off x="6835347" y="6642782"/>
            <a:ext cx="60945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700" dirty="0">
                <a:hlinkClick r:id="rId4"/>
              </a:rPr>
              <a:t>https://proyectos.inei.gob.pe/endes/2022/DOCUMENTOS/FICHA_TECNICA_ENDES_2022.pdf</a:t>
            </a:r>
            <a:r>
              <a:rPr lang="es-PE" sz="7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8380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body" idx="1"/>
          </p:nvPr>
        </p:nvSpPr>
        <p:spPr>
          <a:xfrm>
            <a:off x="576074" y="1517900"/>
            <a:ext cx="8204400" cy="50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429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Calibri"/>
              <a:buAutoNum type="arabicPeriod"/>
            </a:pPr>
            <a:r>
              <a:rPr lang="es-PE" dirty="0"/>
              <a:t>Descargar las bases de datos de la web del INEI</a:t>
            </a:r>
            <a:endParaRPr dirty="0"/>
          </a:p>
          <a:p>
            <a:pPr marL="514350" lvl="0" indent="-5429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Calibri"/>
              <a:buAutoNum type="arabicPeriod"/>
            </a:pPr>
            <a:r>
              <a:rPr lang="es-PE" dirty="0"/>
              <a:t>Unir las bases de datos a través de comando </a:t>
            </a:r>
            <a:r>
              <a:rPr lang="es-PE" b="1" i="1" dirty="0" err="1"/>
              <a:t>lef_join</a:t>
            </a:r>
            <a:r>
              <a:rPr lang="es-PE" b="1" i="1" dirty="0"/>
              <a:t>() </a:t>
            </a:r>
            <a:r>
              <a:rPr lang="es-PE" dirty="0"/>
              <a:t>y excluir los datos que no hayan hecho </a:t>
            </a:r>
            <a:r>
              <a:rPr lang="es-PE" b="1" i="1" dirty="0"/>
              <a:t>match</a:t>
            </a:r>
            <a:endParaRPr dirty="0"/>
          </a:p>
          <a:p>
            <a:pPr marL="514350" lvl="0" indent="-5429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Calibri"/>
              <a:buAutoNum type="arabicPeriod"/>
            </a:pPr>
            <a:r>
              <a:rPr lang="es-PE" dirty="0"/>
              <a:t>Corroborar que la cantidad de participantes de la base de datos sea igual a la del reporte público de la ENDES</a:t>
            </a:r>
            <a:endParaRPr dirty="0"/>
          </a:p>
          <a:p>
            <a:pPr marL="514350" lvl="0" indent="-5429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Calibri"/>
              <a:buAutoNum type="arabicPeriod"/>
            </a:pPr>
            <a:r>
              <a:rPr lang="es-PE" dirty="0"/>
              <a:t>Configurar la base de datos con los pesos para los análisis</a:t>
            </a:r>
            <a:endParaRPr dirty="0"/>
          </a:p>
          <a:p>
            <a:pPr marL="514350" lvl="0" indent="-5429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3000"/>
              <a:buFont typeface="Calibri"/>
              <a:buAutoNum type="arabicPeriod"/>
            </a:pPr>
            <a:r>
              <a:rPr lang="es-PE" dirty="0"/>
              <a:t>Realizar los análisis </a:t>
            </a:r>
            <a:endParaRPr dirty="0"/>
          </a:p>
        </p:txBody>
      </p:sp>
      <p:sp>
        <p:nvSpPr>
          <p:cNvPr id="126" name="Google Shape;126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Black"/>
              <a:buNone/>
            </a:pPr>
            <a:r>
              <a:rPr lang="es-PE" sz="2000"/>
              <a:t>Pasos para analizar muestreo multietápico: ejemplo con ENDES</a:t>
            </a:r>
            <a:endParaRPr sz="2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17B9B54-C098-4805-9D2E-E18A9937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Unión de bases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3B038B-27CD-4E54-9A23-85C4BA4E6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6" y="1285576"/>
            <a:ext cx="9945488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316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4E6EAB2-C35F-46AA-A8CD-899D1536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Mergeo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A0F063-FD46-4D3D-B67E-682047C86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24" y="1504681"/>
            <a:ext cx="9859751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405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6580435-0895-416B-B274-77392B285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B8310D6-B854-42EC-8E04-18D1DC4A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9373539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2216</TotalTime>
  <Words>1094</Words>
  <Application>Microsoft Office PowerPoint</Application>
  <PresentationFormat>Panorámica</PresentationFormat>
  <Paragraphs>129</Paragraphs>
  <Slides>37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3" baseType="lpstr">
      <vt:lpstr>Arial</vt:lpstr>
      <vt:lpstr>Arial Black</vt:lpstr>
      <vt:lpstr>Calibri</vt:lpstr>
      <vt:lpstr>Calibri Light</vt:lpstr>
      <vt:lpstr>Century Gothic</vt:lpstr>
      <vt:lpstr>Tema de Office</vt:lpstr>
      <vt:lpstr>Análisis con ENDES</vt:lpstr>
      <vt:lpstr>Tipos de muestreo - Probabilístico</vt:lpstr>
      <vt:lpstr>Presentación de PowerPoint</vt:lpstr>
      <vt:lpstr>Presentación de PowerPoint</vt:lpstr>
      <vt:lpstr>Presentación de PowerPoint</vt:lpstr>
      <vt:lpstr>Muestreo multi-etápico</vt:lpstr>
      <vt:lpstr>Conceptos</vt:lpstr>
      <vt:lpstr>Metodología de las DHS</vt:lpstr>
      <vt:lpstr>¿Cómo encontrar las bases de datos de las DHS de cada país?</vt:lpstr>
      <vt:lpstr>¿Cómo encontrar las bases de datos de las DHS de cada país?</vt:lpstr>
      <vt:lpstr>Presentación de PowerPoint</vt:lpstr>
      <vt:lpstr>Presentación de PowerPoint</vt:lpstr>
      <vt:lpstr>Presentación de PowerPoint</vt:lpstr>
      <vt:lpstr>Áreas abordadas por la ENDES</vt:lpstr>
      <vt:lpstr>Presentación de PowerPoint</vt:lpstr>
      <vt:lpstr>Presentación de PowerPoint</vt:lpstr>
      <vt:lpstr>Reporte de la DHS peruana 2022: ENDES</vt:lpstr>
      <vt:lpstr>Reporte de ENDES de HTA (2022)</vt:lpstr>
      <vt:lpstr>Objetivo y población</vt:lpstr>
      <vt:lpstr>Características del diseño</vt:lpstr>
      <vt:lpstr>Proceso de selección de la muestra</vt:lpstr>
      <vt:lpstr>Proceso de selección de la muestra</vt:lpstr>
      <vt:lpstr>Proceso de selección de la muestra</vt:lpstr>
      <vt:lpstr>Proceso de selección de la muestra</vt:lpstr>
      <vt:lpstr>Características del diseño</vt:lpstr>
      <vt:lpstr>Presentación de PowerPoint</vt:lpstr>
      <vt:lpstr>Factores de ponderación</vt:lpstr>
      <vt:lpstr>Ponderación por base</vt:lpstr>
      <vt:lpstr>Importancia de los pesos</vt:lpstr>
      <vt:lpstr>Presentación de PowerPoint</vt:lpstr>
      <vt:lpstr>Presentación de PowerPoint</vt:lpstr>
      <vt:lpstr>Presentación de PowerPoint</vt:lpstr>
      <vt:lpstr>Ficha técnica de la ENDES</vt:lpstr>
      <vt:lpstr>Pasos para analizar muestreo multietápico: ejemplo con ENDES</vt:lpstr>
      <vt:lpstr>Unión de bases</vt:lpstr>
      <vt:lpstr>Mergeo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con ENDES</dc:title>
  <dc:creator>Daniel Fernandez G</dc:creator>
  <cp:lastModifiedBy>Daniel Fernandez G</cp:lastModifiedBy>
  <cp:revision>12</cp:revision>
  <dcterms:created xsi:type="dcterms:W3CDTF">2024-07-22T16:51:30Z</dcterms:created>
  <dcterms:modified xsi:type="dcterms:W3CDTF">2024-09-02T14:54:20Z</dcterms:modified>
</cp:coreProperties>
</file>