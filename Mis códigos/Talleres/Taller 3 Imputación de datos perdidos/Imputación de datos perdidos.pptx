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3" r:id="rId3"/>
    <p:sldId id="267" r:id="rId4"/>
    <p:sldId id="2340" r:id="rId5"/>
    <p:sldId id="2341" r:id="rId6"/>
    <p:sldId id="2342" r:id="rId7"/>
    <p:sldId id="2343" r:id="rId8"/>
    <p:sldId id="2344" r:id="rId9"/>
    <p:sldId id="2345" r:id="rId10"/>
    <p:sldId id="2346" r:id="rId11"/>
    <p:sldId id="2347" r:id="rId12"/>
    <p:sldId id="2348" r:id="rId13"/>
    <p:sldId id="2349" r:id="rId14"/>
    <p:sldId id="287" r:id="rId15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2D0"/>
    <a:srgbClr val="596671"/>
    <a:srgbClr val="5C6B77"/>
    <a:srgbClr val="465562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5165" autoAdjust="0"/>
  </p:normalViewPr>
  <p:slideViewPr>
    <p:cSldViewPr showGuides="1">
      <p:cViewPr varScale="1">
        <p:scale>
          <a:sx n="85" d="100"/>
          <a:sy n="85" d="100"/>
        </p:scale>
        <p:origin x="590" y="48"/>
      </p:cViewPr>
      <p:guideLst>
        <p:guide orient="horz" pos="2160"/>
        <p:guide pos="3839"/>
        <p:guide pos="1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2" d="100"/>
          <a:sy n="72" d="100"/>
        </p:scale>
        <p:origin x="3108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9BBBD98-8689-4A62-BBFB-92BF328A7966}" type="datetime1">
              <a:rPr lang="es-ES" smtClean="0"/>
              <a:t>06/06/2024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E41AB9B-16BF-4ECF-B92C-3E61E5BECA90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80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3989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0" name="Rectángulo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Rectángulo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Rectángulo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3" name="Conector recto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5" name="Conector recto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466E6084-0988-49B4-BD4E-1264194D9864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94D32F-F0D9-47B3-AAC6-D43DC057831A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0" name="Rectángulo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4" name="Rectángulo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1" name="Rectángulo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23" name="Conector recto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7" name="Rectángulo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8" name="Rectángulo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9" name="Rectángulo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30" name="Rectángulo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31" name="Conector recto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33" name="Conector recto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BB07FB1B-461B-4D1D-952B-7FEEFF2CFA29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C9D876-84BE-45D9-9418-9FF24663C364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CDF9AA-CFE1-4BA9-8C5D-54C264D423B8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A51D7A-9E1F-4C6F-8B86-F39A8650CB7A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6" name="Rectángulo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cxnSp>
        <p:nvCxnSpPr>
          <p:cNvPr id="7" name="Conector recto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A1E9FB-24DE-4A64-B35D-DF3FF6E51288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cxnSp>
        <p:nvCxnSpPr>
          <p:cNvPr id="10" name="Conector recto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CDA7DC-138B-4843-B77A-91873FF451A9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CB016917-91ED-4B62-9DC6-0583229F954A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cxnSp>
        <p:nvCxnSpPr>
          <p:cNvPr id="10" name="Conector recto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EEB305-4E92-401E-9FCA-996DF9FD55B6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0" name="Rectángulo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1" name="Conector recto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14" name="Conector recto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E901BA-1555-4CE1-92B2-39682A57B7CA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3" name="Rectángulo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4" name="Conector recto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16" name="Conector recto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5031EA3-1207-456F-B1A7-F20CDD0C2E7B}" type="datetime1">
              <a:rPr lang="es-ES" noProof="0" smtClean="0"/>
              <a:t>06/06/2024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Tareas científicas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Resumen en10 min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96D4AE6-33AF-4C9A-BA0B-C9305D4F2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4301" y="3173758"/>
            <a:ext cx="6951749" cy="3170232"/>
          </a:xfrm>
        </p:spPr>
        <p:txBody>
          <a:bodyPr>
            <a:normAutofit/>
          </a:bodyPr>
          <a:lstStyle/>
          <a:p>
            <a:pPr marL="285750" indent="-285750"/>
            <a:r>
              <a:rPr lang="es-ES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Filiación: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UCSUR, </a:t>
            </a:r>
            <a:r>
              <a:rPr lang="es-E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EviSalud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/>
            <a:r>
              <a:rPr lang="es-PE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Cursó estudios en: 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UNSAAC, UCC, UPCH, IECS, </a:t>
            </a:r>
            <a:r>
              <a:rPr lang="es-P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Nebrija.</a:t>
            </a:r>
          </a:p>
          <a:p>
            <a:pPr marL="285750" indent="-285750"/>
            <a:r>
              <a:rPr lang="es-PE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 recibido pagos/financiamiento de: 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UNSAAC, UCSUR, UPCH, MINSA (DIRESA Cusco), </a:t>
            </a:r>
            <a:r>
              <a:rPr lang="es-P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EviSalud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SOPECARD, IETSI</a:t>
            </a:r>
          </a:p>
          <a:p>
            <a:pPr marL="285750" indent="-285750"/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tengo potenciales conflictos de interés con el tema de esta clase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A6AB3AA1-7D23-4DF8-B52B-DDB0ACEC9831}"/>
              </a:ext>
            </a:extLst>
          </p:cNvPr>
          <p:cNvSpPr txBox="1">
            <a:spLocks/>
          </p:cNvSpPr>
          <p:nvPr/>
        </p:nvSpPr>
        <p:spPr>
          <a:xfrm>
            <a:off x="4494302" y="1400769"/>
            <a:ext cx="5632558" cy="746086"/>
          </a:xfrm>
          <a:prstGeom prst="rect">
            <a:avLst/>
          </a:prstGeom>
        </p:spPr>
        <p:txBody>
          <a:bodyPr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/>
              <a:t>Daniel Fernández Guzmán, MD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D0FA2E07-7236-4B8D-8B39-2EDC68989339}"/>
              </a:ext>
            </a:extLst>
          </p:cNvPr>
          <p:cNvSpPr txBox="1">
            <a:spLocks/>
          </p:cNvSpPr>
          <p:nvPr/>
        </p:nvSpPr>
        <p:spPr>
          <a:xfrm>
            <a:off x="4494302" y="1916832"/>
            <a:ext cx="6170191" cy="640977"/>
          </a:xfrm>
          <a:prstGeom prst="rect">
            <a:avLst/>
          </a:prstGeom>
        </p:spPr>
        <p:txBody>
          <a:bodyPr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>
                <a:solidFill>
                  <a:srgbClr val="1E3E85"/>
                </a:solidFill>
              </a:rPr>
              <a:t>danferguz@gmail.com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23357EC-4156-496A-A2A9-A35B9FE2BB1D}"/>
              </a:ext>
            </a:extLst>
          </p:cNvPr>
          <p:cNvCxnSpPr>
            <a:cxnSpLocks/>
          </p:cNvCxnSpPr>
          <p:nvPr/>
        </p:nvCxnSpPr>
        <p:spPr>
          <a:xfrm>
            <a:off x="1197868" y="2502992"/>
            <a:ext cx="10729192" cy="0"/>
          </a:xfrm>
          <a:prstGeom prst="line">
            <a:avLst/>
          </a:prstGeom>
          <a:ln w="76200">
            <a:solidFill>
              <a:srgbClr val="4655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2C5BC422-0B59-4044-811E-2D0CC66C1C5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773932" y="603297"/>
            <a:ext cx="2412176" cy="2627069"/>
          </a:xfrm>
          <a:prstGeom prst="ellipse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185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53EB6F5-6FEE-40A2-8C1C-8D9853B2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623" y="0"/>
            <a:ext cx="10839202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F2CC28-38E5-436A-9B23-5FD5B43A3DD5}"/>
              </a:ext>
            </a:extLst>
          </p:cNvPr>
          <p:cNvSpPr txBox="1"/>
          <p:nvPr/>
        </p:nvSpPr>
        <p:spPr>
          <a:xfrm>
            <a:off x="1367634" y="6488668"/>
            <a:ext cx="1034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900" dirty="0"/>
              <a:t>Diapositiva tomada del curso de inferencia causal con Percy Soto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587C076-5EF0-4E58-8934-BBCE20DC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60" y="116632"/>
            <a:ext cx="9289704" cy="388478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35AFFB4-F31F-41DA-AFAD-12124141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72" y="4095765"/>
            <a:ext cx="4962378" cy="24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7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1C3C81-ECE9-40B3-9971-B56543C0C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44" y="831883"/>
            <a:ext cx="9937104" cy="519423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61CF8F7-F72C-4699-AF11-744F8790DBE5}"/>
              </a:ext>
            </a:extLst>
          </p:cNvPr>
          <p:cNvSpPr txBox="1"/>
          <p:nvPr/>
        </p:nvSpPr>
        <p:spPr>
          <a:xfrm>
            <a:off x="1367635" y="6488668"/>
            <a:ext cx="95513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900" dirty="0"/>
              <a:t>Diapositiva tomada del curso de inferencia causal con Percy Soto</a:t>
            </a:r>
          </a:p>
        </p:txBody>
      </p:sp>
    </p:spTree>
    <p:extLst>
      <p:ext uri="{BB962C8B-B14F-4D97-AF65-F5344CB8AC3E}">
        <p14:creationId xmlns:p14="http://schemas.microsoft.com/office/powerpoint/2010/main" val="266286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F0E5B11-0A7F-40F2-99FF-753889244164}"/>
              </a:ext>
            </a:extLst>
          </p:cNvPr>
          <p:cNvSpPr txBox="1"/>
          <p:nvPr/>
        </p:nvSpPr>
        <p:spPr>
          <a:xfrm>
            <a:off x="1629916" y="1052736"/>
            <a:ext cx="3600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Cada tarea tiene su propia filosofía de modelado.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Incluso las recomendaciones pueden ser opuestas: Lo que es bueno para predecir puede ser muy malo para explicar.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3D2F26-1EBF-4FCC-872C-AAE83647C986}"/>
              </a:ext>
            </a:extLst>
          </p:cNvPr>
          <p:cNvSpPr txBox="1"/>
          <p:nvPr/>
        </p:nvSpPr>
        <p:spPr>
          <a:xfrm>
            <a:off x="1557908" y="260648"/>
            <a:ext cx="9217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Tareas científicas como marcos para guiar el análisis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99227ED-292F-4F63-BF17-933DDE29D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533" y="1052736"/>
            <a:ext cx="4429053" cy="479715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17ACA8C-BB48-4FC2-97BB-A8E481FC0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84" y="3140968"/>
            <a:ext cx="4752527" cy="254964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EA54830-D9ED-43AD-B40F-94A9E7CCAA72}"/>
              </a:ext>
            </a:extLst>
          </p:cNvPr>
          <p:cNvSpPr/>
          <p:nvPr/>
        </p:nvSpPr>
        <p:spPr>
          <a:xfrm>
            <a:off x="6215870" y="1080666"/>
            <a:ext cx="4271029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1232D0"/>
                </a:solidFill>
              </a:rPr>
              <a:t>Descripción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7A6B8DA-18D1-4F2E-AA97-BD8B7A024C07}"/>
              </a:ext>
            </a:extLst>
          </p:cNvPr>
          <p:cNvSpPr txBox="1"/>
          <p:nvPr/>
        </p:nvSpPr>
        <p:spPr>
          <a:xfrm>
            <a:off x="1418728" y="6039168"/>
            <a:ext cx="90730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chemeClr val="accent1">
                    <a:lumMod val="75000"/>
                  </a:schemeClr>
                </a:solidFill>
                <a:effectLst/>
                <a:latin typeface="Georgia" panose="02040502050405020303" pitchFamily="18" charset="0"/>
              </a:rPr>
              <a:t>Para un modelo descriptivo, la interpretabilidad, la transportabilidad y la usabilidad general son criterios importantes. </a:t>
            </a:r>
            <a:endParaRPr lang="es-P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65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F0E5B11-0A7F-40F2-99FF-753889244164}"/>
              </a:ext>
            </a:extLst>
          </p:cNvPr>
          <p:cNvSpPr txBox="1"/>
          <p:nvPr/>
        </p:nvSpPr>
        <p:spPr>
          <a:xfrm>
            <a:off x="1629916" y="1052736"/>
            <a:ext cx="3600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Cada tarea tiene su propia filosofía de modelado.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Incluso las recomendaciones pueden ser opuestas: Lo que es bueno para predecir puede ser muy malo para explicar.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3D2F26-1EBF-4FCC-872C-AAE83647C986}"/>
              </a:ext>
            </a:extLst>
          </p:cNvPr>
          <p:cNvSpPr txBox="1"/>
          <p:nvPr/>
        </p:nvSpPr>
        <p:spPr>
          <a:xfrm>
            <a:off x="1557908" y="260648"/>
            <a:ext cx="9217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Tareas científicas como marcos para guiar el análisis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A54830-D9ED-43AD-B40F-94A9E7CCAA72}"/>
              </a:ext>
            </a:extLst>
          </p:cNvPr>
          <p:cNvSpPr/>
          <p:nvPr/>
        </p:nvSpPr>
        <p:spPr>
          <a:xfrm>
            <a:off x="6215870" y="1080666"/>
            <a:ext cx="4271029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1232D0"/>
                </a:solidFill>
              </a:rPr>
              <a:t>Predicción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AE112D-EB98-4426-BA2E-D43459E46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43" y="3085929"/>
            <a:ext cx="4926402" cy="28466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9BD593D-B448-4390-94FC-37DD8C245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20" y="3085929"/>
            <a:ext cx="4641007" cy="248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F0E5B11-0A7F-40F2-99FF-753889244164}"/>
              </a:ext>
            </a:extLst>
          </p:cNvPr>
          <p:cNvSpPr txBox="1"/>
          <p:nvPr/>
        </p:nvSpPr>
        <p:spPr>
          <a:xfrm>
            <a:off x="1629916" y="1052736"/>
            <a:ext cx="3600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Cada tarea tiene su propia filosofía de modelado.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Incluso las recomendaciones pueden ser opuestas: Lo que es bueno para predecir puede ser muy malo para explicar.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3D2F26-1EBF-4FCC-872C-AAE83647C986}"/>
              </a:ext>
            </a:extLst>
          </p:cNvPr>
          <p:cNvSpPr txBox="1"/>
          <p:nvPr/>
        </p:nvSpPr>
        <p:spPr>
          <a:xfrm>
            <a:off x="1557908" y="260648"/>
            <a:ext cx="9217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Tareas científicas como marcos para guiar el análisis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A54830-D9ED-43AD-B40F-94A9E7CCAA72}"/>
              </a:ext>
            </a:extLst>
          </p:cNvPr>
          <p:cNvSpPr/>
          <p:nvPr/>
        </p:nvSpPr>
        <p:spPr>
          <a:xfrm>
            <a:off x="6215870" y="1080666"/>
            <a:ext cx="4271029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1232D0"/>
                </a:solidFill>
              </a:rPr>
              <a:t>Explicación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DE3EFC1-967D-480B-AA90-8ED8AEB22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870" y="1845558"/>
            <a:ext cx="4688355" cy="396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48BA3AB-5D50-4533-B8FF-1A1E5E83BB91}"/>
              </a:ext>
            </a:extLst>
          </p:cNvPr>
          <p:cNvSpPr txBox="1"/>
          <p:nvPr/>
        </p:nvSpPr>
        <p:spPr>
          <a:xfrm>
            <a:off x="1413892" y="332656"/>
            <a:ext cx="610048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rgbClr val="1232D0"/>
                </a:solidFill>
              </a:rPr>
              <a:t>Una asociación está presente si…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probabilidad de ocurrencia de un evento covaría con respecto a la ocurrencia de otro.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cantidad de una característica covaría con respecto a otra.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18DD3E1-4D11-4635-BB90-B0C926B06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2636912"/>
            <a:ext cx="9190756" cy="36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8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DDBF18-D272-45C4-A3D0-854331162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332656"/>
            <a:ext cx="7125694" cy="221010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DDAA21-CCF2-4C22-B0BF-AAEDAE673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033" y="2924944"/>
            <a:ext cx="4677428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6068B66-67CF-4FC5-8EB3-F6D352803517}"/>
              </a:ext>
            </a:extLst>
          </p:cNvPr>
          <p:cNvSpPr txBox="1"/>
          <p:nvPr/>
        </p:nvSpPr>
        <p:spPr>
          <a:xfrm>
            <a:off x="1485900" y="188640"/>
            <a:ext cx="7488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ES" sz="4000" b="1" i="0" dirty="0">
                <a:solidFill>
                  <a:srgbClr val="1232D0"/>
                </a:solidFill>
                <a:effectLst/>
                <a:latin typeface="var(--r-heading-font)"/>
              </a:rPr>
              <a:t>Para que sirven las asociaciones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F2EDEE-A911-42A7-94B0-AF5E98ACEE29}"/>
              </a:ext>
            </a:extLst>
          </p:cNvPr>
          <p:cNvSpPr txBox="1"/>
          <p:nvPr/>
        </p:nvSpPr>
        <p:spPr>
          <a:xfrm>
            <a:off x="1917948" y="2276872"/>
            <a:ext cx="85689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Asociaciones </a:t>
            </a:r>
            <a:r>
              <a:rPr lang="es-ES" dirty="0" err="1"/>
              <a:t>bivariadas</a:t>
            </a:r>
            <a:r>
              <a:rPr lang="es-ES" dirty="0"/>
              <a:t> son las mas importantes.</a:t>
            </a:r>
          </a:p>
          <a:p>
            <a:endParaRPr lang="es-ES" dirty="0"/>
          </a:p>
          <a:p>
            <a:r>
              <a:rPr lang="es-ES" dirty="0"/>
              <a:t>Ejemplos: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Describir brechas, disparidades, patrones de agregación o de segregación en el mundo real observado.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 debe tener cuidado con ajustar por covariables, porque equivale a crear situaciones hipotéticas diferentes al mundo real observado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45BB45-A40F-4B8C-92A2-E834AC2666BB}"/>
              </a:ext>
            </a:extLst>
          </p:cNvPr>
          <p:cNvSpPr/>
          <p:nvPr/>
        </p:nvSpPr>
        <p:spPr>
          <a:xfrm>
            <a:off x="1931395" y="1484784"/>
            <a:ext cx="4271029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1232D0"/>
                </a:solidFill>
              </a:rPr>
              <a:t>Descripción</a:t>
            </a:r>
          </a:p>
        </p:txBody>
      </p:sp>
    </p:spTree>
    <p:extLst>
      <p:ext uri="{BB962C8B-B14F-4D97-AF65-F5344CB8AC3E}">
        <p14:creationId xmlns:p14="http://schemas.microsoft.com/office/powerpoint/2010/main" val="235978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6068B66-67CF-4FC5-8EB3-F6D352803517}"/>
              </a:ext>
            </a:extLst>
          </p:cNvPr>
          <p:cNvSpPr txBox="1"/>
          <p:nvPr/>
        </p:nvSpPr>
        <p:spPr>
          <a:xfrm>
            <a:off x="1485900" y="188640"/>
            <a:ext cx="7488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ES" sz="4000" b="1" i="0" dirty="0">
                <a:solidFill>
                  <a:srgbClr val="1232D0"/>
                </a:solidFill>
                <a:effectLst/>
                <a:latin typeface="var(--r-heading-font)"/>
              </a:rPr>
              <a:t>Para que sirven las asociaciones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F2EDEE-A911-42A7-94B0-AF5E98ACEE29}"/>
              </a:ext>
            </a:extLst>
          </p:cNvPr>
          <p:cNvSpPr txBox="1"/>
          <p:nvPr/>
        </p:nvSpPr>
        <p:spPr>
          <a:xfrm>
            <a:off x="1917948" y="2060848"/>
            <a:ext cx="85689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Asociaciones </a:t>
            </a:r>
            <a:r>
              <a:rPr lang="es-ES" dirty="0" err="1"/>
              <a:t>bivariadas</a:t>
            </a:r>
            <a:r>
              <a:rPr lang="es-ES" dirty="0"/>
              <a:t> para proponer marcadores de riesgo que por si solo ayuden tamizaje.</a:t>
            </a:r>
          </a:p>
          <a:p>
            <a:endParaRPr lang="es-ES" dirty="0"/>
          </a:p>
          <a:p>
            <a:r>
              <a:rPr lang="es-ES" dirty="0"/>
              <a:t>Ejemplos: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Biomarcadores, etc.</a:t>
            </a:r>
          </a:p>
          <a:p>
            <a:endParaRPr lang="es-ES" dirty="0"/>
          </a:p>
          <a:p>
            <a:r>
              <a:rPr lang="es-ES" dirty="0"/>
              <a:t>Asociaciones multivariables son un medio para otro fin que es predecir con bajo error.</a:t>
            </a:r>
          </a:p>
          <a:p>
            <a:endParaRPr lang="es-ES" dirty="0"/>
          </a:p>
          <a:p>
            <a:r>
              <a:rPr lang="es-ES" dirty="0"/>
              <a:t>Ejemplos: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Ecuaciones de riesgo, puntajes, etc.</a:t>
            </a:r>
          </a:p>
          <a:p>
            <a:endParaRPr lang="es-ES" dirty="0"/>
          </a:p>
          <a:p>
            <a:r>
              <a:rPr lang="es-ES" dirty="0"/>
              <a:t>Se debe tener cuidado con interpretar “medidas de asociación”.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C515F9-D52F-47E0-BDF6-0713661833BE}"/>
              </a:ext>
            </a:extLst>
          </p:cNvPr>
          <p:cNvSpPr/>
          <p:nvPr/>
        </p:nvSpPr>
        <p:spPr>
          <a:xfrm>
            <a:off x="1917948" y="1484784"/>
            <a:ext cx="4271029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1232D0"/>
                </a:solidFill>
              </a:rPr>
              <a:t>Predicción</a:t>
            </a:r>
          </a:p>
        </p:txBody>
      </p:sp>
    </p:spTree>
    <p:extLst>
      <p:ext uri="{BB962C8B-B14F-4D97-AF65-F5344CB8AC3E}">
        <p14:creationId xmlns:p14="http://schemas.microsoft.com/office/powerpoint/2010/main" val="418774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6068B66-67CF-4FC5-8EB3-F6D352803517}"/>
              </a:ext>
            </a:extLst>
          </p:cNvPr>
          <p:cNvSpPr txBox="1"/>
          <p:nvPr/>
        </p:nvSpPr>
        <p:spPr>
          <a:xfrm>
            <a:off x="1485900" y="188640"/>
            <a:ext cx="7488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ES" sz="4000" b="1" i="0" dirty="0">
                <a:solidFill>
                  <a:srgbClr val="1232D0"/>
                </a:solidFill>
                <a:effectLst/>
                <a:latin typeface="var(--r-heading-font)"/>
              </a:rPr>
              <a:t>Para que sirven las asociaciones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F2EDEE-A911-42A7-94B0-AF5E98ACEE29}"/>
              </a:ext>
            </a:extLst>
          </p:cNvPr>
          <p:cNvSpPr txBox="1"/>
          <p:nvPr/>
        </p:nvSpPr>
        <p:spPr>
          <a:xfrm>
            <a:off x="1917948" y="2060848"/>
            <a:ext cx="42710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dirty="0"/>
              <a:t>Profundizaremos este concepto y los métodos para evaluarla en las siguientes unidades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C515F9-D52F-47E0-BDF6-0713661833BE}"/>
              </a:ext>
            </a:extLst>
          </p:cNvPr>
          <p:cNvSpPr/>
          <p:nvPr/>
        </p:nvSpPr>
        <p:spPr>
          <a:xfrm>
            <a:off x="1917948" y="1484784"/>
            <a:ext cx="4271029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1232D0"/>
                </a:solidFill>
              </a:rPr>
              <a:t>Causalidad</a:t>
            </a:r>
          </a:p>
        </p:txBody>
      </p:sp>
    </p:spTree>
    <p:extLst>
      <p:ext uri="{BB962C8B-B14F-4D97-AF65-F5344CB8AC3E}">
        <p14:creationId xmlns:p14="http://schemas.microsoft.com/office/powerpoint/2010/main" val="245356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racias | El hexágono de Guadalajara">
            <a:extLst>
              <a:ext uri="{FF2B5EF4-FFF2-40B4-BE49-F238E27FC236}">
                <a16:creationId xmlns:a16="http://schemas.microsoft.com/office/drawing/2014/main" id="{55369AE0-7ECA-41EB-8938-87CEC90AA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892" y="1628800"/>
            <a:ext cx="8758709" cy="383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74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Matemáticas 16 X 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86_TF02787947.potx" id="{47904E6C-F941-4E76-BCE5-98990F587331}" vid="{E19800A4-2B41-4D60-89B5-7A2C3CED113C}"/>
    </a:ext>
  </a:extLst>
</a:theme>
</file>

<file path=ppt/theme/theme2.xml><?xml version="1.0" encoding="utf-8"?>
<a:theme xmlns:a="http://schemas.openxmlformats.org/drawingml/2006/main" name="Tema de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sobre matemáticas para el ámbito educativo con Pi (panorámica)</Template>
  <TotalTime>237</TotalTime>
  <Words>389</Words>
  <Application>Microsoft Office PowerPoint</Application>
  <PresentationFormat>Personalizado</PresentationFormat>
  <Paragraphs>56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Euphemia</vt:lpstr>
      <vt:lpstr>Georgia</vt:lpstr>
      <vt:lpstr>var(--r-heading-font)</vt:lpstr>
      <vt:lpstr>Matemáticas 16 X 9</vt:lpstr>
      <vt:lpstr>Tareas científicas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los Diseños de Estudios Epidemiológicos</dc:title>
  <dc:creator>Daniel Fernandez G</dc:creator>
  <cp:lastModifiedBy>Daniel Fernandez G</cp:lastModifiedBy>
  <cp:revision>15</cp:revision>
  <dcterms:created xsi:type="dcterms:W3CDTF">2024-05-02T21:22:54Z</dcterms:created>
  <dcterms:modified xsi:type="dcterms:W3CDTF">2024-06-06T21:55:06Z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