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sldIdLst>
    <p:sldId id="256" r:id="rId2"/>
    <p:sldId id="2563" r:id="rId3"/>
    <p:sldId id="2583" r:id="rId4"/>
    <p:sldId id="2525" r:id="rId5"/>
    <p:sldId id="2537" r:id="rId6"/>
    <p:sldId id="2538" r:id="rId7"/>
    <p:sldId id="2539" r:id="rId8"/>
    <p:sldId id="2565" r:id="rId9"/>
    <p:sldId id="2480" r:id="rId10"/>
    <p:sldId id="2571" r:id="rId11"/>
    <p:sldId id="2481" r:id="rId12"/>
    <p:sldId id="2483" r:id="rId13"/>
    <p:sldId id="2485" r:id="rId14"/>
    <p:sldId id="2484" r:id="rId15"/>
    <p:sldId id="2486" r:id="rId16"/>
    <p:sldId id="2487" r:id="rId17"/>
    <p:sldId id="2488" r:id="rId18"/>
    <p:sldId id="2492" r:id="rId19"/>
    <p:sldId id="2491" r:id="rId20"/>
    <p:sldId id="2494" r:id="rId21"/>
    <p:sldId id="2495" r:id="rId22"/>
    <p:sldId id="2493" r:id="rId23"/>
    <p:sldId id="2482" r:id="rId24"/>
    <p:sldId id="2504" r:id="rId25"/>
    <p:sldId id="2479" r:id="rId26"/>
    <p:sldId id="2569" r:id="rId27"/>
    <p:sldId id="2475" r:id="rId28"/>
    <p:sldId id="2498" r:id="rId29"/>
    <p:sldId id="2499" r:id="rId30"/>
    <p:sldId id="2497" r:id="rId31"/>
    <p:sldId id="2584" r:id="rId32"/>
    <p:sldId id="2496" r:id="rId33"/>
    <p:sldId id="2570" r:id="rId34"/>
    <p:sldId id="2503" r:id="rId35"/>
    <p:sldId id="2500" r:id="rId36"/>
    <p:sldId id="2529" r:id="rId37"/>
    <p:sldId id="2526" r:id="rId38"/>
    <p:sldId id="2528" r:id="rId39"/>
    <p:sldId id="2530" r:id="rId40"/>
    <p:sldId id="2527" r:id="rId41"/>
    <p:sldId id="2505" r:id="rId42"/>
    <p:sldId id="2506" r:id="rId43"/>
    <p:sldId id="2507" r:id="rId44"/>
    <p:sldId id="2501" r:id="rId45"/>
    <p:sldId id="2509" r:id="rId46"/>
    <p:sldId id="2513" r:id="rId47"/>
    <p:sldId id="2514" r:id="rId48"/>
    <p:sldId id="2511" r:id="rId49"/>
    <p:sldId id="2521" r:id="rId50"/>
    <p:sldId id="2512" r:id="rId51"/>
    <p:sldId id="2522" r:id="rId52"/>
    <p:sldId id="2515" r:id="rId53"/>
    <p:sldId id="2516" r:id="rId54"/>
    <p:sldId id="2517" r:id="rId55"/>
    <p:sldId id="2518" r:id="rId56"/>
    <p:sldId id="2519" r:id="rId57"/>
    <p:sldId id="2520" r:id="rId58"/>
    <p:sldId id="2508" r:id="rId59"/>
    <p:sldId id="2564" r:id="rId60"/>
    <p:sldId id="2540" r:id="rId61"/>
    <p:sldId id="2541" r:id="rId62"/>
    <p:sldId id="2581" r:id="rId63"/>
    <p:sldId id="2582" r:id="rId64"/>
    <p:sldId id="2531" r:id="rId65"/>
    <p:sldId id="2535" r:id="rId66"/>
    <p:sldId id="2572" r:id="rId67"/>
    <p:sldId id="2573" r:id="rId68"/>
    <p:sldId id="2574" r:id="rId69"/>
    <p:sldId id="2575" r:id="rId70"/>
    <p:sldId id="2576" r:id="rId71"/>
    <p:sldId id="2578" r:id="rId72"/>
    <p:sldId id="2577" r:id="rId73"/>
    <p:sldId id="2579" r:id="rId74"/>
    <p:sldId id="2580" r:id="rId75"/>
    <p:sldId id="2542" r:id="rId76"/>
    <p:sldId id="2532" r:id="rId77"/>
    <p:sldId id="2568" r:id="rId78"/>
    <p:sldId id="2523" r:id="rId79"/>
    <p:sldId id="2544" r:id="rId80"/>
    <p:sldId id="2524" r:id="rId81"/>
    <p:sldId id="2545" r:id="rId82"/>
    <p:sldId id="2546" r:id="rId83"/>
    <p:sldId id="2548" r:id="rId84"/>
    <p:sldId id="2567" r:id="rId85"/>
    <p:sldId id="2543" r:id="rId86"/>
    <p:sldId id="2550" r:id="rId87"/>
    <p:sldId id="2551" r:id="rId88"/>
    <p:sldId id="2552" r:id="rId89"/>
    <p:sldId id="2553" r:id="rId90"/>
    <p:sldId id="2566" r:id="rId91"/>
    <p:sldId id="2554" r:id="rId92"/>
    <p:sldId id="2555" r:id="rId93"/>
    <p:sldId id="2556" r:id="rId94"/>
    <p:sldId id="2557" r:id="rId95"/>
    <p:sldId id="2558" r:id="rId96"/>
    <p:sldId id="2559" r:id="rId97"/>
    <p:sldId id="2560" r:id="rId98"/>
    <p:sldId id="2549" r:id="rId99"/>
    <p:sldId id="2562" r:id="rId100"/>
    <p:sldId id="2561" r:id="rId101"/>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B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0" d="100"/>
          <a:sy n="110" d="100"/>
        </p:scale>
        <p:origin x="5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AC4A7E-F3A9-4374-AABC-AD21145C7141}" type="doc">
      <dgm:prSet loTypeId="urn:microsoft.com/office/officeart/2005/8/layout/vList3" loCatId="list" qsTypeId="urn:microsoft.com/office/officeart/2005/8/quickstyle/simple1" qsCatId="simple" csTypeId="urn:microsoft.com/office/officeart/2005/8/colors/accent1_1" csCatId="accent1" phldr="1"/>
      <dgm:spPr/>
    </dgm:pt>
    <dgm:pt modelId="{C9CF0388-0152-401B-8586-99AC2F25CDD6}">
      <dgm:prSet phldrT="[Texto]"/>
      <dgm:spPr/>
      <dgm:t>
        <a:bodyPr/>
        <a:lstStyle/>
        <a:p>
          <a:r>
            <a:rPr lang="es-ES" b="1" dirty="0"/>
            <a:t>No hay correlación espuria: </a:t>
          </a:r>
          <a:r>
            <a:rPr lang="es-ES" dirty="0"/>
            <a:t>La correlación no se debe a un accidente aleatorio. La ley de los grandes números dicta que cuantos más datos tengamos, más creíble es esta suposición.</a:t>
          </a:r>
          <a:endParaRPr lang="es-PE" dirty="0"/>
        </a:p>
      </dgm:t>
    </dgm:pt>
    <dgm:pt modelId="{F195C0E0-2A68-4EDF-BD07-9A4193ED9EE2}" type="parTrans" cxnId="{C28309F3-DD91-49DD-83A2-DAFA6BA8501A}">
      <dgm:prSet/>
      <dgm:spPr/>
      <dgm:t>
        <a:bodyPr/>
        <a:lstStyle/>
        <a:p>
          <a:endParaRPr lang="es-PE"/>
        </a:p>
      </dgm:t>
    </dgm:pt>
    <dgm:pt modelId="{90453810-BD80-4AFB-AD6A-CEC542E55102}" type="sibTrans" cxnId="{C28309F3-DD91-49DD-83A2-DAFA6BA8501A}">
      <dgm:prSet/>
      <dgm:spPr/>
      <dgm:t>
        <a:bodyPr/>
        <a:lstStyle/>
        <a:p>
          <a:endParaRPr lang="es-PE"/>
        </a:p>
      </dgm:t>
    </dgm:pt>
    <dgm:pt modelId="{1E4757C9-7DEC-4C6D-8070-9CD97BA8A230}">
      <dgm:prSet phldrT="[Texto]"/>
      <dgm:spPr/>
      <dgm:t>
        <a:bodyPr/>
        <a:lstStyle/>
        <a:p>
          <a:r>
            <a:rPr lang="es-ES" b="1" dirty="0"/>
            <a:t>Coherencia:</a:t>
          </a:r>
          <a:r>
            <a:rPr lang="es-ES" dirty="0"/>
            <a:t> Los valores de A que se ven son los valores reales de A, o «los valores del tratamiento en comparación corresponden a intervenciones bien definidas que, a su vez, corresponden a las versiones del tratamiento en los datos» Hernán y </a:t>
          </a:r>
          <a:r>
            <a:rPr lang="es-ES" dirty="0" err="1"/>
            <a:t>Robins</a:t>
          </a:r>
          <a:r>
            <a:rPr lang="es-ES" dirty="0"/>
            <a:t> (2020).</a:t>
          </a:r>
          <a:endParaRPr lang="es-PE" dirty="0"/>
        </a:p>
      </dgm:t>
    </dgm:pt>
    <dgm:pt modelId="{55FCD2BA-AE69-4DEE-AA27-85046FF78716}" type="parTrans" cxnId="{B47924F1-6E69-4D52-9454-2607913293AE}">
      <dgm:prSet/>
      <dgm:spPr/>
      <dgm:t>
        <a:bodyPr/>
        <a:lstStyle/>
        <a:p>
          <a:endParaRPr lang="es-PE"/>
        </a:p>
      </dgm:t>
    </dgm:pt>
    <dgm:pt modelId="{ADED3DC5-862C-4E98-A4EC-14D06F6C5D7A}" type="sibTrans" cxnId="{B47924F1-6E69-4D52-9454-2607913293AE}">
      <dgm:prSet/>
      <dgm:spPr/>
      <dgm:t>
        <a:bodyPr/>
        <a:lstStyle/>
        <a:p>
          <a:endParaRPr lang="es-PE"/>
        </a:p>
      </dgm:t>
    </dgm:pt>
    <dgm:pt modelId="{F691797A-0D28-4C0C-8219-2B2A92CECB7D}">
      <dgm:prSet phldrT="[Texto]"/>
      <dgm:spPr/>
      <dgm:t>
        <a:bodyPr/>
        <a:lstStyle/>
        <a:p>
          <a:r>
            <a:rPr lang="es-ES" b="1" dirty="0"/>
            <a:t>Positividad: </a:t>
          </a:r>
          <a:r>
            <a:rPr lang="es-ES" dirty="0"/>
            <a:t>«la probabilidad de recibir cada valor de tratamiento condicional a L es mayor que cero, es decir, positiva» Hernán y </a:t>
          </a:r>
          <a:r>
            <a:rPr lang="es-ES" dirty="0" err="1"/>
            <a:t>Robins</a:t>
          </a:r>
          <a:r>
            <a:rPr lang="es-ES" dirty="0"/>
            <a:t> (2020).</a:t>
          </a:r>
          <a:endParaRPr lang="es-PE" dirty="0"/>
        </a:p>
      </dgm:t>
    </dgm:pt>
    <dgm:pt modelId="{BEEDBF83-1879-40CE-B11C-EF1ED6924E3C}" type="parTrans" cxnId="{BDCB1AE1-B601-4D1D-BC65-9AC5F121E8DB}">
      <dgm:prSet/>
      <dgm:spPr/>
      <dgm:t>
        <a:bodyPr/>
        <a:lstStyle/>
        <a:p>
          <a:endParaRPr lang="es-PE"/>
        </a:p>
      </dgm:t>
    </dgm:pt>
    <dgm:pt modelId="{28214046-16F4-43A2-954C-EC22BDB0EBAA}" type="sibTrans" cxnId="{BDCB1AE1-B601-4D1D-BC65-9AC5F121E8DB}">
      <dgm:prSet/>
      <dgm:spPr/>
      <dgm:t>
        <a:bodyPr/>
        <a:lstStyle/>
        <a:p>
          <a:endParaRPr lang="es-PE"/>
        </a:p>
      </dgm:t>
    </dgm:pt>
    <dgm:pt modelId="{72B7C834-619B-405B-A937-3A88C1417530}">
      <dgm:prSet phldrT="[Texto]"/>
      <dgm:spPr/>
      <dgm:t>
        <a:bodyPr/>
        <a:lstStyle/>
        <a:p>
          <a:r>
            <a:rPr lang="es-ES" b="1" dirty="0" err="1"/>
            <a:t>Fidedignidad</a:t>
          </a:r>
          <a:r>
            <a:rPr lang="es-ES" b="1" dirty="0"/>
            <a:t>:</a:t>
          </a:r>
          <a:r>
            <a:rPr lang="es-ES" dirty="0"/>
            <a:t> El efecto causal no varía a lo largo de los grupos de forma que se promedie a 0 en los datos. A no tiene un efecto positivo el 50% de las veces y un efecto negativo idénticamente potente el 50% de las veces, que promediaría a un efecto de 0 en la población.</a:t>
          </a:r>
          <a:endParaRPr lang="es-PE" dirty="0"/>
        </a:p>
      </dgm:t>
    </dgm:pt>
    <dgm:pt modelId="{A43D9F9A-8532-400A-BF4E-6E8384529DEA}" type="parTrans" cxnId="{DC694D92-56C3-4EA4-ACB4-81E7EDA7482E}">
      <dgm:prSet/>
      <dgm:spPr/>
      <dgm:t>
        <a:bodyPr/>
        <a:lstStyle/>
        <a:p>
          <a:endParaRPr lang="es-PE"/>
        </a:p>
      </dgm:t>
    </dgm:pt>
    <dgm:pt modelId="{B40C9A57-69E3-417E-8A01-6AB489A19943}" type="sibTrans" cxnId="{DC694D92-56C3-4EA4-ACB4-81E7EDA7482E}">
      <dgm:prSet/>
      <dgm:spPr/>
      <dgm:t>
        <a:bodyPr/>
        <a:lstStyle/>
        <a:p>
          <a:endParaRPr lang="es-PE"/>
        </a:p>
      </dgm:t>
    </dgm:pt>
    <dgm:pt modelId="{22C3F9C2-2029-46D4-970E-A0641A340649}">
      <dgm:prSet phldrT="[Texto]"/>
      <dgm:spPr/>
      <dgm:t>
        <a:bodyPr/>
        <a:lstStyle/>
        <a:p>
          <a:r>
            <a:rPr lang="es-ES" b="1" dirty="0"/>
            <a:t>Intercambiabilidad: </a:t>
          </a:r>
          <a:r>
            <a:rPr lang="es-ES" dirty="0"/>
            <a:t>«la probabilidad condicional de recibir cada valor de tratamiento, aunque no decidida por los investigadores, depende sólo de las covariables medidas» Hernán y </a:t>
          </a:r>
          <a:r>
            <a:rPr lang="es-ES" dirty="0" err="1"/>
            <a:t>Robins</a:t>
          </a:r>
          <a:r>
            <a:rPr lang="es-ES" dirty="0"/>
            <a:t> (2020).</a:t>
          </a:r>
          <a:endParaRPr lang="es-PE" dirty="0"/>
        </a:p>
      </dgm:t>
    </dgm:pt>
    <dgm:pt modelId="{F5632B76-24E3-41F9-84AE-6EC8A3E3F5FD}" type="sibTrans" cxnId="{885D1BC0-0EC6-4DAE-9D18-D5587AB6085B}">
      <dgm:prSet/>
      <dgm:spPr/>
      <dgm:t>
        <a:bodyPr/>
        <a:lstStyle/>
        <a:p>
          <a:endParaRPr lang="es-PE"/>
        </a:p>
      </dgm:t>
    </dgm:pt>
    <dgm:pt modelId="{543AA34C-990A-47C2-8F72-1BDB36377E26}" type="parTrans" cxnId="{885D1BC0-0EC6-4DAE-9D18-D5587AB6085B}">
      <dgm:prSet/>
      <dgm:spPr/>
      <dgm:t>
        <a:bodyPr/>
        <a:lstStyle/>
        <a:p>
          <a:endParaRPr lang="es-PE"/>
        </a:p>
      </dgm:t>
    </dgm:pt>
    <dgm:pt modelId="{B7F13AEC-9E84-4251-BEF7-970B9F0F85E9}" type="pres">
      <dgm:prSet presAssocID="{42AC4A7E-F3A9-4374-AABC-AD21145C7141}" presName="linearFlow" presStyleCnt="0">
        <dgm:presLayoutVars>
          <dgm:dir/>
          <dgm:resizeHandles val="exact"/>
        </dgm:presLayoutVars>
      </dgm:prSet>
      <dgm:spPr/>
    </dgm:pt>
    <dgm:pt modelId="{CA14FE0A-BB42-4E29-8AF0-76AE9EA02597}" type="pres">
      <dgm:prSet presAssocID="{C9CF0388-0152-401B-8586-99AC2F25CDD6}" presName="composite" presStyleCnt="0"/>
      <dgm:spPr/>
    </dgm:pt>
    <dgm:pt modelId="{EA9A78EE-471E-4D9F-9681-9D8B4983BF51}" type="pres">
      <dgm:prSet presAssocID="{C9CF0388-0152-401B-8586-99AC2F25CDD6}" presName="imgShp" presStyleLbl="fgImgPlace1" presStyleIdx="0" presStyleCnt="5"/>
      <dgm:spPr/>
    </dgm:pt>
    <dgm:pt modelId="{B51CA2A6-BB89-4767-9D6C-75BB0BA6E2CE}" type="pres">
      <dgm:prSet presAssocID="{C9CF0388-0152-401B-8586-99AC2F25CDD6}" presName="txShp" presStyleLbl="node1" presStyleIdx="0" presStyleCnt="5">
        <dgm:presLayoutVars>
          <dgm:bulletEnabled val="1"/>
        </dgm:presLayoutVars>
      </dgm:prSet>
      <dgm:spPr/>
    </dgm:pt>
    <dgm:pt modelId="{B87A79C1-E4B4-4AA4-BA86-977E3533F625}" type="pres">
      <dgm:prSet presAssocID="{90453810-BD80-4AFB-AD6A-CEC542E55102}" presName="spacing" presStyleCnt="0"/>
      <dgm:spPr/>
    </dgm:pt>
    <dgm:pt modelId="{2BD2E794-0112-449B-966E-92BD36DFD8F7}" type="pres">
      <dgm:prSet presAssocID="{1E4757C9-7DEC-4C6D-8070-9CD97BA8A230}" presName="composite" presStyleCnt="0"/>
      <dgm:spPr/>
    </dgm:pt>
    <dgm:pt modelId="{730AA5EB-B378-41A1-B6D4-F1F189DED723}" type="pres">
      <dgm:prSet presAssocID="{1E4757C9-7DEC-4C6D-8070-9CD97BA8A230}" presName="imgShp" presStyleLbl="fgImgPlace1" presStyleIdx="1" presStyleCnt="5"/>
      <dgm:spPr/>
    </dgm:pt>
    <dgm:pt modelId="{79DE6DD8-BB2C-4CF6-BE8C-15FF35F9617B}" type="pres">
      <dgm:prSet presAssocID="{1E4757C9-7DEC-4C6D-8070-9CD97BA8A230}" presName="txShp" presStyleLbl="node1" presStyleIdx="1" presStyleCnt="5">
        <dgm:presLayoutVars>
          <dgm:bulletEnabled val="1"/>
        </dgm:presLayoutVars>
      </dgm:prSet>
      <dgm:spPr/>
    </dgm:pt>
    <dgm:pt modelId="{AA04B71F-FD6D-4A5F-8333-F5CAC37E1283}" type="pres">
      <dgm:prSet presAssocID="{ADED3DC5-862C-4E98-A4EC-14D06F6C5D7A}" presName="spacing" presStyleCnt="0"/>
      <dgm:spPr/>
    </dgm:pt>
    <dgm:pt modelId="{5AA5AC11-1CD5-4B41-A735-9C32E65FFF3D}" type="pres">
      <dgm:prSet presAssocID="{22C3F9C2-2029-46D4-970E-A0641A340649}" presName="composite" presStyleCnt="0"/>
      <dgm:spPr/>
    </dgm:pt>
    <dgm:pt modelId="{FD8CDD31-663E-439A-8309-34ED4673EEA3}" type="pres">
      <dgm:prSet presAssocID="{22C3F9C2-2029-46D4-970E-A0641A340649}" presName="imgShp" presStyleLbl="fgImgPlace1" presStyleIdx="2" presStyleCnt="5"/>
      <dgm:spPr/>
    </dgm:pt>
    <dgm:pt modelId="{33AD6870-955C-443C-8FBB-2C129A6BFAB4}" type="pres">
      <dgm:prSet presAssocID="{22C3F9C2-2029-46D4-970E-A0641A340649}" presName="txShp" presStyleLbl="node1" presStyleIdx="2" presStyleCnt="5">
        <dgm:presLayoutVars>
          <dgm:bulletEnabled val="1"/>
        </dgm:presLayoutVars>
      </dgm:prSet>
      <dgm:spPr/>
    </dgm:pt>
    <dgm:pt modelId="{7585C886-2126-4B44-97FD-060792E11C62}" type="pres">
      <dgm:prSet presAssocID="{F5632B76-24E3-41F9-84AE-6EC8A3E3F5FD}" presName="spacing" presStyleCnt="0"/>
      <dgm:spPr/>
    </dgm:pt>
    <dgm:pt modelId="{DA5F6F4E-6434-4159-8984-7CB75119E126}" type="pres">
      <dgm:prSet presAssocID="{F691797A-0D28-4C0C-8219-2B2A92CECB7D}" presName="composite" presStyleCnt="0"/>
      <dgm:spPr/>
    </dgm:pt>
    <dgm:pt modelId="{C3C55302-ADBE-4FB2-8005-EEF4EC8DE6D7}" type="pres">
      <dgm:prSet presAssocID="{F691797A-0D28-4C0C-8219-2B2A92CECB7D}" presName="imgShp" presStyleLbl="fgImgPlace1" presStyleIdx="3" presStyleCnt="5"/>
      <dgm:spPr/>
    </dgm:pt>
    <dgm:pt modelId="{9C6FEBB9-2F5F-40D9-8847-4AA91C1B7289}" type="pres">
      <dgm:prSet presAssocID="{F691797A-0D28-4C0C-8219-2B2A92CECB7D}" presName="txShp" presStyleLbl="node1" presStyleIdx="3" presStyleCnt="5">
        <dgm:presLayoutVars>
          <dgm:bulletEnabled val="1"/>
        </dgm:presLayoutVars>
      </dgm:prSet>
      <dgm:spPr/>
    </dgm:pt>
    <dgm:pt modelId="{B39A7336-3D7D-4E85-8FF9-30516BB5145E}" type="pres">
      <dgm:prSet presAssocID="{28214046-16F4-43A2-954C-EC22BDB0EBAA}" presName="spacing" presStyleCnt="0"/>
      <dgm:spPr/>
    </dgm:pt>
    <dgm:pt modelId="{1A5F9001-8EC3-41CA-ACD3-9C10C3EC2EEE}" type="pres">
      <dgm:prSet presAssocID="{72B7C834-619B-405B-A937-3A88C1417530}" presName="composite" presStyleCnt="0"/>
      <dgm:spPr/>
    </dgm:pt>
    <dgm:pt modelId="{58C19ACC-B9E2-4B72-B6F4-870DEE5FF120}" type="pres">
      <dgm:prSet presAssocID="{72B7C834-619B-405B-A937-3A88C1417530}" presName="imgShp" presStyleLbl="fgImgPlace1" presStyleIdx="4" presStyleCnt="5"/>
      <dgm:spPr/>
    </dgm:pt>
    <dgm:pt modelId="{1DCA3619-663D-4107-AD34-D80EC6421D26}" type="pres">
      <dgm:prSet presAssocID="{72B7C834-619B-405B-A937-3A88C1417530}" presName="txShp" presStyleLbl="node1" presStyleIdx="4" presStyleCnt="5">
        <dgm:presLayoutVars>
          <dgm:bulletEnabled val="1"/>
        </dgm:presLayoutVars>
      </dgm:prSet>
      <dgm:spPr/>
    </dgm:pt>
  </dgm:ptLst>
  <dgm:cxnLst>
    <dgm:cxn modelId="{21335332-BDDA-404E-A9DF-57DC7C18D490}" type="presOf" srcId="{42AC4A7E-F3A9-4374-AABC-AD21145C7141}" destId="{B7F13AEC-9E84-4251-BEF7-970B9F0F85E9}" srcOrd="0" destOrd="0" presId="urn:microsoft.com/office/officeart/2005/8/layout/vList3"/>
    <dgm:cxn modelId="{79727248-BA46-45BD-A04F-6A4D546F9D3D}" type="presOf" srcId="{22C3F9C2-2029-46D4-970E-A0641A340649}" destId="{33AD6870-955C-443C-8FBB-2C129A6BFAB4}" srcOrd="0" destOrd="0" presId="urn:microsoft.com/office/officeart/2005/8/layout/vList3"/>
    <dgm:cxn modelId="{F59EB56C-B9C4-4679-A4FE-6DD39AA2A158}" type="presOf" srcId="{F691797A-0D28-4C0C-8219-2B2A92CECB7D}" destId="{9C6FEBB9-2F5F-40D9-8847-4AA91C1B7289}" srcOrd="0" destOrd="0" presId="urn:microsoft.com/office/officeart/2005/8/layout/vList3"/>
    <dgm:cxn modelId="{95A1E47D-C593-42B2-9AEE-D1E0133F1161}" type="presOf" srcId="{72B7C834-619B-405B-A937-3A88C1417530}" destId="{1DCA3619-663D-4107-AD34-D80EC6421D26}" srcOrd="0" destOrd="0" presId="urn:microsoft.com/office/officeart/2005/8/layout/vList3"/>
    <dgm:cxn modelId="{DC694D92-56C3-4EA4-ACB4-81E7EDA7482E}" srcId="{42AC4A7E-F3A9-4374-AABC-AD21145C7141}" destId="{72B7C834-619B-405B-A937-3A88C1417530}" srcOrd="4" destOrd="0" parTransId="{A43D9F9A-8532-400A-BF4E-6E8384529DEA}" sibTransId="{B40C9A57-69E3-417E-8A01-6AB489A19943}"/>
    <dgm:cxn modelId="{885D1BC0-0EC6-4DAE-9D18-D5587AB6085B}" srcId="{42AC4A7E-F3A9-4374-AABC-AD21145C7141}" destId="{22C3F9C2-2029-46D4-970E-A0641A340649}" srcOrd="2" destOrd="0" parTransId="{543AA34C-990A-47C2-8F72-1BDB36377E26}" sibTransId="{F5632B76-24E3-41F9-84AE-6EC8A3E3F5FD}"/>
    <dgm:cxn modelId="{757E63C4-592B-424D-BCA1-695492C5A293}" type="presOf" srcId="{C9CF0388-0152-401B-8586-99AC2F25CDD6}" destId="{B51CA2A6-BB89-4767-9D6C-75BB0BA6E2CE}" srcOrd="0" destOrd="0" presId="urn:microsoft.com/office/officeart/2005/8/layout/vList3"/>
    <dgm:cxn modelId="{BDCB1AE1-B601-4D1D-BC65-9AC5F121E8DB}" srcId="{42AC4A7E-F3A9-4374-AABC-AD21145C7141}" destId="{F691797A-0D28-4C0C-8219-2B2A92CECB7D}" srcOrd="3" destOrd="0" parTransId="{BEEDBF83-1879-40CE-B11C-EF1ED6924E3C}" sibTransId="{28214046-16F4-43A2-954C-EC22BDB0EBAA}"/>
    <dgm:cxn modelId="{526578E6-4EC1-4AA6-AA2D-B78FDE4FF643}" type="presOf" srcId="{1E4757C9-7DEC-4C6D-8070-9CD97BA8A230}" destId="{79DE6DD8-BB2C-4CF6-BE8C-15FF35F9617B}" srcOrd="0" destOrd="0" presId="urn:microsoft.com/office/officeart/2005/8/layout/vList3"/>
    <dgm:cxn modelId="{B47924F1-6E69-4D52-9454-2607913293AE}" srcId="{42AC4A7E-F3A9-4374-AABC-AD21145C7141}" destId="{1E4757C9-7DEC-4C6D-8070-9CD97BA8A230}" srcOrd="1" destOrd="0" parTransId="{55FCD2BA-AE69-4DEE-AA27-85046FF78716}" sibTransId="{ADED3DC5-862C-4E98-A4EC-14D06F6C5D7A}"/>
    <dgm:cxn modelId="{C28309F3-DD91-49DD-83A2-DAFA6BA8501A}" srcId="{42AC4A7E-F3A9-4374-AABC-AD21145C7141}" destId="{C9CF0388-0152-401B-8586-99AC2F25CDD6}" srcOrd="0" destOrd="0" parTransId="{F195C0E0-2A68-4EDF-BD07-9A4193ED9EE2}" sibTransId="{90453810-BD80-4AFB-AD6A-CEC542E55102}"/>
    <dgm:cxn modelId="{1BA296CE-F11B-408C-A1F2-BD86436D1EE0}" type="presParOf" srcId="{B7F13AEC-9E84-4251-BEF7-970B9F0F85E9}" destId="{CA14FE0A-BB42-4E29-8AF0-76AE9EA02597}" srcOrd="0" destOrd="0" presId="urn:microsoft.com/office/officeart/2005/8/layout/vList3"/>
    <dgm:cxn modelId="{997E536E-C1E0-4D93-A4FD-697016C48E0C}" type="presParOf" srcId="{CA14FE0A-BB42-4E29-8AF0-76AE9EA02597}" destId="{EA9A78EE-471E-4D9F-9681-9D8B4983BF51}" srcOrd="0" destOrd="0" presId="urn:microsoft.com/office/officeart/2005/8/layout/vList3"/>
    <dgm:cxn modelId="{BC732029-B60B-465D-8042-179B387C9C9D}" type="presParOf" srcId="{CA14FE0A-BB42-4E29-8AF0-76AE9EA02597}" destId="{B51CA2A6-BB89-4767-9D6C-75BB0BA6E2CE}" srcOrd="1" destOrd="0" presId="urn:microsoft.com/office/officeart/2005/8/layout/vList3"/>
    <dgm:cxn modelId="{56A6D94B-9CC6-4FC6-9F96-0336E867875A}" type="presParOf" srcId="{B7F13AEC-9E84-4251-BEF7-970B9F0F85E9}" destId="{B87A79C1-E4B4-4AA4-BA86-977E3533F625}" srcOrd="1" destOrd="0" presId="urn:microsoft.com/office/officeart/2005/8/layout/vList3"/>
    <dgm:cxn modelId="{60789D2E-DD4B-400F-9D01-56D649291626}" type="presParOf" srcId="{B7F13AEC-9E84-4251-BEF7-970B9F0F85E9}" destId="{2BD2E794-0112-449B-966E-92BD36DFD8F7}" srcOrd="2" destOrd="0" presId="urn:microsoft.com/office/officeart/2005/8/layout/vList3"/>
    <dgm:cxn modelId="{D11523CB-006A-41A9-9388-F9120BD49728}" type="presParOf" srcId="{2BD2E794-0112-449B-966E-92BD36DFD8F7}" destId="{730AA5EB-B378-41A1-B6D4-F1F189DED723}" srcOrd="0" destOrd="0" presId="urn:microsoft.com/office/officeart/2005/8/layout/vList3"/>
    <dgm:cxn modelId="{6D48E0F2-E6CC-4CA1-B962-F0E60B3E5426}" type="presParOf" srcId="{2BD2E794-0112-449B-966E-92BD36DFD8F7}" destId="{79DE6DD8-BB2C-4CF6-BE8C-15FF35F9617B}" srcOrd="1" destOrd="0" presId="urn:microsoft.com/office/officeart/2005/8/layout/vList3"/>
    <dgm:cxn modelId="{2BBF822D-C6E9-4E19-920C-71C126A76739}" type="presParOf" srcId="{B7F13AEC-9E84-4251-BEF7-970B9F0F85E9}" destId="{AA04B71F-FD6D-4A5F-8333-F5CAC37E1283}" srcOrd="3" destOrd="0" presId="urn:microsoft.com/office/officeart/2005/8/layout/vList3"/>
    <dgm:cxn modelId="{964D2AF1-74A2-4FFE-812E-CFD081411C3B}" type="presParOf" srcId="{B7F13AEC-9E84-4251-BEF7-970B9F0F85E9}" destId="{5AA5AC11-1CD5-4B41-A735-9C32E65FFF3D}" srcOrd="4" destOrd="0" presId="urn:microsoft.com/office/officeart/2005/8/layout/vList3"/>
    <dgm:cxn modelId="{66057827-769B-4EA5-A50C-12D60FA7A8D7}" type="presParOf" srcId="{5AA5AC11-1CD5-4B41-A735-9C32E65FFF3D}" destId="{FD8CDD31-663E-439A-8309-34ED4673EEA3}" srcOrd="0" destOrd="0" presId="urn:microsoft.com/office/officeart/2005/8/layout/vList3"/>
    <dgm:cxn modelId="{F2058111-A5F3-43B9-8F27-67FF52188B1F}" type="presParOf" srcId="{5AA5AC11-1CD5-4B41-A735-9C32E65FFF3D}" destId="{33AD6870-955C-443C-8FBB-2C129A6BFAB4}" srcOrd="1" destOrd="0" presId="urn:microsoft.com/office/officeart/2005/8/layout/vList3"/>
    <dgm:cxn modelId="{E34AE426-2573-4CF9-9F08-0039AD30D975}" type="presParOf" srcId="{B7F13AEC-9E84-4251-BEF7-970B9F0F85E9}" destId="{7585C886-2126-4B44-97FD-060792E11C62}" srcOrd="5" destOrd="0" presId="urn:microsoft.com/office/officeart/2005/8/layout/vList3"/>
    <dgm:cxn modelId="{40313891-9D0F-42C1-9F3E-7EB741BC8E82}" type="presParOf" srcId="{B7F13AEC-9E84-4251-BEF7-970B9F0F85E9}" destId="{DA5F6F4E-6434-4159-8984-7CB75119E126}" srcOrd="6" destOrd="0" presId="urn:microsoft.com/office/officeart/2005/8/layout/vList3"/>
    <dgm:cxn modelId="{71B9E027-2991-43C6-AFE5-3043DD266BA7}" type="presParOf" srcId="{DA5F6F4E-6434-4159-8984-7CB75119E126}" destId="{C3C55302-ADBE-4FB2-8005-EEF4EC8DE6D7}" srcOrd="0" destOrd="0" presId="urn:microsoft.com/office/officeart/2005/8/layout/vList3"/>
    <dgm:cxn modelId="{AD9DC008-2FA1-493F-871E-0741AC6F0729}" type="presParOf" srcId="{DA5F6F4E-6434-4159-8984-7CB75119E126}" destId="{9C6FEBB9-2F5F-40D9-8847-4AA91C1B7289}" srcOrd="1" destOrd="0" presId="urn:microsoft.com/office/officeart/2005/8/layout/vList3"/>
    <dgm:cxn modelId="{DE330C47-6C19-4C60-95F3-DF5B27665CBD}" type="presParOf" srcId="{B7F13AEC-9E84-4251-BEF7-970B9F0F85E9}" destId="{B39A7336-3D7D-4E85-8FF9-30516BB5145E}" srcOrd="7" destOrd="0" presId="urn:microsoft.com/office/officeart/2005/8/layout/vList3"/>
    <dgm:cxn modelId="{34C98A8E-0C03-454B-9379-694AF3D544D7}" type="presParOf" srcId="{B7F13AEC-9E84-4251-BEF7-970B9F0F85E9}" destId="{1A5F9001-8EC3-41CA-ACD3-9C10C3EC2EEE}" srcOrd="8" destOrd="0" presId="urn:microsoft.com/office/officeart/2005/8/layout/vList3"/>
    <dgm:cxn modelId="{DFEAC2DE-3C1B-4690-97F3-42E29A27B2CE}" type="presParOf" srcId="{1A5F9001-8EC3-41CA-ACD3-9C10C3EC2EEE}" destId="{58C19ACC-B9E2-4B72-B6F4-870DEE5FF120}" srcOrd="0" destOrd="0" presId="urn:microsoft.com/office/officeart/2005/8/layout/vList3"/>
    <dgm:cxn modelId="{0CB67DB1-2BD4-42E1-9084-CFD0E267D869}" type="presParOf" srcId="{1A5F9001-8EC3-41CA-ACD3-9C10C3EC2EEE}" destId="{1DCA3619-663D-4107-AD34-D80EC6421D2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AC4A7E-F3A9-4374-AABC-AD21145C7141}" type="doc">
      <dgm:prSet loTypeId="urn:microsoft.com/office/officeart/2005/8/layout/vList3" loCatId="list" qsTypeId="urn:microsoft.com/office/officeart/2005/8/quickstyle/simple1" qsCatId="simple" csTypeId="urn:microsoft.com/office/officeart/2005/8/colors/accent1_1" csCatId="accent1" phldr="1"/>
      <dgm:spPr/>
      <dgm:t>
        <a:bodyPr/>
        <a:lstStyle/>
        <a:p>
          <a:endParaRPr lang="es-PE"/>
        </a:p>
      </dgm:t>
    </dgm:pt>
    <dgm:pt modelId="{C9CF0388-0152-401B-8586-99AC2F25CDD6}">
      <dgm:prSet phldrT="[Texto]"/>
      <dgm:spPr/>
      <dgm:t>
        <a:bodyPr/>
        <a:lstStyle/>
        <a:p>
          <a:r>
            <a:rPr lang="es-ES" b="1" dirty="0"/>
            <a:t>No hay correlación espuria: </a:t>
          </a:r>
          <a:r>
            <a:rPr lang="es-ES" dirty="0"/>
            <a:t>La correlación no se debe a un accidente aleatorio. La ley de los grandes números dicta que cuantos más datos tengamos, más creíble es esta suposición.</a:t>
          </a:r>
          <a:endParaRPr lang="es-PE" dirty="0"/>
        </a:p>
      </dgm:t>
    </dgm:pt>
    <dgm:pt modelId="{F195C0E0-2A68-4EDF-BD07-9A4193ED9EE2}" type="parTrans" cxnId="{C28309F3-DD91-49DD-83A2-DAFA6BA8501A}">
      <dgm:prSet/>
      <dgm:spPr/>
      <dgm:t>
        <a:bodyPr/>
        <a:lstStyle/>
        <a:p>
          <a:endParaRPr lang="es-PE"/>
        </a:p>
      </dgm:t>
    </dgm:pt>
    <dgm:pt modelId="{90453810-BD80-4AFB-AD6A-CEC542E55102}" type="sibTrans" cxnId="{C28309F3-DD91-49DD-83A2-DAFA6BA8501A}">
      <dgm:prSet/>
      <dgm:spPr/>
      <dgm:t>
        <a:bodyPr/>
        <a:lstStyle/>
        <a:p>
          <a:endParaRPr lang="es-PE"/>
        </a:p>
      </dgm:t>
    </dgm:pt>
    <dgm:pt modelId="{1E4757C9-7DEC-4C6D-8070-9CD97BA8A230}">
      <dgm:prSet phldrT="[Texto]"/>
      <dgm:spPr/>
      <dgm:t>
        <a:bodyPr/>
        <a:lstStyle/>
        <a:p>
          <a:r>
            <a:rPr lang="es-ES" b="1" dirty="0"/>
            <a:t>Coherencia:</a:t>
          </a:r>
          <a:r>
            <a:rPr lang="es-ES" dirty="0"/>
            <a:t> Los valores de A que se ven son los valores reales de A «los valores del tratamiento en comparación corresponden a intervenciones bien definidas, corresponden a una única versión del tratamiento, y no efecto de </a:t>
          </a:r>
          <a:r>
            <a:rPr lang="es-ES" dirty="0" err="1"/>
            <a:t>spill-over</a:t>
          </a:r>
          <a:r>
            <a:rPr lang="es-ES" dirty="0"/>
            <a:t>»</a:t>
          </a:r>
          <a:endParaRPr lang="es-PE" dirty="0"/>
        </a:p>
      </dgm:t>
    </dgm:pt>
    <dgm:pt modelId="{55FCD2BA-AE69-4DEE-AA27-85046FF78716}" type="parTrans" cxnId="{B47924F1-6E69-4D52-9454-2607913293AE}">
      <dgm:prSet/>
      <dgm:spPr/>
      <dgm:t>
        <a:bodyPr/>
        <a:lstStyle/>
        <a:p>
          <a:endParaRPr lang="es-PE"/>
        </a:p>
      </dgm:t>
    </dgm:pt>
    <dgm:pt modelId="{ADED3DC5-862C-4E98-A4EC-14D06F6C5D7A}" type="sibTrans" cxnId="{B47924F1-6E69-4D52-9454-2607913293AE}">
      <dgm:prSet/>
      <dgm:spPr/>
      <dgm:t>
        <a:bodyPr/>
        <a:lstStyle/>
        <a:p>
          <a:endParaRPr lang="es-PE"/>
        </a:p>
      </dgm:t>
    </dgm:pt>
    <dgm:pt modelId="{F691797A-0D28-4C0C-8219-2B2A92CECB7D}">
      <dgm:prSet phldrT="[Texto]"/>
      <dgm:spPr/>
      <dgm:t>
        <a:bodyPr/>
        <a:lstStyle/>
        <a:p>
          <a:r>
            <a:rPr lang="es-ES" b="1" dirty="0"/>
            <a:t>Positividad: </a:t>
          </a:r>
          <a:r>
            <a:rPr lang="es-ES" dirty="0"/>
            <a:t>«la probabilidad de recibir cada valor de tratamiento condicional a L es mayor que cero, es decir, positiva» Hernán y </a:t>
          </a:r>
          <a:r>
            <a:rPr lang="es-ES" dirty="0" err="1"/>
            <a:t>Robins</a:t>
          </a:r>
          <a:r>
            <a:rPr lang="es-ES" dirty="0"/>
            <a:t> (2020).</a:t>
          </a:r>
          <a:endParaRPr lang="es-PE" dirty="0"/>
        </a:p>
      </dgm:t>
    </dgm:pt>
    <dgm:pt modelId="{BEEDBF83-1879-40CE-B11C-EF1ED6924E3C}" type="parTrans" cxnId="{BDCB1AE1-B601-4D1D-BC65-9AC5F121E8DB}">
      <dgm:prSet/>
      <dgm:spPr/>
      <dgm:t>
        <a:bodyPr/>
        <a:lstStyle/>
        <a:p>
          <a:endParaRPr lang="es-PE"/>
        </a:p>
      </dgm:t>
    </dgm:pt>
    <dgm:pt modelId="{28214046-16F4-43A2-954C-EC22BDB0EBAA}" type="sibTrans" cxnId="{BDCB1AE1-B601-4D1D-BC65-9AC5F121E8DB}">
      <dgm:prSet/>
      <dgm:spPr/>
      <dgm:t>
        <a:bodyPr/>
        <a:lstStyle/>
        <a:p>
          <a:endParaRPr lang="es-PE"/>
        </a:p>
      </dgm:t>
    </dgm:pt>
    <dgm:pt modelId="{72B7C834-619B-405B-A937-3A88C1417530}">
      <dgm:prSet phldrT="[Texto]"/>
      <dgm:spPr/>
      <dgm:t>
        <a:bodyPr/>
        <a:lstStyle/>
        <a:p>
          <a:r>
            <a:rPr lang="es-ES" b="1" dirty="0" err="1"/>
            <a:t>Fidedignidad</a:t>
          </a:r>
          <a:r>
            <a:rPr lang="es-ES" b="1" dirty="0"/>
            <a:t>:</a:t>
          </a:r>
          <a:r>
            <a:rPr lang="es-ES" dirty="0"/>
            <a:t> El efecto causal no varía a lo largo de los grupos de forma que se promedie a 0 en los datos. A no tiene un efecto positivo el 50% de las veces y un efecto negativo idénticamente potente el 50% de las veces, que promediaría a un efecto de 0 en la población.</a:t>
          </a:r>
          <a:endParaRPr lang="es-PE" dirty="0"/>
        </a:p>
      </dgm:t>
    </dgm:pt>
    <dgm:pt modelId="{A43D9F9A-8532-400A-BF4E-6E8384529DEA}" type="parTrans" cxnId="{DC694D92-56C3-4EA4-ACB4-81E7EDA7482E}">
      <dgm:prSet/>
      <dgm:spPr/>
      <dgm:t>
        <a:bodyPr/>
        <a:lstStyle/>
        <a:p>
          <a:endParaRPr lang="es-PE"/>
        </a:p>
      </dgm:t>
    </dgm:pt>
    <dgm:pt modelId="{B40C9A57-69E3-417E-8A01-6AB489A19943}" type="sibTrans" cxnId="{DC694D92-56C3-4EA4-ACB4-81E7EDA7482E}">
      <dgm:prSet/>
      <dgm:spPr/>
      <dgm:t>
        <a:bodyPr/>
        <a:lstStyle/>
        <a:p>
          <a:endParaRPr lang="es-PE"/>
        </a:p>
      </dgm:t>
    </dgm:pt>
    <dgm:pt modelId="{22C3F9C2-2029-46D4-970E-A0641A340649}">
      <dgm:prSet phldrT="[Texto]"/>
      <dgm:spPr/>
      <dgm:t>
        <a:bodyPr/>
        <a:lstStyle/>
        <a:p>
          <a:r>
            <a:rPr lang="es-ES" b="1" dirty="0"/>
            <a:t>Intercambiabilidad: </a:t>
          </a:r>
          <a:r>
            <a:rPr lang="es-ES" dirty="0"/>
            <a:t>«la probabilidad condicional de recibir cada valor de tratamiento, aunque no decidida por los investigadores, depende sólo de las covariables medidas» Hernán y </a:t>
          </a:r>
          <a:r>
            <a:rPr lang="es-ES" dirty="0" err="1"/>
            <a:t>Robins</a:t>
          </a:r>
          <a:r>
            <a:rPr lang="es-ES" dirty="0"/>
            <a:t> (2020).</a:t>
          </a:r>
          <a:endParaRPr lang="es-PE" dirty="0"/>
        </a:p>
      </dgm:t>
    </dgm:pt>
    <dgm:pt modelId="{F5632B76-24E3-41F9-84AE-6EC8A3E3F5FD}" type="sibTrans" cxnId="{885D1BC0-0EC6-4DAE-9D18-D5587AB6085B}">
      <dgm:prSet/>
      <dgm:spPr/>
      <dgm:t>
        <a:bodyPr/>
        <a:lstStyle/>
        <a:p>
          <a:endParaRPr lang="es-PE"/>
        </a:p>
      </dgm:t>
    </dgm:pt>
    <dgm:pt modelId="{543AA34C-990A-47C2-8F72-1BDB36377E26}" type="parTrans" cxnId="{885D1BC0-0EC6-4DAE-9D18-D5587AB6085B}">
      <dgm:prSet/>
      <dgm:spPr/>
      <dgm:t>
        <a:bodyPr/>
        <a:lstStyle/>
        <a:p>
          <a:endParaRPr lang="es-PE"/>
        </a:p>
      </dgm:t>
    </dgm:pt>
    <dgm:pt modelId="{B7F13AEC-9E84-4251-BEF7-970B9F0F85E9}" type="pres">
      <dgm:prSet presAssocID="{42AC4A7E-F3A9-4374-AABC-AD21145C7141}" presName="linearFlow" presStyleCnt="0">
        <dgm:presLayoutVars>
          <dgm:dir/>
          <dgm:resizeHandles val="exact"/>
        </dgm:presLayoutVars>
      </dgm:prSet>
      <dgm:spPr/>
    </dgm:pt>
    <dgm:pt modelId="{CA14FE0A-BB42-4E29-8AF0-76AE9EA02597}" type="pres">
      <dgm:prSet presAssocID="{C9CF0388-0152-401B-8586-99AC2F25CDD6}" presName="composite" presStyleCnt="0"/>
      <dgm:spPr/>
    </dgm:pt>
    <dgm:pt modelId="{EA9A78EE-471E-4D9F-9681-9D8B4983BF51}" type="pres">
      <dgm:prSet presAssocID="{C9CF0388-0152-401B-8586-99AC2F25CDD6}" presName="imgShp" presStyleLbl="fgImgPlace1" presStyleIdx="0" presStyleCnt="5"/>
      <dgm:spPr/>
    </dgm:pt>
    <dgm:pt modelId="{B51CA2A6-BB89-4767-9D6C-75BB0BA6E2CE}" type="pres">
      <dgm:prSet presAssocID="{C9CF0388-0152-401B-8586-99AC2F25CDD6}" presName="txShp" presStyleLbl="node1" presStyleIdx="0" presStyleCnt="5">
        <dgm:presLayoutVars>
          <dgm:bulletEnabled val="1"/>
        </dgm:presLayoutVars>
      </dgm:prSet>
      <dgm:spPr/>
    </dgm:pt>
    <dgm:pt modelId="{B87A79C1-E4B4-4AA4-BA86-977E3533F625}" type="pres">
      <dgm:prSet presAssocID="{90453810-BD80-4AFB-AD6A-CEC542E55102}" presName="spacing" presStyleCnt="0"/>
      <dgm:spPr/>
    </dgm:pt>
    <dgm:pt modelId="{2BD2E794-0112-449B-966E-92BD36DFD8F7}" type="pres">
      <dgm:prSet presAssocID="{1E4757C9-7DEC-4C6D-8070-9CD97BA8A230}" presName="composite" presStyleCnt="0"/>
      <dgm:spPr/>
    </dgm:pt>
    <dgm:pt modelId="{730AA5EB-B378-41A1-B6D4-F1F189DED723}" type="pres">
      <dgm:prSet presAssocID="{1E4757C9-7DEC-4C6D-8070-9CD97BA8A230}" presName="imgShp" presStyleLbl="fgImgPlace1" presStyleIdx="1" presStyleCnt="5"/>
      <dgm:spPr/>
    </dgm:pt>
    <dgm:pt modelId="{79DE6DD8-BB2C-4CF6-BE8C-15FF35F9617B}" type="pres">
      <dgm:prSet presAssocID="{1E4757C9-7DEC-4C6D-8070-9CD97BA8A230}" presName="txShp" presStyleLbl="node1" presStyleIdx="1" presStyleCnt="5">
        <dgm:presLayoutVars>
          <dgm:bulletEnabled val="1"/>
        </dgm:presLayoutVars>
      </dgm:prSet>
      <dgm:spPr/>
    </dgm:pt>
    <dgm:pt modelId="{AA04B71F-FD6D-4A5F-8333-F5CAC37E1283}" type="pres">
      <dgm:prSet presAssocID="{ADED3DC5-862C-4E98-A4EC-14D06F6C5D7A}" presName="spacing" presStyleCnt="0"/>
      <dgm:spPr/>
    </dgm:pt>
    <dgm:pt modelId="{5AA5AC11-1CD5-4B41-A735-9C32E65FFF3D}" type="pres">
      <dgm:prSet presAssocID="{22C3F9C2-2029-46D4-970E-A0641A340649}" presName="composite" presStyleCnt="0"/>
      <dgm:spPr/>
    </dgm:pt>
    <dgm:pt modelId="{FD8CDD31-663E-439A-8309-34ED4673EEA3}" type="pres">
      <dgm:prSet presAssocID="{22C3F9C2-2029-46D4-970E-A0641A340649}" presName="imgShp" presStyleLbl="fgImgPlace1" presStyleIdx="2" presStyleCnt="5"/>
      <dgm:spPr/>
    </dgm:pt>
    <dgm:pt modelId="{33AD6870-955C-443C-8FBB-2C129A6BFAB4}" type="pres">
      <dgm:prSet presAssocID="{22C3F9C2-2029-46D4-970E-A0641A340649}" presName="txShp" presStyleLbl="node1" presStyleIdx="2" presStyleCnt="5">
        <dgm:presLayoutVars>
          <dgm:bulletEnabled val="1"/>
        </dgm:presLayoutVars>
      </dgm:prSet>
      <dgm:spPr/>
    </dgm:pt>
    <dgm:pt modelId="{7585C886-2126-4B44-97FD-060792E11C62}" type="pres">
      <dgm:prSet presAssocID="{F5632B76-24E3-41F9-84AE-6EC8A3E3F5FD}" presName="spacing" presStyleCnt="0"/>
      <dgm:spPr/>
    </dgm:pt>
    <dgm:pt modelId="{DA5F6F4E-6434-4159-8984-7CB75119E126}" type="pres">
      <dgm:prSet presAssocID="{F691797A-0D28-4C0C-8219-2B2A92CECB7D}" presName="composite" presStyleCnt="0"/>
      <dgm:spPr/>
    </dgm:pt>
    <dgm:pt modelId="{C3C55302-ADBE-4FB2-8005-EEF4EC8DE6D7}" type="pres">
      <dgm:prSet presAssocID="{F691797A-0D28-4C0C-8219-2B2A92CECB7D}" presName="imgShp" presStyleLbl="fgImgPlace1" presStyleIdx="3" presStyleCnt="5"/>
      <dgm:spPr/>
    </dgm:pt>
    <dgm:pt modelId="{9C6FEBB9-2F5F-40D9-8847-4AA91C1B7289}" type="pres">
      <dgm:prSet presAssocID="{F691797A-0D28-4C0C-8219-2B2A92CECB7D}" presName="txShp" presStyleLbl="node1" presStyleIdx="3" presStyleCnt="5">
        <dgm:presLayoutVars>
          <dgm:bulletEnabled val="1"/>
        </dgm:presLayoutVars>
      </dgm:prSet>
      <dgm:spPr/>
    </dgm:pt>
    <dgm:pt modelId="{B39A7336-3D7D-4E85-8FF9-30516BB5145E}" type="pres">
      <dgm:prSet presAssocID="{28214046-16F4-43A2-954C-EC22BDB0EBAA}" presName="spacing" presStyleCnt="0"/>
      <dgm:spPr/>
    </dgm:pt>
    <dgm:pt modelId="{1A5F9001-8EC3-41CA-ACD3-9C10C3EC2EEE}" type="pres">
      <dgm:prSet presAssocID="{72B7C834-619B-405B-A937-3A88C1417530}" presName="composite" presStyleCnt="0"/>
      <dgm:spPr/>
    </dgm:pt>
    <dgm:pt modelId="{58C19ACC-B9E2-4B72-B6F4-870DEE5FF120}" type="pres">
      <dgm:prSet presAssocID="{72B7C834-619B-405B-A937-3A88C1417530}" presName="imgShp" presStyleLbl="fgImgPlace1" presStyleIdx="4" presStyleCnt="5"/>
      <dgm:spPr/>
    </dgm:pt>
    <dgm:pt modelId="{1DCA3619-663D-4107-AD34-D80EC6421D26}" type="pres">
      <dgm:prSet presAssocID="{72B7C834-619B-405B-A937-3A88C1417530}" presName="txShp" presStyleLbl="node1" presStyleIdx="4" presStyleCnt="5">
        <dgm:presLayoutVars>
          <dgm:bulletEnabled val="1"/>
        </dgm:presLayoutVars>
      </dgm:prSet>
      <dgm:spPr/>
    </dgm:pt>
  </dgm:ptLst>
  <dgm:cxnLst>
    <dgm:cxn modelId="{21335332-BDDA-404E-A9DF-57DC7C18D490}" type="presOf" srcId="{42AC4A7E-F3A9-4374-AABC-AD21145C7141}" destId="{B7F13AEC-9E84-4251-BEF7-970B9F0F85E9}" srcOrd="0" destOrd="0" presId="urn:microsoft.com/office/officeart/2005/8/layout/vList3"/>
    <dgm:cxn modelId="{79727248-BA46-45BD-A04F-6A4D546F9D3D}" type="presOf" srcId="{22C3F9C2-2029-46D4-970E-A0641A340649}" destId="{33AD6870-955C-443C-8FBB-2C129A6BFAB4}" srcOrd="0" destOrd="0" presId="urn:microsoft.com/office/officeart/2005/8/layout/vList3"/>
    <dgm:cxn modelId="{F59EB56C-B9C4-4679-A4FE-6DD39AA2A158}" type="presOf" srcId="{F691797A-0D28-4C0C-8219-2B2A92CECB7D}" destId="{9C6FEBB9-2F5F-40D9-8847-4AA91C1B7289}" srcOrd="0" destOrd="0" presId="urn:microsoft.com/office/officeart/2005/8/layout/vList3"/>
    <dgm:cxn modelId="{95A1E47D-C593-42B2-9AEE-D1E0133F1161}" type="presOf" srcId="{72B7C834-619B-405B-A937-3A88C1417530}" destId="{1DCA3619-663D-4107-AD34-D80EC6421D26}" srcOrd="0" destOrd="0" presId="urn:microsoft.com/office/officeart/2005/8/layout/vList3"/>
    <dgm:cxn modelId="{DC694D92-56C3-4EA4-ACB4-81E7EDA7482E}" srcId="{42AC4A7E-F3A9-4374-AABC-AD21145C7141}" destId="{72B7C834-619B-405B-A937-3A88C1417530}" srcOrd="4" destOrd="0" parTransId="{A43D9F9A-8532-400A-BF4E-6E8384529DEA}" sibTransId="{B40C9A57-69E3-417E-8A01-6AB489A19943}"/>
    <dgm:cxn modelId="{885D1BC0-0EC6-4DAE-9D18-D5587AB6085B}" srcId="{42AC4A7E-F3A9-4374-AABC-AD21145C7141}" destId="{22C3F9C2-2029-46D4-970E-A0641A340649}" srcOrd="2" destOrd="0" parTransId="{543AA34C-990A-47C2-8F72-1BDB36377E26}" sibTransId="{F5632B76-24E3-41F9-84AE-6EC8A3E3F5FD}"/>
    <dgm:cxn modelId="{757E63C4-592B-424D-BCA1-695492C5A293}" type="presOf" srcId="{C9CF0388-0152-401B-8586-99AC2F25CDD6}" destId="{B51CA2A6-BB89-4767-9D6C-75BB0BA6E2CE}" srcOrd="0" destOrd="0" presId="urn:microsoft.com/office/officeart/2005/8/layout/vList3"/>
    <dgm:cxn modelId="{BDCB1AE1-B601-4D1D-BC65-9AC5F121E8DB}" srcId="{42AC4A7E-F3A9-4374-AABC-AD21145C7141}" destId="{F691797A-0D28-4C0C-8219-2B2A92CECB7D}" srcOrd="3" destOrd="0" parTransId="{BEEDBF83-1879-40CE-B11C-EF1ED6924E3C}" sibTransId="{28214046-16F4-43A2-954C-EC22BDB0EBAA}"/>
    <dgm:cxn modelId="{526578E6-4EC1-4AA6-AA2D-B78FDE4FF643}" type="presOf" srcId="{1E4757C9-7DEC-4C6D-8070-9CD97BA8A230}" destId="{79DE6DD8-BB2C-4CF6-BE8C-15FF35F9617B}" srcOrd="0" destOrd="0" presId="urn:microsoft.com/office/officeart/2005/8/layout/vList3"/>
    <dgm:cxn modelId="{B47924F1-6E69-4D52-9454-2607913293AE}" srcId="{42AC4A7E-F3A9-4374-AABC-AD21145C7141}" destId="{1E4757C9-7DEC-4C6D-8070-9CD97BA8A230}" srcOrd="1" destOrd="0" parTransId="{55FCD2BA-AE69-4DEE-AA27-85046FF78716}" sibTransId="{ADED3DC5-862C-4E98-A4EC-14D06F6C5D7A}"/>
    <dgm:cxn modelId="{C28309F3-DD91-49DD-83A2-DAFA6BA8501A}" srcId="{42AC4A7E-F3A9-4374-AABC-AD21145C7141}" destId="{C9CF0388-0152-401B-8586-99AC2F25CDD6}" srcOrd="0" destOrd="0" parTransId="{F195C0E0-2A68-4EDF-BD07-9A4193ED9EE2}" sibTransId="{90453810-BD80-4AFB-AD6A-CEC542E55102}"/>
    <dgm:cxn modelId="{1BA296CE-F11B-408C-A1F2-BD86436D1EE0}" type="presParOf" srcId="{B7F13AEC-9E84-4251-BEF7-970B9F0F85E9}" destId="{CA14FE0A-BB42-4E29-8AF0-76AE9EA02597}" srcOrd="0" destOrd="0" presId="urn:microsoft.com/office/officeart/2005/8/layout/vList3"/>
    <dgm:cxn modelId="{997E536E-C1E0-4D93-A4FD-697016C48E0C}" type="presParOf" srcId="{CA14FE0A-BB42-4E29-8AF0-76AE9EA02597}" destId="{EA9A78EE-471E-4D9F-9681-9D8B4983BF51}" srcOrd="0" destOrd="0" presId="urn:microsoft.com/office/officeart/2005/8/layout/vList3"/>
    <dgm:cxn modelId="{BC732029-B60B-465D-8042-179B387C9C9D}" type="presParOf" srcId="{CA14FE0A-BB42-4E29-8AF0-76AE9EA02597}" destId="{B51CA2A6-BB89-4767-9D6C-75BB0BA6E2CE}" srcOrd="1" destOrd="0" presId="urn:microsoft.com/office/officeart/2005/8/layout/vList3"/>
    <dgm:cxn modelId="{56A6D94B-9CC6-4FC6-9F96-0336E867875A}" type="presParOf" srcId="{B7F13AEC-9E84-4251-BEF7-970B9F0F85E9}" destId="{B87A79C1-E4B4-4AA4-BA86-977E3533F625}" srcOrd="1" destOrd="0" presId="urn:microsoft.com/office/officeart/2005/8/layout/vList3"/>
    <dgm:cxn modelId="{60789D2E-DD4B-400F-9D01-56D649291626}" type="presParOf" srcId="{B7F13AEC-9E84-4251-BEF7-970B9F0F85E9}" destId="{2BD2E794-0112-449B-966E-92BD36DFD8F7}" srcOrd="2" destOrd="0" presId="urn:microsoft.com/office/officeart/2005/8/layout/vList3"/>
    <dgm:cxn modelId="{D11523CB-006A-41A9-9388-F9120BD49728}" type="presParOf" srcId="{2BD2E794-0112-449B-966E-92BD36DFD8F7}" destId="{730AA5EB-B378-41A1-B6D4-F1F189DED723}" srcOrd="0" destOrd="0" presId="urn:microsoft.com/office/officeart/2005/8/layout/vList3"/>
    <dgm:cxn modelId="{6D48E0F2-E6CC-4CA1-B962-F0E60B3E5426}" type="presParOf" srcId="{2BD2E794-0112-449B-966E-92BD36DFD8F7}" destId="{79DE6DD8-BB2C-4CF6-BE8C-15FF35F9617B}" srcOrd="1" destOrd="0" presId="urn:microsoft.com/office/officeart/2005/8/layout/vList3"/>
    <dgm:cxn modelId="{2BBF822D-C6E9-4E19-920C-71C126A76739}" type="presParOf" srcId="{B7F13AEC-9E84-4251-BEF7-970B9F0F85E9}" destId="{AA04B71F-FD6D-4A5F-8333-F5CAC37E1283}" srcOrd="3" destOrd="0" presId="urn:microsoft.com/office/officeart/2005/8/layout/vList3"/>
    <dgm:cxn modelId="{964D2AF1-74A2-4FFE-812E-CFD081411C3B}" type="presParOf" srcId="{B7F13AEC-9E84-4251-BEF7-970B9F0F85E9}" destId="{5AA5AC11-1CD5-4B41-A735-9C32E65FFF3D}" srcOrd="4" destOrd="0" presId="urn:microsoft.com/office/officeart/2005/8/layout/vList3"/>
    <dgm:cxn modelId="{66057827-769B-4EA5-A50C-12D60FA7A8D7}" type="presParOf" srcId="{5AA5AC11-1CD5-4B41-A735-9C32E65FFF3D}" destId="{FD8CDD31-663E-439A-8309-34ED4673EEA3}" srcOrd="0" destOrd="0" presId="urn:microsoft.com/office/officeart/2005/8/layout/vList3"/>
    <dgm:cxn modelId="{F2058111-A5F3-43B9-8F27-67FF52188B1F}" type="presParOf" srcId="{5AA5AC11-1CD5-4B41-A735-9C32E65FFF3D}" destId="{33AD6870-955C-443C-8FBB-2C129A6BFAB4}" srcOrd="1" destOrd="0" presId="urn:microsoft.com/office/officeart/2005/8/layout/vList3"/>
    <dgm:cxn modelId="{E34AE426-2573-4CF9-9F08-0039AD30D975}" type="presParOf" srcId="{B7F13AEC-9E84-4251-BEF7-970B9F0F85E9}" destId="{7585C886-2126-4B44-97FD-060792E11C62}" srcOrd="5" destOrd="0" presId="urn:microsoft.com/office/officeart/2005/8/layout/vList3"/>
    <dgm:cxn modelId="{40313891-9D0F-42C1-9F3E-7EB741BC8E82}" type="presParOf" srcId="{B7F13AEC-9E84-4251-BEF7-970B9F0F85E9}" destId="{DA5F6F4E-6434-4159-8984-7CB75119E126}" srcOrd="6" destOrd="0" presId="urn:microsoft.com/office/officeart/2005/8/layout/vList3"/>
    <dgm:cxn modelId="{71B9E027-2991-43C6-AFE5-3043DD266BA7}" type="presParOf" srcId="{DA5F6F4E-6434-4159-8984-7CB75119E126}" destId="{C3C55302-ADBE-4FB2-8005-EEF4EC8DE6D7}" srcOrd="0" destOrd="0" presId="urn:microsoft.com/office/officeart/2005/8/layout/vList3"/>
    <dgm:cxn modelId="{AD9DC008-2FA1-493F-871E-0741AC6F0729}" type="presParOf" srcId="{DA5F6F4E-6434-4159-8984-7CB75119E126}" destId="{9C6FEBB9-2F5F-40D9-8847-4AA91C1B7289}" srcOrd="1" destOrd="0" presId="urn:microsoft.com/office/officeart/2005/8/layout/vList3"/>
    <dgm:cxn modelId="{DE330C47-6C19-4C60-95F3-DF5B27665CBD}" type="presParOf" srcId="{B7F13AEC-9E84-4251-BEF7-970B9F0F85E9}" destId="{B39A7336-3D7D-4E85-8FF9-30516BB5145E}" srcOrd="7" destOrd="0" presId="urn:microsoft.com/office/officeart/2005/8/layout/vList3"/>
    <dgm:cxn modelId="{34C98A8E-0C03-454B-9379-694AF3D544D7}" type="presParOf" srcId="{B7F13AEC-9E84-4251-BEF7-970B9F0F85E9}" destId="{1A5F9001-8EC3-41CA-ACD3-9C10C3EC2EEE}" srcOrd="8" destOrd="0" presId="urn:microsoft.com/office/officeart/2005/8/layout/vList3"/>
    <dgm:cxn modelId="{DFEAC2DE-3C1B-4690-97F3-42E29A27B2CE}" type="presParOf" srcId="{1A5F9001-8EC3-41CA-ACD3-9C10C3EC2EEE}" destId="{58C19ACC-B9E2-4B72-B6F4-870DEE5FF120}" srcOrd="0" destOrd="0" presId="urn:microsoft.com/office/officeart/2005/8/layout/vList3"/>
    <dgm:cxn modelId="{0CB67DB1-2BD4-42E1-9084-CFD0E267D869}" type="presParOf" srcId="{1A5F9001-8EC3-41CA-ACD3-9C10C3EC2EEE}" destId="{1DCA3619-663D-4107-AD34-D80EC6421D2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2AC4A7E-F3A9-4374-AABC-AD21145C7141}" type="doc">
      <dgm:prSet loTypeId="urn:microsoft.com/office/officeart/2005/8/layout/vList3" loCatId="list" qsTypeId="urn:microsoft.com/office/officeart/2005/8/quickstyle/simple1" qsCatId="simple" csTypeId="urn:microsoft.com/office/officeart/2005/8/colors/accent1_1" csCatId="accent1" phldr="1"/>
      <dgm:spPr/>
      <dgm:t>
        <a:bodyPr/>
        <a:lstStyle/>
        <a:p>
          <a:endParaRPr lang="es-PE"/>
        </a:p>
      </dgm:t>
    </dgm:pt>
    <dgm:pt modelId="{C9CF0388-0152-401B-8586-99AC2F25CDD6}">
      <dgm:prSet phldrT="[Texto]"/>
      <dgm:spPr/>
      <dgm:t>
        <a:bodyPr/>
        <a:lstStyle/>
        <a:p>
          <a:r>
            <a:rPr lang="es-ES" b="1" dirty="0"/>
            <a:t>No hay correlación espuria: </a:t>
          </a:r>
          <a:r>
            <a:rPr lang="es-ES" dirty="0"/>
            <a:t>La correlación no se debe a un accidente aleatorio. La ley de los grandes números dicta que cuantos más datos tengamos, más creíble es esta suposición.</a:t>
          </a:r>
          <a:endParaRPr lang="es-PE" dirty="0"/>
        </a:p>
      </dgm:t>
    </dgm:pt>
    <dgm:pt modelId="{F195C0E0-2A68-4EDF-BD07-9A4193ED9EE2}" type="parTrans" cxnId="{C28309F3-DD91-49DD-83A2-DAFA6BA8501A}">
      <dgm:prSet/>
      <dgm:spPr/>
      <dgm:t>
        <a:bodyPr/>
        <a:lstStyle/>
        <a:p>
          <a:endParaRPr lang="es-PE"/>
        </a:p>
      </dgm:t>
    </dgm:pt>
    <dgm:pt modelId="{90453810-BD80-4AFB-AD6A-CEC542E55102}" type="sibTrans" cxnId="{C28309F3-DD91-49DD-83A2-DAFA6BA8501A}">
      <dgm:prSet/>
      <dgm:spPr/>
      <dgm:t>
        <a:bodyPr/>
        <a:lstStyle/>
        <a:p>
          <a:endParaRPr lang="es-PE"/>
        </a:p>
      </dgm:t>
    </dgm:pt>
    <dgm:pt modelId="{1E4757C9-7DEC-4C6D-8070-9CD97BA8A230}">
      <dgm:prSet phldrT="[Texto]"/>
      <dgm:spPr/>
      <dgm:t>
        <a:bodyPr/>
        <a:lstStyle/>
        <a:p>
          <a:r>
            <a:rPr lang="es-ES" b="1" dirty="0"/>
            <a:t>Coherencia:</a:t>
          </a:r>
          <a:r>
            <a:rPr lang="es-ES" dirty="0"/>
            <a:t> Los valores de A que se ven son los valores reales de A «los valores del tratamiento en comparación corresponden a intervenciones bien definidas, corresponden a una única versión del tratamiento, y no efecto de </a:t>
          </a:r>
          <a:r>
            <a:rPr lang="es-ES" dirty="0" err="1"/>
            <a:t>spill-over</a:t>
          </a:r>
          <a:r>
            <a:rPr lang="es-ES" dirty="0"/>
            <a:t>»</a:t>
          </a:r>
          <a:endParaRPr lang="es-PE" dirty="0"/>
        </a:p>
      </dgm:t>
    </dgm:pt>
    <dgm:pt modelId="{55FCD2BA-AE69-4DEE-AA27-85046FF78716}" type="parTrans" cxnId="{B47924F1-6E69-4D52-9454-2607913293AE}">
      <dgm:prSet/>
      <dgm:spPr/>
      <dgm:t>
        <a:bodyPr/>
        <a:lstStyle/>
        <a:p>
          <a:endParaRPr lang="es-PE"/>
        </a:p>
      </dgm:t>
    </dgm:pt>
    <dgm:pt modelId="{ADED3DC5-862C-4E98-A4EC-14D06F6C5D7A}" type="sibTrans" cxnId="{B47924F1-6E69-4D52-9454-2607913293AE}">
      <dgm:prSet/>
      <dgm:spPr/>
      <dgm:t>
        <a:bodyPr/>
        <a:lstStyle/>
        <a:p>
          <a:endParaRPr lang="es-PE"/>
        </a:p>
      </dgm:t>
    </dgm:pt>
    <dgm:pt modelId="{F691797A-0D28-4C0C-8219-2B2A92CECB7D}">
      <dgm:prSet phldrT="[Texto]"/>
      <dgm:spPr/>
      <dgm:t>
        <a:bodyPr/>
        <a:lstStyle/>
        <a:p>
          <a:r>
            <a:rPr lang="es-ES" b="1" dirty="0"/>
            <a:t>Positividad: </a:t>
          </a:r>
          <a:r>
            <a:rPr lang="es-ES" dirty="0"/>
            <a:t>«la probabilidad de recibir cada valor de tratamiento condicional a L es mayor que cero, es decir, positiva» Hernán y </a:t>
          </a:r>
          <a:r>
            <a:rPr lang="es-ES" dirty="0" err="1"/>
            <a:t>Robins</a:t>
          </a:r>
          <a:r>
            <a:rPr lang="es-ES" dirty="0"/>
            <a:t> (2020).</a:t>
          </a:r>
          <a:endParaRPr lang="es-PE" dirty="0"/>
        </a:p>
      </dgm:t>
    </dgm:pt>
    <dgm:pt modelId="{BEEDBF83-1879-40CE-B11C-EF1ED6924E3C}" type="parTrans" cxnId="{BDCB1AE1-B601-4D1D-BC65-9AC5F121E8DB}">
      <dgm:prSet/>
      <dgm:spPr/>
      <dgm:t>
        <a:bodyPr/>
        <a:lstStyle/>
        <a:p>
          <a:endParaRPr lang="es-PE"/>
        </a:p>
      </dgm:t>
    </dgm:pt>
    <dgm:pt modelId="{28214046-16F4-43A2-954C-EC22BDB0EBAA}" type="sibTrans" cxnId="{BDCB1AE1-B601-4D1D-BC65-9AC5F121E8DB}">
      <dgm:prSet/>
      <dgm:spPr/>
      <dgm:t>
        <a:bodyPr/>
        <a:lstStyle/>
        <a:p>
          <a:endParaRPr lang="es-PE"/>
        </a:p>
      </dgm:t>
    </dgm:pt>
    <dgm:pt modelId="{72B7C834-619B-405B-A937-3A88C1417530}">
      <dgm:prSet phldrT="[Texto]"/>
      <dgm:spPr/>
      <dgm:t>
        <a:bodyPr/>
        <a:lstStyle/>
        <a:p>
          <a:r>
            <a:rPr lang="es-ES" b="1" dirty="0" err="1"/>
            <a:t>Fidedignidad</a:t>
          </a:r>
          <a:r>
            <a:rPr lang="es-ES" b="1" dirty="0"/>
            <a:t>:</a:t>
          </a:r>
          <a:r>
            <a:rPr lang="es-ES" dirty="0"/>
            <a:t> El efecto causal no varía a lo largo de los grupos de forma que se promedie a 0 en los datos. A no tiene un efecto positivo el 50% de las veces y un efecto negativo idénticamente potente el 50% de las veces, que promediaría a un efecto de 0 en la población.</a:t>
          </a:r>
          <a:endParaRPr lang="es-PE" dirty="0"/>
        </a:p>
      </dgm:t>
    </dgm:pt>
    <dgm:pt modelId="{A43D9F9A-8532-400A-BF4E-6E8384529DEA}" type="parTrans" cxnId="{DC694D92-56C3-4EA4-ACB4-81E7EDA7482E}">
      <dgm:prSet/>
      <dgm:spPr/>
      <dgm:t>
        <a:bodyPr/>
        <a:lstStyle/>
        <a:p>
          <a:endParaRPr lang="es-PE"/>
        </a:p>
      </dgm:t>
    </dgm:pt>
    <dgm:pt modelId="{B40C9A57-69E3-417E-8A01-6AB489A19943}" type="sibTrans" cxnId="{DC694D92-56C3-4EA4-ACB4-81E7EDA7482E}">
      <dgm:prSet/>
      <dgm:spPr/>
      <dgm:t>
        <a:bodyPr/>
        <a:lstStyle/>
        <a:p>
          <a:endParaRPr lang="es-PE"/>
        </a:p>
      </dgm:t>
    </dgm:pt>
    <dgm:pt modelId="{22C3F9C2-2029-46D4-970E-A0641A340649}">
      <dgm:prSet phldrT="[Texto]"/>
      <dgm:spPr/>
      <dgm:t>
        <a:bodyPr/>
        <a:lstStyle/>
        <a:p>
          <a:r>
            <a:rPr lang="es-ES" b="1" dirty="0"/>
            <a:t>Intercambiabilidad: </a:t>
          </a:r>
          <a:r>
            <a:rPr lang="es-ES" dirty="0"/>
            <a:t>«la probabilidad condicional de recibir cada valor de tratamiento, aunque no decidida por los investigadores, depende sólo de las covariables medidas» Hernán y </a:t>
          </a:r>
          <a:r>
            <a:rPr lang="es-ES" dirty="0" err="1"/>
            <a:t>Robins</a:t>
          </a:r>
          <a:r>
            <a:rPr lang="es-ES" dirty="0"/>
            <a:t> (2020).</a:t>
          </a:r>
          <a:endParaRPr lang="es-PE" dirty="0"/>
        </a:p>
      </dgm:t>
    </dgm:pt>
    <dgm:pt modelId="{F5632B76-24E3-41F9-84AE-6EC8A3E3F5FD}" type="sibTrans" cxnId="{885D1BC0-0EC6-4DAE-9D18-D5587AB6085B}">
      <dgm:prSet/>
      <dgm:spPr/>
      <dgm:t>
        <a:bodyPr/>
        <a:lstStyle/>
        <a:p>
          <a:endParaRPr lang="es-PE"/>
        </a:p>
      </dgm:t>
    </dgm:pt>
    <dgm:pt modelId="{543AA34C-990A-47C2-8F72-1BDB36377E26}" type="parTrans" cxnId="{885D1BC0-0EC6-4DAE-9D18-D5587AB6085B}">
      <dgm:prSet/>
      <dgm:spPr/>
      <dgm:t>
        <a:bodyPr/>
        <a:lstStyle/>
        <a:p>
          <a:endParaRPr lang="es-PE"/>
        </a:p>
      </dgm:t>
    </dgm:pt>
    <dgm:pt modelId="{B7F13AEC-9E84-4251-BEF7-970B9F0F85E9}" type="pres">
      <dgm:prSet presAssocID="{42AC4A7E-F3A9-4374-AABC-AD21145C7141}" presName="linearFlow" presStyleCnt="0">
        <dgm:presLayoutVars>
          <dgm:dir/>
          <dgm:resizeHandles val="exact"/>
        </dgm:presLayoutVars>
      </dgm:prSet>
      <dgm:spPr/>
    </dgm:pt>
    <dgm:pt modelId="{CA14FE0A-BB42-4E29-8AF0-76AE9EA02597}" type="pres">
      <dgm:prSet presAssocID="{C9CF0388-0152-401B-8586-99AC2F25CDD6}" presName="composite" presStyleCnt="0"/>
      <dgm:spPr/>
    </dgm:pt>
    <dgm:pt modelId="{EA9A78EE-471E-4D9F-9681-9D8B4983BF51}" type="pres">
      <dgm:prSet presAssocID="{C9CF0388-0152-401B-8586-99AC2F25CDD6}" presName="imgShp" presStyleLbl="fgImgPlace1" presStyleIdx="0" presStyleCnt="5"/>
      <dgm:spPr/>
    </dgm:pt>
    <dgm:pt modelId="{B51CA2A6-BB89-4767-9D6C-75BB0BA6E2CE}" type="pres">
      <dgm:prSet presAssocID="{C9CF0388-0152-401B-8586-99AC2F25CDD6}" presName="txShp" presStyleLbl="node1" presStyleIdx="0" presStyleCnt="5">
        <dgm:presLayoutVars>
          <dgm:bulletEnabled val="1"/>
        </dgm:presLayoutVars>
      </dgm:prSet>
      <dgm:spPr/>
    </dgm:pt>
    <dgm:pt modelId="{B87A79C1-E4B4-4AA4-BA86-977E3533F625}" type="pres">
      <dgm:prSet presAssocID="{90453810-BD80-4AFB-AD6A-CEC542E55102}" presName="spacing" presStyleCnt="0"/>
      <dgm:spPr/>
    </dgm:pt>
    <dgm:pt modelId="{2BD2E794-0112-449B-966E-92BD36DFD8F7}" type="pres">
      <dgm:prSet presAssocID="{1E4757C9-7DEC-4C6D-8070-9CD97BA8A230}" presName="composite" presStyleCnt="0"/>
      <dgm:spPr/>
    </dgm:pt>
    <dgm:pt modelId="{730AA5EB-B378-41A1-B6D4-F1F189DED723}" type="pres">
      <dgm:prSet presAssocID="{1E4757C9-7DEC-4C6D-8070-9CD97BA8A230}" presName="imgShp" presStyleLbl="fgImgPlace1" presStyleIdx="1" presStyleCnt="5"/>
      <dgm:spPr/>
    </dgm:pt>
    <dgm:pt modelId="{79DE6DD8-BB2C-4CF6-BE8C-15FF35F9617B}" type="pres">
      <dgm:prSet presAssocID="{1E4757C9-7DEC-4C6D-8070-9CD97BA8A230}" presName="txShp" presStyleLbl="node1" presStyleIdx="1" presStyleCnt="5">
        <dgm:presLayoutVars>
          <dgm:bulletEnabled val="1"/>
        </dgm:presLayoutVars>
      </dgm:prSet>
      <dgm:spPr/>
    </dgm:pt>
    <dgm:pt modelId="{AA04B71F-FD6D-4A5F-8333-F5CAC37E1283}" type="pres">
      <dgm:prSet presAssocID="{ADED3DC5-862C-4E98-A4EC-14D06F6C5D7A}" presName="spacing" presStyleCnt="0"/>
      <dgm:spPr/>
    </dgm:pt>
    <dgm:pt modelId="{5AA5AC11-1CD5-4B41-A735-9C32E65FFF3D}" type="pres">
      <dgm:prSet presAssocID="{22C3F9C2-2029-46D4-970E-A0641A340649}" presName="composite" presStyleCnt="0"/>
      <dgm:spPr/>
    </dgm:pt>
    <dgm:pt modelId="{FD8CDD31-663E-439A-8309-34ED4673EEA3}" type="pres">
      <dgm:prSet presAssocID="{22C3F9C2-2029-46D4-970E-A0641A340649}" presName="imgShp" presStyleLbl="fgImgPlace1" presStyleIdx="2" presStyleCnt="5"/>
      <dgm:spPr/>
    </dgm:pt>
    <dgm:pt modelId="{33AD6870-955C-443C-8FBB-2C129A6BFAB4}" type="pres">
      <dgm:prSet presAssocID="{22C3F9C2-2029-46D4-970E-A0641A340649}" presName="txShp" presStyleLbl="node1" presStyleIdx="2" presStyleCnt="5">
        <dgm:presLayoutVars>
          <dgm:bulletEnabled val="1"/>
        </dgm:presLayoutVars>
      </dgm:prSet>
      <dgm:spPr/>
    </dgm:pt>
    <dgm:pt modelId="{7585C886-2126-4B44-97FD-060792E11C62}" type="pres">
      <dgm:prSet presAssocID="{F5632B76-24E3-41F9-84AE-6EC8A3E3F5FD}" presName="spacing" presStyleCnt="0"/>
      <dgm:spPr/>
    </dgm:pt>
    <dgm:pt modelId="{DA5F6F4E-6434-4159-8984-7CB75119E126}" type="pres">
      <dgm:prSet presAssocID="{F691797A-0D28-4C0C-8219-2B2A92CECB7D}" presName="composite" presStyleCnt="0"/>
      <dgm:spPr/>
    </dgm:pt>
    <dgm:pt modelId="{C3C55302-ADBE-4FB2-8005-EEF4EC8DE6D7}" type="pres">
      <dgm:prSet presAssocID="{F691797A-0D28-4C0C-8219-2B2A92CECB7D}" presName="imgShp" presStyleLbl="fgImgPlace1" presStyleIdx="3" presStyleCnt="5"/>
      <dgm:spPr/>
    </dgm:pt>
    <dgm:pt modelId="{9C6FEBB9-2F5F-40D9-8847-4AA91C1B7289}" type="pres">
      <dgm:prSet presAssocID="{F691797A-0D28-4C0C-8219-2B2A92CECB7D}" presName="txShp" presStyleLbl="node1" presStyleIdx="3" presStyleCnt="5">
        <dgm:presLayoutVars>
          <dgm:bulletEnabled val="1"/>
        </dgm:presLayoutVars>
      </dgm:prSet>
      <dgm:spPr/>
    </dgm:pt>
    <dgm:pt modelId="{B39A7336-3D7D-4E85-8FF9-30516BB5145E}" type="pres">
      <dgm:prSet presAssocID="{28214046-16F4-43A2-954C-EC22BDB0EBAA}" presName="spacing" presStyleCnt="0"/>
      <dgm:spPr/>
    </dgm:pt>
    <dgm:pt modelId="{1A5F9001-8EC3-41CA-ACD3-9C10C3EC2EEE}" type="pres">
      <dgm:prSet presAssocID="{72B7C834-619B-405B-A937-3A88C1417530}" presName="composite" presStyleCnt="0"/>
      <dgm:spPr/>
    </dgm:pt>
    <dgm:pt modelId="{58C19ACC-B9E2-4B72-B6F4-870DEE5FF120}" type="pres">
      <dgm:prSet presAssocID="{72B7C834-619B-405B-A937-3A88C1417530}" presName="imgShp" presStyleLbl="fgImgPlace1" presStyleIdx="4" presStyleCnt="5"/>
      <dgm:spPr/>
    </dgm:pt>
    <dgm:pt modelId="{1DCA3619-663D-4107-AD34-D80EC6421D26}" type="pres">
      <dgm:prSet presAssocID="{72B7C834-619B-405B-A937-3A88C1417530}" presName="txShp" presStyleLbl="node1" presStyleIdx="4" presStyleCnt="5">
        <dgm:presLayoutVars>
          <dgm:bulletEnabled val="1"/>
        </dgm:presLayoutVars>
      </dgm:prSet>
      <dgm:spPr/>
    </dgm:pt>
  </dgm:ptLst>
  <dgm:cxnLst>
    <dgm:cxn modelId="{21335332-BDDA-404E-A9DF-57DC7C18D490}" type="presOf" srcId="{42AC4A7E-F3A9-4374-AABC-AD21145C7141}" destId="{B7F13AEC-9E84-4251-BEF7-970B9F0F85E9}" srcOrd="0" destOrd="0" presId="urn:microsoft.com/office/officeart/2005/8/layout/vList3"/>
    <dgm:cxn modelId="{79727248-BA46-45BD-A04F-6A4D546F9D3D}" type="presOf" srcId="{22C3F9C2-2029-46D4-970E-A0641A340649}" destId="{33AD6870-955C-443C-8FBB-2C129A6BFAB4}" srcOrd="0" destOrd="0" presId="urn:microsoft.com/office/officeart/2005/8/layout/vList3"/>
    <dgm:cxn modelId="{F59EB56C-B9C4-4679-A4FE-6DD39AA2A158}" type="presOf" srcId="{F691797A-0D28-4C0C-8219-2B2A92CECB7D}" destId="{9C6FEBB9-2F5F-40D9-8847-4AA91C1B7289}" srcOrd="0" destOrd="0" presId="urn:microsoft.com/office/officeart/2005/8/layout/vList3"/>
    <dgm:cxn modelId="{95A1E47D-C593-42B2-9AEE-D1E0133F1161}" type="presOf" srcId="{72B7C834-619B-405B-A937-3A88C1417530}" destId="{1DCA3619-663D-4107-AD34-D80EC6421D26}" srcOrd="0" destOrd="0" presId="urn:microsoft.com/office/officeart/2005/8/layout/vList3"/>
    <dgm:cxn modelId="{DC694D92-56C3-4EA4-ACB4-81E7EDA7482E}" srcId="{42AC4A7E-F3A9-4374-AABC-AD21145C7141}" destId="{72B7C834-619B-405B-A937-3A88C1417530}" srcOrd="4" destOrd="0" parTransId="{A43D9F9A-8532-400A-BF4E-6E8384529DEA}" sibTransId="{B40C9A57-69E3-417E-8A01-6AB489A19943}"/>
    <dgm:cxn modelId="{885D1BC0-0EC6-4DAE-9D18-D5587AB6085B}" srcId="{42AC4A7E-F3A9-4374-AABC-AD21145C7141}" destId="{22C3F9C2-2029-46D4-970E-A0641A340649}" srcOrd="2" destOrd="0" parTransId="{543AA34C-990A-47C2-8F72-1BDB36377E26}" sibTransId="{F5632B76-24E3-41F9-84AE-6EC8A3E3F5FD}"/>
    <dgm:cxn modelId="{757E63C4-592B-424D-BCA1-695492C5A293}" type="presOf" srcId="{C9CF0388-0152-401B-8586-99AC2F25CDD6}" destId="{B51CA2A6-BB89-4767-9D6C-75BB0BA6E2CE}" srcOrd="0" destOrd="0" presId="urn:microsoft.com/office/officeart/2005/8/layout/vList3"/>
    <dgm:cxn modelId="{BDCB1AE1-B601-4D1D-BC65-9AC5F121E8DB}" srcId="{42AC4A7E-F3A9-4374-AABC-AD21145C7141}" destId="{F691797A-0D28-4C0C-8219-2B2A92CECB7D}" srcOrd="3" destOrd="0" parTransId="{BEEDBF83-1879-40CE-B11C-EF1ED6924E3C}" sibTransId="{28214046-16F4-43A2-954C-EC22BDB0EBAA}"/>
    <dgm:cxn modelId="{526578E6-4EC1-4AA6-AA2D-B78FDE4FF643}" type="presOf" srcId="{1E4757C9-7DEC-4C6D-8070-9CD97BA8A230}" destId="{79DE6DD8-BB2C-4CF6-BE8C-15FF35F9617B}" srcOrd="0" destOrd="0" presId="urn:microsoft.com/office/officeart/2005/8/layout/vList3"/>
    <dgm:cxn modelId="{B47924F1-6E69-4D52-9454-2607913293AE}" srcId="{42AC4A7E-F3A9-4374-AABC-AD21145C7141}" destId="{1E4757C9-7DEC-4C6D-8070-9CD97BA8A230}" srcOrd="1" destOrd="0" parTransId="{55FCD2BA-AE69-4DEE-AA27-85046FF78716}" sibTransId="{ADED3DC5-862C-4E98-A4EC-14D06F6C5D7A}"/>
    <dgm:cxn modelId="{C28309F3-DD91-49DD-83A2-DAFA6BA8501A}" srcId="{42AC4A7E-F3A9-4374-AABC-AD21145C7141}" destId="{C9CF0388-0152-401B-8586-99AC2F25CDD6}" srcOrd="0" destOrd="0" parTransId="{F195C0E0-2A68-4EDF-BD07-9A4193ED9EE2}" sibTransId="{90453810-BD80-4AFB-AD6A-CEC542E55102}"/>
    <dgm:cxn modelId="{1BA296CE-F11B-408C-A1F2-BD86436D1EE0}" type="presParOf" srcId="{B7F13AEC-9E84-4251-BEF7-970B9F0F85E9}" destId="{CA14FE0A-BB42-4E29-8AF0-76AE9EA02597}" srcOrd="0" destOrd="0" presId="urn:microsoft.com/office/officeart/2005/8/layout/vList3"/>
    <dgm:cxn modelId="{997E536E-C1E0-4D93-A4FD-697016C48E0C}" type="presParOf" srcId="{CA14FE0A-BB42-4E29-8AF0-76AE9EA02597}" destId="{EA9A78EE-471E-4D9F-9681-9D8B4983BF51}" srcOrd="0" destOrd="0" presId="urn:microsoft.com/office/officeart/2005/8/layout/vList3"/>
    <dgm:cxn modelId="{BC732029-B60B-465D-8042-179B387C9C9D}" type="presParOf" srcId="{CA14FE0A-BB42-4E29-8AF0-76AE9EA02597}" destId="{B51CA2A6-BB89-4767-9D6C-75BB0BA6E2CE}" srcOrd="1" destOrd="0" presId="urn:microsoft.com/office/officeart/2005/8/layout/vList3"/>
    <dgm:cxn modelId="{56A6D94B-9CC6-4FC6-9F96-0336E867875A}" type="presParOf" srcId="{B7F13AEC-9E84-4251-BEF7-970B9F0F85E9}" destId="{B87A79C1-E4B4-4AA4-BA86-977E3533F625}" srcOrd="1" destOrd="0" presId="urn:microsoft.com/office/officeart/2005/8/layout/vList3"/>
    <dgm:cxn modelId="{60789D2E-DD4B-400F-9D01-56D649291626}" type="presParOf" srcId="{B7F13AEC-9E84-4251-BEF7-970B9F0F85E9}" destId="{2BD2E794-0112-449B-966E-92BD36DFD8F7}" srcOrd="2" destOrd="0" presId="urn:microsoft.com/office/officeart/2005/8/layout/vList3"/>
    <dgm:cxn modelId="{D11523CB-006A-41A9-9388-F9120BD49728}" type="presParOf" srcId="{2BD2E794-0112-449B-966E-92BD36DFD8F7}" destId="{730AA5EB-B378-41A1-B6D4-F1F189DED723}" srcOrd="0" destOrd="0" presId="urn:microsoft.com/office/officeart/2005/8/layout/vList3"/>
    <dgm:cxn modelId="{6D48E0F2-E6CC-4CA1-B962-F0E60B3E5426}" type="presParOf" srcId="{2BD2E794-0112-449B-966E-92BD36DFD8F7}" destId="{79DE6DD8-BB2C-4CF6-BE8C-15FF35F9617B}" srcOrd="1" destOrd="0" presId="urn:microsoft.com/office/officeart/2005/8/layout/vList3"/>
    <dgm:cxn modelId="{2BBF822D-C6E9-4E19-920C-71C126A76739}" type="presParOf" srcId="{B7F13AEC-9E84-4251-BEF7-970B9F0F85E9}" destId="{AA04B71F-FD6D-4A5F-8333-F5CAC37E1283}" srcOrd="3" destOrd="0" presId="urn:microsoft.com/office/officeart/2005/8/layout/vList3"/>
    <dgm:cxn modelId="{964D2AF1-74A2-4FFE-812E-CFD081411C3B}" type="presParOf" srcId="{B7F13AEC-9E84-4251-BEF7-970B9F0F85E9}" destId="{5AA5AC11-1CD5-4B41-A735-9C32E65FFF3D}" srcOrd="4" destOrd="0" presId="urn:microsoft.com/office/officeart/2005/8/layout/vList3"/>
    <dgm:cxn modelId="{66057827-769B-4EA5-A50C-12D60FA7A8D7}" type="presParOf" srcId="{5AA5AC11-1CD5-4B41-A735-9C32E65FFF3D}" destId="{FD8CDD31-663E-439A-8309-34ED4673EEA3}" srcOrd="0" destOrd="0" presId="urn:microsoft.com/office/officeart/2005/8/layout/vList3"/>
    <dgm:cxn modelId="{F2058111-A5F3-43B9-8F27-67FF52188B1F}" type="presParOf" srcId="{5AA5AC11-1CD5-4B41-A735-9C32E65FFF3D}" destId="{33AD6870-955C-443C-8FBB-2C129A6BFAB4}" srcOrd="1" destOrd="0" presId="urn:microsoft.com/office/officeart/2005/8/layout/vList3"/>
    <dgm:cxn modelId="{E34AE426-2573-4CF9-9F08-0039AD30D975}" type="presParOf" srcId="{B7F13AEC-9E84-4251-BEF7-970B9F0F85E9}" destId="{7585C886-2126-4B44-97FD-060792E11C62}" srcOrd="5" destOrd="0" presId="urn:microsoft.com/office/officeart/2005/8/layout/vList3"/>
    <dgm:cxn modelId="{40313891-9D0F-42C1-9F3E-7EB741BC8E82}" type="presParOf" srcId="{B7F13AEC-9E84-4251-BEF7-970B9F0F85E9}" destId="{DA5F6F4E-6434-4159-8984-7CB75119E126}" srcOrd="6" destOrd="0" presId="urn:microsoft.com/office/officeart/2005/8/layout/vList3"/>
    <dgm:cxn modelId="{71B9E027-2991-43C6-AFE5-3043DD266BA7}" type="presParOf" srcId="{DA5F6F4E-6434-4159-8984-7CB75119E126}" destId="{C3C55302-ADBE-4FB2-8005-EEF4EC8DE6D7}" srcOrd="0" destOrd="0" presId="urn:microsoft.com/office/officeart/2005/8/layout/vList3"/>
    <dgm:cxn modelId="{AD9DC008-2FA1-493F-871E-0741AC6F0729}" type="presParOf" srcId="{DA5F6F4E-6434-4159-8984-7CB75119E126}" destId="{9C6FEBB9-2F5F-40D9-8847-4AA91C1B7289}" srcOrd="1" destOrd="0" presId="urn:microsoft.com/office/officeart/2005/8/layout/vList3"/>
    <dgm:cxn modelId="{DE330C47-6C19-4C60-95F3-DF5B27665CBD}" type="presParOf" srcId="{B7F13AEC-9E84-4251-BEF7-970B9F0F85E9}" destId="{B39A7336-3D7D-4E85-8FF9-30516BB5145E}" srcOrd="7" destOrd="0" presId="urn:microsoft.com/office/officeart/2005/8/layout/vList3"/>
    <dgm:cxn modelId="{34C98A8E-0C03-454B-9379-694AF3D544D7}" type="presParOf" srcId="{B7F13AEC-9E84-4251-BEF7-970B9F0F85E9}" destId="{1A5F9001-8EC3-41CA-ACD3-9C10C3EC2EEE}" srcOrd="8" destOrd="0" presId="urn:microsoft.com/office/officeart/2005/8/layout/vList3"/>
    <dgm:cxn modelId="{DFEAC2DE-3C1B-4690-97F3-42E29A27B2CE}" type="presParOf" srcId="{1A5F9001-8EC3-41CA-ACD3-9C10C3EC2EEE}" destId="{58C19ACC-B9E2-4B72-B6F4-870DEE5FF120}" srcOrd="0" destOrd="0" presId="urn:microsoft.com/office/officeart/2005/8/layout/vList3"/>
    <dgm:cxn modelId="{0CB67DB1-2BD4-42E1-9084-CFD0E267D869}" type="presParOf" srcId="{1A5F9001-8EC3-41CA-ACD3-9C10C3EC2EEE}" destId="{1DCA3619-663D-4107-AD34-D80EC6421D2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2AC4A7E-F3A9-4374-AABC-AD21145C7141}" type="doc">
      <dgm:prSet loTypeId="urn:microsoft.com/office/officeart/2005/8/layout/vList3" loCatId="list" qsTypeId="urn:microsoft.com/office/officeart/2005/8/quickstyle/simple1" qsCatId="simple" csTypeId="urn:microsoft.com/office/officeart/2005/8/colors/accent1_1" csCatId="accent1" phldr="1"/>
      <dgm:spPr/>
      <dgm:t>
        <a:bodyPr/>
        <a:lstStyle/>
        <a:p>
          <a:endParaRPr lang="es-PE"/>
        </a:p>
      </dgm:t>
    </dgm:pt>
    <dgm:pt modelId="{C9CF0388-0152-401B-8586-99AC2F25CDD6}">
      <dgm:prSet phldrT="[Texto]"/>
      <dgm:spPr/>
      <dgm:t>
        <a:bodyPr/>
        <a:lstStyle/>
        <a:p>
          <a:r>
            <a:rPr lang="es-ES" b="1" dirty="0"/>
            <a:t>No hay correlación espuria: </a:t>
          </a:r>
          <a:r>
            <a:rPr lang="es-ES" dirty="0"/>
            <a:t>La correlación no se debe a un accidente aleatorio. La ley de los grandes números dicta que cuantos más datos tengamos, más creíble es esta suposición.</a:t>
          </a:r>
          <a:endParaRPr lang="es-PE" dirty="0"/>
        </a:p>
      </dgm:t>
    </dgm:pt>
    <dgm:pt modelId="{F195C0E0-2A68-4EDF-BD07-9A4193ED9EE2}" type="parTrans" cxnId="{C28309F3-DD91-49DD-83A2-DAFA6BA8501A}">
      <dgm:prSet/>
      <dgm:spPr/>
      <dgm:t>
        <a:bodyPr/>
        <a:lstStyle/>
        <a:p>
          <a:endParaRPr lang="es-PE"/>
        </a:p>
      </dgm:t>
    </dgm:pt>
    <dgm:pt modelId="{90453810-BD80-4AFB-AD6A-CEC542E55102}" type="sibTrans" cxnId="{C28309F3-DD91-49DD-83A2-DAFA6BA8501A}">
      <dgm:prSet/>
      <dgm:spPr/>
      <dgm:t>
        <a:bodyPr/>
        <a:lstStyle/>
        <a:p>
          <a:endParaRPr lang="es-PE"/>
        </a:p>
      </dgm:t>
    </dgm:pt>
    <dgm:pt modelId="{1E4757C9-7DEC-4C6D-8070-9CD97BA8A230}">
      <dgm:prSet phldrT="[Texto]"/>
      <dgm:spPr/>
      <dgm:t>
        <a:bodyPr/>
        <a:lstStyle/>
        <a:p>
          <a:r>
            <a:rPr lang="es-ES" b="1" dirty="0"/>
            <a:t>Coherencia:</a:t>
          </a:r>
          <a:r>
            <a:rPr lang="es-ES" dirty="0"/>
            <a:t> Los valores de A que se ven son los valores reales de A «los valores del tratamiento en comparación corresponden a intervenciones bien definidas, corresponden a una única versión del tratamiento, y no efecto de </a:t>
          </a:r>
          <a:r>
            <a:rPr lang="es-ES" dirty="0" err="1"/>
            <a:t>spill-over</a:t>
          </a:r>
          <a:r>
            <a:rPr lang="es-ES" dirty="0"/>
            <a:t>»</a:t>
          </a:r>
          <a:endParaRPr lang="es-PE" dirty="0"/>
        </a:p>
      </dgm:t>
    </dgm:pt>
    <dgm:pt modelId="{55FCD2BA-AE69-4DEE-AA27-85046FF78716}" type="parTrans" cxnId="{B47924F1-6E69-4D52-9454-2607913293AE}">
      <dgm:prSet/>
      <dgm:spPr/>
      <dgm:t>
        <a:bodyPr/>
        <a:lstStyle/>
        <a:p>
          <a:endParaRPr lang="es-PE"/>
        </a:p>
      </dgm:t>
    </dgm:pt>
    <dgm:pt modelId="{ADED3DC5-862C-4E98-A4EC-14D06F6C5D7A}" type="sibTrans" cxnId="{B47924F1-6E69-4D52-9454-2607913293AE}">
      <dgm:prSet/>
      <dgm:spPr/>
      <dgm:t>
        <a:bodyPr/>
        <a:lstStyle/>
        <a:p>
          <a:endParaRPr lang="es-PE"/>
        </a:p>
      </dgm:t>
    </dgm:pt>
    <dgm:pt modelId="{F691797A-0D28-4C0C-8219-2B2A92CECB7D}">
      <dgm:prSet phldrT="[Texto]"/>
      <dgm:spPr/>
      <dgm:t>
        <a:bodyPr/>
        <a:lstStyle/>
        <a:p>
          <a:r>
            <a:rPr lang="es-ES" b="1" dirty="0"/>
            <a:t>Positividad: </a:t>
          </a:r>
          <a:r>
            <a:rPr lang="es-ES" dirty="0"/>
            <a:t>«la probabilidad de recibir cada valor de tratamiento es mayor que cero, es decir, positiva» Hernán y </a:t>
          </a:r>
          <a:r>
            <a:rPr lang="es-ES" dirty="0" err="1"/>
            <a:t>Robins</a:t>
          </a:r>
          <a:r>
            <a:rPr lang="es-ES" dirty="0"/>
            <a:t> (2020).</a:t>
          </a:r>
          <a:endParaRPr lang="es-PE" dirty="0"/>
        </a:p>
      </dgm:t>
    </dgm:pt>
    <dgm:pt modelId="{BEEDBF83-1879-40CE-B11C-EF1ED6924E3C}" type="parTrans" cxnId="{BDCB1AE1-B601-4D1D-BC65-9AC5F121E8DB}">
      <dgm:prSet/>
      <dgm:spPr/>
      <dgm:t>
        <a:bodyPr/>
        <a:lstStyle/>
        <a:p>
          <a:endParaRPr lang="es-PE"/>
        </a:p>
      </dgm:t>
    </dgm:pt>
    <dgm:pt modelId="{28214046-16F4-43A2-954C-EC22BDB0EBAA}" type="sibTrans" cxnId="{BDCB1AE1-B601-4D1D-BC65-9AC5F121E8DB}">
      <dgm:prSet/>
      <dgm:spPr/>
      <dgm:t>
        <a:bodyPr/>
        <a:lstStyle/>
        <a:p>
          <a:endParaRPr lang="es-PE"/>
        </a:p>
      </dgm:t>
    </dgm:pt>
    <dgm:pt modelId="{72B7C834-619B-405B-A937-3A88C1417530}">
      <dgm:prSet phldrT="[Texto]"/>
      <dgm:spPr/>
      <dgm:t>
        <a:bodyPr/>
        <a:lstStyle/>
        <a:p>
          <a:r>
            <a:rPr lang="es-ES" b="1" dirty="0" err="1"/>
            <a:t>Fidedignidad</a:t>
          </a:r>
          <a:r>
            <a:rPr lang="es-ES" b="1" dirty="0"/>
            <a:t>:</a:t>
          </a:r>
          <a:r>
            <a:rPr lang="es-ES" dirty="0"/>
            <a:t> El efecto causal no varía a lo largo de los grupos de forma que se promedie a 0 en los datos. A no tiene un efecto positivo el 50% de las veces y un efecto negativo idénticamente potente el 50% de las veces, que promediaría a un efecto de 0 en la población.</a:t>
          </a:r>
          <a:endParaRPr lang="es-PE" dirty="0"/>
        </a:p>
      </dgm:t>
    </dgm:pt>
    <dgm:pt modelId="{A43D9F9A-8532-400A-BF4E-6E8384529DEA}" type="parTrans" cxnId="{DC694D92-56C3-4EA4-ACB4-81E7EDA7482E}">
      <dgm:prSet/>
      <dgm:spPr/>
      <dgm:t>
        <a:bodyPr/>
        <a:lstStyle/>
        <a:p>
          <a:endParaRPr lang="es-PE"/>
        </a:p>
      </dgm:t>
    </dgm:pt>
    <dgm:pt modelId="{B40C9A57-69E3-417E-8A01-6AB489A19943}" type="sibTrans" cxnId="{DC694D92-56C3-4EA4-ACB4-81E7EDA7482E}">
      <dgm:prSet/>
      <dgm:spPr/>
      <dgm:t>
        <a:bodyPr/>
        <a:lstStyle/>
        <a:p>
          <a:endParaRPr lang="es-PE"/>
        </a:p>
      </dgm:t>
    </dgm:pt>
    <dgm:pt modelId="{22C3F9C2-2029-46D4-970E-A0641A340649}">
      <dgm:prSet phldrT="[Texto]"/>
      <dgm:spPr/>
      <dgm:t>
        <a:bodyPr/>
        <a:lstStyle/>
        <a:p>
          <a:r>
            <a:rPr lang="es-ES" b="1" dirty="0"/>
            <a:t>Intercambiabilidad: </a:t>
          </a:r>
          <a:r>
            <a:rPr lang="es-ES" dirty="0"/>
            <a:t>«la probabilidad condicional de recibir cada valor de tratamiento, aunque no decidida por los investigadores, depende sólo de las covariables medidas» Hernán y </a:t>
          </a:r>
          <a:r>
            <a:rPr lang="es-ES" dirty="0" err="1"/>
            <a:t>Robins</a:t>
          </a:r>
          <a:r>
            <a:rPr lang="es-ES" dirty="0"/>
            <a:t> (2020).</a:t>
          </a:r>
          <a:endParaRPr lang="es-PE" dirty="0"/>
        </a:p>
      </dgm:t>
    </dgm:pt>
    <dgm:pt modelId="{F5632B76-24E3-41F9-84AE-6EC8A3E3F5FD}" type="sibTrans" cxnId="{885D1BC0-0EC6-4DAE-9D18-D5587AB6085B}">
      <dgm:prSet/>
      <dgm:spPr/>
      <dgm:t>
        <a:bodyPr/>
        <a:lstStyle/>
        <a:p>
          <a:endParaRPr lang="es-PE"/>
        </a:p>
      </dgm:t>
    </dgm:pt>
    <dgm:pt modelId="{543AA34C-990A-47C2-8F72-1BDB36377E26}" type="parTrans" cxnId="{885D1BC0-0EC6-4DAE-9D18-D5587AB6085B}">
      <dgm:prSet/>
      <dgm:spPr/>
      <dgm:t>
        <a:bodyPr/>
        <a:lstStyle/>
        <a:p>
          <a:endParaRPr lang="es-PE"/>
        </a:p>
      </dgm:t>
    </dgm:pt>
    <dgm:pt modelId="{B7F13AEC-9E84-4251-BEF7-970B9F0F85E9}" type="pres">
      <dgm:prSet presAssocID="{42AC4A7E-F3A9-4374-AABC-AD21145C7141}" presName="linearFlow" presStyleCnt="0">
        <dgm:presLayoutVars>
          <dgm:dir/>
          <dgm:resizeHandles val="exact"/>
        </dgm:presLayoutVars>
      </dgm:prSet>
      <dgm:spPr/>
    </dgm:pt>
    <dgm:pt modelId="{CA14FE0A-BB42-4E29-8AF0-76AE9EA02597}" type="pres">
      <dgm:prSet presAssocID="{C9CF0388-0152-401B-8586-99AC2F25CDD6}" presName="composite" presStyleCnt="0"/>
      <dgm:spPr/>
    </dgm:pt>
    <dgm:pt modelId="{EA9A78EE-471E-4D9F-9681-9D8B4983BF51}" type="pres">
      <dgm:prSet presAssocID="{C9CF0388-0152-401B-8586-99AC2F25CDD6}" presName="imgShp" presStyleLbl="fgImgPlace1" presStyleIdx="0" presStyleCnt="5"/>
      <dgm:spPr/>
    </dgm:pt>
    <dgm:pt modelId="{B51CA2A6-BB89-4767-9D6C-75BB0BA6E2CE}" type="pres">
      <dgm:prSet presAssocID="{C9CF0388-0152-401B-8586-99AC2F25CDD6}" presName="txShp" presStyleLbl="node1" presStyleIdx="0" presStyleCnt="5">
        <dgm:presLayoutVars>
          <dgm:bulletEnabled val="1"/>
        </dgm:presLayoutVars>
      </dgm:prSet>
      <dgm:spPr/>
    </dgm:pt>
    <dgm:pt modelId="{B87A79C1-E4B4-4AA4-BA86-977E3533F625}" type="pres">
      <dgm:prSet presAssocID="{90453810-BD80-4AFB-AD6A-CEC542E55102}" presName="spacing" presStyleCnt="0"/>
      <dgm:spPr/>
    </dgm:pt>
    <dgm:pt modelId="{2BD2E794-0112-449B-966E-92BD36DFD8F7}" type="pres">
      <dgm:prSet presAssocID="{1E4757C9-7DEC-4C6D-8070-9CD97BA8A230}" presName="composite" presStyleCnt="0"/>
      <dgm:spPr/>
    </dgm:pt>
    <dgm:pt modelId="{730AA5EB-B378-41A1-B6D4-F1F189DED723}" type="pres">
      <dgm:prSet presAssocID="{1E4757C9-7DEC-4C6D-8070-9CD97BA8A230}" presName="imgShp" presStyleLbl="fgImgPlace1" presStyleIdx="1" presStyleCnt="5"/>
      <dgm:spPr/>
    </dgm:pt>
    <dgm:pt modelId="{79DE6DD8-BB2C-4CF6-BE8C-15FF35F9617B}" type="pres">
      <dgm:prSet presAssocID="{1E4757C9-7DEC-4C6D-8070-9CD97BA8A230}" presName="txShp" presStyleLbl="node1" presStyleIdx="1" presStyleCnt="5">
        <dgm:presLayoutVars>
          <dgm:bulletEnabled val="1"/>
        </dgm:presLayoutVars>
      </dgm:prSet>
      <dgm:spPr/>
    </dgm:pt>
    <dgm:pt modelId="{AA04B71F-FD6D-4A5F-8333-F5CAC37E1283}" type="pres">
      <dgm:prSet presAssocID="{ADED3DC5-862C-4E98-A4EC-14D06F6C5D7A}" presName="spacing" presStyleCnt="0"/>
      <dgm:spPr/>
    </dgm:pt>
    <dgm:pt modelId="{5AA5AC11-1CD5-4B41-A735-9C32E65FFF3D}" type="pres">
      <dgm:prSet presAssocID="{22C3F9C2-2029-46D4-970E-A0641A340649}" presName="composite" presStyleCnt="0"/>
      <dgm:spPr/>
    </dgm:pt>
    <dgm:pt modelId="{FD8CDD31-663E-439A-8309-34ED4673EEA3}" type="pres">
      <dgm:prSet presAssocID="{22C3F9C2-2029-46D4-970E-A0641A340649}" presName="imgShp" presStyleLbl="fgImgPlace1" presStyleIdx="2" presStyleCnt="5"/>
      <dgm:spPr/>
    </dgm:pt>
    <dgm:pt modelId="{33AD6870-955C-443C-8FBB-2C129A6BFAB4}" type="pres">
      <dgm:prSet presAssocID="{22C3F9C2-2029-46D4-970E-A0641A340649}" presName="txShp" presStyleLbl="node1" presStyleIdx="2" presStyleCnt="5">
        <dgm:presLayoutVars>
          <dgm:bulletEnabled val="1"/>
        </dgm:presLayoutVars>
      </dgm:prSet>
      <dgm:spPr/>
    </dgm:pt>
    <dgm:pt modelId="{7585C886-2126-4B44-97FD-060792E11C62}" type="pres">
      <dgm:prSet presAssocID="{F5632B76-24E3-41F9-84AE-6EC8A3E3F5FD}" presName="spacing" presStyleCnt="0"/>
      <dgm:spPr/>
    </dgm:pt>
    <dgm:pt modelId="{DA5F6F4E-6434-4159-8984-7CB75119E126}" type="pres">
      <dgm:prSet presAssocID="{F691797A-0D28-4C0C-8219-2B2A92CECB7D}" presName="composite" presStyleCnt="0"/>
      <dgm:spPr/>
    </dgm:pt>
    <dgm:pt modelId="{C3C55302-ADBE-4FB2-8005-EEF4EC8DE6D7}" type="pres">
      <dgm:prSet presAssocID="{F691797A-0D28-4C0C-8219-2B2A92CECB7D}" presName="imgShp" presStyleLbl="fgImgPlace1" presStyleIdx="3" presStyleCnt="5"/>
      <dgm:spPr/>
    </dgm:pt>
    <dgm:pt modelId="{9C6FEBB9-2F5F-40D9-8847-4AA91C1B7289}" type="pres">
      <dgm:prSet presAssocID="{F691797A-0D28-4C0C-8219-2B2A92CECB7D}" presName="txShp" presStyleLbl="node1" presStyleIdx="3" presStyleCnt="5">
        <dgm:presLayoutVars>
          <dgm:bulletEnabled val="1"/>
        </dgm:presLayoutVars>
      </dgm:prSet>
      <dgm:spPr/>
    </dgm:pt>
    <dgm:pt modelId="{B39A7336-3D7D-4E85-8FF9-30516BB5145E}" type="pres">
      <dgm:prSet presAssocID="{28214046-16F4-43A2-954C-EC22BDB0EBAA}" presName="spacing" presStyleCnt="0"/>
      <dgm:spPr/>
    </dgm:pt>
    <dgm:pt modelId="{1A5F9001-8EC3-41CA-ACD3-9C10C3EC2EEE}" type="pres">
      <dgm:prSet presAssocID="{72B7C834-619B-405B-A937-3A88C1417530}" presName="composite" presStyleCnt="0"/>
      <dgm:spPr/>
    </dgm:pt>
    <dgm:pt modelId="{58C19ACC-B9E2-4B72-B6F4-870DEE5FF120}" type="pres">
      <dgm:prSet presAssocID="{72B7C834-619B-405B-A937-3A88C1417530}" presName="imgShp" presStyleLbl="fgImgPlace1" presStyleIdx="4" presStyleCnt="5"/>
      <dgm:spPr/>
    </dgm:pt>
    <dgm:pt modelId="{1DCA3619-663D-4107-AD34-D80EC6421D26}" type="pres">
      <dgm:prSet presAssocID="{72B7C834-619B-405B-A937-3A88C1417530}" presName="txShp" presStyleLbl="node1" presStyleIdx="4" presStyleCnt="5">
        <dgm:presLayoutVars>
          <dgm:bulletEnabled val="1"/>
        </dgm:presLayoutVars>
      </dgm:prSet>
      <dgm:spPr/>
    </dgm:pt>
  </dgm:ptLst>
  <dgm:cxnLst>
    <dgm:cxn modelId="{21335332-BDDA-404E-A9DF-57DC7C18D490}" type="presOf" srcId="{42AC4A7E-F3A9-4374-AABC-AD21145C7141}" destId="{B7F13AEC-9E84-4251-BEF7-970B9F0F85E9}" srcOrd="0" destOrd="0" presId="urn:microsoft.com/office/officeart/2005/8/layout/vList3"/>
    <dgm:cxn modelId="{79727248-BA46-45BD-A04F-6A4D546F9D3D}" type="presOf" srcId="{22C3F9C2-2029-46D4-970E-A0641A340649}" destId="{33AD6870-955C-443C-8FBB-2C129A6BFAB4}" srcOrd="0" destOrd="0" presId="urn:microsoft.com/office/officeart/2005/8/layout/vList3"/>
    <dgm:cxn modelId="{F59EB56C-B9C4-4679-A4FE-6DD39AA2A158}" type="presOf" srcId="{F691797A-0D28-4C0C-8219-2B2A92CECB7D}" destId="{9C6FEBB9-2F5F-40D9-8847-4AA91C1B7289}" srcOrd="0" destOrd="0" presId="urn:microsoft.com/office/officeart/2005/8/layout/vList3"/>
    <dgm:cxn modelId="{95A1E47D-C593-42B2-9AEE-D1E0133F1161}" type="presOf" srcId="{72B7C834-619B-405B-A937-3A88C1417530}" destId="{1DCA3619-663D-4107-AD34-D80EC6421D26}" srcOrd="0" destOrd="0" presId="urn:microsoft.com/office/officeart/2005/8/layout/vList3"/>
    <dgm:cxn modelId="{DC694D92-56C3-4EA4-ACB4-81E7EDA7482E}" srcId="{42AC4A7E-F3A9-4374-AABC-AD21145C7141}" destId="{72B7C834-619B-405B-A937-3A88C1417530}" srcOrd="4" destOrd="0" parTransId="{A43D9F9A-8532-400A-BF4E-6E8384529DEA}" sibTransId="{B40C9A57-69E3-417E-8A01-6AB489A19943}"/>
    <dgm:cxn modelId="{885D1BC0-0EC6-4DAE-9D18-D5587AB6085B}" srcId="{42AC4A7E-F3A9-4374-AABC-AD21145C7141}" destId="{22C3F9C2-2029-46D4-970E-A0641A340649}" srcOrd="2" destOrd="0" parTransId="{543AA34C-990A-47C2-8F72-1BDB36377E26}" sibTransId="{F5632B76-24E3-41F9-84AE-6EC8A3E3F5FD}"/>
    <dgm:cxn modelId="{757E63C4-592B-424D-BCA1-695492C5A293}" type="presOf" srcId="{C9CF0388-0152-401B-8586-99AC2F25CDD6}" destId="{B51CA2A6-BB89-4767-9D6C-75BB0BA6E2CE}" srcOrd="0" destOrd="0" presId="urn:microsoft.com/office/officeart/2005/8/layout/vList3"/>
    <dgm:cxn modelId="{BDCB1AE1-B601-4D1D-BC65-9AC5F121E8DB}" srcId="{42AC4A7E-F3A9-4374-AABC-AD21145C7141}" destId="{F691797A-0D28-4C0C-8219-2B2A92CECB7D}" srcOrd="3" destOrd="0" parTransId="{BEEDBF83-1879-40CE-B11C-EF1ED6924E3C}" sibTransId="{28214046-16F4-43A2-954C-EC22BDB0EBAA}"/>
    <dgm:cxn modelId="{526578E6-4EC1-4AA6-AA2D-B78FDE4FF643}" type="presOf" srcId="{1E4757C9-7DEC-4C6D-8070-9CD97BA8A230}" destId="{79DE6DD8-BB2C-4CF6-BE8C-15FF35F9617B}" srcOrd="0" destOrd="0" presId="urn:microsoft.com/office/officeart/2005/8/layout/vList3"/>
    <dgm:cxn modelId="{B47924F1-6E69-4D52-9454-2607913293AE}" srcId="{42AC4A7E-F3A9-4374-AABC-AD21145C7141}" destId="{1E4757C9-7DEC-4C6D-8070-9CD97BA8A230}" srcOrd="1" destOrd="0" parTransId="{55FCD2BA-AE69-4DEE-AA27-85046FF78716}" sibTransId="{ADED3DC5-862C-4E98-A4EC-14D06F6C5D7A}"/>
    <dgm:cxn modelId="{C28309F3-DD91-49DD-83A2-DAFA6BA8501A}" srcId="{42AC4A7E-F3A9-4374-AABC-AD21145C7141}" destId="{C9CF0388-0152-401B-8586-99AC2F25CDD6}" srcOrd="0" destOrd="0" parTransId="{F195C0E0-2A68-4EDF-BD07-9A4193ED9EE2}" sibTransId="{90453810-BD80-4AFB-AD6A-CEC542E55102}"/>
    <dgm:cxn modelId="{1BA296CE-F11B-408C-A1F2-BD86436D1EE0}" type="presParOf" srcId="{B7F13AEC-9E84-4251-BEF7-970B9F0F85E9}" destId="{CA14FE0A-BB42-4E29-8AF0-76AE9EA02597}" srcOrd="0" destOrd="0" presId="urn:microsoft.com/office/officeart/2005/8/layout/vList3"/>
    <dgm:cxn modelId="{997E536E-C1E0-4D93-A4FD-697016C48E0C}" type="presParOf" srcId="{CA14FE0A-BB42-4E29-8AF0-76AE9EA02597}" destId="{EA9A78EE-471E-4D9F-9681-9D8B4983BF51}" srcOrd="0" destOrd="0" presId="urn:microsoft.com/office/officeart/2005/8/layout/vList3"/>
    <dgm:cxn modelId="{BC732029-B60B-465D-8042-179B387C9C9D}" type="presParOf" srcId="{CA14FE0A-BB42-4E29-8AF0-76AE9EA02597}" destId="{B51CA2A6-BB89-4767-9D6C-75BB0BA6E2CE}" srcOrd="1" destOrd="0" presId="urn:microsoft.com/office/officeart/2005/8/layout/vList3"/>
    <dgm:cxn modelId="{56A6D94B-9CC6-4FC6-9F96-0336E867875A}" type="presParOf" srcId="{B7F13AEC-9E84-4251-BEF7-970B9F0F85E9}" destId="{B87A79C1-E4B4-4AA4-BA86-977E3533F625}" srcOrd="1" destOrd="0" presId="urn:microsoft.com/office/officeart/2005/8/layout/vList3"/>
    <dgm:cxn modelId="{60789D2E-DD4B-400F-9D01-56D649291626}" type="presParOf" srcId="{B7F13AEC-9E84-4251-BEF7-970B9F0F85E9}" destId="{2BD2E794-0112-449B-966E-92BD36DFD8F7}" srcOrd="2" destOrd="0" presId="urn:microsoft.com/office/officeart/2005/8/layout/vList3"/>
    <dgm:cxn modelId="{D11523CB-006A-41A9-9388-F9120BD49728}" type="presParOf" srcId="{2BD2E794-0112-449B-966E-92BD36DFD8F7}" destId="{730AA5EB-B378-41A1-B6D4-F1F189DED723}" srcOrd="0" destOrd="0" presId="urn:microsoft.com/office/officeart/2005/8/layout/vList3"/>
    <dgm:cxn modelId="{6D48E0F2-E6CC-4CA1-B962-F0E60B3E5426}" type="presParOf" srcId="{2BD2E794-0112-449B-966E-92BD36DFD8F7}" destId="{79DE6DD8-BB2C-4CF6-BE8C-15FF35F9617B}" srcOrd="1" destOrd="0" presId="urn:microsoft.com/office/officeart/2005/8/layout/vList3"/>
    <dgm:cxn modelId="{2BBF822D-C6E9-4E19-920C-71C126A76739}" type="presParOf" srcId="{B7F13AEC-9E84-4251-BEF7-970B9F0F85E9}" destId="{AA04B71F-FD6D-4A5F-8333-F5CAC37E1283}" srcOrd="3" destOrd="0" presId="urn:microsoft.com/office/officeart/2005/8/layout/vList3"/>
    <dgm:cxn modelId="{964D2AF1-74A2-4FFE-812E-CFD081411C3B}" type="presParOf" srcId="{B7F13AEC-9E84-4251-BEF7-970B9F0F85E9}" destId="{5AA5AC11-1CD5-4B41-A735-9C32E65FFF3D}" srcOrd="4" destOrd="0" presId="urn:microsoft.com/office/officeart/2005/8/layout/vList3"/>
    <dgm:cxn modelId="{66057827-769B-4EA5-A50C-12D60FA7A8D7}" type="presParOf" srcId="{5AA5AC11-1CD5-4B41-A735-9C32E65FFF3D}" destId="{FD8CDD31-663E-439A-8309-34ED4673EEA3}" srcOrd="0" destOrd="0" presId="urn:microsoft.com/office/officeart/2005/8/layout/vList3"/>
    <dgm:cxn modelId="{F2058111-A5F3-43B9-8F27-67FF52188B1F}" type="presParOf" srcId="{5AA5AC11-1CD5-4B41-A735-9C32E65FFF3D}" destId="{33AD6870-955C-443C-8FBB-2C129A6BFAB4}" srcOrd="1" destOrd="0" presId="urn:microsoft.com/office/officeart/2005/8/layout/vList3"/>
    <dgm:cxn modelId="{E34AE426-2573-4CF9-9F08-0039AD30D975}" type="presParOf" srcId="{B7F13AEC-9E84-4251-BEF7-970B9F0F85E9}" destId="{7585C886-2126-4B44-97FD-060792E11C62}" srcOrd="5" destOrd="0" presId="urn:microsoft.com/office/officeart/2005/8/layout/vList3"/>
    <dgm:cxn modelId="{40313891-9D0F-42C1-9F3E-7EB741BC8E82}" type="presParOf" srcId="{B7F13AEC-9E84-4251-BEF7-970B9F0F85E9}" destId="{DA5F6F4E-6434-4159-8984-7CB75119E126}" srcOrd="6" destOrd="0" presId="urn:microsoft.com/office/officeart/2005/8/layout/vList3"/>
    <dgm:cxn modelId="{71B9E027-2991-43C6-AFE5-3043DD266BA7}" type="presParOf" srcId="{DA5F6F4E-6434-4159-8984-7CB75119E126}" destId="{C3C55302-ADBE-4FB2-8005-EEF4EC8DE6D7}" srcOrd="0" destOrd="0" presId="urn:microsoft.com/office/officeart/2005/8/layout/vList3"/>
    <dgm:cxn modelId="{AD9DC008-2FA1-493F-871E-0741AC6F0729}" type="presParOf" srcId="{DA5F6F4E-6434-4159-8984-7CB75119E126}" destId="{9C6FEBB9-2F5F-40D9-8847-4AA91C1B7289}" srcOrd="1" destOrd="0" presId="urn:microsoft.com/office/officeart/2005/8/layout/vList3"/>
    <dgm:cxn modelId="{DE330C47-6C19-4C60-95F3-DF5B27665CBD}" type="presParOf" srcId="{B7F13AEC-9E84-4251-BEF7-970B9F0F85E9}" destId="{B39A7336-3D7D-4E85-8FF9-30516BB5145E}" srcOrd="7" destOrd="0" presId="urn:microsoft.com/office/officeart/2005/8/layout/vList3"/>
    <dgm:cxn modelId="{34C98A8E-0C03-454B-9379-694AF3D544D7}" type="presParOf" srcId="{B7F13AEC-9E84-4251-BEF7-970B9F0F85E9}" destId="{1A5F9001-8EC3-41CA-ACD3-9C10C3EC2EEE}" srcOrd="8" destOrd="0" presId="urn:microsoft.com/office/officeart/2005/8/layout/vList3"/>
    <dgm:cxn modelId="{DFEAC2DE-3C1B-4690-97F3-42E29A27B2CE}" type="presParOf" srcId="{1A5F9001-8EC3-41CA-ACD3-9C10C3EC2EEE}" destId="{58C19ACC-B9E2-4B72-B6F4-870DEE5FF120}" srcOrd="0" destOrd="0" presId="urn:microsoft.com/office/officeart/2005/8/layout/vList3"/>
    <dgm:cxn modelId="{0CB67DB1-2BD4-42E1-9084-CFD0E267D869}" type="presParOf" srcId="{1A5F9001-8EC3-41CA-ACD3-9C10C3EC2EEE}" destId="{1DCA3619-663D-4107-AD34-D80EC6421D2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2AC4A7E-F3A9-4374-AABC-AD21145C7141}" type="doc">
      <dgm:prSet loTypeId="urn:microsoft.com/office/officeart/2005/8/layout/vList3" loCatId="list" qsTypeId="urn:microsoft.com/office/officeart/2005/8/quickstyle/simple1" qsCatId="simple" csTypeId="urn:microsoft.com/office/officeart/2005/8/colors/accent1_1" csCatId="accent1" phldr="1"/>
      <dgm:spPr/>
      <dgm:t>
        <a:bodyPr/>
        <a:lstStyle/>
        <a:p>
          <a:endParaRPr lang="es-PE"/>
        </a:p>
      </dgm:t>
    </dgm:pt>
    <dgm:pt modelId="{C9CF0388-0152-401B-8586-99AC2F25CDD6}">
      <dgm:prSet phldrT="[Texto]"/>
      <dgm:spPr/>
      <dgm:t>
        <a:bodyPr/>
        <a:lstStyle/>
        <a:p>
          <a:r>
            <a:rPr lang="es-ES" b="1" dirty="0"/>
            <a:t>No hay correlación espuria: </a:t>
          </a:r>
          <a:r>
            <a:rPr lang="es-ES" dirty="0"/>
            <a:t>La correlación no se debe a un accidente aleatorio. La ley de los grandes números dicta que cuantos más datos tengamos, más creíble es esta suposición.</a:t>
          </a:r>
          <a:endParaRPr lang="es-PE" dirty="0"/>
        </a:p>
      </dgm:t>
    </dgm:pt>
    <dgm:pt modelId="{F195C0E0-2A68-4EDF-BD07-9A4193ED9EE2}" type="parTrans" cxnId="{C28309F3-DD91-49DD-83A2-DAFA6BA8501A}">
      <dgm:prSet/>
      <dgm:spPr/>
      <dgm:t>
        <a:bodyPr/>
        <a:lstStyle/>
        <a:p>
          <a:endParaRPr lang="es-PE"/>
        </a:p>
      </dgm:t>
    </dgm:pt>
    <dgm:pt modelId="{90453810-BD80-4AFB-AD6A-CEC542E55102}" type="sibTrans" cxnId="{C28309F3-DD91-49DD-83A2-DAFA6BA8501A}">
      <dgm:prSet/>
      <dgm:spPr/>
      <dgm:t>
        <a:bodyPr/>
        <a:lstStyle/>
        <a:p>
          <a:endParaRPr lang="es-PE"/>
        </a:p>
      </dgm:t>
    </dgm:pt>
    <dgm:pt modelId="{1E4757C9-7DEC-4C6D-8070-9CD97BA8A230}">
      <dgm:prSet phldrT="[Texto]"/>
      <dgm:spPr/>
      <dgm:t>
        <a:bodyPr/>
        <a:lstStyle/>
        <a:p>
          <a:r>
            <a:rPr lang="es-ES" b="1" dirty="0"/>
            <a:t>Coherencia:</a:t>
          </a:r>
          <a:r>
            <a:rPr lang="es-ES" dirty="0"/>
            <a:t> Los valores de A que se ven son los valores reales de A «los valores del tratamiento en comparación corresponden a intervenciones bien definidas, corresponden a una única versión del tratamiento, y no efecto de </a:t>
          </a:r>
          <a:r>
            <a:rPr lang="es-ES" dirty="0" err="1"/>
            <a:t>spill-over</a:t>
          </a:r>
          <a:r>
            <a:rPr lang="es-ES" dirty="0"/>
            <a:t>»</a:t>
          </a:r>
          <a:endParaRPr lang="es-PE" dirty="0"/>
        </a:p>
      </dgm:t>
    </dgm:pt>
    <dgm:pt modelId="{55FCD2BA-AE69-4DEE-AA27-85046FF78716}" type="parTrans" cxnId="{B47924F1-6E69-4D52-9454-2607913293AE}">
      <dgm:prSet/>
      <dgm:spPr/>
      <dgm:t>
        <a:bodyPr/>
        <a:lstStyle/>
        <a:p>
          <a:endParaRPr lang="es-PE"/>
        </a:p>
      </dgm:t>
    </dgm:pt>
    <dgm:pt modelId="{ADED3DC5-862C-4E98-A4EC-14D06F6C5D7A}" type="sibTrans" cxnId="{B47924F1-6E69-4D52-9454-2607913293AE}">
      <dgm:prSet/>
      <dgm:spPr/>
      <dgm:t>
        <a:bodyPr/>
        <a:lstStyle/>
        <a:p>
          <a:endParaRPr lang="es-PE"/>
        </a:p>
      </dgm:t>
    </dgm:pt>
    <dgm:pt modelId="{F691797A-0D28-4C0C-8219-2B2A92CECB7D}">
      <dgm:prSet phldrT="[Texto]"/>
      <dgm:spPr/>
      <dgm:t>
        <a:bodyPr/>
        <a:lstStyle/>
        <a:p>
          <a:r>
            <a:rPr lang="es-ES" b="1" dirty="0"/>
            <a:t>Positividad: </a:t>
          </a:r>
          <a:r>
            <a:rPr lang="es-ES" dirty="0"/>
            <a:t>«la probabilidad de recibir cada valor de tratamiento es mayor que cero, es decir, positiva» Hernán y </a:t>
          </a:r>
          <a:r>
            <a:rPr lang="es-ES" dirty="0" err="1"/>
            <a:t>Robins</a:t>
          </a:r>
          <a:r>
            <a:rPr lang="es-ES" dirty="0"/>
            <a:t> (2020).</a:t>
          </a:r>
          <a:endParaRPr lang="es-PE" dirty="0"/>
        </a:p>
      </dgm:t>
    </dgm:pt>
    <dgm:pt modelId="{BEEDBF83-1879-40CE-B11C-EF1ED6924E3C}" type="parTrans" cxnId="{BDCB1AE1-B601-4D1D-BC65-9AC5F121E8DB}">
      <dgm:prSet/>
      <dgm:spPr/>
      <dgm:t>
        <a:bodyPr/>
        <a:lstStyle/>
        <a:p>
          <a:endParaRPr lang="es-PE"/>
        </a:p>
      </dgm:t>
    </dgm:pt>
    <dgm:pt modelId="{28214046-16F4-43A2-954C-EC22BDB0EBAA}" type="sibTrans" cxnId="{BDCB1AE1-B601-4D1D-BC65-9AC5F121E8DB}">
      <dgm:prSet/>
      <dgm:spPr/>
      <dgm:t>
        <a:bodyPr/>
        <a:lstStyle/>
        <a:p>
          <a:endParaRPr lang="es-PE"/>
        </a:p>
      </dgm:t>
    </dgm:pt>
    <dgm:pt modelId="{72B7C834-619B-405B-A937-3A88C1417530}">
      <dgm:prSet phldrT="[Texto]"/>
      <dgm:spPr/>
      <dgm:t>
        <a:bodyPr/>
        <a:lstStyle/>
        <a:p>
          <a:r>
            <a:rPr lang="es-ES" b="1" dirty="0" err="1"/>
            <a:t>Fidedignidad</a:t>
          </a:r>
          <a:r>
            <a:rPr lang="es-ES" b="1" dirty="0"/>
            <a:t>:</a:t>
          </a:r>
          <a:r>
            <a:rPr lang="es-ES" dirty="0"/>
            <a:t> El efecto causal no varía a lo largo de los grupos de forma que se promedie a 0 en los datos. El tratamiento no tiene un efecto positivo el 50% de las veces y un efecto negativo idénticamente el 50% de las veces, que promediaría a un efecto de 0 en la población.</a:t>
          </a:r>
          <a:endParaRPr lang="es-PE" dirty="0"/>
        </a:p>
      </dgm:t>
    </dgm:pt>
    <dgm:pt modelId="{A43D9F9A-8532-400A-BF4E-6E8384529DEA}" type="parTrans" cxnId="{DC694D92-56C3-4EA4-ACB4-81E7EDA7482E}">
      <dgm:prSet/>
      <dgm:spPr/>
      <dgm:t>
        <a:bodyPr/>
        <a:lstStyle/>
        <a:p>
          <a:endParaRPr lang="es-PE"/>
        </a:p>
      </dgm:t>
    </dgm:pt>
    <dgm:pt modelId="{B40C9A57-69E3-417E-8A01-6AB489A19943}" type="sibTrans" cxnId="{DC694D92-56C3-4EA4-ACB4-81E7EDA7482E}">
      <dgm:prSet/>
      <dgm:spPr/>
      <dgm:t>
        <a:bodyPr/>
        <a:lstStyle/>
        <a:p>
          <a:endParaRPr lang="es-PE"/>
        </a:p>
      </dgm:t>
    </dgm:pt>
    <dgm:pt modelId="{22C3F9C2-2029-46D4-970E-A0641A340649}">
      <dgm:prSet phldrT="[Texto]"/>
      <dgm:spPr/>
      <dgm:t>
        <a:bodyPr/>
        <a:lstStyle/>
        <a:p>
          <a:r>
            <a:rPr lang="es-ES" b="1" dirty="0"/>
            <a:t>Intercambiabilidad: </a:t>
          </a:r>
          <a:r>
            <a:rPr lang="es-ES" dirty="0"/>
            <a:t>«la probabilidad condicional de recibir cada valor de tratamiento, aunque no decidida por los investigadores, depende sólo de las covariables medidas» Hernán y </a:t>
          </a:r>
          <a:r>
            <a:rPr lang="es-ES" dirty="0" err="1"/>
            <a:t>Robins</a:t>
          </a:r>
          <a:r>
            <a:rPr lang="es-ES" dirty="0"/>
            <a:t> (2020).</a:t>
          </a:r>
          <a:endParaRPr lang="es-PE" dirty="0"/>
        </a:p>
      </dgm:t>
    </dgm:pt>
    <dgm:pt modelId="{F5632B76-24E3-41F9-84AE-6EC8A3E3F5FD}" type="sibTrans" cxnId="{885D1BC0-0EC6-4DAE-9D18-D5587AB6085B}">
      <dgm:prSet/>
      <dgm:spPr/>
      <dgm:t>
        <a:bodyPr/>
        <a:lstStyle/>
        <a:p>
          <a:endParaRPr lang="es-PE"/>
        </a:p>
      </dgm:t>
    </dgm:pt>
    <dgm:pt modelId="{543AA34C-990A-47C2-8F72-1BDB36377E26}" type="parTrans" cxnId="{885D1BC0-0EC6-4DAE-9D18-D5587AB6085B}">
      <dgm:prSet/>
      <dgm:spPr/>
      <dgm:t>
        <a:bodyPr/>
        <a:lstStyle/>
        <a:p>
          <a:endParaRPr lang="es-PE"/>
        </a:p>
      </dgm:t>
    </dgm:pt>
    <dgm:pt modelId="{B7F13AEC-9E84-4251-BEF7-970B9F0F85E9}" type="pres">
      <dgm:prSet presAssocID="{42AC4A7E-F3A9-4374-AABC-AD21145C7141}" presName="linearFlow" presStyleCnt="0">
        <dgm:presLayoutVars>
          <dgm:dir/>
          <dgm:resizeHandles val="exact"/>
        </dgm:presLayoutVars>
      </dgm:prSet>
      <dgm:spPr/>
    </dgm:pt>
    <dgm:pt modelId="{CA14FE0A-BB42-4E29-8AF0-76AE9EA02597}" type="pres">
      <dgm:prSet presAssocID="{C9CF0388-0152-401B-8586-99AC2F25CDD6}" presName="composite" presStyleCnt="0"/>
      <dgm:spPr/>
    </dgm:pt>
    <dgm:pt modelId="{EA9A78EE-471E-4D9F-9681-9D8B4983BF51}" type="pres">
      <dgm:prSet presAssocID="{C9CF0388-0152-401B-8586-99AC2F25CDD6}" presName="imgShp" presStyleLbl="fgImgPlace1" presStyleIdx="0" presStyleCnt="5"/>
      <dgm:spPr/>
    </dgm:pt>
    <dgm:pt modelId="{B51CA2A6-BB89-4767-9D6C-75BB0BA6E2CE}" type="pres">
      <dgm:prSet presAssocID="{C9CF0388-0152-401B-8586-99AC2F25CDD6}" presName="txShp" presStyleLbl="node1" presStyleIdx="0" presStyleCnt="5">
        <dgm:presLayoutVars>
          <dgm:bulletEnabled val="1"/>
        </dgm:presLayoutVars>
      </dgm:prSet>
      <dgm:spPr/>
    </dgm:pt>
    <dgm:pt modelId="{B87A79C1-E4B4-4AA4-BA86-977E3533F625}" type="pres">
      <dgm:prSet presAssocID="{90453810-BD80-4AFB-AD6A-CEC542E55102}" presName="spacing" presStyleCnt="0"/>
      <dgm:spPr/>
    </dgm:pt>
    <dgm:pt modelId="{2BD2E794-0112-449B-966E-92BD36DFD8F7}" type="pres">
      <dgm:prSet presAssocID="{1E4757C9-7DEC-4C6D-8070-9CD97BA8A230}" presName="composite" presStyleCnt="0"/>
      <dgm:spPr/>
    </dgm:pt>
    <dgm:pt modelId="{730AA5EB-B378-41A1-B6D4-F1F189DED723}" type="pres">
      <dgm:prSet presAssocID="{1E4757C9-7DEC-4C6D-8070-9CD97BA8A230}" presName="imgShp" presStyleLbl="fgImgPlace1" presStyleIdx="1" presStyleCnt="5"/>
      <dgm:spPr/>
    </dgm:pt>
    <dgm:pt modelId="{79DE6DD8-BB2C-4CF6-BE8C-15FF35F9617B}" type="pres">
      <dgm:prSet presAssocID="{1E4757C9-7DEC-4C6D-8070-9CD97BA8A230}" presName="txShp" presStyleLbl="node1" presStyleIdx="1" presStyleCnt="5">
        <dgm:presLayoutVars>
          <dgm:bulletEnabled val="1"/>
        </dgm:presLayoutVars>
      </dgm:prSet>
      <dgm:spPr/>
    </dgm:pt>
    <dgm:pt modelId="{AA04B71F-FD6D-4A5F-8333-F5CAC37E1283}" type="pres">
      <dgm:prSet presAssocID="{ADED3DC5-862C-4E98-A4EC-14D06F6C5D7A}" presName="spacing" presStyleCnt="0"/>
      <dgm:spPr/>
    </dgm:pt>
    <dgm:pt modelId="{5AA5AC11-1CD5-4B41-A735-9C32E65FFF3D}" type="pres">
      <dgm:prSet presAssocID="{22C3F9C2-2029-46D4-970E-A0641A340649}" presName="composite" presStyleCnt="0"/>
      <dgm:spPr/>
    </dgm:pt>
    <dgm:pt modelId="{FD8CDD31-663E-439A-8309-34ED4673EEA3}" type="pres">
      <dgm:prSet presAssocID="{22C3F9C2-2029-46D4-970E-A0641A340649}" presName="imgShp" presStyleLbl="fgImgPlace1" presStyleIdx="2" presStyleCnt="5"/>
      <dgm:spPr/>
    </dgm:pt>
    <dgm:pt modelId="{33AD6870-955C-443C-8FBB-2C129A6BFAB4}" type="pres">
      <dgm:prSet presAssocID="{22C3F9C2-2029-46D4-970E-A0641A340649}" presName="txShp" presStyleLbl="node1" presStyleIdx="2" presStyleCnt="5">
        <dgm:presLayoutVars>
          <dgm:bulletEnabled val="1"/>
        </dgm:presLayoutVars>
      </dgm:prSet>
      <dgm:spPr/>
    </dgm:pt>
    <dgm:pt modelId="{7585C886-2126-4B44-97FD-060792E11C62}" type="pres">
      <dgm:prSet presAssocID="{F5632B76-24E3-41F9-84AE-6EC8A3E3F5FD}" presName="spacing" presStyleCnt="0"/>
      <dgm:spPr/>
    </dgm:pt>
    <dgm:pt modelId="{DA5F6F4E-6434-4159-8984-7CB75119E126}" type="pres">
      <dgm:prSet presAssocID="{F691797A-0D28-4C0C-8219-2B2A92CECB7D}" presName="composite" presStyleCnt="0"/>
      <dgm:spPr/>
    </dgm:pt>
    <dgm:pt modelId="{C3C55302-ADBE-4FB2-8005-EEF4EC8DE6D7}" type="pres">
      <dgm:prSet presAssocID="{F691797A-0D28-4C0C-8219-2B2A92CECB7D}" presName="imgShp" presStyleLbl="fgImgPlace1" presStyleIdx="3" presStyleCnt="5"/>
      <dgm:spPr/>
    </dgm:pt>
    <dgm:pt modelId="{9C6FEBB9-2F5F-40D9-8847-4AA91C1B7289}" type="pres">
      <dgm:prSet presAssocID="{F691797A-0D28-4C0C-8219-2B2A92CECB7D}" presName="txShp" presStyleLbl="node1" presStyleIdx="3" presStyleCnt="5">
        <dgm:presLayoutVars>
          <dgm:bulletEnabled val="1"/>
        </dgm:presLayoutVars>
      </dgm:prSet>
      <dgm:spPr/>
    </dgm:pt>
    <dgm:pt modelId="{B39A7336-3D7D-4E85-8FF9-30516BB5145E}" type="pres">
      <dgm:prSet presAssocID="{28214046-16F4-43A2-954C-EC22BDB0EBAA}" presName="spacing" presStyleCnt="0"/>
      <dgm:spPr/>
    </dgm:pt>
    <dgm:pt modelId="{1A5F9001-8EC3-41CA-ACD3-9C10C3EC2EEE}" type="pres">
      <dgm:prSet presAssocID="{72B7C834-619B-405B-A937-3A88C1417530}" presName="composite" presStyleCnt="0"/>
      <dgm:spPr/>
    </dgm:pt>
    <dgm:pt modelId="{58C19ACC-B9E2-4B72-B6F4-870DEE5FF120}" type="pres">
      <dgm:prSet presAssocID="{72B7C834-619B-405B-A937-3A88C1417530}" presName="imgShp" presStyleLbl="fgImgPlace1" presStyleIdx="4" presStyleCnt="5"/>
      <dgm:spPr/>
    </dgm:pt>
    <dgm:pt modelId="{1DCA3619-663D-4107-AD34-D80EC6421D26}" type="pres">
      <dgm:prSet presAssocID="{72B7C834-619B-405B-A937-3A88C1417530}" presName="txShp" presStyleLbl="node1" presStyleIdx="4" presStyleCnt="5">
        <dgm:presLayoutVars>
          <dgm:bulletEnabled val="1"/>
        </dgm:presLayoutVars>
      </dgm:prSet>
      <dgm:spPr/>
    </dgm:pt>
  </dgm:ptLst>
  <dgm:cxnLst>
    <dgm:cxn modelId="{21335332-BDDA-404E-A9DF-57DC7C18D490}" type="presOf" srcId="{42AC4A7E-F3A9-4374-AABC-AD21145C7141}" destId="{B7F13AEC-9E84-4251-BEF7-970B9F0F85E9}" srcOrd="0" destOrd="0" presId="urn:microsoft.com/office/officeart/2005/8/layout/vList3"/>
    <dgm:cxn modelId="{79727248-BA46-45BD-A04F-6A4D546F9D3D}" type="presOf" srcId="{22C3F9C2-2029-46D4-970E-A0641A340649}" destId="{33AD6870-955C-443C-8FBB-2C129A6BFAB4}" srcOrd="0" destOrd="0" presId="urn:microsoft.com/office/officeart/2005/8/layout/vList3"/>
    <dgm:cxn modelId="{F59EB56C-B9C4-4679-A4FE-6DD39AA2A158}" type="presOf" srcId="{F691797A-0D28-4C0C-8219-2B2A92CECB7D}" destId="{9C6FEBB9-2F5F-40D9-8847-4AA91C1B7289}" srcOrd="0" destOrd="0" presId="urn:microsoft.com/office/officeart/2005/8/layout/vList3"/>
    <dgm:cxn modelId="{95A1E47D-C593-42B2-9AEE-D1E0133F1161}" type="presOf" srcId="{72B7C834-619B-405B-A937-3A88C1417530}" destId="{1DCA3619-663D-4107-AD34-D80EC6421D26}" srcOrd="0" destOrd="0" presId="urn:microsoft.com/office/officeart/2005/8/layout/vList3"/>
    <dgm:cxn modelId="{DC694D92-56C3-4EA4-ACB4-81E7EDA7482E}" srcId="{42AC4A7E-F3A9-4374-AABC-AD21145C7141}" destId="{72B7C834-619B-405B-A937-3A88C1417530}" srcOrd="4" destOrd="0" parTransId="{A43D9F9A-8532-400A-BF4E-6E8384529DEA}" sibTransId="{B40C9A57-69E3-417E-8A01-6AB489A19943}"/>
    <dgm:cxn modelId="{885D1BC0-0EC6-4DAE-9D18-D5587AB6085B}" srcId="{42AC4A7E-F3A9-4374-AABC-AD21145C7141}" destId="{22C3F9C2-2029-46D4-970E-A0641A340649}" srcOrd="2" destOrd="0" parTransId="{543AA34C-990A-47C2-8F72-1BDB36377E26}" sibTransId="{F5632B76-24E3-41F9-84AE-6EC8A3E3F5FD}"/>
    <dgm:cxn modelId="{757E63C4-592B-424D-BCA1-695492C5A293}" type="presOf" srcId="{C9CF0388-0152-401B-8586-99AC2F25CDD6}" destId="{B51CA2A6-BB89-4767-9D6C-75BB0BA6E2CE}" srcOrd="0" destOrd="0" presId="urn:microsoft.com/office/officeart/2005/8/layout/vList3"/>
    <dgm:cxn modelId="{BDCB1AE1-B601-4D1D-BC65-9AC5F121E8DB}" srcId="{42AC4A7E-F3A9-4374-AABC-AD21145C7141}" destId="{F691797A-0D28-4C0C-8219-2B2A92CECB7D}" srcOrd="3" destOrd="0" parTransId="{BEEDBF83-1879-40CE-B11C-EF1ED6924E3C}" sibTransId="{28214046-16F4-43A2-954C-EC22BDB0EBAA}"/>
    <dgm:cxn modelId="{526578E6-4EC1-4AA6-AA2D-B78FDE4FF643}" type="presOf" srcId="{1E4757C9-7DEC-4C6D-8070-9CD97BA8A230}" destId="{79DE6DD8-BB2C-4CF6-BE8C-15FF35F9617B}" srcOrd="0" destOrd="0" presId="urn:microsoft.com/office/officeart/2005/8/layout/vList3"/>
    <dgm:cxn modelId="{B47924F1-6E69-4D52-9454-2607913293AE}" srcId="{42AC4A7E-F3A9-4374-AABC-AD21145C7141}" destId="{1E4757C9-7DEC-4C6D-8070-9CD97BA8A230}" srcOrd="1" destOrd="0" parTransId="{55FCD2BA-AE69-4DEE-AA27-85046FF78716}" sibTransId="{ADED3DC5-862C-4E98-A4EC-14D06F6C5D7A}"/>
    <dgm:cxn modelId="{C28309F3-DD91-49DD-83A2-DAFA6BA8501A}" srcId="{42AC4A7E-F3A9-4374-AABC-AD21145C7141}" destId="{C9CF0388-0152-401B-8586-99AC2F25CDD6}" srcOrd="0" destOrd="0" parTransId="{F195C0E0-2A68-4EDF-BD07-9A4193ED9EE2}" sibTransId="{90453810-BD80-4AFB-AD6A-CEC542E55102}"/>
    <dgm:cxn modelId="{1BA296CE-F11B-408C-A1F2-BD86436D1EE0}" type="presParOf" srcId="{B7F13AEC-9E84-4251-BEF7-970B9F0F85E9}" destId="{CA14FE0A-BB42-4E29-8AF0-76AE9EA02597}" srcOrd="0" destOrd="0" presId="urn:microsoft.com/office/officeart/2005/8/layout/vList3"/>
    <dgm:cxn modelId="{997E536E-C1E0-4D93-A4FD-697016C48E0C}" type="presParOf" srcId="{CA14FE0A-BB42-4E29-8AF0-76AE9EA02597}" destId="{EA9A78EE-471E-4D9F-9681-9D8B4983BF51}" srcOrd="0" destOrd="0" presId="urn:microsoft.com/office/officeart/2005/8/layout/vList3"/>
    <dgm:cxn modelId="{BC732029-B60B-465D-8042-179B387C9C9D}" type="presParOf" srcId="{CA14FE0A-BB42-4E29-8AF0-76AE9EA02597}" destId="{B51CA2A6-BB89-4767-9D6C-75BB0BA6E2CE}" srcOrd="1" destOrd="0" presId="urn:microsoft.com/office/officeart/2005/8/layout/vList3"/>
    <dgm:cxn modelId="{56A6D94B-9CC6-4FC6-9F96-0336E867875A}" type="presParOf" srcId="{B7F13AEC-9E84-4251-BEF7-970B9F0F85E9}" destId="{B87A79C1-E4B4-4AA4-BA86-977E3533F625}" srcOrd="1" destOrd="0" presId="urn:microsoft.com/office/officeart/2005/8/layout/vList3"/>
    <dgm:cxn modelId="{60789D2E-DD4B-400F-9D01-56D649291626}" type="presParOf" srcId="{B7F13AEC-9E84-4251-BEF7-970B9F0F85E9}" destId="{2BD2E794-0112-449B-966E-92BD36DFD8F7}" srcOrd="2" destOrd="0" presId="urn:microsoft.com/office/officeart/2005/8/layout/vList3"/>
    <dgm:cxn modelId="{D11523CB-006A-41A9-9388-F9120BD49728}" type="presParOf" srcId="{2BD2E794-0112-449B-966E-92BD36DFD8F7}" destId="{730AA5EB-B378-41A1-B6D4-F1F189DED723}" srcOrd="0" destOrd="0" presId="urn:microsoft.com/office/officeart/2005/8/layout/vList3"/>
    <dgm:cxn modelId="{6D48E0F2-E6CC-4CA1-B962-F0E60B3E5426}" type="presParOf" srcId="{2BD2E794-0112-449B-966E-92BD36DFD8F7}" destId="{79DE6DD8-BB2C-4CF6-BE8C-15FF35F9617B}" srcOrd="1" destOrd="0" presId="urn:microsoft.com/office/officeart/2005/8/layout/vList3"/>
    <dgm:cxn modelId="{2BBF822D-C6E9-4E19-920C-71C126A76739}" type="presParOf" srcId="{B7F13AEC-9E84-4251-BEF7-970B9F0F85E9}" destId="{AA04B71F-FD6D-4A5F-8333-F5CAC37E1283}" srcOrd="3" destOrd="0" presId="urn:microsoft.com/office/officeart/2005/8/layout/vList3"/>
    <dgm:cxn modelId="{964D2AF1-74A2-4FFE-812E-CFD081411C3B}" type="presParOf" srcId="{B7F13AEC-9E84-4251-BEF7-970B9F0F85E9}" destId="{5AA5AC11-1CD5-4B41-A735-9C32E65FFF3D}" srcOrd="4" destOrd="0" presId="urn:microsoft.com/office/officeart/2005/8/layout/vList3"/>
    <dgm:cxn modelId="{66057827-769B-4EA5-A50C-12D60FA7A8D7}" type="presParOf" srcId="{5AA5AC11-1CD5-4B41-A735-9C32E65FFF3D}" destId="{FD8CDD31-663E-439A-8309-34ED4673EEA3}" srcOrd="0" destOrd="0" presId="urn:microsoft.com/office/officeart/2005/8/layout/vList3"/>
    <dgm:cxn modelId="{F2058111-A5F3-43B9-8F27-67FF52188B1F}" type="presParOf" srcId="{5AA5AC11-1CD5-4B41-A735-9C32E65FFF3D}" destId="{33AD6870-955C-443C-8FBB-2C129A6BFAB4}" srcOrd="1" destOrd="0" presId="urn:microsoft.com/office/officeart/2005/8/layout/vList3"/>
    <dgm:cxn modelId="{E34AE426-2573-4CF9-9F08-0039AD30D975}" type="presParOf" srcId="{B7F13AEC-9E84-4251-BEF7-970B9F0F85E9}" destId="{7585C886-2126-4B44-97FD-060792E11C62}" srcOrd="5" destOrd="0" presId="urn:microsoft.com/office/officeart/2005/8/layout/vList3"/>
    <dgm:cxn modelId="{40313891-9D0F-42C1-9F3E-7EB741BC8E82}" type="presParOf" srcId="{B7F13AEC-9E84-4251-BEF7-970B9F0F85E9}" destId="{DA5F6F4E-6434-4159-8984-7CB75119E126}" srcOrd="6" destOrd="0" presId="urn:microsoft.com/office/officeart/2005/8/layout/vList3"/>
    <dgm:cxn modelId="{71B9E027-2991-43C6-AFE5-3043DD266BA7}" type="presParOf" srcId="{DA5F6F4E-6434-4159-8984-7CB75119E126}" destId="{C3C55302-ADBE-4FB2-8005-EEF4EC8DE6D7}" srcOrd="0" destOrd="0" presId="urn:microsoft.com/office/officeart/2005/8/layout/vList3"/>
    <dgm:cxn modelId="{AD9DC008-2FA1-493F-871E-0741AC6F0729}" type="presParOf" srcId="{DA5F6F4E-6434-4159-8984-7CB75119E126}" destId="{9C6FEBB9-2F5F-40D9-8847-4AA91C1B7289}" srcOrd="1" destOrd="0" presId="urn:microsoft.com/office/officeart/2005/8/layout/vList3"/>
    <dgm:cxn modelId="{DE330C47-6C19-4C60-95F3-DF5B27665CBD}" type="presParOf" srcId="{B7F13AEC-9E84-4251-BEF7-970B9F0F85E9}" destId="{B39A7336-3D7D-4E85-8FF9-30516BB5145E}" srcOrd="7" destOrd="0" presId="urn:microsoft.com/office/officeart/2005/8/layout/vList3"/>
    <dgm:cxn modelId="{34C98A8E-0C03-454B-9379-694AF3D544D7}" type="presParOf" srcId="{B7F13AEC-9E84-4251-BEF7-970B9F0F85E9}" destId="{1A5F9001-8EC3-41CA-ACD3-9C10C3EC2EEE}" srcOrd="8" destOrd="0" presId="urn:microsoft.com/office/officeart/2005/8/layout/vList3"/>
    <dgm:cxn modelId="{DFEAC2DE-3C1B-4690-97F3-42E29A27B2CE}" type="presParOf" srcId="{1A5F9001-8EC3-41CA-ACD3-9C10C3EC2EEE}" destId="{58C19ACC-B9E2-4B72-B6F4-870DEE5FF120}" srcOrd="0" destOrd="0" presId="urn:microsoft.com/office/officeart/2005/8/layout/vList3"/>
    <dgm:cxn modelId="{0CB67DB1-2BD4-42E1-9084-CFD0E267D869}" type="presParOf" srcId="{1A5F9001-8EC3-41CA-ACD3-9C10C3EC2EEE}" destId="{1DCA3619-663D-4107-AD34-D80EC6421D2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1CA2A6-BB89-4767-9D6C-75BB0BA6E2CE}">
      <dsp:nvSpPr>
        <dsp:cNvPr id="0" name=""/>
        <dsp:cNvSpPr/>
      </dsp:nvSpPr>
      <dsp:spPr>
        <a:xfrm rot="10800000">
          <a:off x="1577732" y="1418"/>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No hay correlación espuria: </a:t>
          </a:r>
          <a:r>
            <a:rPr lang="es-ES" sz="1300" kern="1200" dirty="0"/>
            <a:t>La correlación no se debe a un accidente aleatorio. La ley de los grandes números dicta que cuantos más datos tengamos, más creíble es esta suposición.</a:t>
          </a:r>
          <a:endParaRPr lang="es-PE" sz="1300" kern="1200" dirty="0"/>
        </a:p>
      </dsp:txBody>
      <dsp:txXfrm rot="10800000">
        <a:off x="1784861" y="1418"/>
        <a:ext cx="5234370" cy="828518"/>
      </dsp:txXfrm>
    </dsp:sp>
    <dsp:sp modelId="{EA9A78EE-471E-4D9F-9681-9D8B4983BF51}">
      <dsp:nvSpPr>
        <dsp:cNvPr id="0" name=""/>
        <dsp:cNvSpPr/>
      </dsp:nvSpPr>
      <dsp:spPr>
        <a:xfrm>
          <a:off x="1163473" y="1418"/>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DE6DD8-BB2C-4CF6-BE8C-15FF35F9617B}">
      <dsp:nvSpPr>
        <dsp:cNvPr id="0" name=""/>
        <dsp:cNvSpPr/>
      </dsp:nvSpPr>
      <dsp:spPr>
        <a:xfrm rot="10800000">
          <a:off x="1577732" y="1077256"/>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Coherencia:</a:t>
          </a:r>
          <a:r>
            <a:rPr lang="es-ES" sz="1300" kern="1200" dirty="0"/>
            <a:t> Los valores de A que se ven son los valores reales de A, o «los valores del tratamiento en comparación corresponden a intervenciones bien definidas que, a su vez, corresponden a las versiones del tratamiento en los datos» Hernán y </a:t>
          </a:r>
          <a:r>
            <a:rPr lang="es-ES" sz="1300" kern="1200" dirty="0" err="1"/>
            <a:t>Robins</a:t>
          </a:r>
          <a:r>
            <a:rPr lang="es-ES" sz="1300" kern="1200" dirty="0"/>
            <a:t> (2020).</a:t>
          </a:r>
          <a:endParaRPr lang="es-PE" sz="1300" kern="1200" dirty="0"/>
        </a:p>
      </dsp:txBody>
      <dsp:txXfrm rot="10800000">
        <a:off x="1784861" y="1077256"/>
        <a:ext cx="5234370" cy="828518"/>
      </dsp:txXfrm>
    </dsp:sp>
    <dsp:sp modelId="{730AA5EB-B378-41A1-B6D4-F1F189DED723}">
      <dsp:nvSpPr>
        <dsp:cNvPr id="0" name=""/>
        <dsp:cNvSpPr/>
      </dsp:nvSpPr>
      <dsp:spPr>
        <a:xfrm>
          <a:off x="1163473" y="1077256"/>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AD6870-955C-443C-8FBB-2C129A6BFAB4}">
      <dsp:nvSpPr>
        <dsp:cNvPr id="0" name=""/>
        <dsp:cNvSpPr/>
      </dsp:nvSpPr>
      <dsp:spPr>
        <a:xfrm rot="10800000">
          <a:off x="1577732" y="2153094"/>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Intercambiabilidad: </a:t>
          </a:r>
          <a:r>
            <a:rPr lang="es-ES" sz="1300" kern="1200" dirty="0"/>
            <a:t>«la probabilidad condicional de recibir cada valor de tratamiento, aunque no decidida por los investigadores, depende sólo de las covariables medidas» Hernán y </a:t>
          </a:r>
          <a:r>
            <a:rPr lang="es-ES" sz="1300" kern="1200" dirty="0" err="1"/>
            <a:t>Robins</a:t>
          </a:r>
          <a:r>
            <a:rPr lang="es-ES" sz="1300" kern="1200" dirty="0"/>
            <a:t> (2020).</a:t>
          </a:r>
          <a:endParaRPr lang="es-PE" sz="1300" kern="1200" dirty="0"/>
        </a:p>
      </dsp:txBody>
      <dsp:txXfrm rot="10800000">
        <a:off x="1784861" y="2153094"/>
        <a:ext cx="5234370" cy="828518"/>
      </dsp:txXfrm>
    </dsp:sp>
    <dsp:sp modelId="{FD8CDD31-663E-439A-8309-34ED4673EEA3}">
      <dsp:nvSpPr>
        <dsp:cNvPr id="0" name=""/>
        <dsp:cNvSpPr/>
      </dsp:nvSpPr>
      <dsp:spPr>
        <a:xfrm>
          <a:off x="1163473" y="2153094"/>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6FEBB9-2F5F-40D9-8847-4AA91C1B7289}">
      <dsp:nvSpPr>
        <dsp:cNvPr id="0" name=""/>
        <dsp:cNvSpPr/>
      </dsp:nvSpPr>
      <dsp:spPr>
        <a:xfrm rot="10800000">
          <a:off x="1577732" y="3228932"/>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Positividad: </a:t>
          </a:r>
          <a:r>
            <a:rPr lang="es-ES" sz="1300" kern="1200" dirty="0"/>
            <a:t>«la probabilidad de recibir cada valor de tratamiento condicional a L es mayor que cero, es decir, positiva» Hernán y </a:t>
          </a:r>
          <a:r>
            <a:rPr lang="es-ES" sz="1300" kern="1200" dirty="0" err="1"/>
            <a:t>Robins</a:t>
          </a:r>
          <a:r>
            <a:rPr lang="es-ES" sz="1300" kern="1200" dirty="0"/>
            <a:t> (2020).</a:t>
          </a:r>
          <a:endParaRPr lang="es-PE" sz="1300" kern="1200" dirty="0"/>
        </a:p>
      </dsp:txBody>
      <dsp:txXfrm rot="10800000">
        <a:off x="1784861" y="3228932"/>
        <a:ext cx="5234370" cy="828518"/>
      </dsp:txXfrm>
    </dsp:sp>
    <dsp:sp modelId="{C3C55302-ADBE-4FB2-8005-EEF4EC8DE6D7}">
      <dsp:nvSpPr>
        <dsp:cNvPr id="0" name=""/>
        <dsp:cNvSpPr/>
      </dsp:nvSpPr>
      <dsp:spPr>
        <a:xfrm>
          <a:off x="1163473" y="3228932"/>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CA3619-663D-4107-AD34-D80EC6421D26}">
      <dsp:nvSpPr>
        <dsp:cNvPr id="0" name=""/>
        <dsp:cNvSpPr/>
      </dsp:nvSpPr>
      <dsp:spPr>
        <a:xfrm rot="10800000">
          <a:off x="1577732" y="4304770"/>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err="1"/>
            <a:t>Fidedignidad</a:t>
          </a:r>
          <a:r>
            <a:rPr lang="es-ES" sz="1300" b="1" kern="1200" dirty="0"/>
            <a:t>:</a:t>
          </a:r>
          <a:r>
            <a:rPr lang="es-ES" sz="1300" kern="1200" dirty="0"/>
            <a:t> El efecto causal no varía a lo largo de los grupos de forma que se promedie a 0 en los datos. A no tiene un efecto positivo el 50% de las veces y un efecto negativo idénticamente potente el 50% de las veces, que promediaría a un efecto de 0 en la población.</a:t>
          </a:r>
          <a:endParaRPr lang="es-PE" sz="1300" kern="1200" dirty="0"/>
        </a:p>
      </dsp:txBody>
      <dsp:txXfrm rot="10800000">
        <a:off x="1784861" y="4304770"/>
        <a:ext cx="5234370" cy="828518"/>
      </dsp:txXfrm>
    </dsp:sp>
    <dsp:sp modelId="{58C19ACC-B9E2-4B72-B6F4-870DEE5FF120}">
      <dsp:nvSpPr>
        <dsp:cNvPr id="0" name=""/>
        <dsp:cNvSpPr/>
      </dsp:nvSpPr>
      <dsp:spPr>
        <a:xfrm>
          <a:off x="1163473" y="4304770"/>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1CA2A6-BB89-4767-9D6C-75BB0BA6E2CE}">
      <dsp:nvSpPr>
        <dsp:cNvPr id="0" name=""/>
        <dsp:cNvSpPr/>
      </dsp:nvSpPr>
      <dsp:spPr>
        <a:xfrm rot="10800000">
          <a:off x="1577732" y="1418"/>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No hay correlación espuria: </a:t>
          </a:r>
          <a:r>
            <a:rPr lang="es-ES" sz="1300" kern="1200" dirty="0"/>
            <a:t>La correlación no se debe a un accidente aleatorio. La ley de los grandes números dicta que cuantos más datos tengamos, más creíble es esta suposición.</a:t>
          </a:r>
          <a:endParaRPr lang="es-PE" sz="1300" kern="1200" dirty="0"/>
        </a:p>
      </dsp:txBody>
      <dsp:txXfrm rot="10800000">
        <a:off x="1784861" y="1418"/>
        <a:ext cx="5234370" cy="828518"/>
      </dsp:txXfrm>
    </dsp:sp>
    <dsp:sp modelId="{EA9A78EE-471E-4D9F-9681-9D8B4983BF51}">
      <dsp:nvSpPr>
        <dsp:cNvPr id="0" name=""/>
        <dsp:cNvSpPr/>
      </dsp:nvSpPr>
      <dsp:spPr>
        <a:xfrm>
          <a:off x="1163473" y="1418"/>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DE6DD8-BB2C-4CF6-BE8C-15FF35F9617B}">
      <dsp:nvSpPr>
        <dsp:cNvPr id="0" name=""/>
        <dsp:cNvSpPr/>
      </dsp:nvSpPr>
      <dsp:spPr>
        <a:xfrm rot="10800000">
          <a:off x="1577732" y="1077256"/>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Coherencia:</a:t>
          </a:r>
          <a:r>
            <a:rPr lang="es-ES" sz="1300" kern="1200" dirty="0"/>
            <a:t> Los valores de A que se ven son los valores reales de A «los valores del tratamiento en comparación corresponden a intervenciones bien definidas, corresponden a una única versión del tratamiento, y no efecto de </a:t>
          </a:r>
          <a:r>
            <a:rPr lang="es-ES" sz="1300" kern="1200" dirty="0" err="1"/>
            <a:t>spill-over</a:t>
          </a:r>
          <a:r>
            <a:rPr lang="es-ES" sz="1300" kern="1200" dirty="0"/>
            <a:t>»</a:t>
          </a:r>
          <a:endParaRPr lang="es-PE" sz="1300" kern="1200" dirty="0"/>
        </a:p>
      </dsp:txBody>
      <dsp:txXfrm rot="10800000">
        <a:off x="1784861" y="1077256"/>
        <a:ext cx="5234370" cy="828518"/>
      </dsp:txXfrm>
    </dsp:sp>
    <dsp:sp modelId="{730AA5EB-B378-41A1-B6D4-F1F189DED723}">
      <dsp:nvSpPr>
        <dsp:cNvPr id="0" name=""/>
        <dsp:cNvSpPr/>
      </dsp:nvSpPr>
      <dsp:spPr>
        <a:xfrm>
          <a:off x="1163473" y="1077256"/>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AD6870-955C-443C-8FBB-2C129A6BFAB4}">
      <dsp:nvSpPr>
        <dsp:cNvPr id="0" name=""/>
        <dsp:cNvSpPr/>
      </dsp:nvSpPr>
      <dsp:spPr>
        <a:xfrm rot="10800000">
          <a:off x="1577732" y="2153094"/>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Intercambiabilidad: </a:t>
          </a:r>
          <a:r>
            <a:rPr lang="es-ES" sz="1300" kern="1200" dirty="0"/>
            <a:t>«la probabilidad condicional de recibir cada valor de tratamiento, aunque no decidida por los investigadores, depende sólo de las covariables medidas» Hernán y </a:t>
          </a:r>
          <a:r>
            <a:rPr lang="es-ES" sz="1300" kern="1200" dirty="0" err="1"/>
            <a:t>Robins</a:t>
          </a:r>
          <a:r>
            <a:rPr lang="es-ES" sz="1300" kern="1200" dirty="0"/>
            <a:t> (2020).</a:t>
          </a:r>
          <a:endParaRPr lang="es-PE" sz="1300" kern="1200" dirty="0"/>
        </a:p>
      </dsp:txBody>
      <dsp:txXfrm rot="10800000">
        <a:off x="1784861" y="2153094"/>
        <a:ext cx="5234370" cy="828518"/>
      </dsp:txXfrm>
    </dsp:sp>
    <dsp:sp modelId="{FD8CDD31-663E-439A-8309-34ED4673EEA3}">
      <dsp:nvSpPr>
        <dsp:cNvPr id="0" name=""/>
        <dsp:cNvSpPr/>
      </dsp:nvSpPr>
      <dsp:spPr>
        <a:xfrm>
          <a:off x="1163473" y="2153094"/>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6FEBB9-2F5F-40D9-8847-4AA91C1B7289}">
      <dsp:nvSpPr>
        <dsp:cNvPr id="0" name=""/>
        <dsp:cNvSpPr/>
      </dsp:nvSpPr>
      <dsp:spPr>
        <a:xfrm rot="10800000">
          <a:off x="1577732" y="3228932"/>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Positividad: </a:t>
          </a:r>
          <a:r>
            <a:rPr lang="es-ES" sz="1300" kern="1200" dirty="0"/>
            <a:t>«la probabilidad de recibir cada valor de tratamiento condicional a L es mayor que cero, es decir, positiva» Hernán y </a:t>
          </a:r>
          <a:r>
            <a:rPr lang="es-ES" sz="1300" kern="1200" dirty="0" err="1"/>
            <a:t>Robins</a:t>
          </a:r>
          <a:r>
            <a:rPr lang="es-ES" sz="1300" kern="1200" dirty="0"/>
            <a:t> (2020).</a:t>
          </a:r>
          <a:endParaRPr lang="es-PE" sz="1300" kern="1200" dirty="0"/>
        </a:p>
      </dsp:txBody>
      <dsp:txXfrm rot="10800000">
        <a:off x="1784861" y="3228932"/>
        <a:ext cx="5234370" cy="828518"/>
      </dsp:txXfrm>
    </dsp:sp>
    <dsp:sp modelId="{C3C55302-ADBE-4FB2-8005-EEF4EC8DE6D7}">
      <dsp:nvSpPr>
        <dsp:cNvPr id="0" name=""/>
        <dsp:cNvSpPr/>
      </dsp:nvSpPr>
      <dsp:spPr>
        <a:xfrm>
          <a:off x="1163473" y="3228932"/>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CA3619-663D-4107-AD34-D80EC6421D26}">
      <dsp:nvSpPr>
        <dsp:cNvPr id="0" name=""/>
        <dsp:cNvSpPr/>
      </dsp:nvSpPr>
      <dsp:spPr>
        <a:xfrm rot="10800000">
          <a:off x="1577732" y="4304770"/>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err="1"/>
            <a:t>Fidedignidad</a:t>
          </a:r>
          <a:r>
            <a:rPr lang="es-ES" sz="1300" b="1" kern="1200" dirty="0"/>
            <a:t>:</a:t>
          </a:r>
          <a:r>
            <a:rPr lang="es-ES" sz="1300" kern="1200" dirty="0"/>
            <a:t> El efecto causal no varía a lo largo de los grupos de forma que se promedie a 0 en los datos. A no tiene un efecto positivo el 50% de las veces y un efecto negativo idénticamente potente el 50% de las veces, que promediaría a un efecto de 0 en la población.</a:t>
          </a:r>
          <a:endParaRPr lang="es-PE" sz="1300" kern="1200" dirty="0"/>
        </a:p>
      </dsp:txBody>
      <dsp:txXfrm rot="10800000">
        <a:off x="1784861" y="4304770"/>
        <a:ext cx="5234370" cy="828518"/>
      </dsp:txXfrm>
    </dsp:sp>
    <dsp:sp modelId="{58C19ACC-B9E2-4B72-B6F4-870DEE5FF120}">
      <dsp:nvSpPr>
        <dsp:cNvPr id="0" name=""/>
        <dsp:cNvSpPr/>
      </dsp:nvSpPr>
      <dsp:spPr>
        <a:xfrm>
          <a:off x="1163473" y="4304770"/>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1CA2A6-BB89-4767-9D6C-75BB0BA6E2CE}">
      <dsp:nvSpPr>
        <dsp:cNvPr id="0" name=""/>
        <dsp:cNvSpPr/>
      </dsp:nvSpPr>
      <dsp:spPr>
        <a:xfrm rot="10800000">
          <a:off x="1577732" y="1418"/>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No hay correlación espuria: </a:t>
          </a:r>
          <a:r>
            <a:rPr lang="es-ES" sz="1300" kern="1200" dirty="0"/>
            <a:t>La correlación no se debe a un accidente aleatorio. La ley de los grandes números dicta que cuantos más datos tengamos, más creíble es esta suposición.</a:t>
          </a:r>
          <a:endParaRPr lang="es-PE" sz="1300" kern="1200" dirty="0"/>
        </a:p>
      </dsp:txBody>
      <dsp:txXfrm rot="10800000">
        <a:off x="1784861" y="1418"/>
        <a:ext cx="5234370" cy="828518"/>
      </dsp:txXfrm>
    </dsp:sp>
    <dsp:sp modelId="{EA9A78EE-471E-4D9F-9681-9D8B4983BF51}">
      <dsp:nvSpPr>
        <dsp:cNvPr id="0" name=""/>
        <dsp:cNvSpPr/>
      </dsp:nvSpPr>
      <dsp:spPr>
        <a:xfrm>
          <a:off x="1163473" y="1418"/>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DE6DD8-BB2C-4CF6-BE8C-15FF35F9617B}">
      <dsp:nvSpPr>
        <dsp:cNvPr id="0" name=""/>
        <dsp:cNvSpPr/>
      </dsp:nvSpPr>
      <dsp:spPr>
        <a:xfrm rot="10800000">
          <a:off x="1577732" y="1077256"/>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Coherencia:</a:t>
          </a:r>
          <a:r>
            <a:rPr lang="es-ES" sz="1300" kern="1200" dirty="0"/>
            <a:t> Los valores de A que se ven son los valores reales de A «los valores del tratamiento en comparación corresponden a intervenciones bien definidas, corresponden a una única versión del tratamiento, y no efecto de </a:t>
          </a:r>
          <a:r>
            <a:rPr lang="es-ES" sz="1300" kern="1200" dirty="0" err="1"/>
            <a:t>spill-over</a:t>
          </a:r>
          <a:r>
            <a:rPr lang="es-ES" sz="1300" kern="1200" dirty="0"/>
            <a:t>»</a:t>
          </a:r>
          <a:endParaRPr lang="es-PE" sz="1300" kern="1200" dirty="0"/>
        </a:p>
      </dsp:txBody>
      <dsp:txXfrm rot="10800000">
        <a:off x="1784861" y="1077256"/>
        <a:ext cx="5234370" cy="828518"/>
      </dsp:txXfrm>
    </dsp:sp>
    <dsp:sp modelId="{730AA5EB-B378-41A1-B6D4-F1F189DED723}">
      <dsp:nvSpPr>
        <dsp:cNvPr id="0" name=""/>
        <dsp:cNvSpPr/>
      </dsp:nvSpPr>
      <dsp:spPr>
        <a:xfrm>
          <a:off x="1163473" y="1077256"/>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AD6870-955C-443C-8FBB-2C129A6BFAB4}">
      <dsp:nvSpPr>
        <dsp:cNvPr id="0" name=""/>
        <dsp:cNvSpPr/>
      </dsp:nvSpPr>
      <dsp:spPr>
        <a:xfrm rot="10800000">
          <a:off x="1577732" y="2153094"/>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Intercambiabilidad: </a:t>
          </a:r>
          <a:r>
            <a:rPr lang="es-ES" sz="1300" kern="1200" dirty="0"/>
            <a:t>«la probabilidad condicional de recibir cada valor de tratamiento, aunque no decidida por los investigadores, depende sólo de las covariables medidas» Hernán y </a:t>
          </a:r>
          <a:r>
            <a:rPr lang="es-ES" sz="1300" kern="1200" dirty="0" err="1"/>
            <a:t>Robins</a:t>
          </a:r>
          <a:r>
            <a:rPr lang="es-ES" sz="1300" kern="1200" dirty="0"/>
            <a:t> (2020).</a:t>
          </a:r>
          <a:endParaRPr lang="es-PE" sz="1300" kern="1200" dirty="0"/>
        </a:p>
      </dsp:txBody>
      <dsp:txXfrm rot="10800000">
        <a:off x="1784861" y="2153094"/>
        <a:ext cx="5234370" cy="828518"/>
      </dsp:txXfrm>
    </dsp:sp>
    <dsp:sp modelId="{FD8CDD31-663E-439A-8309-34ED4673EEA3}">
      <dsp:nvSpPr>
        <dsp:cNvPr id="0" name=""/>
        <dsp:cNvSpPr/>
      </dsp:nvSpPr>
      <dsp:spPr>
        <a:xfrm>
          <a:off x="1163473" y="2153094"/>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6FEBB9-2F5F-40D9-8847-4AA91C1B7289}">
      <dsp:nvSpPr>
        <dsp:cNvPr id="0" name=""/>
        <dsp:cNvSpPr/>
      </dsp:nvSpPr>
      <dsp:spPr>
        <a:xfrm rot="10800000">
          <a:off x="1577732" y="3228932"/>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Positividad: </a:t>
          </a:r>
          <a:r>
            <a:rPr lang="es-ES" sz="1300" kern="1200" dirty="0"/>
            <a:t>«la probabilidad de recibir cada valor de tratamiento condicional a L es mayor que cero, es decir, positiva» Hernán y </a:t>
          </a:r>
          <a:r>
            <a:rPr lang="es-ES" sz="1300" kern="1200" dirty="0" err="1"/>
            <a:t>Robins</a:t>
          </a:r>
          <a:r>
            <a:rPr lang="es-ES" sz="1300" kern="1200" dirty="0"/>
            <a:t> (2020).</a:t>
          </a:r>
          <a:endParaRPr lang="es-PE" sz="1300" kern="1200" dirty="0"/>
        </a:p>
      </dsp:txBody>
      <dsp:txXfrm rot="10800000">
        <a:off x="1784861" y="3228932"/>
        <a:ext cx="5234370" cy="828518"/>
      </dsp:txXfrm>
    </dsp:sp>
    <dsp:sp modelId="{C3C55302-ADBE-4FB2-8005-EEF4EC8DE6D7}">
      <dsp:nvSpPr>
        <dsp:cNvPr id="0" name=""/>
        <dsp:cNvSpPr/>
      </dsp:nvSpPr>
      <dsp:spPr>
        <a:xfrm>
          <a:off x="1163473" y="3228932"/>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CA3619-663D-4107-AD34-D80EC6421D26}">
      <dsp:nvSpPr>
        <dsp:cNvPr id="0" name=""/>
        <dsp:cNvSpPr/>
      </dsp:nvSpPr>
      <dsp:spPr>
        <a:xfrm rot="10800000">
          <a:off x="1577732" y="4304770"/>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err="1"/>
            <a:t>Fidedignidad</a:t>
          </a:r>
          <a:r>
            <a:rPr lang="es-ES" sz="1300" b="1" kern="1200" dirty="0"/>
            <a:t>:</a:t>
          </a:r>
          <a:r>
            <a:rPr lang="es-ES" sz="1300" kern="1200" dirty="0"/>
            <a:t> El efecto causal no varía a lo largo de los grupos de forma que se promedie a 0 en los datos. A no tiene un efecto positivo el 50% de las veces y un efecto negativo idénticamente potente el 50% de las veces, que promediaría a un efecto de 0 en la población.</a:t>
          </a:r>
          <a:endParaRPr lang="es-PE" sz="1300" kern="1200" dirty="0"/>
        </a:p>
      </dsp:txBody>
      <dsp:txXfrm rot="10800000">
        <a:off x="1784861" y="4304770"/>
        <a:ext cx="5234370" cy="828518"/>
      </dsp:txXfrm>
    </dsp:sp>
    <dsp:sp modelId="{58C19ACC-B9E2-4B72-B6F4-870DEE5FF120}">
      <dsp:nvSpPr>
        <dsp:cNvPr id="0" name=""/>
        <dsp:cNvSpPr/>
      </dsp:nvSpPr>
      <dsp:spPr>
        <a:xfrm>
          <a:off x="1163473" y="4304770"/>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1CA2A6-BB89-4767-9D6C-75BB0BA6E2CE}">
      <dsp:nvSpPr>
        <dsp:cNvPr id="0" name=""/>
        <dsp:cNvSpPr/>
      </dsp:nvSpPr>
      <dsp:spPr>
        <a:xfrm rot="10800000">
          <a:off x="1577732" y="1418"/>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No hay correlación espuria: </a:t>
          </a:r>
          <a:r>
            <a:rPr lang="es-ES" sz="1300" kern="1200" dirty="0"/>
            <a:t>La correlación no se debe a un accidente aleatorio. La ley de los grandes números dicta que cuantos más datos tengamos, más creíble es esta suposición.</a:t>
          </a:r>
          <a:endParaRPr lang="es-PE" sz="1300" kern="1200" dirty="0"/>
        </a:p>
      </dsp:txBody>
      <dsp:txXfrm rot="10800000">
        <a:off x="1784861" y="1418"/>
        <a:ext cx="5234370" cy="828518"/>
      </dsp:txXfrm>
    </dsp:sp>
    <dsp:sp modelId="{EA9A78EE-471E-4D9F-9681-9D8B4983BF51}">
      <dsp:nvSpPr>
        <dsp:cNvPr id="0" name=""/>
        <dsp:cNvSpPr/>
      </dsp:nvSpPr>
      <dsp:spPr>
        <a:xfrm>
          <a:off x="1163473" y="1418"/>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DE6DD8-BB2C-4CF6-BE8C-15FF35F9617B}">
      <dsp:nvSpPr>
        <dsp:cNvPr id="0" name=""/>
        <dsp:cNvSpPr/>
      </dsp:nvSpPr>
      <dsp:spPr>
        <a:xfrm rot="10800000">
          <a:off x="1577732" y="1077256"/>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Coherencia:</a:t>
          </a:r>
          <a:r>
            <a:rPr lang="es-ES" sz="1300" kern="1200" dirty="0"/>
            <a:t> Los valores de A que se ven son los valores reales de A «los valores del tratamiento en comparación corresponden a intervenciones bien definidas, corresponden a una única versión del tratamiento, y no efecto de </a:t>
          </a:r>
          <a:r>
            <a:rPr lang="es-ES" sz="1300" kern="1200" dirty="0" err="1"/>
            <a:t>spill-over</a:t>
          </a:r>
          <a:r>
            <a:rPr lang="es-ES" sz="1300" kern="1200" dirty="0"/>
            <a:t>»</a:t>
          </a:r>
          <a:endParaRPr lang="es-PE" sz="1300" kern="1200" dirty="0"/>
        </a:p>
      </dsp:txBody>
      <dsp:txXfrm rot="10800000">
        <a:off x="1784861" y="1077256"/>
        <a:ext cx="5234370" cy="828518"/>
      </dsp:txXfrm>
    </dsp:sp>
    <dsp:sp modelId="{730AA5EB-B378-41A1-B6D4-F1F189DED723}">
      <dsp:nvSpPr>
        <dsp:cNvPr id="0" name=""/>
        <dsp:cNvSpPr/>
      </dsp:nvSpPr>
      <dsp:spPr>
        <a:xfrm>
          <a:off x="1163473" y="1077256"/>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AD6870-955C-443C-8FBB-2C129A6BFAB4}">
      <dsp:nvSpPr>
        <dsp:cNvPr id="0" name=""/>
        <dsp:cNvSpPr/>
      </dsp:nvSpPr>
      <dsp:spPr>
        <a:xfrm rot="10800000">
          <a:off x="1577732" y="2153094"/>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Intercambiabilidad: </a:t>
          </a:r>
          <a:r>
            <a:rPr lang="es-ES" sz="1300" kern="1200" dirty="0"/>
            <a:t>«la probabilidad condicional de recibir cada valor de tratamiento, aunque no decidida por los investigadores, depende sólo de las covariables medidas» Hernán y </a:t>
          </a:r>
          <a:r>
            <a:rPr lang="es-ES" sz="1300" kern="1200" dirty="0" err="1"/>
            <a:t>Robins</a:t>
          </a:r>
          <a:r>
            <a:rPr lang="es-ES" sz="1300" kern="1200" dirty="0"/>
            <a:t> (2020).</a:t>
          </a:r>
          <a:endParaRPr lang="es-PE" sz="1300" kern="1200" dirty="0"/>
        </a:p>
      </dsp:txBody>
      <dsp:txXfrm rot="10800000">
        <a:off x="1784861" y="2153094"/>
        <a:ext cx="5234370" cy="828518"/>
      </dsp:txXfrm>
    </dsp:sp>
    <dsp:sp modelId="{FD8CDD31-663E-439A-8309-34ED4673EEA3}">
      <dsp:nvSpPr>
        <dsp:cNvPr id="0" name=""/>
        <dsp:cNvSpPr/>
      </dsp:nvSpPr>
      <dsp:spPr>
        <a:xfrm>
          <a:off x="1163473" y="2153094"/>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6FEBB9-2F5F-40D9-8847-4AA91C1B7289}">
      <dsp:nvSpPr>
        <dsp:cNvPr id="0" name=""/>
        <dsp:cNvSpPr/>
      </dsp:nvSpPr>
      <dsp:spPr>
        <a:xfrm rot="10800000">
          <a:off x="1577732" y="3228932"/>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Positividad: </a:t>
          </a:r>
          <a:r>
            <a:rPr lang="es-ES" sz="1300" kern="1200" dirty="0"/>
            <a:t>«la probabilidad de recibir cada valor de tratamiento es mayor que cero, es decir, positiva» Hernán y </a:t>
          </a:r>
          <a:r>
            <a:rPr lang="es-ES" sz="1300" kern="1200" dirty="0" err="1"/>
            <a:t>Robins</a:t>
          </a:r>
          <a:r>
            <a:rPr lang="es-ES" sz="1300" kern="1200" dirty="0"/>
            <a:t> (2020).</a:t>
          </a:r>
          <a:endParaRPr lang="es-PE" sz="1300" kern="1200" dirty="0"/>
        </a:p>
      </dsp:txBody>
      <dsp:txXfrm rot="10800000">
        <a:off x="1784861" y="3228932"/>
        <a:ext cx="5234370" cy="828518"/>
      </dsp:txXfrm>
    </dsp:sp>
    <dsp:sp modelId="{C3C55302-ADBE-4FB2-8005-EEF4EC8DE6D7}">
      <dsp:nvSpPr>
        <dsp:cNvPr id="0" name=""/>
        <dsp:cNvSpPr/>
      </dsp:nvSpPr>
      <dsp:spPr>
        <a:xfrm>
          <a:off x="1163473" y="3228932"/>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CA3619-663D-4107-AD34-D80EC6421D26}">
      <dsp:nvSpPr>
        <dsp:cNvPr id="0" name=""/>
        <dsp:cNvSpPr/>
      </dsp:nvSpPr>
      <dsp:spPr>
        <a:xfrm rot="10800000">
          <a:off x="1577732" y="4304770"/>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err="1"/>
            <a:t>Fidedignidad</a:t>
          </a:r>
          <a:r>
            <a:rPr lang="es-ES" sz="1300" b="1" kern="1200" dirty="0"/>
            <a:t>:</a:t>
          </a:r>
          <a:r>
            <a:rPr lang="es-ES" sz="1300" kern="1200" dirty="0"/>
            <a:t> El efecto causal no varía a lo largo de los grupos de forma que se promedie a 0 en los datos. A no tiene un efecto positivo el 50% de las veces y un efecto negativo idénticamente potente el 50% de las veces, que promediaría a un efecto de 0 en la población.</a:t>
          </a:r>
          <a:endParaRPr lang="es-PE" sz="1300" kern="1200" dirty="0"/>
        </a:p>
      </dsp:txBody>
      <dsp:txXfrm rot="10800000">
        <a:off x="1784861" y="4304770"/>
        <a:ext cx="5234370" cy="828518"/>
      </dsp:txXfrm>
    </dsp:sp>
    <dsp:sp modelId="{58C19ACC-B9E2-4B72-B6F4-870DEE5FF120}">
      <dsp:nvSpPr>
        <dsp:cNvPr id="0" name=""/>
        <dsp:cNvSpPr/>
      </dsp:nvSpPr>
      <dsp:spPr>
        <a:xfrm>
          <a:off x="1163473" y="4304770"/>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1CA2A6-BB89-4767-9D6C-75BB0BA6E2CE}">
      <dsp:nvSpPr>
        <dsp:cNvPr id="0" name=""/>
        <dsp:cNvSpPr/>
      </dsp:nvSpPr>
      <dsp:spPr>
        <a:xfrm rot="10800000">
          <a:off x="1577732" y="1418"/>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No hay correlación espuria: </a:t>
          </a:r>
          <a:r>
            <a:rPr lang="es-ES" sz="1300" kern="1200" dirty="0"/>
            <a:t>La correlación no se debe a un accidente aleatorio. La ley de los grandes números dicta que cuantos más datos tengamos, más creíble es esta suposición.</a:t>
          </a:r>
          <a:endParaRPr lang="es-PE" sz="1300" kern="1200" dirty="0"/>
        </a:p>
      </dsp:txBody>
      <dsp:txXfrm rot="10800000">
        <a:off x="1784861" y="1418"/>
        <a:ext cx="5234370" cy="828518"/>
      </dsp:txXfrm>
    </dsp:sp>
    <dsp:sp modelId="{EA9A78EE-471E-4D9F-9681-9D8B4983BF51}">
      <dsp:nvSpPr>
        <dsp:cNvPr id="0" name=""/>
        <dsp:cNvSpPr/>
      </dsp:nvSpPr>
      <dsp:spPr>
        <a:xfrm>
          <a:off x="1163473" y="1418"/>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DE6DD8-BB2C-4CF6-BE8C-15FF35F9617B}">
      <dsp:nvSpPr>
        <dsp:cNvPr id="0" name=""/>
        <dsp:cNvSpPr/>
      </dsp:nvSpPr>
      <dsp:spPr>
        <a:xfrm rot="10800000">
          <a:off x="1577732" y="1077256"/>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Coherencia:</a:t>
          </a:r>
          <a:r>
            <a:rPr lang="es-ES" sz="1300" kern="1200" dirty="0"/>
            <a:t> Los valores de A que se ven son los valores reales de A «los valores del tratamiento en comparación corresponden a intervenciones bien definidas, corresponden a una única versión del tratamiento, y no efecto de </a:t>
          </a:r>
          <a:r>
            <a:rPr lang="es-ES" sz="1300" kern="1200" dirty="0" err="1"/>
            <a:t>spill-over</a:t>
          </a:r>
          <a:r>
            <a:rPr lang="es-ES" sz="1300" kern="1200" dirty="0"/>
            <a:t>»</a:t>
          </a:r>
          <a:endParaRPr lang="es-PE" sz="1300" kern="1200" dirty="0"/>
        </a:p>
      </dsp:txBody>
      <dsp:txXfrm rot="10800000">
        <a:off x="1784861" y="1077256"/>
        <a:ext cx="5234370" cy="828518"/>
      </dsp:txXfrm>
    </dsp:sp>
    <dsp:sp modelId="{730AA5EB-B378-41A1-B6D4-F1F189DED723}">
      <dsp:nvSpPr>
        <dsp:cNvPr id="0" name=""/>
        <dsp:cNvSpPr/>
      </dsp:nvSpPr>
      <dsp:spPr>
        <a:xfrm>
          <a:off x="1163473" y="1077256"/>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AD6870-955C-443C-8FBB-2C129A6BFAB4}">
      <dsp:nvSpPr>
        <dsp:cNvPr id="0" name=""/>
        <dsp:cNvSpPr/>
      </dsp:nvSpPr>
      <dsp:spPr>
        <a:xfrm rot="10800000">
          <a:off x="1577732" y="2153094"/>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Intercambiabilidad: </a:t>
          </a:r>
          <a:r>
            <a:rPr lang="es-ES" sz="1300" kern="1200" dirty="0"/>
            <a:t>«la probabilidad condicional de recibir cada valor de tratamiento, aunque no decidida por los investigadores, depende sólo de las covariables medidas» Hernán y </a:t>
          </a:r>
          <a:r>
            <a:rPr lang="es-ES" sz="1300" kern="1200" dirty="0" err="1"/>
            <a:t>Robins</a:t>
          </a:r>
          <a:r>
            <a:rPr lang="es-ES" sz="1300" kern="1200" dirty="0"/>
            <a:t> (2020).</a:t>
          </a:r>
          <a:endParaRPr lang="es-PE" sz="1300" kern="1200" dirty="0"/>
        </a:p>
      </dsp:txBody>
      <dsp:txXfrm rot="10800000">
        <a:off x="1784861" y="2153094"/>
        <a:ext cx="5234370" cy="828518"/>
      </dsp:txXfrm>
    </dsp:sp>
    <dsp:sp modelId="{FD8CDD31-663E-439A-8309-34ED4673EEA3}">
      <dsp:nvSpPr>
        <dsp:cNvPr id="0" name=""/>
        <dsp:cNvSpPr/>
      </dsp:nvSpPr>
      <dsp:spPr>
        <a:xfrm>
          <a:off x="1163473" y="2153094"/>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6FEBB9-2F5F-40D9-8847-4AA91C1B7289}">
      <dsp:nvSpPr>
        <dsp:cNvPr id="0" name=""/>
        <dsp:cNvSpPr/>
      </dsp:nvSpPr>
      <dsp:spPr>
        <a:xfrm rot="10800000">
          <a:off x="1577732" y="3228932"/>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a:t>Positividad: </a:t>
          </a:r>
          <a:r>
            <a:rPr lang="es-ES" sz="1300" kern="1200" dirty="0"/>
            <a:t>«la probabilidad de recibir cada valor de tratamiento es mayor que cero, es decir, positiva» Hernán y </a:t>
          </a:r>
          <a:r>
            <a:rPr lang="es-ES" sz="1300" kern="1200" dirty="0" err="1"/>
            <a:t>Robins</a:t>
          </a:r>
          <a:r>
            <a:rPr lang="es-ES" sz="1300" kern="1200" dirty="0"/>
            <a:t> (2020).</a:t>
          </a:r>
          <a:endParaRPr lang="es-PE" sz="1300" kern="1200" dirty="0"/>
        </a:p>
      </dsp:txBody>
      <dsp:txXfrm rot="10800000">
        <a:off x="1784861" y="3228932"/>
        <a:ext cx="5234370" cy="828518"/>
      </dsp:txXfrm>
    </dsp:sp>
    <dsp:sp modelId="{C3C55302-ADBE-4FB2-8005-EEF4EC8DE6D7}">
      <dsp:nvSpPr>
        <dsp:cNvPr id="0" name=""/>
        <dsp:cNvSpPr/>
      </dsp:nvSpPr>
      <dsp:spPr>
        <a:xfrm>
          <a:off x="1163473" y="3228932"/>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CA3619-663D-4107-AD34-D80EC6421D26}">
      <dsp:nvSpPr>
        <dsp:cNvPr id="0" name=""/>
        <dsp:cNvSpPr/>
      </dsp:nvSpPr>
      <dsp:spPr>
        <a:xfrm rot="10800000">
          <a:off x="1577732" y="4304770"/>
          <a:ext cx="5441499" cy="828518"/>
        </a:xfrm>
        <a:prstGeom prst="homePlat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5354" tIns="49530" rIns="92456" bIns="49530" numCol="1" spcCol="1270" anchor="ctr" anchorCtr="0">
          <a:noAutofit/>
        </a:bodyPr>
        <a:lstStyle/>
        <a:p>
          <a:pPr marL="0" lvl="0" indent="0" algn="ctr" defTabSz="577850">
            <a:lnSpc>
              <a:spcPct val="90000"/>
            </a:lnSpc>
            <a:spcBef>
              <a:spcPct val="0"/>
            </a:spcBef>
            <a:spcAft>
              <a:spcPct val="35000"/>
            </a:spcAft>
            <a:buNone/>
          </a:pPr>
          <a:r>
            <a:rPr lang="es-ES" sz="1300" b="1" kern="1200" dirty="0" err="1"/>
            <a:t>Fidedignidad</a:t>
          </a:r>
          <a:r>
            <a:rPr lang="es-ES" sz="1300" b="1" kern="1200" dirty="0"/>
            <a:t>:</a:t>
          </a:r>
          <a:r>
            <a:rPr lang="es-ES" sz="1300" kern="1200" dirty="0"/>
            <a:t> El efecto causal no varía a lo largo de los grupos de forma que se promedie a 0 en los datos. El tratamiento no tiene un efecto positivo el 50% de las veces y un efecto negativo idénticamente el 50% de las veces, que promediaría a un efecto de 0 en la población.</a:t>
          </a:r>
          <a:endParaRPr lang="es-PE" sz="1300" kern="1200" dirty="0"/>
        </a:p>
      </dsp:txBody>
      <dsp:txXfrm rot="10800000">
        <a:off x="1784861" y="4304770"/>
        <a:ext cx="5234370" cy="828518"/>
      </dsp:txXfrm>
    </dsp:sp>
    <dsp:sp modelId="{58C19ACC-B9E2-4B72-B6F4-870DEE5FF120}">
      <dsp:nvSpPr>
        <dsp:cNvPr id="0" name=""/>
        <dsp:cNvSpPr/>
      </dsp:nvSpPr>
      <dsp:spPr>
        <a:xfrm>
          <a:off x="1163473" y="4304770"/>
          <a:ext cx="828518" cy="828518"/>
        </a:xfrm>
        <a:prstGeom prst="ellipse">
          <a:avLst/>
        </a:prstGeom>
        <a:solidFill>
          <a:schemeClr val="accent1">
            <a:tint val="4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0FC822-C8F3-4494-A851-B8316CE64AED}" type="datetimeFigureOut">
              <a:rPr lang="es-PE" smtClean="0"/>
              <a:t>30/09/2024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724874-97D1-4275-8A22-6C2B6C16E692}" type="slidenum">
              <a:rPr lang="es-PE" smtClean="0"/>
              <a:t>‹Nº›</a:t>
            </a:fld>
            <a:endParaRPr lang="es-PE"/>
          </a:p>
        </p:txBody>
      </p:sp>
    </p:spTree>
    <p:extLst>
      <p:ext uri="{BB962C8B-B14F-4D97-AF65-F5344CB8AC3E}">
        <p14:creationId xmlns:p14="http://schemas.microsoft.com/office/powerpoint/2010/main" val="1195800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28CD20-2FE5-4917-BF2B-88876E79A88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34D306D0-D5DE-4F8B-B166-5568249837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CBD6B8DB-64FE-49A4-9C6E-881B8CC6E784}"/>
              </a:ext>
            </a:extLst>
          </p:cNvPr>
          <p:cNvSpPr>
            <a:spLocks noGrp="1"/>
          </p:cNvSpPr>
          <p:nvPr>
            <p:ph type="dt" sz="half" idx="10"/>
          </p:nvPr>
        </p:nvSpPr>
        <p:spPr/>
        <p:txBody>
          <a:bodyPr/>
          <a:lstStyle/>
          <a:p>
            <a:fld id="{6C9FD9B5-4C9A-4C1F-B512-F69A205905A5}" type="datetimeFigureOut">
              <a:rPr lang="es-PE" smtClean="0"/>
              <a:t>30/09/2024</a:t>
            </a:fld>
            <a:endParaRPr lang="es-PE"/>
          </a:p>
        </p:txBody>
      </p:sp>
      <p:sp>
        <p:nvSpPr>
          <p:cNvPr id="5" name="Marcador de pie de página 4">
            <a:extLst>
              <a:ext uri="{FF2B5EF4-FFF2-40B4-BE49-F238E27FC236}">
                <a16:creationId xmlns:a16="http://schemas.microsoft.com/office/drawing/2014/main" id="{B8FB3B1A-464A-4FCD-A8AB-4DFDB6440D98}"/>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AC26E7D-92C6-4012-9788-36CF9E533241}"/>
              </a:ext>
            </a:extLst>
          </p:cNvPr>
          <p:cNvSpPr>
            <a:spLocks noGrp="1"/>
          </p:cNvSpPr>
          <p:nvPr>
            <p:ph type="sldNum" sz="quarter" idx="12"/>
          </p:nvPr>
        </p:nvSpPr>
        <p:spPr/>
        <p:txBody>
          <a:bodyPr/>
          <a:lstStyle/>
          <a:p>
            <a:fld id="{C30AECD8-16F3-400E-A475-645FB7A1610E}" type="slidenum">
              <a:rPr lang="es-PE" smtClean="0"/>
              <a:t>‹Nº›</a:t>
            </a:fld>
            <a:endParaRPr lang="es-PE"/>
          </a:p>
        </p:txBody>
      </p:sp>
    </p:spTree>
    <p:extLst>
      <p:ext uri="{BB962C8B-B14F-4D97-AF65-F5344CB8AC3E}">
        <p14:creationId xmlns:p14="http://schemas.microsoft.com/office/powerpoint/2010/main" val="438810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BD7477-89C8-4242-9F9C-F1165DC817A5}"/>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72A0BE53-26E6-4ACA-B378-56F8326526D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214046E8-BB2E-4D12-805D-C15DFC36EFFB}"/>
              </a:ext>
            </a:extLst>
          </p:cNvPr>
          <p:cNvSpPr>
            <a:spLocks noGrp="1"/>
          </p:cNvSpPr>
          <p:nvPr>
            <p:ph type="dt" sz="half" idx="10"/>
          </p:nvPr>
        </p:nvSpPr>
        <p:spPr/>
        <p:txBody>
          <a:bodyPr/>
          <a:lstStyle/>
          <a:p>
            <a:fld id="{6C9FD9B5-4C9A-4C1F-B512-F69A205905A5}" type="datetimeFigureOut">
              <a:rPr lang="es-PE" smtClean="0"/>
              <a:t>30/09/2024</a:t>
            </a:fld>
            <a:endParaRPr lang="es-PE"/>
          </a:p>
        </p:txBody>
      </p:sp>
      <p:sp>
        <p:nvSpPr>
          <p:cNvPr id="5" name="Marcador de pie de página 4">
            <a:extLst>
              <a:ext uri="{FF2B5EF4-FFF2-40B4-BE49-F238E27FC236}">
                <a16:creationId xmlns:a16="http://schemas.microsoft.com/office/drawing/2014/main" id="{D0033516-3BF2-4997-A481-F81C6A57FF7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07C986EB-8104-49F4-80DA-7F380D239480}"/>
              </a:ext>
            </a:extLst>
          </p:cNvPr>
          <p:cNvSpPr>
            <a:spLocks noGrp="1"/>
          </p:cNvSpPr>
          <p:nvPr>
            <p:ph type="sldNum" sz="quarter" idx="12"/>
          </p:nvPr>
        </p:nvSpPr>
        <p:spPr/>
        <p:txBody>
          <a:bodyPr/>
          <a:lstStyle/>
          <a:p>
            <a:fld id="{C30AECD8-16F3-400E-A475-645FB7A1610E}" type="slidenum">
              <a:rPr lang="es-PE" smtClean="0"/>
              <a:t>‹Nº›</a:t>
            </a:fld>
            <a:endParaRPr lang="es-PE"/>
          </a:p>
        </p:txBody>
      </p:sp>
    </p:spTree>
    <p:extLst>
      <p:ext uri="{BB962C8B-B14F-4D97-AF65-F5344CB8AC3E}">
        <p14:creationId xmlns:p14="http://schemas.microsoft.com/office/powerpoint/2010/main" val="3174598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1B2FE2-3320-444F-AE1A-C259CABD7FA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F68403E6-6441-42BE-A928-ED5C334FC2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9F69962-FAAE-4C7F-BD3E-BFE280FCF9BE}"/>
              </a:ext>
            </a:extLst>
          </p:cNvPr>
          <p:cNvSpPr>
            <a:spLocks noGrp="1"/>
          </p:cNvSpPr>
          <p:nvPr>
            <p:ph type="dt" sz="half" idx="10"/>
          </p:nvPr>
        </p:nvSpPr>
        <p:spPr/>
        <p:txBody>
          <a:bodyPr/>
          <a:lstStyle/>
          <a:p>
            <a:fld id="{6C9FD9B5-4C9A-4C1F-B512-F69A205905A5}" type="datetimeFigureOut">
              <a:rPr lang="es-PE" smtClean="0"/>
              <a:t>30/09/2024</a:t>
            </a:fld>
            <a:endParaRPr lang="es-PE"/>
          </a:p>
        </p:txBody>
      </p:sp>
      <p:sp>
        <p:nvSpPr>
          <p:cNvPr id="5" name="Marcador de pie de página 4">
            <a:extLst>
              <a:ext uri="{FF2B5EF4-FFF2-40B4-BE49-F238E27FC236}">
                <a16:creationId xmlns:a16="http://schemas.microsoft.com/office/drawing/2014/main" id="{8443F617-405D-4FC3-BEB9-2560BAC53B2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B8D61FE-A3BC-4ADD-95F5-0B8910BA1BB8}"/>
              </a:ext>
            </a:extLst>
          </p:cNvPr>
          <p:cNvSpPr>
            <a:spLocks noGrp="1"/>
          </p:cNvSpPr>
          <p:nvPr>
            <p:ph type="sldNum" sz="quarter" idx="12"/>
          </p:nvPr>
        </p:nvSpPr>
        <p:spPr/>
        <p:txBody>
          <a:bodyPr/>
          <a:lstStyle/>
          <a:p>
            <a:fld id="{C30AECD8-16F3-400E-A475-645FB7A1610E}" type="slidenum">
              <a:rPr lang="es-PE" smtClean="0"/>
              <a:t>‹Nº›</a:t>
            </a:fld>
            <a:endParaRPr lang="es-PE"/>
          </a:p>
        </p:txBody>
      </p:sp>
    </p:spTree>
    <p:extLst>
      <p:ext uri="{BB962C8B-B14F-4D97-AF65-F5344CB8AC3E}">
        <p14:creationId xmlns:p14="http://schemas.microsoft.com/office/powerpoint/2010/main" val="3415416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E204BE-376D-40D7-B4B5-B7195C98BBA2}"/>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FC8293E-7157-4E04-961B-381200090F5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B0FAFCF4-6528-4532-8D7F-1C2104D0E1A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66D94757-E8E5-4DC2-9129-E3EE30FD4897}"/>
              </a:ext>
            </a:extLst>
          </p:cNvPr>
          <p:cNvSpPr>
            <a:spLocks noGrp="1"/>
          </p:cNvSpPr>
          <p:nvPr>
            <p:ph type="dt" sz="half" idx="10"/>
          </p:nvPr>
        </p:nvSpPr>
        <p:spPr/>
        <p:txBody>
          <a:bodyPr/>
          <a:lstStyle/>
          <a:p>
            <a:fld id="{6C9FD9B5-4C9A-4C1F-B512-F69A205905A5}" type="datetimeFigureOut">
              <a:rPr lang="es-PE" smtClean="0"/>
              <a:t>30/09/2024</a:t>
            </a:fld>
            <a:endParaRPr lang="es-PE"/>
          </a:p>
        </p:txBody>
      </p:sp>
      <p:sp>
        <p:nvSpPr>
          <p:cNvPr id="6" name="Marcador de pie de página 5">
            <a:extLst>
              <a:ext uri="{FF2B5EF4-FFF2-40B4-BE49-F238E27FC236}">
                <a16:creationId xmlns:a16="http://schemas.microsoft.com/office/drawing/2014/main" id="{D856B099-597C-4809-A0BF-AE3320870AFC}"/>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D59D861D-E30C-4320-B7CA-8B3289F51956}"/>
              </a:ext>
            </a:extLst>
          </p:cNvPr>
          <p:cNvSpPr>
            <a:spLocks noGrp="1"/>
          </p:cNvSpPr>
          <p:nvPr>
            <p:ph type="sldNum" sz="quarter" idx="12"/>
          </p:nvPr>
        </p:nvSpPr>
        <p:spPr/>
        <p:txBody>
          <a:bodyPr/>
          <a:lstStyle/>
          <a:p>
            <a:fld id="{C30AECD8-16F3-400E-A475-645FB7A1610E}" type="slidenum">
              <a:rPr lang="es-PE" smtClean="0"/>
              <a:t>‹Nº›</a:t>
            </a:fld>
            <a:endParaRPr lang="es-PE"/>
          </a:p>
        </p:txBody>
      </p:sp>
    </p:spTree>
    <p:extLst>
      <p:ext uri="{BB962C8B-B14F-4D97-AF65-F5344CB8AC3E}">
        <p14:creationId xmlns:p14="http://schemas.microsoft.com/office/powerpoint/2010/main" val="3489478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7EC7E8-DD75-42EC-B276-A143F98BCF1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E508D065-2A37-468D-805E-8F242C3576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8B28E8C-DB9A-4C6F-85BA-69C0CD77713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AF9D345B-A96C-4C3D-98CA-83A1BB289F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A670C7F-5CB1-417F-A02E-8B5E9CAD6CA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991E946F-EFC7-4536-BF33-E949AD28EB01}"/>
              </a:ext>
            </a:extLst>
          </p:cNvPr>
          <p:cNvSpPr>
            <a:spLocks noGrp="1"/>
          </p:cNvSpPr>
          <p:nvPr>
            <p:ph type="dt" sz="half" idx="10"/>
          </p:nvPr>
        </p:nvSpPr>
        <p:spPr/>
        <p:txBody>
          <a:bodyPr/>
          <a:lstStyle/>
          <a:p>
            <a:fld id="{6C9FD9B5-4C9A-4C1F-B512-F69A205905A5}" type="datetimeFigureOut">
              <a:rPr lang="es-PE" smtClean="0"/>
              <a:t>30/09/2024</a:t>
            </a:fld>
            <a:endParaRPr lang="es-PE"/>
          </a:p>
        </p:txBody>
      </p:sp>
      <p:sp>
        <p:nvSpPr>
          <p:cNvPr id="8" name="Marcador de pie de página 7">
            <a:extLst>
              <a:ext uri="{FF2B5EF4-FFF2-40B4-BE49-F238E27FC236}">
                <a16:creationId xmlns:a16="http://schemas.microsoft.com/office/drawing/2014/main" id="{8C29ED99-BD9B-430F-B073-A9D1DA9CB150}"/>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DC61B8C4-DECB-448E-B4C9-DFF0F501C386}"/>
              </a:ext>
            </a:extLst>
          </p:cNvPr>
          <p:cNvSpPr>
            <a:spLocks noGrp="1"/>
          </p:cNvSpPr>
          <p:nvPr>
            <p:ph type="sldNum" sz="quarter" idx="12"/>
          </p:nvPr>
        </p:nvSpPr>
        <p:spPr/>
        <p:txBody>
          <a:bodyPr/>
          <a:lstStyle/>
          <a:p>
            <a:fld id="{C30AECD8-16F3-400E-A475-645FB7A1610E}" type="slidenum">
              <a:rPr lang="es-PE" smtClean="0"/>
              <a:t>‹Nº›</a:t>
            </a:fld>
            <a:endParaRPr lang="es-PE"/>
          </a:p>
        </p:txBody>
      </p:sp>
    </p:spTree>
    <p:extLst>
      <p:ext uri="{BB962C8B-B14F-4D97-AF65-F5344CB8AC3E}">
        <p14:creationId xmlns:p14="http://schemas.microsoft.com/office/powerpoint/2010/main" val="1924316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8D13C-C37A-437E-9736-0E293C58ECB1}"/>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BAF04973-2F2E-4C7F-84CC-B1DEDFD2F065}"/>
              </a:ext>
            </a:extLst>
          </p:cNvPr>
          <p:cNvSpPr>
            <a:spLocks noGrp="1"/>
          </p:cNvSpPr>
          <p:nvPr>
            <p:ph type="dt" sz="half" idx="10"/>
          </p:nvPr>
        </p:nvSpPr>
        <p:spPr/>
        <p:txBody>
          <a:bodyPr/>
          <a:lstStyle/>
          <a:p>
            <a:fld id="{6C9FD9B5-4C9A-4C1F-B512-F69A205905A5}" type="datetimeFigureOut">
              <a:rPr lang="es-PE" smtClean="0"/>
              <a:t>30/09/2024</a:t>
            </a:fld>
            <a:endParaRPr lang="es-PE"/>
          </a:p>
        </p:txBody>
      </p:sp>
      <p:sp>
        <p:nvSpPr>
          <p:cNvPr id="4" name="Marcador de pie de página 3">
            <a:extLst>
              <a:ext uri="{FF2B5EF4-FFF2-40B4-BE49-F238E27FC236}">
                <a16:creationId xmlns:a16="http://schemas.microsoft.com/office/drawing/2014/main" id="{425C3735-9790-48F2-B83D-5C2165AFBE74}"/>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9410F397-E621-4613-B4D9-76BCBD2B1C06}"/>
              </a:ext>
            </a:extLst>
          </p:cNvPr>
          <p:cNvSpPr>
            <a:spLocks noGrp="1"/>
          </p:cNvSpPr>
          <p:nvPr>
            <p:ph type="sldNum" sz="quarter" idx="12"/>
          </p:nvPr>
        </p:nvSpPr>
        <p:spPr/>
        <p:txBody>
          <a:bodyPr/>
          <a:lstStyle/>
          <a:p>
            <a:fld id="{C30AECD8-16F3-400E-A475-645FB7A1610E}" type="slidenum">
              <a:rPr lang="es-PE" smtClean="0"/>
              <a:t>‹Nº›</a:t>
            </a:fld>
            <a:endParaRPr lang="es-PE"/>
          </a:p>
        </p:txBody>
      </p:sp>
    </p:spTree>
    <p:extLst>
      <p:ext uri="{BB962C8B-B14F-4D97-AF65-F5344CB8AC3E}">
        <p14:creationId xmlns:p14="http://schemas.microsoft.com/office/powerpoint/2010/main" val="1618849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DE2731-9A39-4375-982B-C7876512D099}"/>
              </a:ext>
            </a:extLst>
          </p:cNvPr>
          <p:cNvSpPr>
            <a:spLocks noGrp="1"/>
          </p:cNvSpPr>
          <p:nvPr>
            <p:ph type="dt" sz="half" idx="10"/>
          </p:nvPr>
        </p:nvSpPr>
        <p:spPr/>
        <p:txBody>
          <a:bodyPr/>
          <a:lstStyle/>
          <a:p>
            <a:fld id="{6C9FD9B5-4C9A-4C1F-B512-F69A205905A5}" type="datetimeFigureOut">
              <a:rPr lang="es-PE" smtClean="0"/>
              <a:t>30/09/2024</a:t>
            </a:fld>
            <a:endParaRPr lang="es-PE"/>
          </a:p>
        </p:txBody>
      </p:sp>
      <p:sp>
        <p:nvSpPr>
          <p:cNvPr id="3" name="Marcador de pie de página 2">
            <a:extLst>
              <a:ext uri="{FF2B5EF4-FFF2-40B4-BE49-F238E27FC236}">
                <a16:creationId xmlns:a16="http://schemas.microsoft.com/office/drawing/2014/main" id="{8922A01A-DBDA-49F6-BD98-3736E0EBC60A}"/>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D465E704-D3C0-4F6D-B5F6-A6D99A9091A9}"/>
              </a:ext>
            </a:extLst>
          </p:cNvPr>
          <p:cNvSpPr>
            <a:spLocks noGrp="1"/>
          </p:cNvSpPr>
          <p:nvPr>
            <p:ph type="sldNum" sz="quarter" idx="12"/>
          </p:nvPr>
        </p:nvSpPr>
        <p:spPr/>
        <p:txBody>
          <a:bodyPr/>
          <a:lstStyle/>
          <a:p>
            <a:fld id="{C30AECD8-16F3-400E-A475-645FB7A1610E}" type="slidenum">
              <a:rPr lang="es-PE" smtClean="0"/>
              <a:t>‹Nº›</a:t>
            </a:fld>
            <a:endParaRPr lang="es-PE"/>
          </a:p>
        </p:txBody>
      </p:sp>
    </p:spTree>
    <p:extLst>
      <p:ext uri="{BB962C8B-B14F-4D97-AF65-F5344CB8AC3E}">
        <p14:creationId xmlns:p14="http://schemas.microsoft.com/office/powerpoint/2010/main" val="1662643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0A7EA9-6277-4F90-9798-AC69C2D1237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87AC4ACC-BD50-44B8-8830-F2A11E7F36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E54FDE95-8610-4A22-92AE-C51CA59F91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510F76F-87F1-4317-BE93-C92E47DCC52E}"/>
              </a:ext>
            </a:extLst>
          </p:cNvPr>
          <p:cNvSpPr>
            <a:spLocks noGrp="1"/>
          </p:cNvSpPr>
          <p:nvPr>
            <p:ph type="dt" sz="half" idx="10"/>
          </p:nvPr>
        </p:nvSpPr>
        <p:spPr/>
        <p:txBody>
          <a:bodyPr/>
          <a:lstStyle/>
          <a:p>
            <a:fld id="{6C9FD9B5-4C9A-4C1F-B512-F69A205905A5}" type="datetimeFigureOut">
              <a:rPr lang="es-PE" smtClean="0"/>
              <a:t>30/09/2024</a:t>
            </a:fld>
            <a:endParaRPr lang="es-PE"/>
          </a:p>
        </p:txBody>
      </p:sp>
      <p:sp>
        <p:nvSpPr>
          <p:cNvPr id="6" name="Marcador de pie de página 5">
            <a:extLst>
              <a:ext uri="{FF2B5EF4-FFF2-40B4-BE49-F238E27FC236}">
                <a16:creationId xmlns:a16="http://schemas.microsoft.com/office/drawing/2014/main" id="{706780A9-8213-4D7C-B6BA-333BEFAE93E3}"/>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BAF86CE-96EB-4B5C-9542-70F1C64832D9}"/>
              </a:ext>
            </a:extLst>
          </p:cNvPr>
          <p:cNvSpPr>
            <a:spLocks noGrp="1"/>
          </p:cNvSpPr>
          <p:nvPr>
            <p:ph type="sldNum" sz="quarter" idx="12"/>
          </p:nvPr>
        </p:nvSpPr>
        <p:spPr/>
        <p:txBody>
          <a:bodyPr/>
          <a:lstStyle/>
          <a:p>
            <a:fld id="{C30AECD8-16F3-400E-A475-645FB7A1610E}" type="slidenum">
              <a:rPr lang="es-PE" smtClean="0"/>
              <a:t>‹Nº›</a:t>
            </a:fld>
            <a:endParaRPr lang="es-PE"/>
          </a:p>
        </p:txBody>
      </p:sp>
    </p:spTree>
    <p:extLst>
      <p:ext uri="{BB962C8B-B14F-4D97-AF65-F5344CB8AC3E}">
        <p14:creationId xmlns:p14="http://schemas.microsoft.com/office/powerpoint/2010/main" val="18286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027E0C-16B3-4C08-9C58-D267A79632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1915DB6C-5CB1-44A2-8B27-7DC9A9E4B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A357F832-A503-47E4-B101-01CAB25AC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FF2CACF-6F5B-4A84-B505-A63C2E2F8047}"/>
              </a:ext>
            </a:extLst>
          </p:cNvPr>
          <p:cNvSpPr>
            <a:spLocks noGrp="1"/>
          </p:cNvSpPr>
          <p:nvPr>
            <p:ph type="dt" sz="half" idx="10"/>
          </p:nvPr>
        </p:nvSpPr>
        <p:spPr/>
        <p:txBody>
          <a:bodyPr/>
          <a:lstStyle/>
          <a:p>
            <a:fld id="{6C9FD9B5-4C9A-4C1F-B512-F69A205905A5}" type="datetimeFigureOut">
              <a:rPr lang="es-PE" smtClean="0"/>
              <a:t>30/09/2024</a:t>
            </a:fld>
            <a:endParaRPr lang="es-PE"/>
          </a:p>
        </p:txBody>
      </p:sp>
      <p:sp>
        <p:nvSpPr>
          <p:cNvPr id="6" name="Marcador de pie de página 5">
            <a:extLst>
              <a:ext uri="{FF2B5EF4-FFF2-40B4-BE49-F238E27FC236}">
                <a16:creationId xmlns:a16="http://schemas.microsoft.com/office/drawing/2014/main" id="{591DA83B-386C-4D12-88E1-3D60233A936B}"/>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B70AA87A-A637-4BDB-8651-9B2E2581015B}"/>
              </a:ext>
            </a:extLst>
          </p:cNvPr>
          <p:cNvSpPr>
            <a:spLocks noGrp="1"/>
          </p:cNvSpPr>
          <p:nvPr>
            <p:ph type="sldNum" sz="quarter" idx="12"/>
          </p:nvPr>
        </p:nvSpPr>
        <p:spPr/>
        <p:txBody>
          <a:bodyPr/>
          <a:lstStyle/>
          <a:p>
            <a:fld id="{C30AECD8-16F3-400E-A475-645FB7A1610E}" type="slidenum">
              <a:rPr lang="es-PE" smtClean="0"/>
              <a:t>‹Nº›</a:t>
            </a:fld>
            <a:endParaRPr lang="es-PE"/>
          </a:p>
        </p:txBody>
      </p:sp>
    </p:spTree>
    <p:extLst>
      <p:ext uri="{BB962C8B-B14F-4D97-AF65-F5344CB8AC3E}">
        <p14:creationId xmlns:p14="http://schemas.microsoft.com/office/powerpoint/2010/main" val="3791896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3FFD18-371A-4D86-AA01-A2252236F769}"/>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2A471E24-3394-4B3F-9B41-FBA79DDD37C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E152E863-454D-49A9-B02C-606D400A0BEC}"/>
              </a:ext>
            </a:extLst>
          </p:cNvPr>
          <p:cNvSpPr>
            <a:spLocks noGrp="1"/>
          </p:cNvSpPr>
          <p:nvPr>
            <p:ph type="dt" sz="half" idx="10"/>
          </p:nvPr>
        </p:nvSpPr>
        <p:spPr/>
        <p:txBody>
          <a:bodyPr/>
          <a:lstStyle/>
          <a:p>
            <a:fld id="{6C9FD9B5-4C9A-4C1F-B512-F69A205905A5}" type="datetimeFigureOut">
              <a:rPr lang="es-PE" smtClean="0"/>
              <a:t>30/09/2024</a:t>
            </a:fld>
            <a:endParaRPr lang="es-PE"/>
          </a:p>
        </p:txBody>
      </p:sp>
      <p:sp>
        <p:nvSpPr>
          <p:cNvPr id="5" name="Marcador de pie de página 4">
            <a:extLst>
              <a:ext uri="{FF2B5EF4-FFF2-40B4-BE49-F238E27FC236}">
                <a16:creationId xmlns:a16="http://schemas.microsoft.com/office/drawing/2014/main" id="{2B6B1AB7-EC26-4652-BA7F-760E2EC6DFD2}"/>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75C4089-06E3-42CD-AD68-E819CEF322BA}"/>
              </a:ext>
            </a:extLst>
          </p:cNvPr>
          <p:cNvSpPr>
            <a:spLocks noGrp="1"/>
          </p:cNvSpPr>
          <p:nvPr>
            <p:ph type="sldNum" sz="quarter" idx="12"/>
          </p:nvPr>
        </p:nvSpPr>
        <p:spPr/>
        <p:txBody>
          <a:bodyPr/>
          <a:lstStyle/>
          <a:p>
            <a:fld id="{C30AECD8-16F3-400E-A475-645FB7A1610E}" type="slidenum">
              <a:rPr lang="es-PE" smtClean="0"/>
              <a:t>‹Nº›</a:t>
            </a:fld>
            <a:endParaRPr lang="es-PE"/>
          </a:p>
        </p:txBody>
      </p:sp>
    </p:spTree>
    <p:extLst>
      <p:ext uri="{BB962C8B-B14F-4D97-AF65-F5344CB8AC3E}">
        <p14:creationId xmlns:p14="http://schemas.microsoft.com/office/powerpoint/2010/main" val="3789271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250A09F-F0CA-48B5-AB3F-FD744ED7E5B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524887C0-266F-4059-A1E2-4598AF04518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AC626F05-F30C-4531-88A0-FF9C082BE415}"/>
              </a:ext>
            </a:extLst>
          </p:cNvPr>
          <p:cNvSpPr>
            <a:spLocks noGrp="1"/>
          </p:cNvSpPr>
          <p:nvPr>
            <p:ph type="dt" sz="half" idx="10"/>
          </p:nvPr>
        </p:nvSpPr>
        <p:spPr/>
        <p:txBody>
          <a:bodyPr/>
          <a:lstStyle/>
          <a:p>
            <a:fld id="{6C9FD9B5-4C9A-4C1F-B512-F69A205905A5}" type="datetimeFigureOut">
              <a:rPr lang="es-PE" smtClean="0"/>
              <a:t>30/09/2024</a:t>
            </a:fld>
            <a:endParaRPr lang="es-PE"/>
          </a:p>
        </p:txBody>
      </p:sp>
      <p:sp>
        <p:nvSpPr>
          <p:cNvPr id="5" name="Marcador de pie de página 4">
            <a:extLst>
              <a:ext uri="{FF2B5EF4-FFF2-40B4-BE49-F238E27FC236}">
                <a16:creationId xmlns:a16="http://schemas.microsoft.com/office/drawing/2014/main" id="{C12F2CB2-AB4E-4229-8B67-427FE57FF7F5}"/>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462597C-AE8A-42DB-9143-F85ABC2605A5}"/>
              </a:ext>
            </a:extLst>
          </p:cNvPr>
          <p:cNvSpPr>
            <a:spLocks noGrp="1"/>
          </p:cNvSpPr>
          <p:nvPr>
            <p:ph type="sldNum" sz="quarter" idx="12"/>
          </p:nvPr>
        </p:nvSpPr>
        <p:spPr/>
        <p:txBody>
          <a:bodyPr/>
          <a:lstStyle/>
          <a:p>
            <a:fld id="{C30AECD8-16F3-400E-A475-645FB7A1610E}" type="slidenum">
              <a:rPr lang="es-PE" smtClean="0"/>
              <a:t>‹Nº›</a:t>
            </a:fld>
            <a:endParaRPr lang="es-PE"/>
          </a:p>
        </p:txBody>
      </p:sp>
    </p:spTree>
    <p:extLst>
      <p:ext uri="{BB962C8B-B14F-4D97-AF65-F5344CB8AC3E}">
        <p14:creationId xmlns:p14="http://schemas.microsoft.com/office/powerpoint/2010/main" val="3755430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Título y objetos">
  <p:cSld name="1_Título y objetos">
    <p:bg>
      <p:bgRef idx="1001">
        <a:schemeClr val="bg1"/>
      </p:bgRef>
    </p:bg>
    <p:spTree>
      <p:nvGrpSpPr>
        <p:cNvPr id="1" name="Shape 36"/>
        <p:cNvGrpSpPr/>
        <p:nvPr/>
      </p:nvGrpSpPr>
      <p:grpSpPr>
        <a:xfrm>
          <a:off x="0" y="0"/>
          <a:ext cx="0" cy="0"/>
          <a:chOff x="0" y="0"/>
          <a:chExt cx="0" cy="0"/>
        </a:xfrm>
      </p:grpSpPr>
      <p:sp>
        <p:nvSpPr>
          <p:cNvPr id="38" name="Google Shape;38;p17"/>
          <p:cNvSpPr txBox="1">
            <a:spLocks noGrp="1"/>
          </p:cNvSpPr>
          <p:nvPr>
            <p:ph type="body" idx="1"/>
          </p:nvPr>
        </p:nvSpPr>
        <p:spPr>
          <a:xfrm>
            <a:off x="838200" y="1825625"/>
            <a:ext cx="10515599" cy="4351338"/>
          </a:xfrm>
          <a:prstGeom prst="rect">
            <a:avLst/>
          </a:prstGeom>
          <a:noFill/>
          <a:ln>
            <a:noFill/>
          </a:ln>
        </p:spPr>
        <p:txBody>
          <a:bodyPr spcFirstLastPara="1" wrap="square" lIns="91425" tIns="45700" rIns="91425" bIns="45700" anchor="t" anchorCtr="0">
            <a:normAutofit/>
          </a:bodyPr>
          <a:lstStyle>
            <a:lvl1pPr marL="457200" marR="0" lvl="0" indent="-419100" algn="l">
              <a:lnSpc>
                <a:spcPct val="90000"/>
              </a:lnSpc>
              <a:spcBef>
                <a:spcPts val="600"/>
              </a:spcBef>
              <a:spcAft>
                <a:spcPts val="0"/>
              </a:spcAft>
              <a:buClr>
                <a:srgbClr val="595959"/>
              </a:buClr>
              <a:buSzPts val="3000"/>
              <a:buFont typeface="Arial"/>
              <a:buChar char="•"/>
              <a:defRPr sz="3000" b="0" i="0">
                <a:solidFill>
                  <a:srgbClr val="595959"/>
                </a:solidFill>
                <a:latin typeface="Calibri"/>
                <a:ea typeface="Calibri"/>
                <a:cs typeface="Calibri"/>
                <a:sym typeface="Calibri"/>
              </a:defRPr>
            </a:lvl1pPr>
            <a:lvl2pPr marL="914400" marR="0" lvl="1" indent="-419100" algn="l">
              <a:lnSpc>
                <a:spcPct val="90000"/>
              </a:lnSpc>
              <a:spcBef>
                <a:spcPts val="600"/>
              </a:spcBef>
              <a:spcAft>
                <a:spcPts val="0"/>
              </a:spcAft>
              <a:buClr>
                <a:srgbClr val="595959"/>
              </a:buClr>
              <a:buSzPts val="3000"/>
              <a:buFont typeface="Arial"/>
              <a:buChar char="•"/>
              <a:defRPr sz="3000">
                <a:solidFill>
                  <a:srgbClr val="595959"/>
                </a:solidFill>
              </a:defRPr>
            </a:lvl2pPr>
            <a:lvl3pPr marL="1371600" marR="0" lvl="2" indent="-419100" algn="l">
              <a:lnSpc>
                <a:spcPct val="90000"/>
              </a:lnSpc>
              <a:spcBef>
                <a:spcPts val="600"/>
              </a:spcBef>
              <a:spcAft>
                <a:spcPts val="0"/>
              </a:spcAft>
              <a:buClr>
                <a:srgbClr val="595959"/>
              </a:buClr>
              <a:buSzPts val="3000"/>
              <a:buFont typeface="Arial"/>
              <a:buChar char="•"/>
              <a:defRPr sz="3000">
                <a:solidFill>
                  <a:srgbClr val="595959"/>
                </a:solidFill>
              </a:defRPr>
            </a:lvl3pPr>
            <a:lvl4pPr marL="1828800" marR="0" lvl="3" indent="-419100" algn="l">
              <a:lnSpc>
                <a:spcPct val="90000"/>
              </a:lnSpc>
              <a:spcBef>
                <a:spcPts val="600"/>
              </a:spcBef>
              <a:spcAft>
                <a:spcPts val="0"/>
              </a:spcAft>
              <a:buClr>
                <a:srgbClr val="595959"/>
              </a:buClr>
              <a:buSzPts val="3000"/>
              <a:buFont typeface="Arial"/>
              <a:buChar char="•"/>
              <a:defRPr sz="3000">
                <a:solidFill>
                  <a:srgbClr val="595959"/>
                </a:solidFill>
                <a:latin typeface="Calibri"/>
                <a:ea typeface="Calibri"/>
                <a:cs typeface="Calibri"/>
                <a:sym typeface="Calibri"/>
              </a:defRPr>
            </a:lvl4pPr>
            <a:lvl5pPr marL="2286000" marR="0" lvl="4" indent="-419100" algn="l">
              <a:lnSpc>
                <a:spcPct val="90000"/>
              </a:lnSpc>
              <a:spcBef>
                <a:spcPts val="600"/>
              </a:spcBef>
              <a:spcAft>
                <a:spcPts val="0"/>
              </a:spcAft>
              <a:buClr>
                <a:srgbClr val="595959"/>
              </a:buClr>
              <a:buSzPts val="3000"/>
              <a:buFont typeface="Arial"/>
              <a:buChar char="•"/>
              <a:defRPr sz="3000">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0" i="0">
                <a:solidFill>
                  <a:srgbClr val="595959"/>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0" i="0">
                <a:solidFill>
                  <a:srgbClr val="595959"/>
                </a:solidFill>
                <a:latin typeface="Century Gothic"/>
                <a:ea typeface="Century Gothic"/>
                <a:cs typeface="Century Gothic"/>
                <a:sym typeface="Century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595959"/>
                </a:solidFill>
                <a:latin typeface="Century Gothic"/>
                <a:ea typeface="Century Gothic"/>
                <a:cs typeface="Century Gothic"/>
                <a:sym typeface="Century Gothic"/>
              </a:defRPr>
            </a:lvl1pPr>
            <a:lvl2pPr marL="0" lvl="1" indent="0" algn="r">
              <a:spcBef>
                <a:spcPts val="0"/>
              </a:spcBef>
              <a:buNone/>
              <a:defRPr sz="1200" b="0" i="0" u="none" strike="noStrike" cap="none">
                <a:solidFill>
                  <a:srgbClr val="595959"/>
                </a:solidFill>
                <a:latin typeface="Century Gothic"/>
                <a:ea typeface="Century Gothic"/>
                <a:cs typeface="Century Gothic"/>
                <a:sym typeface="Century Gothic"/>
              </a:defRPr>
            </a:lvl2pPr>
            <a:lvl3pPr marL="0" lvl="2" indent="0" algn="r">
              <a:spcBef>
                <a:spcPts val="0"/>
              </a:spcBef>
              <a:buNone/>
              <a:defRPr sz="1200" b="0" i="0" u="none" strike="noStrike" cap="none">
                <a:solidFill>
                  <a:srgbClr val="595959"/>
                </a:solidFill>
                <a:latin typeface="Century Gothic"/>
                <a:ea typeface="Century Gothic"/>
                <a:cs typeface="Century Gothic"/>
                <a:sym typeface="Century Gothic"/>
              </a:defRPr>
            </a:lvl3pPr>
            <a:lvl4pPr marL="0" lvl="3" indent="0" algn="r">
              <a:spcBef>
                <a:spcPts val="0"/>
              </a:spcBef>
              <a:buNone/>
              <a:defRPr sz="1200" b="0" i="0" u="none" strike="noStrike" cap="none">
                <a:solidFill>
                  <a:srgbClr val="595959"/>
                </a:solidFill>
                <a:latin typeface="Century Gothic"/>
                <a:ea typeface="Century Gothic"/>
                <a:cs typeface="Century Gothic"/>
                <a:sym typeface="Century Gothic"/>
              </a:defRPr>
            </a:lvl4pPr>
            <a:lvl5pPr marL="0" lvl="4" indent="0" algn="r">
              <a:spcBef>
                <a:spcPts val="0"/>
              </a:spcBef>
              <a:buNone/>
              <a:defRPr sz="1200" b="0" i="0" u="none" strike="noStrike" cap="none">
                <a:solidFill>
                  <a:srgbClr val="595959"/>
                </a:solidFill>
                <a:latin typeface="Century Gothic"/>
                <a:ea typeface="Century Gothic"/>
                <a:cs typeface="Century Gothic"/>
                <a:sym typeface="Century Gothic"/>
              </a:defRPr>
            </a:lvl5pPr>
            <a:lvl6pPr marL="0" lvl="5" indent="0" algn="r">
              <a:spcBef>
                <a:spcPts val="0"/>
              </a:spcBef>
              <a:buNone/>
              <a:defRPr sz="1200" b="0" i="0" u="none" strike="noStrike" cap="none">
                <a:solidFill>
                  <a:srgbClr val="595959"/>
                </a:solidFill>
                <a:latin typeface="Century Gothic"/>
                <a:ea typeface="Century Gothic"/>
                <a:cs typeface="Century Gothic"/>
                <a:sym typeface="Century Gothic"/>
              </a:defRPr>
            </a:lvl6pPr>
            <a:lvl7pPr marL="0" lvl="6" indent="0" algn="r">
              <a:spcBef>
                <a:spcPts val="0"/>
              </a:spcBef>
              <a:buNone/>
              <a:defRPr sz="1200" b="0" i="0" u="none" strike="noStrike" cap="none">
                <a:solidFill>
                  <a:srgbClr val="595959"/>
                </a:solidFill>
                <a:latin typeface="Century Gothic"/>
                <a:ea typeface="Century Gothic"/>
                <a:cs typeface="Century Gothic"/>
                <a:sym typeface="Century Gothic"/>
              </a:defRPr>
            </a:lvl7pPr>
            <a:lvl8pPr marL="0" lvl="7" indent="0" algn="r">
              <a:spcBef>
                <a:spcPts val="0"/>
              </a:spcBef>
              <a:buNone/>
              <a:defRPr sz="1200" b="0" i="0" u="none" strike="noStrike" cap="none">
                <a:solidFill>
                  <a:srgbClr val="595959"/>
                </a:solidFill>
                <a:latin typeface="Century Gothic"/>
                <a:ea typeface="Century Gothic"/>
                <a:cs typeface="Century Gothic"/>
                <a:sym typeface="Century Gothic"/>
              </a:defRPr>
            </a:lvl8pPr>
            <a:lvl9pPr marL="0" lvl="8" indent="0" algn="r">
              <a:spcBef>
                <a:spcPts val="0"/>
              </a:spcBef>
              <a:buNone/>
              <a:defRPr sz="1200" b="0" i="0" u="none" strike="noStrike" cap="none">
                <a:solidFill>
                  <a:srgbClr val="595959"/>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s-PE"/>
              <a:t>‹Nº›</a:t>
            </a:fld>
            <a:endParaRPr/>
          </a:p>
        </p:txBody>
      </p:sp>
      <p:sp>
        <p:nvSpPr>
          <p:cNvPr id="42" name="Google Shape;42;p17"/>
          <p:cNvSpPr txBox="1">
            <a:spLocks noGrp="1"/>
          </p:cNvSpPr>
          <p:nvPr>
            <p:ph type="title"/>
          </p:nvPr>
        </p:nvSpPr>
        <p:spPr>
          <a:xfrm>
            <a:off x="838200" y="699983"/>
            <a:ext cx="7485185" cy="4230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200"/>
              <a:buFont typeface="Arial Black"/>
              <a:buNone/>
              <a:defRPr sz="3200" b="0" i="0">
                <a:solidFill>
                  <a:schemeClr val="tx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47925105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A7E264D-247D-4315-BB72-298A48AA6F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9251EC7-F698-4E60-A13A-6428F31111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889DDAE3-5A0E-4713-A5B6-CD4CB1A493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9FD9B5-4C9A-4C1F-B512-F69A205905A5}" type="datetimeFigureOut">
              <a:rPr lang="es-PE" smtClean="0"/>
              <a:t>30/09/2024</a:t>
            </a:fld>
            <a:endParaRPr lang="es-PE"/>
          </a:p>
        </p:txBody>
      </p:sp>
      <p:sp>
        <p:nvSpPr>
          <p:cNvPr id="5" name="Marcador de pie de página 4">
            <a:extLst>
              <a:ext uri="{FF2B5EF4-FFF2-40B4-BE49-F238E27FC236}">
                <a16:creationId xmlns:a16="http://schemas.microsoft.com/office/drawing/2014/main" id="{F18B9CEE-4692-484B-AF0F-19D97D3FD1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68D2ED97-54DE-47FE-9525-8BB1187D51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0AECD8-16F3-400E-A475-645FB7A1610E}" type="slidenum">
              <a:rPr lang="es-PE" smtClean="0"/>
              <a:t>‹Nº›</a:t>
            </a:fld>
            <a:endParaRPr lang="es-PE"/>
          </a:p>
        </p:txBody>
      </p:sp>
    </p:spTree>
    <p:extLst>
      <p:ext uri="{BB962C8B-B14F-4D97-AF65-F5344CB8AC3E}">
        <p14:creationId xmlns:p14="http://schemas.microsoft.com/office/powerpoint/2010/main" val="11073876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1.png"/><Relationship Id="rId7"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Layout" Target="../slideLayouts/slideLayout1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gif"/></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Layout" Target="../diagrams/layout1.xml"/><Relationship Id="rId7" Type="http://schemas.openxmlformats.org/officeDocument/2006/relationships/image" Target="../media/image23.png"/><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diagramLayout" Target="../diagrams/layout2.xml"/><Relationship Id="rId7" Type="http://schemas.openxmlformats.org/officeDocument/2006/relationships/image" Target="../media/image24.png"/><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27.jpeg"/><Relationship Id="rId4" Type="http://schemas.openxmlformats.org/officeDocument/2006/relationships/diagramQuickStyle" Target="../diagrams/quickStyle2.xml"/><Relationship Id="rId9" Type="http://schemas.openxmlformats.org/officeDocument/2006/relationships/image" Target="../media/image26.jpeg"/></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Layout" Target="../diagrams/layout3.xml"/><Relationship Id="rId7" Type="http://schemas.openxmlformats.org/officeDocument/2006/relationships/image" Target="../media/image24.png"/><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diagramLayout" Target="../diagrams/layout4.xml"/><Relationship Id="rId7" Type="http://schemas.openxmlformats.org/officeDocument/2006/relationships/image" Target="../media/image24.png"/><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9" Type="http://schemas.openxmlformats.org/officeDocument/2006/relationships/image" Target="../media/image30.png"/></Relationships>
</file>

<file path=ppt/slides/_rels/slide17.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diagramLayout" Target="../diagrams/layout5.xml"/><Relationship Id="rId7" Type="http://schemas.openxmlformats.org/officeDocument/2006/relationships/image" Target="../media/image31.jpeg"/><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jpeg"/><Relationship Id="rId1" Type="http://schemas.openxmlformats.org/officeDocument/2006/relationships/slideLayout" Target="../slideLayouts/slideLayout12.xml"/><Relationship Id="rId4" Type="http://schemas.openxmlformats.org/officeDocument/2006/relationships/image" Target="../media/image35.jpeg"/></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 Id="rId5" Type="http://schemas.openxmlformats.org/officeDocument/2006/relationships/image" Target="../media/image46.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50.png"/><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image" Target="../media/image76.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gif"/><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6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2.xml"/><Relationship Id="rId4" Type="http://schemas.openxmlformats.org/officeDocument/2006/relationships/image" Target="../media/image8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2.xml"/><Relationship Id="rId4" Type="http://schemas.openxmlformats.org/officeDocument/2006/relationships/image" Target="../media/image97.png"/></Relationships>
</file>

<file path=ppt/slides/_rels/slide77.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2.xml"/><Relationship Id="rId4" Type="http://schemas.openxmlformats.org/officeDocument/2006/relationships/image" Target="../media/image99.png"/></Relationships>
</file>

<file path=ppt/slides/_rels/slide7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hyperlink" Target="https://sci-hub.ru/10.1007/s40471-016-0081-9" TargetMode="Externa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hyperlink" Target="https://sci-hub.ru/10.1007/s40471-016-0081-9" TargetMode="External"/><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8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hyperlink" Target="https://sci-hub.ru/10.1007/s40471-016-0081-9" TargetMode="External"/><Relationship Id="rId1" Type="http://schemas.openxmlformats.org/officeDocument/2006/relationships/slideLayout" Target="../slideLayouts/slideLayout12.xml"/><Relationship Id="rId5" Type="http://schemas.openxmlformats.org/officeDocument/2006/relationships/image" Target="../media/image100.png"/><Relationship Id="rId4" Type="http://schemas.openxmlformats.org/officeDocument/2006/relationships/image" Target="../media/image102.png"/></Relationships>
</file>

<file path=ppt/slides/_rels/slide8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hyperlink" Target="https://sci-hub.ru/10.1007/s40471-016-0081-9" TargetMode="External"/><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8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hyperlink" Target="https://sci-hub.ru/10.1007/s40471-016-0081-9" TargetMode="External"/><Relationship Id="rId1" Type="http://schemas.openxmlformats.org/officeDocument/2006/relationships/slideLayout" Target="../slideLayouts/slideLayout12.xml"/><Relationship Id="rId5" Type="http://schemas.openxmlformats.org/officeDocument/2006/relationships/image" Target="../media/image105.png"/><Relationship Id="rId4" Type="http://schemas.openxmlformats.org/officeDocument/2006/relationships/image" Target="../media/image104.png"/></Relationships>
</file>

<file path=ppt/slides/_rels/slide8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06.jpe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hyperlink" Target="https://arxiv.org/html/2406.00853v1" TargetMode="External"/><Relationship Id="rId2" Type="http://schemas.openxmlformats.org/officeDocument/2006/relationships/image" Target="../media/image107.png"/><Relationship Id="rId1" Type="http://schemas.openxmlformats.org/officeDocument/2006/relationships/slideLayout" Target="../slideLayouts/slideLayout12.xml"/><Relationship Id="rId4" Type="http://schemas.openxmlformats.org/officeDocument/2006/relationships/image" Target="../media/image108.png"/></Relationships>
</file>

<file path=ppt/slides/_rels/slide8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12.xml"/><Relationship Id="rId4" Type="http://schemas.openxmlformats.org/officeDocument/2006/relationships/image" Target="../media/image115.png"/></Relationships>
</file>

<file path=ppt/slides/_rels/slide9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12.xml"/><Relationship Id="rId4" Type="http://schemas.openxmlformats.org/officeDocument/2006/relationships/image" Target="../media/image115.png"/></Relationships>
</file>

<file path=ppt/slides/_rels/slide9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5.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228077-C14E-47CD-ACD4-A9FFFA222B54}"/>
              </a:ext>
            </a:extLst>
          </p:cNvPr>
          <p:cNvSpPr>
            <a:spLocks noGrp="1"/>
          </p:cNvSpPr>
          <p:nvPr>
            <p:ph type="ctrTitle"/>
          </p:nvPr>
        </p:nvSpPr>
        <p:spPr/>
        <p:txBody>
          <a:bodyPr/>
          <a:lstStyle/>
          <a:p>
            <a:r>
              <a:rPr lang="es-PE" b="1" dirty="0">
                <a:latin typeface="Arial Black" panose="020B0A04020102020204" pitchFamily="34" charset="0"/>
              </a:rPr>
              <a:t>Teoría sobre control de confusión</a:t>
            </a:r>
          </a:p>
        </p:txBody>
      </p:sp>
      <p:sp>
        <p:nvSpPr>
          <p:cNvPr id="3" name="Subtítulo 2">
            <a:extLst>
              <a:ext uri="{FF2B5EF4-FFF2-40B4-BE49-F238E27FC236}">
                <a16:creationId xmlns:a16="http://schemas.microsoft.com/office/drawing/2014/main" id="{D2CD3E1E-AAE1-4EC6-8D8F-7C8867EE7AAF}"/>
              </a:ext>
            </a:extLst>
          </p:cNvPr>
          <p:cNvSpPr>
            <a:spLocks noGrp="1"/>
          </p:cNvSpPr>
          <p:nvPr>
            <p:ph type="subTitle" idx="1"/>
          </p:nvPr>
        </p:nvSpPr>
        <p:spPr/>
        <p:txBody>
          <a:bodyPr/>
          <a:lstStyle/>
          <a:p>
            <a:r>
              <a:rPr lang="es-PE" dirty="0"/>
              <a:t>Daniel FG</a:t>
            </a:r>
          </a:p>
        </p:txBody>
      </p:sp>
      <p:pic>
        <p:nvPicPr>
          <p:cNvPr id="5" name="Imagen 4">
            <a:extLst>
              <a:ext uri="{FF2B5EF4-FFF2-40B4-BE49-F238E27FC236}">
                <a16:creationId xmlns:a16="http://schemas.microsoft.com/office/drawing/2014/main" id="{AF23EACB-8397-4A17-B8FD-2FA56D2646FB}"/>
              </a:ext>
            </a:extLst>
          </p:cNvPr>
          <p:cNvPicPr>
            <a:picLocks noChangeAspect="1"/>
          </p:cNvPicPr>
          <p:nvPr/>
        </p:nvPicPr>
        <p:blipFill>
          <a:blip r:embed="rId2"/>
          <a:stretch>
            <a:fillRect/>
          </a:stretch>
        </p:blipFill>
        <p:spPr>
          <a:xfrm>
            <a:off x="5042949" y="4538562"/>
            <a:ext cx="2457793" cy="1438476"/>
          </a:xfrm>
          <a:prstGeom prst="rect">
            <a:avLst/>
          </a:prstGeom>
        </p:spPr>
      </p:pic>
    </p:spTree>
    <p:extLst>
      <p:ext uri="{BB962C8B-B14F-4D97-AF65-F5344CB8AC3E}">
        <p14:creationId xmlns:p14="http://schemas.microsoft.com/office/powerpoint/2010/main" val="144663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Los Simpson: ¿Cuál es el mejor final para cerrar la serie de TV?">
            <a:extLst>
              <a:ext uri="{FF2B5EF4-FFF2-40B4-BE49-F238E27FC236}">
                <a16:creationId xmlns:a16="http://schemas.microsoft.com/office/drawing/2014/main" id="{9419C637-BD48-49C7-960A-10C366D336E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2892" y="1825625"/>
            <a:ext cx="8386215"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Título 1">
            <a:extLst>
              <a:ext uri="{FF2B5EF4-FFF2-40B4-BE49-F238E27FC236}">
                <a16:creationId xmlns:a16="http://schemas.microsoft.com/office/drawing/2014/main" id="{64F2A71C-5D14-4797-B448-3ADAF0D0B69E}"/>
              </a:ext>
            </a:extLst>
          </p:cNvPr>
          <p:cNvSpPr txBox="1">
            <a:spLocks/>
          </p:cNvSpPr>
          <p:nvPr/>
        </p:nvSpPr>
        <p:spPr>
          <a:xfrm>
            <a:off x="4092732" y="5127812"/>
            <a:ext cx="2935597" cy="966180"/>
          </a:xfrm>
          <a:prstGeom prst="rect">
            <a:avLst/>
          </a:prstGeom>
          <a:solidFill>
            <a:schemeClr val="tx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3200" b="1" dirty="0">
                <a:solidFill>
                  <a:schemeClr val="bg1"/>
                </a:solidFill>
                <a:latin typeface="Bernard MT Condensed" panose="02050806060905020404" pitchFamily="18" charset="0"/>
              </a:rPr>
              <a:t>Análisis de data observacional </a:t>
            </a:r>
          </a:p>
        </p:txBody>
      </p:sp>
      <p:pic>
        <p:nvPicPr>
          <p:cNvPr id="8" name="Imagen 7">
            <a:extLst>
              <a:ext uri="{FF2B5EF4-FFF2-40B4-BE49-F238E27FC236}">
                <a16:creationId xmlns:a16="http://schemas.microsoft.com/office/drawing/2014/main" id="{2DB3D7BA-8394-4699-9F54-A5C0434B104D}"/>
              </a:ext>
            </a:extLst>
          </p:cNvPr>
          <p:cNvPicPr>
            <a:picLocks noChangeAspect="1"/>
          </p:cNvPicPr>
          <p:nvPr/>
        </p:nvPicPr>
        <p:blipFill>
          <a:blip r:embed="rId3"/>
          <a:stretch>
            <a:fillRect/>
          </a:stretch>
        </p:blipFill>
        <p:spPr>
          <a:xfrm flipV="1">
            <a:off x="8731624" y="5459505"/>
            <a:ext cx="1557483" cy="717456"/>
          </a:xfrm>
          <a:prstGeom prst="rect">
            <a:avLst/>
          </a:prstGeom>
        </p:spPr>
      </p:pic>
      <p:sp>
        <p:nvSpPr>
          <p:cNvPr id="10" name="Título 1">
            <a:extLst>
              <a:ext uri="{FF2B5EF4-FFF2-40B4-BE49-F238E27FC236}">
                <a16:creationId xmlns:a16="http://schemas.microsoft.com/office/drawing/2014/main" id="{92DB29F5-F109-4B55-9438-BC7D48BCE051}"/>
              </a:ext>
            </a:extLst>
          </p:cNvPr>
          <p:cNvSpPr txBox="1">
            <a:spLocks/>
          </p:cNvSpPr>
          <p:nvPr/>
        </p:nvSpPr>
        <p:spPr>
          <a:xfrm>
            <a:off x="5444029" y="2230391"/>
            <a:ext cx="5140914" cy="1080481"/>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3200" b="1" dirty="0">
                <a:solidFill>
                  <a:schemeClr val="bg1"/>
                </a:solidFill>
                <a:latin typeface="Bernard MT Condensed" panose="02050806060905020404" pitchFamily="18" charset="0"/>
              </a:rPr>
              <a:t>Sesgos</a:t>
            </a:r>
          </a:p>
          <a:p>
            <a:pPr algn="ctr"/>
            <a:r>
              <a:rPr lang="es-PE" sz="3200" b="1" dirty="0">
                <a:solidFill>
                  <a:schemeClr val="bg1"/>
                </a:solidFill>
                <a:latin typeface="Bernard MT Condensed" panose="02050806060905020404" pitchFamily="18" charset="0"/>
              </a:rPr>
              <a:t>Confusión</a:t>
            </a:r>
          </a:p>
          <a:p>
            <a:pPr algn="ctr"/>
            <a:r>
              <a:rPr lang="es-PE" sz="3200" b="1" dirty="0">
                <a:solidFill>
                  <a:schemeClr val="bg1"/>
                </a:solidFill>
                <a:latin typeface="Bernard MT Condensed" panose="02050806060905020404" pitchFamily="18" charset="0"/>
              </a:rPr>
              <a:t>Error aleatorio</a:t>
            </a:r>
          </a:p>
        </p:txBody>
      </p:sp>
    </p:spTree>
    <p:extLst>
      <p:ext uri="{BB962C8B-B14F-4D97-AF65-F5344CB8AC3E}">
        <p14:creationId xmlns:p14="http://schemas.microsoft.com/office/powerpoint/2010/main" val="188102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FB21BCF-469B-44B8-9D6F-0BD29BF2C24E}"/>
              </a:ext>
            </a:extLst>
          </p:cNvPr>
          <p:cNvPicPr>
            <a:picLocks noChangeAspect="1"/>
          </p:cNvPicPr>
          <p:nvPr/>
        </p:nvPicPr>
        <p:blipFill>
          <a:blip r:embed="rId2"/>
          <a:stretch>
            <a:fillRect/>
          </a:stretch>
        </p:blipFill>
        <p:spPr>
          <a:xfrm>
            <a:off x="376013" y="132556"/>
            <a:ext cx="7574914" cy="1119542"/>
          </a:xfrm>
          <a:prstGeom prst="rect">
            <a:avLst/>
          </a:prstGeom>
        </p:spPr>
      </p:pic>
      <p:pic>
        <p:nvPicPr>
          <p:cNvPr id="8" name="Picture 2">
            <a:extLst>
              <a:ext uri="{FF2B5EF4-FFF2-40B4-BE49-F238E27FC236}">
                <a16:creationId xmlns:a16="http://schemas.microsoft.com/office/drawing/2014/main" id="{7AF9013E-6487-4A97-82BD-F222346C89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981"/>
          <a:stretch/>
        </p:blipFill>
        <p:spPr bwMode="auto">
          <a:xfrm>
            <a:off x="5347062" y="949234"/>
            <a:ext cx="6665077" cy="6020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3165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3F1D78C9-93A8-4C94-B46C-2EDECFE5B8FE}"/>
              </a:ext>
            </a:extLst>
          </p:cNvPr>
          <p:cNvPicPr>
            <a:picLocks noGrp="1" noChangeAspect="1"/>
          </p:cNvPicPr>
          <p:nvPr>
            <p:ph idx="1"/>
          </p:nvPr>
        </p:nvPicPr>
        <p:blipFill>
          <a:blip r:embed="rId2"/>
          <a:stretch>
            <a:fillRect/>
          </a:stretch>
        </p:blipFill>
        <p:spPr>
          <a:xfrm>
            <a:off x="3059723" y="2005386"/>
            <a:ext cx="6821254" cy="3864783"/>
          </a:xfrm>
        </p:spPr>
      </p:pic>
      <p:sp>
        <p:nvSpPr>
          <p:cNvPr id="6" name="Título 2">
            <a:extLst>
              <a:ext uri="{FF2B5EF4-FFF2-40B4-BE49-F238E27FC236}">
                <a16:creationId xmlns:a16="http://schemas.microsoft.com/office/drawing/2014/main" id="{1ACFD2D7-EB16-4D65-8C20-D324D231689B}"/>
              </a:ext>
            </a:extLst>
          </p:cNvPr>
          <p:cNvSpPr>
            <a:spLocks noGrp="1"/>
          </p:cNvSpPr>
          <p:nvPr>
            <p:ph type="title"/>
          </p:nvPr>
        </p:nvSpPr>
        <p:spPr>
          <a:xfrm>
            <a:off x="838200" y="699983"/>
            <a:ext cx="11031415" cy="423064"/>
          </a:xfrm>
        </p:spPr>
        <p:txBody>
          <a:bodyPr>
            <a:normAutofit fontScale="90000"/>
          </a:bodyPr>
          <a:lstStyle/>
          <a:p>
            <a:r>
              <a:rPr lang="es-PE" b="1" dirty="0"/>
              <a:t>Identifica los confusores</a:t>
            </a:r>
          </a:p>
        </p:txBody>
      </p:sp>
      <p:pic>
        <p:nvPicPr>
          <p:cNvPr id="9" name="Marcador de contenido 4">
            <a:extLst>
              <a:ext uri="{FF2B5EF4-FFF2-40B4-BE49-F238E27FC236}">
                <a16:creationId xmlns:a16="http://schemas.microsoft.com/office/drawing/2014/main" id="{555EEA7A-6A80-4CBA-93AD-7BA43787A40C}"/>
              </a:ext>
            </a:extLst>
          </p:cNvPr>
          <p:cNvPicPr>
            <a:picLocks noChangeAspect="1"/>
          </p:cNvPicPr>
          <p:nvPr/>
        </p:nvPicPr>
        <p:blipFill>
          <a:blip r:embed="rId2"/>
          <a:stretch>
            <a:fillRect/>
          </a:stretch>
        </p:blipFill>
        <p:spPr>
          <a:xfrm>
            <a:off x="3212123" y="2157786"/>
            <a:ext cx="6821254" cy="3864783"/>
          </a:xfrm>
          <a:prstGeom prst="rect">
            <a:avLst/>
          </a:prstGeom>
        </p:spPr>
      </p:pic>
    </p:spTree>
    <p:extLst>
      <p:ext uri="{BB962C8B-B14F-4D97-AF65-F5344CB8AC3E}">
        <p14:creationId xmlns:p14="http://schemas.microsoft.com/office/powerpoint/2010/main" val="593624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2">
            <a:extLst>
              <a:ext uri="{FF2B5EF4-FFF2-40B4-BE49-F238E27FC236}">
                <a16:creationId xmlns:a16="http://schemas.microsoft.com/office/drawing/2014/main" id="{1ACFD2D7-EB16-4D65-8C20-D324D231689B}"/>
              </a:ext>
            </a:extLst>
          </p:cNvPr>
          <p:cNvSpPr>
            <a:spLocks noGrp="1"/>
          </p:cNvSpPr>
          <p:nvPr>
            <p:ph type="title"/>
          </p:nvPr>
        </p:nvSpPr>
        <p:spPr>
          <a:xfrm>
            <a:off x="838200" y="699983"/>
            <a:ext cx="11031415" cy="423064"/>
          </a:xfrm>
        </p:spPr>
        <p:txBody>
          <a:bodyPr>
            <a:normAutofit fontScale="90000"/>
          </a:bodyPr>
          <a:lstStyle/>
          <a:p>
            <a:r>
              <a:rPr lang="es-PE" b="1" dirty="0"/>
              <a:t>Identifica los supuestos de causalidad</a:t>
            </a:r>
          </a:p>
        </p:txBody>
      </p:sp>
      <p:pic>
        <p:nvPicPr>
          <p:cNvPr id="13" name="Marcador de contenido 12">
            <a:extLst>
              <a:ext uri="{FF2B5EF4-FFF2-40B4-BE49-F238E27FC236}">
                <a16:creationId xmlns:a16="http://schemas.microsoft.com/office/drawing/2014/main" id="{CBBC26E5-5836-4E14-8378-3CD264818113}"/>
              </a:ext>
            </a:extLst>
          </p:cNvPr>
          <p:cNvPicPr>
            <a:picLocks noGrp="1" noChangeAspect="1"/>
          </p:cNvPicPr>
          <p:nvPr>
            <p:ph idx="1"/>
          </p:nvPr>
        </p:nvPicPr>
        <p:blipFill>
          <a:blip r:embed="rId2"/>
          <a:stretch>
            <a:fillRect/>
          </a:stretch>
        </p:blipFill>
        <p:spPr>
          <a:xfrm>
            <a:off x="2567354" y="1621068"/>
            <a:ext cx="6655777" cy="4027600"/>
          </a:xfrm>
        </p:spPr>
      </p:pic>
    </p:spTree>
    <p:extLst>
      <p:ext uri="{BB962C8B-B14F-4D97-AF65-F5344CB8AC3E}">
        <p14:creationId xmlns:p14="http://schemas.microsoft.com/office/powerpoint/2010/main" val="3301098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6D0A06-24B3-42F5-8E68-EF19DD85811F}"/>
              </a:ext>
            </a:extLst>
          </p:cNvPr>
          <p:cNvSpPr>
            <a:spLocks noGrp="1"/>
          </p:cNvSpPr>
          <p:nvPr>
            <p:ph type="title"/>
          </p:nvPr>
        </p:nvSpPr>
        <p:spPr>
          <a:xfrm>
            <a:off x="0" y="180487"/>
            <a:ext cx="12221308" cy="1325563"/>
          </a:xfrm>
        </p:spPr>
        <p:txBody>
          <a:bodyPr>
            <a:normAutofit/>
          </a:bodyPr>
          <a:lstStyle/>
          <a:p>
            <a:r>
              <a:rPr lang="es-PE" sz="3200" b="1" dirty="0">
                <a:latin typeface="Arial Black" panose="020B0A04020102020204" pitchFamily="34" charset="0"/>
              </a:rPr>
              <a:t>Necesitamos definir muy bien las preguntas causales</a:t>
            </a:r>
          </a:p>
        </p:txBody>
      </p:sp>
      <p:sp>
        <p:nvSpPr>
          <p:cNvPr id="3" name="Marcador de contenido 2">
            <a:extLst>
              <a:ext uri="{FF2B5EF4-FFF2-40B4-BE49-F238E27FC236}">
                <a16:creationId xmlns:a16="http://schemas.microsoft.com/office/drawing/2014/main" id="{6F99F62D-BC36-4C2C-9D79-B8A844802DBD}"/>
              </a:ext>
            </a:extLst>
          </p:cNvPr>
          <p:cNvSpPr>
            <a:spLocks noGrp="1"/>
          </p:cNvSpPr>
          <p:nvPr>
            <p:ph idx="1"/>
          </p:nvPr>
        </p:nvSpPr>
        <p:spPr/>
        <p:txBody>
          <a:bodyPr/>
          <a:lstStyle/>
          <a:p>
            <a:endParaRPr lang="es-PE"/>
          </a:p>
        </p:txBody>
      </p:sp>
      <p:pic>
        <p:nvPicPr>
          <p:cNvPr id="5" name="Imagen 4">
            <a:extLst>
              <a:ext uri="{FF2B5EF4-FFF2-40B4-BE49-F238E27FC236}">
                <a16:creationId xmlns:a16="http://schemas.microsoft.com/office/drawing/2014/main" id="{B6622534-2283-44BE-A35B-6953830DD411}"/>
              </a:ext>
            </a:extLst>
          </p:cNvPr>
          <p:cNvPicPr>
            <a:picLocks noChangeAspect="1"/>
          </p:cNvPicPr>
          <p:nvPr/>
        </p:nvPicPr>
        <p:blipFill>
          <a:blip r:embed="rId2"/>
          <a:stretch>
            <a:fillRect/>
          </a:stretch>
        </p:blipFill>
        <p:spPr>
          <a:xfrm>
            <a:off x="899746" y="1690688"/>
            <a:ext cx="9990992" cy="4879322"/>
          </a:xfrm>
          <a:prstGeom prst="rect">
            <a:avLst/>
          </a:prstGeom>
        </p:spPr>
      </p:pic>
    </p:spTree>
    <p:extLst>
      <p:ext uri="{BB962C8B-B14F-4D97-AF65-F5344CB8AC3E}">
        <p14:creationId xmlns:p14="http://schemas.microsoft.com/office/powerpoint/2010/main" val="4109845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7E89EA-1F60-4D53-B655-DF914097A64A}"/>
              </a:ext>
            </a:extLst>
          </p:cNvPr>
          <p:cNvSpPr>
            <a:spLocks noGrp="1"/>
          </p:cNvSpPr>
          <p:nvPr>
            <p:ph type="title"/>
          </p:nvPr>
        </p:nvSpPr>
        <p:spPr/>
        <p:txBody>
          <a:bodyPr>
            <a:normAutofit/>
          </a:bodyPr>
          <a:lstStyle/>
          <a:p>
            <a:pPr algn="ctr"/>
            <a:r>
              <a:rPr lang="es-ES" sz="3600" dirty="0">
                <a:latin typeface="Arial Black" panose="020B0A04020102020204" pitchFamily="34" charset="0"/>
              </a:rPr>
              <a:t>Preguntas importantes para una exposición compleja</a:t>
            </a:r>
            <a:endParaRPr lang="es-PE" sz="3600" dirty="0">
              <a:latin typeface="Arial Black" panose="020B0A04020102020204" pitchFamily="34" charset="0"/>
            </a:endParaRPr>
          </a:p>
        </p:txBody>
      </p:sp>
      <p:sp>
        <p:nvSpPr>
          <p:cNvPr id="8" name="Rectangle 1">
            <a:extLst>
              <a:ext uri="{FF2B5EF4-FFF2-40B4-BE49-F238E27FC236}">
                <a16:creationId xmlns:a16="http://schemas.microsoft.com/office/drawing/2014/main" id="{703756F3-36AF-4C77-BB4C-2680B0640150}"/>
              </a:ext>
            </a:extLst>
          </p:cNvPr>
          <p:cNvSpPr>
            <a:spLocks noGrp="1" noChangeArrowheads="1"/>
          </p:cNvSpPr>
          <p:nvPr>
            <p:ph idx="1"/>
          </p:nvPr>
        </p:nvSpPr>
        <p:spPr bwMode="auto">
          <a:xfrm>
            <a:off x="970085" y="1781626"/>
            <a:ext cx="1006426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s-PE" altLang="es-PE" sz="3200" b="0" i="0" u="none" strike="noStrike" cap="none" normalizeH="0" baseline="0" dirty="0">
                <a:ln>
                  <a:noFill/>
                </a:ln>
                <a:solidFill>
                  <a:schemeClr val="tx1"/>
                </a:solidFill>
                <a:effectLst/>
                <a:latin typeface="Arial" panose="020B0604020202020204" pitchFamily="34" charset="0"/>
              </a:rPr>
              <a:t>¿Cómo definirías la intervención </a:t>
            </a:r>
            <a:r>
              <a:rPr kumimoji="0" lang="es-PE" altLang="es-PE" sz="3200" b="1" i="0" u="none" strike="noStrike" cap="none" normalizeH="0" baseline="0" dirty="0">
                <a:ln>
                  <a:noFill/>
                </a:ln>
                <a:solidFill>
                  <a:schemeClr val="tx1"/>
                </a:solidFill>
                <a:effectLst/>
                <a:latin typeface="Arial" panose="020B0604020202020204" pitchFamily="34" charset="0"/>
              </a:rPr>
              <a:t>si</a:t>
            </a:r>
            <a:r>
              <a:rPr kumimoji="0" lang="es-PE" altLang="es-PE" sz="3200" b="0" i="0" u="none" strike="noStrike" cap="none" normalizeH="0" baseline="0" dirty="0">
                <a:ln>
                  <a:noFill/>
                </a:ln>
                <a:solidFill>
                  <a:schemeClr val="tx1"/>
                </a:solidFill>
                <a:effectLst/>
                <a:latin typeface="Arial" panose="020B0604020202020204" pitchFamily="34" charset="0"/>
              </a:rPr>
              <a:t> pudieras realizar un experimento?</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PE" altLang="es-PE" sz="3200" b="0" i="0" u="none" strike="noStrike" cap="none" normalizeH="0" baseline="0" dirty="0">
                <a:ln>
                  <a:noFill/>
                </a:ln>
                <a:solidFill>
                  <a:schemeClr val="tx1"/>
                </a:solidFill>
                <a:effectLst/>
                <a:latin typeface="Arial" panose="020B0604020202020204" pitchFamily="34" charset="0"/>
              </a:rPr>
              <a:t>¿En qué momentos temporales realizarías la intervención?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PE" altLang="es-PE" sz="3200" b="0" i="0" u="none" strike="noStrike" cap="none" normalizeH="0" baseline="0" dirty="0">
                <a:ln>
                  <a:noFill/>
                </a:ln>
                <a:solidFill>
                  <a:schemeClr val="tx1"/>
                </a:solidFill>
                <a:effectLst/>
                <a:latin typeface="Arial" panose="020B0604020202020204" pitchFamily="34" charset="0"/>
              </a:rPr>
              <a:t>¿Cómo te ayudaría ese experimento a tomar decisiones sobre el tratamiento, políticas u otras decisiones?</a:t>
            </a:r>
          </a:p>
        </p:txBody>
      </p:sp>
    </p:spTree>
    <p:extLst>
      <p:ext uri="{BB962C8B-B14F-4D97-AF65-F5344CB8AC3E}">
        <p14:creationId xmlns:p14="http://schemas.microsoft.com/office/powerpoint/2010/main" val="142794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80">
                                          <p:stCondLst>
                                            <p:cond delay="0"/>
                                          </p:stCondLst>
                                        </p:cTn>
                                        <p:tgtEl>
                                          <p:spTgt spid="8">
                                            <p:txEl>
                                              <p:pRg st="0" end="0"/>
                                            </p:txEl>
                                          </p:spTgt>
                                        </p:tgtEl>
                                      </p:cBhvr>
                                    </p:animEffect>
                                    <p:anim calcmode="lin" valueType="num">
                                      <p:cBhvr>
                                        <p:cTn id="8" dur="1822" tmFilter="0,0; 0.14,0.36; 0.43,0.73; 0.71,0.91; 1.0,1.0">
                                          <p:stCondLst>
                                            <p:cond delay="0"/>
                                          </p:stCondLst>
                                        </p:cTn>
                                        <p:tgtEl>
                                          <p:spTgt spid="8">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xEl>
                                              <p:pRg st="0" end="0"/>
                                            </p:txEl>
                                          </p:spTgt>
                                        </p:tgtEl>
                                      </p:cBhvr>
                                      <p:to x="100000" y="60000"/>
                                    </p:animScale>
                                    <p:animScale>
                                      <p:cBhvr>
                                        <p:cTn id="14" dur="166" decel="50000">
                                          <p:stCondLst>
                                            <p:cond delay="676"/>
                                          </p:stCondLst>
                                        </p:cTn>
                                        <p:tgtEl>
                                          <p:spTgt spid="8">
                                            <p:txEl>
                                              <p:pRg st="0" end="0"/>
                                            </p:txEl>
                                          </p:spTgt>
                                        </p:tgtEl>
                                      </p:cBhvr>
                                      <p:to x="100000" y="100000"/>
                                    </p:animScale>
                                    <p:animScale>
                                      <p:cBhvr>
                                        <p:cTn id="15" dur="26">
                                          <p:stCondLst>
                                            <p:cond delay="1312"/>
                                          </p:stCondLst>
                                        </p:cTn>
                                        <p:tgtEl>
                                          <p:spTgt spid="8">
                                            <p:txEl>
                                              <p:pRg st="0" end="0"/>
                                            </p:txEl>
                                          </p:spTgt>
                                        </p:tgtEl>
                                      </p:cBhvr>
                                      <p:to x="100000" y="80000"/>
                                    </p:animScale>
                                    <p:animScale>
                                      <p:cBhvr>
                                        <p:cTn id="16" dur="166" decel="50000">
                                          <p:stCondLst>
                                            <p:cond delay="1338"/>
                                          </p:stCondLst>
                                        </p:cTn>
                                        <p:tgtEl>
                                          <p:spTgt spid="8">
                                            <p:txEl>
                                              <p:pRg st="0" end="0"/>
                                            </p:txEl>
                                          </p:spTgt>
                                        </p:tgtEl>
                                      </p:cBhvr>
                                      <p:to x="100000" y="100000"/>
                                    </p:animScale>
                                    <p:animScale>
                                      <p:cBhvr>
                                        <p:cTn id="17" dur="26">
                                          <p:stCondLst>
                                            <p:cond delay="1642"/>
                                          </p:stCondLst>
                                        </p:cTn>
                                        <p:tgtEl>
                                          <p:spTgt spid="8">
                                            <p:txEl>
                                              <p:pRg st="0" end="0"/>
                                            </p:txEl>
                                          </p:spTgt>
                                        </p:tgtEl>
                                      </p:cBhvr>
                                      <p:to x="100000" y="90000"/>
                                    </p:animScale>
                                    <p:animScale>
                                      <p:cBhvr>
                                        <p:cTn id="18" dur="166" decel="50000">
                                          <p:stCondLst>
                                            <p:cond delay="1668"/>
                                          </p:stCondLst>
                                        </p:cTn>
                                        <p:tgtEl>
                                          <p:spTgt spid="8">
                                            <p:txEl>
                                              <p:pRg st="0" end="0"/>
                                            </p:txEl>
                                          </p:spTgt>
                                        </p:tgtEl>
                                      </p:cBhvr>
                                      <p:to x="100000" y="100000"/>
                                    </p:animScale>
                                    <p:animScale>
                                      <p:cBhvr>
                                        <p:cTn id="19" dur="26">
                                          <p:stCondLst>
                                            <p:cond delay="1808"/>
                                          </p:stCondLst>
                                        </p:cTn>
                                        <p:tgtEl>
                                          <p:spTgt spid="8">
                                            <p:txEl>
                                              <p:pRg st="0" end="0"/>
                                            </p:txEl>
                                          </p:spTgt>
                                        </p:tgtEl>
                                      </p:cBhvr>
                                      <p:to x="100000" y="95000"/>
                                    </p:animScale>
                                    <p:animScale>
                                      <p:cBhvr>
                                        <p:cTn id="20" dur="166" decel="50000">
                                          <p:stCondLst>
                                            <p:cond delay="1834"/>
                                          </p:stCondLst>
                                        </p:cTn>
                                        <p:tgtEl>
                                          <p:spTgt spid="8">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animEffect transition="in" filter="wipe(down)">
                                      <p:cBhvr>
                                        <p:cTn id="25" dur="580">
                                          <p:stCondLst>
                                            <p:cond delay="0"/>
                                          </p:stCondLst>
                                        </p:cTn>
                                        <p:tgtEl>
                                          <p:spTgt spid="8">
                                            <p:txEl>
                                              <p:pRg st="1" end="1"/>
                                            </p:txEl>
                                          </p:spTgt>
                                        </p:tgtEl>
                                      </p:cBhvr>
                                    </p:animEffect>
                                    <p:anim calcmode="lin" valueType="num">
                                      <p:cBhvr>
                                        <p:cTn id="26" dur="1822" tmFilter="0,0; 0.14,0.36; 0.43,0.73; 0.71,0.91; 1.0,1.0">
                                          <p:stCondLst>
                                            <p:cond delay="0"/>
                                          </p:stCondLst>
                                        </p:cTn>
                                        <p:tgtEl>
                                          <p:spTgt spid="8">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8">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8">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8">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8">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8">
                                            <p:txEl>
                                              <p:pRg st="1" end="1"/>
                                            </p:txEl>
                                          </p:spTgt>
                                        </p:tgtEl>
                                      </p:cBhvr>
                                      <p:to x="100000" y="60000"/>
                                    </p:animScale>
                                    <p:animScale>
                                      <p:cBhvr>
                                        <p:cTn id="32" dur="166" decel="50000">
                                          <p:stCondLst>
                                            <p:cond delay="676"/>
                                          </p:stCondLst>
                                        </p:cTn>
                                        <p:tgtEl>
                                          <p:spTgt spid="8">
                                            <p:txEl>
                                              <p:pRg st="1" end="1"/>
                                            </p:txEl>
                                          </p:spTgt>
                                        </p:tgtEl>
                                      </p:cBhvr>
                                      <p:to x="100000" y="100000"/>
                                    </p:animScale>
                                    <p:animScale>
                                      <p:cBhvr>
                                        <p:cTn id="33" dur="26">
                                          <p:stCondLst>
                                            <p:cond delay="1312"/>
                                          </p:stCondLst>
                                        </p:cTn>
                                        <p:tgtEl>
                                          <p:spTgt spid="8">
                                            <p:txEl>
                                              <p:pRg st="1" end="1"/>
                                            </p:txEl>
                                          </p:spTgt>
                                        </p:tgtEl>
                                      </p:cBhvr>
                                      <p:to x="100000" y="80000"/>
                                    </p:animScale>
                                    <p:animScale>
                                      <p:cBhvr>
                                        <p:cTn id="34" dur="166" decel="50000">
                                          <p:stCondLst>
                                            <p:cond delay="1338"/>
                                          </p:stCondLst>
                                        </p:cTn>
                                        <p:tgtEl>
                                          <p:spTgt spid="8">
                                            <p:txEl>
                                              <p:pRg st="1" end="1"/>
                                            </p:txEl>
                                          </p:spTgt>
                                        </p:tgtEl>
                                      </p:cBhvr>
                                      <p:to x="100000" y="100000"/>
                                    </p:animScale>
                                    <p:animScale>
                                      <p:cBhvr>
                                        <p:cTn id="35" dur="26">
                                          <p:stCondLst>
                                            <p:cond delay="1642"/>
                                          </p:stCondLst>
                                        </p:cTn>
                                        <p:tgtEl>
                                          <p:spTgt spid="8">
                                            <p:txEl>
                                              <p:pRg st="1" end="1"/>
                                            </p:txEl>
                                          </p:spTgt>
                                        </p:tgtEl>
                                      </p:cBhvr>
                                      <p:to x="100000" y="90000"/>
                                    </p:animScale>
                                    <p:animScale>
                                      <p:cBhvr>
                                        <p:cTn id="36" dur="166" decel="50000">
                                          <p:stCondLst>
                                            <p:cond delay="1668"/>
                                          </p:stCondLst>
                                        </p:cTn>
                                        <p:tgtEl>
                                          <p:spTgt spid="8">
                                            <p:txEl>
                                              <p:pRg st="1" end="1"/>
                                            </p:txEl>
                                          </p:spTgt>
                                        </p:tgtEl>
                                      </p:cBhvr>
                                      <p:to x="100000" y="100000"/>
                                    </p:animScale>
                                    <p:animScale>
                                      <p:cBhvr>
                                        <p:cTn id="37" dur="26">
                                          <p:stCondLst>
                                            <p:cond delay="1808"/>
                                          </p:stCondLst>
                                        </p:cTn>
                                        <p:tgtEl>
                                          <p:spTgt spid="8">
                                            <p:txEl>
                                              <p:pRg st="1" end="1"/>
                                            </p:txEl>
                                          </p:spTgt>
                                        </p:tgtEl>
                                      </p:cBhvr>
                                      <p:to x="100000" y="95000"/>
                                    </p:animScale>
                                    <p:animScale>
                                      <p:cBhvr>
                                        <p:cTn id="38" dur="166" decel="50000">
                                          <p:stCondLst>
                                            <p:cond delay="1834"/>
                                          </p:stCondLst>
                                        </p:cTn>
                                        <p:tgtEl>
                                          <p:spTgt spid="8">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8">
                                            <p:txEl>
                                              <p:pRg st="2" end="2"/>
                                            </p:txEl>
                                          </p:spTgt>
                                        </p:tgtEl>
                                        <p:attrNameLst>
                                          <p:attrName>style.visibility</p:attrName>
                                        </p:attrNameLst>
                                      </p:cBhvr>
                                      <p:to>
                                        <p:strVal val="visible"/>
                                      </p:to>
                                    </p:set>
                                    <p:animEffect transition="in" filter="wipe(down)">
                                      <p:cBhvr>
                                        <p:cTn id="43" dur="580">
                                          <p:stCondLst>
                                            <p:cond delay="0"/>
                                          </p:stCondLst>
                                        </p:cTn>
                                        <p:tgtEl>
                                          <p:spTgt spid="8">
                                            <p:txEl>
                                              <p:pRg st="2" end="2"/>
                                            </p:txEl>
                                          </p:spTgt>
                                        </p:tgtEl>
                                      </p:cBhvr>
                                    </p:animEffect>
                                    <p:anim calcmode="lin" valueType="num">
                                      <p:cBhvr>
                                        <p:cTn id="44" dur="1822" tmFilter="0,0; 0.14,0.36; 0.43,0.73; 0.71,0.91; 1.0,1.0">
                                          <p:stCondLst>
                                            <p:cond delay="0"/>
                                          </p:stCondLst>
                                        </p:cTn>
                                        <p:tgtEl>
                                          <p:spTgt spid="8">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8">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8">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8">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8">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8">
                                            <p:txEl>
                                              <p:pRg st="2" end="2"/>
                                            </p:txEl>
                                          </p:spTgt>
                                        </p:tgtEl>
                                      </p:cBhvr>
                                      <p:to x="100000" y="60000"/>
                                    </p:animScale>
                                    <p:animScale>
                                      <p:cBhvr>
                                        <p:cTn id="50" dur="166" decel="50000">
                                          <p:stCondLst>
                                            <p:cond delay="676"/>
                                          </p:stCondLst>
                                        </p:cTn>
                                        <p:tgtEl>
                                          <p:spTgt spid="8">
                                            <p:txEl>
                                              <p:pRg st="2" end="2"/>
                                            </p:txEl>
                                          </p:spTgt>
                                        </p:tgtEl>
                                      </p:cBhvr>
                                      <p:to x="100000" y="100000"/>
                                    </p:animScale>
                                    <p:animScale>
                                      <p:cBhvr>
                                        <p:cTn id="51" dur="26">
                                          <p:stCondLst>
                                            <p:cond delay="1312"/>
                                          </p:stCondLst>
                                        </p:cTn>
                                        <p:tgtEl>
                                          <p:spTgt spid="8">
                                            <p:txEl>
                                              <p:pRg st="2" end="2"/>
                                            </p:txEl>
                                          </p:spTgt>
                                        </p:tgtEl>
                                      </p:cBhvr>
                                      <p:to x="100000" y="80000"/>
                                    </p:animScale>
                                    <p:animScale>
                                      <p:cBhvr>
                                        <p:cTn id="52" dur="166" decel="50000">
                                          <p:stCondLst>
                                            <p:cond delay="1338"/>
                                          </p:stCondLst>
                                        </p:cTn>
                                        <p:tgtEl>
                                          <p:spTgt spid="8">
                                            <p:txEl>
                                              <p:pRg st="2" end="2"/>
                                            </p:txEl>
                                          </p:spTgt>
                                        </p:tgtEl>
                                      </p:cBhvr>
                                      <p:to x="100000" y="100000"/>
                                    </p:animScale>
                                    <p:animScale>
                                      <p:cBhvr>
                                        <p:cTn id="53" dur="26">
                                          <p:stCondLst>
                                            <p:cond delay="1642"/>
                                          </p:stCondLst>
                                        </p:cTn>
                                        <p:tgtEl>
                                          <p:spTgt spid="8">
                                            <p:txEl>
                                              <p:pRg st="2" end="2"/>
                                            </p:txEl>
                                          </p:spTgt>
                                        </p:tgtEl>
                                      </p:cBhvr>
                                      <p:to x="100000" y="90000"/>
                                    </p:animScale>
                                    <p:animScale>
                                      <p:cBhvr>
                                        <p:cTn id="54" dur="166" decel="50000">
                                          <p:stCondLst>
                                            <p:cond delay="1668"/>
                                          </p:stCondLst>
                                        </p:cTn>
                                        <p:tgtEl>
                                          <p:spTgt spid="8">
                                            <p:txEl>
                                              <p:pRg st="2" end="2"/>
                                            </p:txEl>
                                          </p:spTgt>
                                        </p:tgtEl>
                                      </p:cBhvr>
                                      <p:to x="100000" y="100000"/>
                                    </p:animScale>
                                    <p:animScale>
                                      <p:cBhvr>
                                        <p:cTn id="55" dur="26">
                                          <p:stCondLst>
                                            <p:cond delay="1808"/>
                                          </p:stCondLst>
                                        </p:cTn>
                                        <p:tgtEl>
                                          <p:spTgt spid="8">
                                            <p:txEl>
                                              <p:pRg st="2" end="2"/>
                                            </p:txEl>
                                          </p:spTgt>
                                        </p:tgtEl>
                                      </p:cBhvr>
                                      <p:to x="100000" y="95000"/>
                                    </p:animScale>
                                    <p:animScale>
                                      <p:cBhvr>
                                        <p:cTn id="56" dur="166" decel="50000">
                                          <p:stCondLst>
                                            <p:cond delay="1834"/>
                                          </p:stCondLst>
                                        </p:cTn>
                                        <p:tgtEl>
                                          <p:spTgt spid="8">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descr="No hay ninguna descripción de la foto disponible.">
            <a:extLst>
              <a:ext uri="{FF2B5EF4-FFF2-40B4-BE49-F238E27FC236}">
                <a16:creationId xmlns:a16="http://schemas.microsoft.com/office/drawing/2014/main" id="{8AD92258-4C61-4AC5-A3FF-89225C0F64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4744" y="-527539"/>
            <a:ext cx="3495675" cy="6858000"/>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8600FAF2-9675-43E9-B268-6B1D814E68E5}"/>
              </a:ext>
            </a:extLst>
          </p:cNvPr>
          <p:cNvSpPr txBox="1"/>
          <p:nvPr/>
        </p:nvSpPr>
        <p:spPr>
          <a:xfrm>
            <a:off x="3660530" y="1200423"/>
            <a:ext cx="3050197" cy="461665"/>
          </a:xfrm>
          <a:prstGeom prst="rect">
            <a:avLst/>
          </a:prstGeom>
          <a:noFill/>
        </p:spPr>
        <p:txBody>
          <a:bodyPr wrap="square">
            <a:spAutoFit/>
          </a:bodyPr>
          <a:lstStyle/>
          <a:p>
            <a:pPr algn="ctr"/>
            <a:r>
              <a:rPr lang="es-PE" sz="2400" b="1" dirty="0">
                <a:ln>
                  <a:solidFill>
                    <a:sysClr val="windowText" lastClr="000000"/>
                  </a:solidFill>
                </a:ln>
                <a:solidFill>
                  <a:schemeClr val="bg1"/>
                </a:solidFill>
                <a:latin typeface="Bernard MT Condensed" panose="02050806060905020404" pitchFamily="18" charset="0"/>
              </a:rPr>
              <a:t>Confusión!!!!!</a:t>
            </a:r>
          </a:p>
        </p:txBody>
      </p:sp>
      <p:sp>
        <p:nvSpPr>
          <p:cNvPr id="13" name="Título 1">
            <a:extLst>
              <a:ext uri="{FF2B5EF4-FFF2-40B4-BE49-F238E27FC236}">
                <a16:creationId xmlns:a16="http://schemas.microsoft.com/office/drawing/2014/main" id="{FB3B678D-F437-4762-A2E6-BCAFBFCE638A}"/>
              </a:ext>
            </a:extLst>
          </p:cNvPr>
          <p:cNvSpPr txBox="1">
            <a:spLocks/>
          </p:cNvSpPr>
          <p:nvPr/>
        </p:nvSpPr>
        <p:spPr>
          <a:xfrm>
            <a:off x="6509105" y="3076910"/>
            <a:ext cx="1136112" cy="28135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1200" b="1" dirty="0">
                <a:solidFill>
                  <a:schemeClr val="bg1"/>
                </a:solidFill>
                <a:latin typeface="Bernard MT Condensed" panose="02050806060905020404" pitchFamily="18" charset="0"/>
              </a:rPr>
              <a:t>Confusión</a:t>
            </a:r>
          </a:p>
        </p:txBody>
      </p:sp>
      <p:sp>
        <p:nvSpPr>
          <p:cNvPr id="14" name="Título 1">
            <a:extLst>
              <a:ext uri="{FF2B5EF4-FFF2-40B4-BE49-F238E27FC236}">
                <a16:creationId xmlns:a16="http://schemas.microsoft.com/office/drawing/2014/main" id="{FE3744A7-7EA2-4845-BD23-368523A9D5DC}"/>
              </a:ext>
            </a:extLst>
          </p:cNvPr>
          <p:cNvSpPr txBox="1">
            <a:spLocks/>
          </p:cNvSpPr>
          <p:nvPr/>
        </p:nvSpPr>
        <p:spPr>
          <a:xfrm>
            <a:off x="6509105" y="4971878"/>
            <a:ext cx="1136112" cy="28135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1200" b="1" dirty="0">
                <a:solidFill>
                  <a:schemeClr val="bg1"/>
                </a:solidFill>
                <a:latin typeface="Bernard MT Condensed" panose="02050806060905020404" pitchFamily="18" charset="0"/>
              </a:rPr>
              <a:t>Confusión</a:t>
            </a:r>
          </a:p>
        </p:txBody>
      </p:sp>
    </p:spTree>
    <p:extLst>
      <p:ext uri="{BB962C8B-B14F-4D97-AF65-F5344CB8AC3E}">
        <p14:creationId xmlns:p14="http://schemas.microsoft.com/office/powerpoint/2010/main" val="1819814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3"/>
            <a:ext cx="11031415" cy="423064"/>
          </a:xfrm>
        </p:spPr>
        <p:txBody>
          <a:bodyPr/>
          <a:lstStyle/>
          <a:p>
            <a:r>
              <a:rPr lang="es-PE" dirty="0"/>
              <a:t>Causalidad – enfoque de resultados potenciales</a:t>
            </a:r>
          </a:p>
        </p:txBody>
      </p:sp>
      <p:grpSp>
        <p:nvGrpSpPr>
          <p:cNvPr id="6" name="Grupo 5">
            <a:extLst>
              <a:ext uri="{FF2B5EF4-FFF2-40B4-BE49-F238E27FC236}">
                <a16:creationId xmlns:a16="http://schemas.microsoft.com/office/drawing/2014/main" id="{D9A355B5-483A-436B-A14B-E478EC1C6EAD}"/>
              </a:ext>
            </a:extLst>
          </p:cNvPr>
          <p:cNvGrpSpPr/>
          <p:nvPr/>
        </p:nvGrpSpPr>
        <p:grpSpPr>
          <a:xfrm>
            <a:off x="838200" y="1951891"/>
            <a:ext cx="5351586" cy="3609447"/>
            <a:chOff x="1555763" y="2171699"/>
            <a:chExt cx="5351586" cy="3609447"/>
          </a:xfrm>
        </p:grpSpPr>
        <p:pic>
          <p:nvPicPr>
            <p:cNvPr id="2050" name="Picture 2" descr="Diseño experimental contrafactual | PPT">
              <a:extLst>
                <a:ext uri="{FF2B5EF4-FFF2-40B4-BE49-F238E27FC236}">
                  <a16:creationId xmlns:a16="http://schemas.microsoft.com/office/drawing/2014/main" id="{00FB79E6-89C4-4F9D-9E0F-714D4FFD86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31" t="22693" r="13747"/>
            <a:stretch/>
          </p:blipFill>
          <p:spPr bwMode="auto">
            <a:xfrm>
              <a:off x="1696915" y="2171699"/>
              <a:ext cx="5210434" cy="357427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B245752B-CB82-47D7-A5F8-A081DFCF7A73}"/>
                </a:ext>
              </a:extLst>
            </p:cNvPr>
            <p:cNvPicPr>
              <a:picLocks noChangeAspect="1"/>
            </p:cNvPicPr>
            <p:nvPr/>
          </p:nvPicPr>
          <p:blipFill>
            <a:blip r:embed="rId3"/>
            <a:stretch>
              <a:fillRect/>
            </a:stretch>
          </p:blipFill>
          <p:spPr>
            <a:xfrm>
              <a:off x="1555763" y="5200040"/>
              <a:ext cx="2251306" cy="581106"/>
            </a:xfrm>
            <a:prstGeom prst="rect">
              <a:avLst/>
            </a:prstGeom>
          </p:spPr>
        </p:pic>
      </p:grpSp>
      <p:pic>
        <p:nvPicPr>
          <p:cNvPr id="2052" name="Picture 4">
            <a:extLst>
              <a:ext uri="{FF2B5EF4-FFF2-40B4-BE49-F238E27FC236}">
                <a16:creationId xmlns:a16="http://schemas.microsoft.com/office/drawing/2014/main" id="{5BCAA939-38FA-4D43-8DC9-ED1FE2DABB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6573" y="1951891"/>
            <a:ext cx="4496075" cy="2769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934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B98B78D1-446C-4C3E-80F1-281C505FD06D}"/>
              </a:ext>
            </a:extLst>
          </p:cNvPr>
          <p:cNvSpPr>
            <a:spLocks noGrp="1"/>
          </p:cNvSpPr>
          <p:nvPr>
            <p:ph type="title"/>
          </p:nvPr>
        </p:nvSpPr>
        <p:spPr/>
        <p:txBody>
          <a:bodyPr/>
          <a:lstStyle/>
          <a:p>
            <a:r>
              <a:rPr lang="es-PE" dirty="0" err="1"/>
              <a:t>What</a:t>
            </a:r>
            <a:r>
              <a:rPr lang="es-PE" dirty="0"/>
              <a:t> </a:t>
            </a:r>
            <a:r>
              <a:rPr lang="es-PE" dirty="0" err="1"/>
              <a:t>if</a:t>
            </a:r>
            <a:r>
              <a:rPr lang="es-PE" dirty="0"/>
              <a:t>?</a:t>
            </a:r>
          </a:p>
        </p:txBody>
      </p:sp>
      <p:grpSp>
        <p:nvGrpSpPr>
          <p:cNvPr id="7" name="Grupo 6">
            <a:extLst>
              <a:ext uri="{FF2B5EF4-FFF2-40B4-BE49-F238E27FC236}">
                <a16:creationId xmlns:a16="http://schemas.microsoft.com/office/drawing/2014/main" id="{8A042444-5DB3-4DD3-8B34-1A5F71ED397E}"/>
              </a:ext>
            </a:extLst>
          </p:cNvPr>
          <p:cNvGrpSpPr/>
          <p:nvPr/>
        </p:nvGrpSpPr>
        <p:grpSpPr>
          <a:xfrm>
            <a:off x="90875" y="1112143"/>
            <a:ext cx="10827328" cy="5553993"/>
            <a:chOff x="1555763" y="2171699"/>
            <a:chExt cx="5351586" cy="3609447"/>
          </a:xfrm>
        </p:grpSpPr>
        <p:pic>
          <p:nvPicPr>
            <p:cNvPr id="8" name="Picture 2" descr="Diseño experimental contrafactual | PPT">
              <a:extLst>
                <a:ext uri="{FF2B5EF4-FFF2-40B4-BE49-F238E27FC236}">
                  <a16:creationId xmlns:a16="http://schemas.microsoft.com/office/drawing/2014/main" id="{A9F43C99-8802-4434-BFD1-76D5161A3C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31" t="22693" r="13747"/>
            <a:stretch/>
          </p:blipFill>
          <p:spPr bwMode="auto">
            <a:xfrm>
              <a:off x="1696915" y="2171699"/>
              <a:ext cx="5210434" cy="3574279"/>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651C6C50-3B7F-4C0D-8AB4-331A0606076A}"/>
                </a:ext>
              </a:extLst>
            </p:cNvPr>
            <p:cNvPicPr>
              <a:picLocks noChangeAspect="1"/>
            </p:cNvPicPr>
            <p:nvPr/>
          </p:nvPicPr>
          <p:blipFill>
            <a:blip r:embed="rId3"/>
            <a:stretch>
              <a:fillRect/>
            </a:stretch>
          </p:blipFill>
          <p:spPr>
            <a:xfrm>
              <a:off x="1555763" y="5200040"/>
              <a:ext cx="2251306" cy="581106"/>
            </a:xfrm>
            <a:prstGeom prst="rect">
              <a:avLst/>
            </a:prstGeom>
          </p:spPr>
        </p:pic>
      </p:grpSp>
      <p:pic>
        <p:nvPicPr>
          <p:cNvPr id="10" name="Picture 6" descr="Milhouse van houten bart simpson lisa simpson GIF - Find on GIFER">
            <a:extLst>
              <a:ext uri="{FF2B5EF4-FFF2-40B4-BE49-F238E27FC236}">
                <a16:creationId xmlns:a16="http://schemas.microsoft.com/office/drawing/2014/main" id="{22AC087F-91F6-4AD5-B76A-C734DF7231A7}"/>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4614882"/>
            <a:ext cx="1487388" cy="112173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Los Simpson': sus predicciones más increíbles">
            <a:extLst>
              <a:ext uri="{FF2B5EF4-FFF2-40B4-BE49-F238E27FC236}">
                <a16:creationId xmlns:a16="http://schemas.microsoft.com/office/drawing/2014/main" id="{8346873D-1B80-4C1D-AD00-D4F9A91BE5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47450" y="659248"/>
            <a:ext cx="2076236" cy="103811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Lisa y su FUTURO con Milhouse | Los Simpson Capitulo">
            <a:extLst>
              <a:ext uri="{FF2B5EF4-FFF2-40B4-BE49-F238E27FC236}">
                <a16:creationId xmlns:a16="http://schemas.microsoft.com/office/drawing/2014/main" id="{0F50C43D-56B2-4675-A0D7-374199D018C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2029" b="14839"/>
          <a:stretch/>
        </p:blipFill>
        <p:spPr bwMode="auto">
          <a:xfrm>
            <a:off x="9912720" y="4489266"/>
            <a:ext cx="2010966" cy="1102985"/>
          </a:xfrm>
          <a:prstGeom prst="rect">
            <a:avLst/>
          </a:prstGeom>
          <a:noFill/>
          <a:extLst>
            <a:ext uri="{909E8E84-426E-40DD-AFC4-6F175D3DCCD1}">
              <a14:hiddenFill xmlns:a14="http://schemas.microsoft.com/office/drawing/2010/main">
                <a:solidFill>
                  <a:srgbClr val="FFFFFF"/>
                </a:solidFill>
              </a14:hiddenFill>
            </a:ext>
          </a:extLst>
        </p:spPr>
      </p:pic>
      <p:pic>
        <p:nvPicPr>
          <p:cNvPr id="17418" name="Picture 10" descr="Lisa Simpson | Simpson Wiki en Español | Fandom">
            <a:extLst>
              <a:ext uri="{FF2B5EF4-FFF2-40B4-BE49-F238E27FC236}">
                <a16:creationId xmlns:a16="http://schemas.microsoft.com/office/drawing/2014/main" id="{61229D33-6686-4745-B443-23E27B8A266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5432" y="4489266"/>
            <a:ext cx="703659" cy="70365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29FA851C-365F-40E1-97B2-47A2DC9B4DD6}"/>
              </a:ext>
            </a:extLst>
          </p:cNvPr>
          <p:cNvPicPr>
            <a:picLocks noChangeAspect="1"/>
          </p:cNvPicPr>
          <p:nvPr/>
        </p:nvPicPr>
        <p:blipFill>
          <a:blip r:embed="rId8"/>
          <a:stretch>
            <a:fillRect/>
          </a:stretch>
        </p:blipFill>
        <p:spPr>
          <a:xfrm>
            <a:off x="4088529" y="3509239"/>
            <a:ext cx="717275" cy="1121739"/>
          </a:xfrm>
          <a:prstGeom prst="rect">
            <a:avLst/>
          </a:prstGeom>
        </p:spPr>
      </p:pic>
    </p:spTree>
    <p:extLst>
      <p:ext uri="{BB962C8B-B14F-4D97-AF65-F5344CB8AC3E}">
        <p14:creationId xmlns:p14="http://schemas.microsoft.com/office/powerpoint/2010/main" val="2161522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5E42D70E-FCE7-4476-B60E-07C58F0D952B}"/>
              </a:ext>
            </a:extLst>
          </p:cNvPr>
          <p:cNvSpPr>
            <a:spLocks noGrp="1"/>
          </p:cNvSpPr>
          <p:nvPr>
            <p:ph type="title"/>
          </p:nvPr>
        </p:nvSpPr>
        <p:spPr>
          <a:xfrm>
            <a:off x="1116623" y="409837"/>
            <a:ext cx="9932377" cy="423064"/>
          </a:xfrm>
        </p:spPr>
        <p:txBody>
          <a:bodyPr/>
          <a:lstStyle/>
          <a:p>
            <a:pPr algn="ctr"/>
            <a:r>
              <a:rPr lang="es-PE" dirty="0"/>
              <a:t>¿ITE?</a:t>
            </a:r>
          </a:p>
        </p:txBody>
      </p:sp>
      <p:pic>
        <p:nvPicPr>
          <p:cNvPr id="4100" name="Picture 4" descr="We illustrate the difference between individualized and average... |  Download Scientific Diagram">
            <a:extLst>
              <a:ext uri="{FF2B5EF4-FFF2-40B4-BE49-F238E27FC236}">
                <a16:creationId xmlns:a16="http://schemas.microsoft.com/office/drawing/2014/main" id="{F0BCCF6E-8315-4FF1-96C6-29DFEEE631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358" y="1236313"/>
            <a:ext cx="11199284" cy="5533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818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4B6D491-4146-4087-9598-64FE779062D0}"/>
              </a:ext>
            </a:extLst>
          </p:cNvPr>
          <p:cNvPicPr>
            <a:picLocks noChangeAspect="1"/>
          </p:cNvPicPr>
          <p:nvPr/>
        </p:nvPicPr>
        <p:blipFill>
          <a:blip r:embed="rId2"/>
          <a:stretch>
            <a:fillRect/>
          </a:stretch>
        </p:blipFill>
        <p:spPr>
          <a:xfrm>
            <a:off x="399855" y="87923"/>
            <a:ext cx="7979214" cy="6044207"/>
          </a:xfrm>
          <a:prstGeom prst="rect">
            <a:avLst/>
          </a:prstGeom>
        </p:spPr>
      </p:pic>
      <p:pic>
        <p:nvPicPr>
          <p:cNvPr id="9" name="Imagen 8">
            <a:extLst>
              <a:ext uri="{FF2B5EF4-FFF2-40B4-BE49-F238E27FC236}">
                <a16:creationId xmlns:a16="http://schemas.microsoft.com/office/drawing/2014/main" id="{7677B645-89A7-4489-A717-9C6126E7713F}"/>
              </a:ext>
            </a:extLst>
          </p:cNvPr>
          <p:cNvPicPr>
            <a:picLocks noChangeAspect="1"/>
          </p:cNvPicPr>
          <p:nvPr/>
        </p:nvPicPr>
        <p:blipFill>
          <a:blip r:embed="rId3"/>
          <a:stretch>
            <a:fillRect/>
          </a:stretch>
        </p:blipFill>
        <p:spPr>
          <a:xfrm>
            <a:off x="4796346" y="6132130"/>
            <a:ext cx="3250454" cy="743454"/>
          </a:xfrm>
          <a:prstGeom prst="rect">
            <a:avLst/>
          </a:prstGeom>
        </p:spPr>
      </p:pic>
      <p:pic>
        <p:nvPicPr>
          <p:cNvPr id="11" name="Imagen 10">
            <a:extLst>
              <a:ext uri="{FF2B5EF4-FFF2-40B4-BE49-F238E27FC236}">
                <a16:creationId xmlns:a16="http://schemas.microsoft.com/office/drawing/2014/main" id="{594A0DBE-4AAA-4DFA-86DF-229C5AA3FBB9}"/>
              </a:ext>
            </a:extLst>
          </p:cNvPr>
          <p:cNvPicPr>
            <a:picLocks noChangeAspect="1"/>
          </p:cNvPicPr>
          <p:nvPr/>
        </p:nvPicPr>
        <p:blipFill>
          <a:blip r:embed="rId4"/>
          <a:stretch>
            <a:fillRect/>
          </a:stretch>
        </p:blipFill>
        <p:spPr>
          <a:xfrm>
            <a:off x="8773089" y="2303536"/>
            <a:ext cx="2400635" cy="685896"/>
          </a:xfrm>
          <a:prstGeom prst="rect">
            <a:avLst/>
          </a:prstGeom>
        </p:spPr>
      </p:pic>
      <p:pic>
        <p:nvPicPr>
          <p:cNvPr id="13" name="Imagen 12">
            <a:extLst>
              <a:ext uri="{FF2B5EF4-FFF2-40B4-BE49-F238E27FC236}">
                <a16:creationId xmlns:a16="http://schemas.microsoft.com/office/drawing/2014/main" id="{111A0372-DC11-4971-91DD-F1B754ECE575}"/>
              </a:ext>
            </a:extLst>
          </p:cNvPr>
          <p:cNvPicPr>
            <a:picLocks noChangeAspect="1"/>
          </p:cNvPicPr>
          <p:nvPr/>
        </p:nvPicPr>
        <p:blipFill>
          <a:blip r:embed="rId5"/>
          <a:stretch>
            <a:fillRect/>
          </a:stretch>
        </p:blipFill>
        <p:spPr>
          <a:xfrm>
            <a:off x="8773089" y="4780407"/>
            <a:ext cx="2467319" cy="638264"/>
          </a:xfrm>
          <a:prstGeom prst="rect">
            <a:avLst/>
          </a:prstGeom>
        </p:spPr>
      </p:pic>
      <p:sp>
        <p:nvSpPr>
          <p:cNvPr id="16" name="Título 2">
            <a:extLst>
              <a:ext uri="{FF2B5EF4-FFF2-40B4-BE49-F238E27FC236}">
                <a16:creationId xmlns:a16="http://schemas.microsoft.com/office/drawing/2014/main" id="{5A66994B-6B30-40D7-990D-A6A508247BE0}"/>
              </a:ext>
            </a:extLst>
          </p:cNvPr>
          <p:cNvSpPr>
            <a:spLocks noGrp="1"/>
          </p:cNvSpPr>
          <p:nvPr>
            <p:ph type="title"/>
          </p:nvPr>
        </p:nvSpPr>
        <p:spPr>
          <a:xfrm>
            <a:off x="9161583" y="1654529"/>
            <a:ext cx="1623645" cy="423064"/>
          </a:xfrm>
        </p:spPr>
        <p:txBody>
          <a:bodyPr/>
          <a:lstStyle/>
          <a:p>
            <a:r>
              <a:rPr lang="es-PE" dirty="0"/>
              <a:t>¿ATT?</a:t>
            </a:r>
          </a:p>
        </p:txBody>
      </p:sp>
      <p:sp>
        <p:nvSpPr>
          <p:cNvPr id="17" name="Título 2">
            <a:extLst>
              <a:ext uri="{FF2B5EF4-FFF2-40B4-BE49-F238E27FC236}">
                <a16:creationId xmlns:a16="http://schemas.microsoft.com/office/drawing/2014/main" id="{D735CBCD-E6B3-40C2-AC5B-3FAF75F00E74}"/>
              </a:ext>
            </a:extLst>
          </p:cNvPr>
          <p:cNvSpPr txBox="1">
            <a:spLocks/>
          </p:cNvSpPr>
          <p:nvPr/>
        </p:nvSpPr>
        <p:spPr>
          <a:xfrm>
            <a:off x="3172701" y="6292325"/>
            <a:ext cx="1623645" cy="423064"/>
          </a:xfrm>
          <a:prstGeom prst="rect">
            <a:avLst/>
          </a:prstGeom>
          <a:noFill/>
          <a:ln>
            <a:noFill/>
          </a:ln>
        </p:spPr>
        <p:txBody>
          <a:bodyPr spcFirstLastPara="1" vert="horz" wrap="square" lIns="91425" tIns="45700" rIns="91425" bIns="45700" rtlCol="0" anchor="ctr" anchorCtr="0">
            <a:noAutofit/>
          </a:bodyPr>
          <a:lstStyle>
            <a:lvl1pPr lvl="0" algn="l" defTabSz="914400" rtl="0" eaLnBrk="1" latinLnBrk="0" hangingPunct="1">
              <a:lnSpc>
                <a:spcPct val="90000"/>
              </a:lnSpc>
              <a:spcBef>
                <a:spcPts val="0"/>
              </a:spcBef>
              <a:spcAft>
                <a:spcPts val="0"/>
              </a:spcAft>
              <a:buClr>
                <a:schemeClr val="lt1"/>
              </a:buClr>
              <a:buSzPts val="3200"/>
              <a:buFont typeface="Arial Black"/>
              <a:buNone/>
              <a:defRPr sz="3200" b="0" i="0" kern="1200">
                <a:solidFill>
                  <a:schemeClr val="tx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s-PE"/>
              <a:t>¿ATE?</a:t>
            </a:r>
            <a:endParaRPr lang="es-PE" dirty="0"/>
          </a:p>
        </p:txBody>
      </p:sp>
      <p:sp>
        <p:nvSpPr>
          <p:cNvPr id="18" name="Título 2">
            <a:extLst>
              <a:ext uri="{FF2B5EF4-FFF2-40B4-BE49-F238E27FC236}">
                <a16:creationId xmlns:a16="http://schemas.microsoft.com/office/drawing/2014/main" id="{55EB6163-222E-490D-9D05-E13119DDF20A}"/>
              </a:ext>
            </a:extLst>
          </p:cNvPr>
          <p:cNvSpPr txBox="1">
            <a:spLocks/>
          </p:cNvSpPr>
          <p:nvPr/>
        </p:nvSpPr>
        <p:spPr>
          <a:xfrm>
            <a:off x="9303870" y="4357343"/>
            <a:ext cx="1623645" cy="423064"/>
          </a:xfrm>
          <a:prstGeom prst="rect">
            <a:avLst/>
          </a:prstGeom>
          <a:noFill/>
          <a:ln>
            <a:noFill/>
          </a:ln>
        </p:spPr>
        <p:txBody>
          <a:bodyPr spcFirstLastPara="1" vert="horz" wrap="square" lIns="91425" tIns="45700" rIns="91425" bIns="45700" rtlCol="0" anchor="ctr" anchorCtr="0">
            <a:noAutofit/>
          </a:bodyPr>
          <a:lstStyle>
            <a:lvl1pPr lvl="0" algn="l" defTabSz="914400" rtl="0" eaLnBrk="1" latinLnBrk="0" hangingPunct="1">
              <a:lnSpc>
                <a:spcPct val="90000"/>
              </a:lnSpc>
              <a:spcBef>
                <a:spcPts val="0"/>
              </a:spcBef>
              <a:spcAft>
                <a:spcPts val="0"/>
              </a:spcAft>
              <a:buClr>
                <a:schemeClr val="lt1"/>
              </a:buClr>
              <a:buSzPts val="3200"/>
              <a:buFont typeface="Arial Black"/>
              <a:buNone/>
              <a:defRPr sz="3200" b="0" i="0" kern="1200">
                <a:solidFill>
                  <a:schemeClr val="tx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s-PE" dirty="0"/>
              <a:t>¿ATU?</a:t>
            </a:r>
          </a:p>
        </p:txBody>
      </p:sp>
    </p:spTree>
    <p:extLst>
      <p:ext uri="{BB962C8B-B14F-4D97-AF65-F5344CB8AC3E}">
        <p14:creationId xmlns:p14="http://schemas.microsoft.com/office/powerpoint/2010/main" val="643051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5C7E556A-79C4-4CDD-8055-526F56963A27}"/>
              </a:ext>
            </a:extLst>
          </p:cNvPr>
          <p:cNvGraphicFramePr/>
          <p:nvPr/>
        </p:nvGraphicFramePr>
        <p:xfrm>
          <a:off x="-656490" y="1257300"/>
          <a:ext cx="8182706" cy="5134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ítulo 2">
            <a:extLst>
              <a:ext uri="{FF2B5EF4-FFF2-40B4-BE49-F238E27FC236}">
                <a16:creationId xmlns:a16="http://schemas.microsoft.com/office/drawing/2014/main" id="{8973AD5C-33C5-4005-A735-4021A2B5FF11}"/>
              </a:ext>
            </a:extLst>
          </p:cNvPr>
          <p:cNvSpPr>
            <a:spLocks noGrp="1"/>
          </p:cNvSpPr>
          <p:nvPr>
            <p:ph type="title"/>
          </p:nvPr>
        </p:nvSpPr>
        <p:spPr>
          <a:xfrm>
            <a:off x="527537" y="559306"/>
            <a:ext cx="11136923" cy="423064"/>
          </a:xfrm>
        </p:spPr>
        <p:txBody>
          <a:bodyPr/>
          <a:lstStyle/>
          <a:p>
            <a:r>
              <a:rPr lang="es-PE" dirty="0"/>
              <a:t>Recuerdas que supuestos tiene un efecto causal</a:t>
            </a:r>
          </a:p>
        </p:txBody>
      </p:sp>
      <p:sp>
        <p:nvSpPr>
          <p:cNvPr id="6" name="CuadroTexto 5">
            <a:extLst>
              <a:ext uri="{FF2B5EF4-FFF2-40B4-BE49-F238E27FC236}">
                <a16:creationId xmlns:a16="http://schemas.microsoft.com/office/drawing/2014/main" id="{E129145F-DD4A-4D60-B459-C260B84C4697}"/>
              </a:ext>
            </a:extLst>
          </p:cNvPr>
          <p:cNvSpPr txBox="1"/>
          <p:nvPr/>
        </p:nvSpPr>
        <p:spPr>
          <a:xfrm>
            <a:off x="9064869" y="5297589"/>
            <a:ext cx="2599591" cy="1384995"/>
          </a:xfrm>
          <a:prstGeom prst="rect">
            <a:avLst/>
          </a:prstGeom>
          <a:noFill/>
        </p:spPr>
        <p:txBody>
          <a:bodyPr wrap="square">
            <a:spAutoFit/>
          </a:bodyPr>
          <a:lstStyle/>
          <a:p>
            <a:pPr lvl="0" algn="ctr"/>
            <a:r>
              <a:rPr lang="es-ES" sz="1400" b="1" dirty="0">
                <a:solidFill>
                  <a:srgbClr val="0070C0"/>
                </a:solidFill>
              </a:rPr>
              <a:t>Si no se cumple alguno de estos supuestos, puede romperse potencialmente la relación entre el efecto causal y los datos observados descrita por estas reglas.</a:t>
            </a:r>
            <a:endParaRPr lang="es-PE" sz="1400" b="1" dirty="0">
              <a:solidFill>
                <a:srgbClr val="0070C0"/>
              </a:solidFill>
            </a:endParaRPr>
          </a:p>
        </p:txBody>
      </p:sp>
      <p:pic>
        <p:nvPicPr>
          <p:cNvPr id="5124" name="Picture 4" descr="Deciphering Correlation and Causation - GoPractice">
            <a:extLst>
              <a:ext uri="{FF2B5EF4-FFF2-40B4-BE49-F238E27FC236}">
                <a16:creationId xmlns:a16="http://schemas.microsoft.com/office/drawing/2014/main" id="{29C4B690-ACC7-4D19-B1F2-02BB9BC9FAA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6348" y="1181832"/>
            <a:ext cx="5038097" cy="302089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E1BF6E5C-39C4-4D88-BE60-3211763B2DF1}"/>
              </a:ext>
            </a:extLst>
          </p:cNvPr>
          <p:cNvPicPr>
            <a:picLocks noChangeAspect="1"/>
          </p:cNvPicPr>
          <p:nvPr/>
        </p:nvPicPr>
        <p:blipFill>
          <a:blip r:embed="rId8"/>
          <a:stretch>
            <a:fillRect/>
          </a:stretch>
        </p:blipFill>
        <p:spPr>
          <a:xfrm>
            <a:off x="357556" y="2154378"/>
            <a:ext cx="6109644" cy="4512559"/>
          </a:xfrm>
          <a:prstGeom prst="rect">
            <a:avLst/>
          </a:prstGeom>
        </p:spPr>
      </p:pic>
    </p:spTree>
    <p:extLst>
      <p:ext uri="{BB962C8B-B14F-4D97-AF65-F5344CB8AC3E}">
        <p14:creationId xmlns:p14="http://schemas.microsoft.com/office/powerpoint/2010/main" val="2549360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5C7E556A-79C4-4CDD-8055-526F56963A27}"/>
              </a:ext>
            </a:extLst>
          </p:cNvPr>
          <p:cNvGraphicFramePr/>
          <p:nvPr>
            <p:extLst>
              <p:ext uri="{D42A27DB-BD31-4B8C-83A1-F6EECF244321}">
                <p14:modId xmlns:p14="http://schemas.microsoft.com/office/powerpoint/2010/main" val="2142022878"/>
              </p:ext>
            </p:extLst>
          </p:nvPr>
        </p:nvGraphicFramePr>
        <p:xfrm>
          <a:off x="-656490" y="1257300"/>
          <a:ext cx="8182706" cy="5134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ítulo 2">
            <a:extLst>
              <a:ext uri="{FF2B5EF4-FFF2-40B4-BE49-F238E27FC236}">
                <a16:creationId xmlns:a16="http://schemas.microsoft.com/office/drawing/2014/main" id="{8973AD5C-33C5-4005-A735-4021A2B5FF11}"/>
              </a:ext>
            </a:extLst>
          </p:cNvPr>
          <p:cNvSpPr>
            <a:spLocks noGrp="1"/>
          </p:cNvSpPr>
          <p:nvPr>
            <p:ph type="title"/>
          </p:nvPr>
        </p:nvSpPr>
        <p:spPr>
          <a:xfrm>
            <a:off x="527537" y="559306"/>
            <a:ext cx="11136923" cy="423064"/>
          </a:xfrm>
        </p:spPr>
        <p:txBody>
          <a:bodyPr/>
          <a:lstStyle/>
          <a:p>
            <a:r>
              <a:rPr lang="es-PE" dirty="0"/>
              <a:t>Recuerdas que supuestos tiene un efecto causal</a:t>
            </a:r>
          </a:p>
        </p:txBody>
      </p:sp>
      <p:pic>
        <p:nvPicPr>
          <p:cNvPr id="9" name="Imagen 8">
            <a:extLst>
              <a:ext uri="{FF2B5EF4-FFF2-40B4-BE49-F238E27FC236}">
                <a16:creationId xmlns:a16="http://schemas.microsoft.com/office/drawing/2014/main" id="{87449EDE-1A18-4BEE-A25C-800841CA8891}"/>
              </a:ext>
            </a:extLst>
          </p:cNvPr>
          <p:cNvPicPr>
            <a:picLocks noChangeAspect="1"/>
          </p:cNvPicPr>
          <p:nvPr/>
        </p:nvPicPr>
        <p:blipFill>
          <a:blip r:embed="rId7"/>
          <a:stretch>
            <a:fillRect/>
          </a:stretch>
        </p:blipFill>
        <p:spPr>
          <a:xfrm>
            <a:off x="357556" y="3332285"/>
            <a:ext cx="6109644" cy="3334652"/>
          </a:xfrm>
          <a:prstGeom prst="rect">
            <a:avLst/>
          </a:prstGeom>
        </p:spPr>
      </p:pic>
      <p:pic>
        <p:nvPicPr>
          <p:cNvPr id="5126" name="Picture 6" descr="El agua contaminada mata más que las guerras - Semanario de Junín">
            <a:extLst>
              <a:ext uri="{FF2B5EF4-FFF2-40B4-BE49-F238E27FC236}">
                <a16:creationId xmlns:a16="http://schemas.microsoft.com/office/drawing/2014/main" id="{F911C728-D417-4B9C-B101-D4EF05E9B35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40261" y="1257300"/>
            <a:ext cx="2892669" cy="1683007"/>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La falta de agua potable mata a más niños que la violencia (El Periodico) –  Agua.org.mx">
            <a:extLst>
              <a:ext uri="{FF2B5EF4-FFF2-40B4-BE49-F238E27FC236}">
                <a16:creationId xmlns:a16="http://schemas.microsoft.com/office/drawing/2014/main" id="{07FD0236-4131-4A07-9C40-68A465AFA76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50812" y="2678724"/>
            <a:ext cx="2409825" cy="1905000"/>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El agua caliente mata las bacterias?">
            <a:extLst>
              <a:ext uri="{FF2B5EF4-FFF2-40B4-BE49-F238E27FC236}">
                <a16:creationId xmlns:a16="http://schemas.microsoft.com/office/drawing/2014/main" id="{65AB8DDB-63D8-4AF1-9FC8-B0699810C99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48295" y="4583724"/>
            <a:ext cx="3333750"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166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5C7E556A-79C4-4CDD-8055-526F56963A27}"/>
              </a:ext>
            </a:extLst>
          </p:cNvPr>
          <p:cNvGraphicFramePr/>
          <p:nvPr/>
        </p:nvGraphicFramePr>
        <p:xfrm>
          <a:off x="-656490" y="1257300"/>
          <a:ext cx="8182706" cy="5134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ítulo 2">
            <a:extLst>
              <a:ext uri="{FF2B5EF4-FFF2-40B4-BE49-F238E27FC236}">
                <a16:creationId xmlns:a16="http://schemas.microsoft.com/office/drawing/2014/main" id="{8973AD5C-33C5-4005-A735-4021A2B5FF11}"/>
              </a:ext>
            </a:extLst>
          </p:cNvPr>
          <p:cNvSpPr>
            <a:spLocks noGrp="1"/>
          </p:cNvSpPr>
          <p:nvPr>
            <p:ph type="title"/>
          </p:nvPr>
        </p:nvSpPr>
        <p:spPr>
          <a:xfrm>
            <a:off x="527537" y="559306"/>
            <a:ext cx="11136923" cy="423064"/>
          </a:xfrm>
        </p:spPr>
        <p:txBody>
          <a:bodyPr/>
          <a:lstStyle/>
          <a:p>
            <a:r>
              <a:rPr lang="es-PE" dirty="0"/>
              <a:t>Recuerdas que supuestos tiene un efecto causal</a:t>
            </a:r>
          </a:p>
        </p:txBody>
      </p:sp>
      <p:pic>
        <p:nvPicPr>
          <p:cNvPr id="9" name="Imagen 8">
            <a:extLst>
              <a:ext uri="{FF2B5EF4-FFF2-40B4-BE49-F238E27FC236}">
                <a16:creationId xmlns:a16="http://schemas.microsoft.com/office/drawing/2014/main" id="{87449EDE-1A18-4BEE-A25C-800841CA8891}"/>
              </a:ext>
            </a:extLst>
          </p:cNvPr>
          <p:cNvPicPr>
            <a:picLocks noChangeAspect="1"/>
          </p:cNvPicPr>
          <p:nvPr/>
        </p:nvPicPr>
        <p:blipFill>
          <a:blip r:embed="rId7"/>
          <a:stretch>
            <a:fillRect/>
          </a:stretch>
        </p:blipFill>
        <p:spPr>
          <a:xfrm>
            <a:off x="357556" y="4334607"/>
            <a:ext cx="6109644" cy="2332329"/>
          </a:xfrm>
          <a:prstGeom prst="rect">
            <a:avLst/>
          </a:prstGeom>
        </p:spPr>
      </p:pic>
      <p:pic>
        <p:nvPicPr>
          <p:cNvPr id="7170" name="Picture 2" descr="Introduction to Propensity Score Matching with MatchIt | by UC Berkeley  D-Lab | Medium">
            <a:extLst>
              <a:ext uri="{FF2B5EF4-FFF2-40B4-BE49-F238E27FC236}">
                <a16:creationId xmlns:a16="http://schemas.microsoft.com/office/drawing/2014/main" id="{38DE9FD6-F9F3-4580-8D86-E6C09F38FF1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86132" y="1257300"/>
            <a:ext cx="5302897" cy="3868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702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5C7E556A-79C4-4CDD-8055-526F56963A27}"/>
              </a:ext>
            </a:extLst>
          </p:cNvPr>
          <p:cNvGraphicFramePr/>
          <p:nvPr>
            <p:extLst>
              <p:ext uri="{D42A27DB-BD31-4B8C-83A1-F6EECF244321}">
                <p14:modId xmlns:p14="http://schemas.microsoft.com/office/powerpoint/2010/main" val="2506750631"/>
              </p:ext>
            </p:extLst>
          </p:nvPr>
        </p:nvGraphicFramePr>
        <p:xfrm>
          <a:off x="-656490" y="1257300"/>
          <a:ext cx="8182706" cy="5134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ítulo 2">
            <a:extLst>
              <a:ext uri="{FF2B5EF4-FFF2-40B4-BE49-F238E27FC236}">
                <a16:creationId xmlns:a16="http://schemas.microsoft.com/office/drawing/2014/main" id="{8973AD5C-33C5-4005-A735-4021A2B5FF11}"/>
              </a:ext>
            </a:extLst>
          </p:cNvPr>
          <p:cNvSpPr>
            <a:spLocks noGrp="1"/>
          </p:cNvSpPr>
          <p:nvPr>
            <p:ph type="title"/>
          </p:nvPr>
        </p:nvSpPr>
        <p:spPr>
          <a:xfrm>
            <a:off x="527537" y="559306"/>
            <a:ext cx="11136923" cy="423064"/>
          </a:xfrm>
        </p:spPr>
        <p:txBody>
          <a:bodyPr/>
          <a:lstStyle/>
          <a:p>
            <a:r>
              <a:rPr lang="es-PE" dirty="0"/>
              <a:t>Recuerdas que supuestos tiene un efecto causal</a:t>
            </a:r>
          </a:p>
        </p:txBody>
      </p:sp>
      <p:pic>
        <p:nvPicPr>
          <p:cNvPr id="9" name="Imagen 8">
            <a:extLst>
              <a:ext uri="{FF2B5EF4-FFF2-40B4-BE49-F238E27FC236}">
                <a16:creationId xmlns:a16="http://schemas.microsoft.com/office/drawing/2014/main" id="{87449EDE-1A18-4BEE-A25C-800841CA8891}"/>
              </a:ext>
            </a:extLst>
          </p:cNvPr>
          <p:cNvPicPr>
            <a:picLocks noChangeAspect="1"/>
          </p:cNvPicPr>
          <p:nvPr/>
        </p:nvPicPr>
        <p:blipFill>
          <a:blip r:embed="rId7"/>
          <a:stretch>
            <a:fillRect/>
          </a:stretch>
        </p:blipFill>
        <p:spPr>
          <a:xfrm>
            <a:off x="357556" y="5416062"/>
            <a:ext cx="6109644" cy="1250874"/>
          </a:xfrm>
          <a:prstGeom prst="rect">
            <a:avLst/>
          </a:prstGeom>
        </p:spPr>
      </p:pic>
      <p:pic>
        <p:nvPicPr>
          <p:cNvPr id="8194" name="Picture 2" descr="What is the Selection Bias? | Data Basecamp">
            <a:extLst>
              <a:ext uri="{FF2B5EF4-FFF2-40B4-BE49-F238E27FC236}">
                <a16:creationId xmlns:a16="http://schemas.microsoft.com/office/drawing/2014/main" id="{0BBA879C-88BB-43BF-91BD-6FA6BCC676C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7860" y="1171201"/>
            <a:ext cx="1731265" cy="119869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Double Selection Bias | Download Scientific Diagram">
            <a:extLst>
              <a:ext uri="{FF2B5EF4-FFF2-40B4-BE49-F238E27FC236}">
                <a16:creationId xmlns:a16="http://schemas.microsoft.com/office/drawing/2014/main" id="{E20CDC79-9E96-4C86-9DB2-CD49FEE07AB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63915" y="2558730"/>
            <a:ext cx="5565957" cy="4108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431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5C7E556A-79C4-4CDD-8055-526F56963A27}"/>
              </a:ext>
            </a:extLst>
          </p:cNvPr>
          <p:cNvGraphicFramePr/>
          <p:nvPr>
            <p:extLst>
              <p:ext uri="{D42A27DB-BD31-4B8C-83A1-F6EECF244321}">
                <p14:modId xmlns:p14="http://schemas.microsoft.com/office/powerpoint/2010/main" val="1181640086"/>
              </p:ext>
            </p:extLst>
          </p:nvPr>
        </p:nvGraphicFramePr>
        <p:xfrm>
          <a:off x="-656490" y="1257300"/>
          <a:ext cx="8182706" cy="5134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ítulo 2">
            <a:extLst>
              <a:ext uri="{FF2B5EF4-FFF2-40B4-BE49-F238E27FC236}">
                <a16:creationId xmlns:a16="http://schemas.microsoft.com/office/drawing/2014/main" id="{8973AD5C-33C5-4005-A735-4021A2B5FF11}"/>
              </a:ext>
            </a:extLst>
          </p:cNvPr>
          <p:cNvSpPr>
            <a:spLocks noGrp="1"/>
          </p:cNvSpPr>
          <p:nvPr>
            <p:ph type="title"/>
          </p:nvPr>
        </p:nvSpPr>
        <p:spPr>
          <a:xfrm>
            <a:off x="527537" y="559306"/>
            <a:ext cx="11136923" cy="423064"/>
          </a:xfrm>
        </p:spPr>
        <p:txBody>
          <a:bodyPr/>
          <a:lstStyle/>
          <a:p>
            <a:r>
              <a:rPr lang="es-PE" dirty="0"/>
              <a:t>Recuerdas que supuestos tiene un efecto causal</a:t>
            </a:r>
          </a:p>
        </p:txBody>
      </p:sp>
      <p:pic>
        <p:nvPicPr>
          <p:cNvPr id="10" name="Picture 2">
            <a:extLst>
              <a:ext uri="{FF2B5EF4-FFF2-40B4-BE49-F238E27FC236}">
                <a16:creationId xmlns:a16="http://schemas.microsoft.com/office/drawing/2014/main" id="{9C87E6FD-D5B6-4A76-BF1E-1D74BBC8E8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81192" y="1531226"/>
            <a:ext cx="2567353" cy="1103511"/>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Estos son los lugares de La Tierra en los que no se podría vivir en 50  años, según la Nasa">
            <a:extLst>
              <a:ext uri="{FF2B5EF4-FFF2-40B4-BE49-F238E27FC236}">
                <a16:creationId xmlns:a16="http://schemas.microsoft.com/office/drawing/2014/main" id="{998E7D90-40A3-4D21-8A7A-1D45230F23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66439" y="3323492"/>
            <a:ext cx="4554416" cy="2277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644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005300F-0973-476F-BEAC-988DB130B1FD}"/>
              </a:ext>
            </a:extLst>
          </p:cNvPr>
          <p:cNvSpPr>
            <a:spLocks noGrp="1"/>
          </p:cNvSpPr>
          <p:nvPr>
            <p:ph type="body" idx="1"/>
          </p:nvPr>
        </p:nvSpPr>
        <p:spPr>
          <a:xfrm>
            <a:off x="838200" y="1310054"/>
            <a:ext cx="10515599" cy="4866909"/>
          </a:xfrm>
        </p:spPr>
        <p:txBody>
          <a:bodyPr/>
          <a:lstStyle/>
          <a:p>
            <a:r>
              <a:rPr lang="es-PE" b="1" dirty="0"/>
              <a:t>Paso 1. Aleatorización</a:t>
            </a:r>
          </a:p>
        </p:txBody>
      </p:sp>
      <p:sp>
        <p:nvSpPr>
          <p:cNvPr id="3" name="Título 2">
            <a:extLst>
              <a:ext uri="{FF2B5EF4-FFF2-40B4-BE49-F238E27FC236}">
                <a16:creationId xmlns:a16="http://schemas.microsoft.com/office/drawing/2014/main" id="{103FBE35-491F-41A2-8FDB-17FC3CDE78E0}"/>
              </a:ext>
            </a:extLst>
          </p:cNvPr>
          <p:cNvSpPr>
            <a:spLocks noGrp="1"/>
          </p:cNvSpPr>
          <p:nvPr>
            <p:ph type="title"/>
          </p:nvPr>
        </p:nvSpPr>
        <p:spPr/>
        <p:txBody>
          <a:bodyPr/>
          <a:lstStyle/>
          <a:p>
            <a:r>
              <a:rPr lang="es-PE" dirty="0"/>
              <a:t>Control de confusión en ECA</a:t>
            </a:r>
          </a:p>
        </p:txBody>
      </p:sp>
      <p:pic>
        <p:nvPicPr>
          <p:cNvPr id="10244" name="Picture 4" descr="Introduction to Propensity Score Matching with MatchIt | by UC Berkeley  D-Lab | Medium">
            <a:extLst>
              <a:ext uri="{FF2B5EF4-FFF2-40B4-BE49-F238E27FC236}">
                <a16:creationId xmlns:a16="http://schemas.microsoft.com/office/drawing/2014/main" id="{5A4538EB-5327-4B1A-A1F1-08630AF6CA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7407"/>
          <a:stretch/>
        </p:blipFill>
        <p:spPr bwMode="auto">
          <a:xfrm>
            <a:off x="6310708" y="1799518"/>
            <a:ext cx="3993877" cy="4013688"/>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F7C2BD51-C2A2-4002-B6BF-B6067B81DD5D}"/>
              </a:ext>
            </a:extLst>
          </p:cNvPr>
          <p:cNvPicPr>
            <a:picLocks noChangeAspect="1"/>
          </p:cNvPicPr>
          <p:nvPr/>
        </p:nvPicPr>
        <p:blipFill rotWithShape="1">
          <a:blip r:embed="rId3"/>
          <a:srcRect t="9121" r="38392"/>
          <a:stretch/>
        </p:blipFill>
        <p:spPr>
          <a:xfrm>
            <a:off x="1077638" y="2066192"/>
            <a:ext cx="4303254" cy="3696275"/>
          </a:xfrm>
          <a:prstGeom prst="rect">
            <a:avLst/>
          </a:prstGeom>
        </p:spPr>
      </p:pic>
    </p:spTree>
    <p:extLst>
      <p:ext uri="{BB962C8B-B14F-4D97-AF65-F5344CB8AC3E}">
        <p14:creationId xmlns:p14="http://schemas.microsoft.com/office/powerpoint/2010/main" val="4279484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005300F-0973-476F-BEAC-988DB130B1FD}"/>
              </a:ext>
            </a:extLst>
          </p:cNvPr>
          <p:cNvSpPr>
            <a:spLocks noGrp="1"/>
          </p:cNvSpPr>
          <p:nvPr>
            <p:ph type="body" idx="1"/>
          </p:nvPr>
        </p:nvSpPr>
        <p:spPr>
          <a:xfrm>
            <a:off x="838200" y="1310054"/>
            <a:ext cx="10515599" cy="4866909"/>
          </a:xfrm>
        </p:spPr>
        <p:txBody>
          <a:bodyPr/>
          <a:lstStyle/>
          <a:p>
            <a:r>
              <a:rPr lang="es-PE" b="1" dirty="0"/>
              <a:t>Paso 2. Preservar la aleatorización</a:t>
            </a:r>
          </a:p>
        </p:txBody>
      </p:sp>
      <p:sp>
        <p:nvSpPr>
          <p:cNvPr id="3" name="Título 2">
            <a:extLst>
              <a:ext uri="{FF2B5EF4-FFF2-40B4-BE49-F238E27FC236}">
                <a16:creationId xmlns:a16="http://schemas.microsoft.com/office/drawing/2014/main" id="{103FBE35-491F-41A2-8FDB-17FC3CDE78E0}"/>
              </a:ext>
            </a:extLst>
          </p:cNvPr>
          <p:cNvSpPr>
            <a:spLocks noGrp="1"/>
          </p:cNvSpPr>
          <p:nvPr>
            <p:ph type="title"/>
          </p:nvPr>
        </p:nvSpPr>
        <p:spPr/>
        <p:txBody>
          <a:bodyPr/>
          <a:lstStyle/>
          <a:p>
            <a:r>
              <a:rPr lang="es-PE" dirty="0"/>
              <a:t>Control de confusión en ECA</a:t>
            </a:r>
          </a:p>
        </p:txBody>
      </p:sp>
      <p:pic>
        <p:nvPicPr>
          <p:cNvPr id="10242" name="Picture 2" descr="Efecto placebo, ¿qué es?">
            <a:extLst>
              <a:ext uri="{FF2B5EF4-FFF2-40B4-BE49-F238E27FC236}">
                <a16:creationId xmlns:a16="http://schemas.microsoft.com/office/drawing/2014/main" id="{8745A984-A2A7-4156-A180-5CAFE84A4F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0176" y="1441618"/>
            <a:ext cx="2924147" cy="1438680"/>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F7C2BD51-C2A2-4002-B6BF-B6067B81DD5D}"/>
              </a:ext>
            </a:extLst>
          </p:cNvPr>
          <p:cNvPicPr>
            <a:picLocks noChangeAspect="1"/>
          </p:cNvPicPr>
          <p:nvPr/>
        </p:nvPicPr>
        <p:blipFill rotWithShape="1">
          <a:blip r:embed="rId3"/>
          <a:srcRect t="9121" r="21234"/>
          <a:stretch/>
        </p:blipFill>
        <p:spPr>
          <a:xfrm>
            <a:off x="888084" y="2582989"/>
            <a:ext cx="5501755" cy="3696275"/>
          </a:xfrm>
          <a:prstGeom prst="rect">
            <a:avLst/>
          </a:prstGeom>
        </p:spPr>
      </p:pic>
      <p:pic>
        <p:nvPicPr>
          <p:cNvPr id="15362" name="Picture 2" descr="Módulo 3: Elementos de la Investigación - Sección 6 | ORI - The Office of  Research Integrity">
            <a:extLst>
              <a:ext uri="{FF2B5EF4-FFF2-40B4-BE49-F238E27FC236}">
                <a16:creationId xmlns:a16="http://schemas.microsoft.com/office/drawing/2014/main" id="{47F598D8-D1E0-4C18-B592-EF297A10E8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3974" y="3011862"/>
            <a:ext cx="2876550"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8955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a16="http://schemas.microsoft.com/office/drawing/2014/main" id="{F73E56FF-7A56-4EAD-99FF-769AC461BA00}"/>
              </a:ext>
            </a:extLst>
          </p:cNvPr>
          <p:cNvSpPr/>
          <p:nvPr/>
        </p:nvSpPr>
        <p:spPr>
          <a:xfrm>
            <a:off x="666803" y="1425840"/>
            <a:ext cx="1912620" cy="657059"/>
          </a:xfrm>
          <a:custGeom>
            <a:avLst/>
            <a:gdLst/>
            <a:ahLst/>
            <a:cxnLst/>
            <a:rect l="l" t="t" r="r" b="b"/>
            <a:pathLst>
              <a:path w="1912620" h="1206500">
                <a:moveTo>
                  <a:pt x="956310" y="0"/>
                </a:moveTo>
                <a:lnTo>
                  <a:pt x="898050" y="1101"/>
                </a:lnTo>
                <a:lnTo>
                  <a:pt x="840714" y="4362"/>
                </a:lnTo>
                <a:lnTo>
                  <a:pt x="784402" y="9720"/>
                </a:lnTo>
                <a:lnTo>
                  <a:pt x="729213" y="17112"/>
                </a:lnTo>
                <a:lnTo>
                  <a:pt x="675248" y="26475"/>
                </a:lnTo>
                <a:lnTo>
                  <a:pt x="622607" y="37746"/>
                </a:lnTo>
                <a:lnTo>
                  <a:pt x="571389" y="50860"/>
                </a:lnTo>
                <a:lnTo>
                  <a:pt x="521695" y="65756"/>
                </a:lnTo>
                <a:lnTo>
                  <a:pt x="473625" y="82371"/>
                </a:lnTo>
                <a:lnTo>
                  <a:pt x="427278" y="100640"/>
                </a:lnTo>
                <a:lnTo>
                  <a:pt x="382755" y="120501"/>
                </a:lnTo>
                <a:lnTo>
                  <a:pt x="340156" y="141891"/>
                </a:lnTo>
                <a:lnTo>
                  <a:pt x="299580" y="164747"/>
                </a:lnTo>
                <a:lnTo>
                  <a:pt x="261128" y="189004"/>
                </a:lnTo>
                <a:lnTo>
                  <a:pt x="224899" y="214602"/>
                </a:lnTo>
                <a:lnTo>
                  <a:pt x="190994" y="241475"/>
                </a:lnTo>
                <a:lnTo>
                  <a:pt x="159513" y="269561"/>
                </a:lnTo>
                <a:lnTo>
                  <a:pt x="130556" y="298798"/>
                </a:lnTo>
                <a:lnTo>
                  <a:pt x="104221" y="329121"/>
                </a:lnTo>
                <a:lnTo>
                  <a:pt x="80611" y="360467"/>
                </a:lnTo>
                <a:lnTo>
                  <a:pt x="59824" y="392774"/>
                </a:lnTo>
                <a:lnTo>
                  <a:pt x="27122" y="460017"/>
                </a:lnTo>
                <a:lnTo>
                  <a:pt x="6913" y="530344"/>
                </a:lnTo>
                <a:lnTo>
                  <a:pt x="0" y="603250"/>
                </a:lnTo>
                <a:lnTo>
                  <a:pt x="1745" y="639993"/>
                </a:lnTo>
                <a:lnTo>
                  <a:pt x="15406" y="711673"/>
                </a:lnTo>
                <a:lnTo>
                  <a:pt x="41961" y="780521"/>
                </a:lnTo>
                <a:lnTo>
                  <a:pt x="80611" y="846032"/>
                </a:lnTo>
                <a:lnTo>
                  <a:pt x="104221" y="877378"/>
                </a:lnTo>
                <a:lnTo>
                  <a:pt x="130555" y="907701"/>
                </a:lnTo>
                <a:lnTo>
                  <a:pt x="159513" y="936938"/>
                </a:lnTo>
                <a:lnTo>
                  <a:pt x="190994" y="965024"/>
                </a:lnTo>
                <a:lnTo>
                  <a:pt x="224899" y="991897"/>
                </a:lnTo>
                <a:lnTo>
                  <a:pt x="261128" y="1017495"/>
                </a:lnTo>
                <a:lnTo>
                  <a:pt x="299580" y="1041752"/>
                </a:lnTo>
                <a:lnTo>
                  <a:pt x="340156" y="1064608"/>
                </a:lnTo>
                <a:lnTo>
                  <a:pt x="382755" y="1085998"/>
                </a:lnTo>
                <a:lnTo>
                  <a:pt x="427278" y="1105859"/>
                </a:lnTo>
                <a:lnTo>
                  <a:pt x="473625" y="1124128"/>
                </a:lnTo>
                <a:lnTo>
                  <a:pt x="521695" y="1140743"/>
                </a:lnTo>
                <a:lnTo>
                  <a:pt x="571389" y="1155639"/>
                </a:lnTo>
                <a:lnTo>
                  <a:pt x="622607" y="1168753"/>
                </a:lnTo>
                <a:lnTo>
                  <a:pt x="675248" y="1180024"/>
                </a:lnTo>
                <a:lnTo>
                  <a:pt x="729213" y="1189387"/>
                </a:lnTo>
                <a:lnTo>
                  <a:pt x="784402" y="1196779"/>
                </a:lnTo>
                <a:lnTo>
                  <a:pt x="840714" y="1202137"/>
                </a:lnTo>
                <a:lnTo>
                  <a:pt x="898050" y="1205398"/>
                </a:lnTo>
                <a:lnTo>
                  <a:pt x="956310" y="1206500"/>
                </a:lnTo>
                <a:lnTo>
                  <a:pt x="1014569" y="1205398"/>
                </a:lnTo>
                <a:lnTo>
                  <a:pt x="1071905" y="1202137"/>
                </a:lnTo>
                <a:lnTo>
                  <a:pt x="1128217" y="1196779"/>
                </a:lnTo>
                <a:lnTo>
                  <a:pt x="1183406" y="1189387"/>
                </a:lnTo>
                <a:lnTo>
                  <a:pt x="1237371" y="1180024"/>
                </a:lnTo>
                <a:lnTo>
                  <a:pt x="1290012" y="1168753"/>
                </a:lnTo>
                <a:lnTo>
                  <a:pt x="1341230" y="1155639"/>
                </a:lnTo>
                <a:lnTo>
                  <a:pt x="1390924" y="1140743"/>
                </a:lnTo>
                <a:lnTo>
                  <a:pt x="1438994" y="1124128"/>
                </a:lnTo>
                <a:lnTo>
                  <a:pt x="1485341" y="1105859"/>
                </a:lnTo>
                <a:lnTo>
                  <a:pt x="1529864" y="1085998"/>
                </a:lnTo>
                <a:lnTo>
                  <a:pt x="1572463" y="1064608"/>
                </a:lnTo>
                <a:lnTo>
                  <a:pt x="1613039" y="1041752"/>
                </a:lnTo>
                <a:lnTo>
                  <a:pt x="1651491" y="1017495"/>
                </a:lnTo>
                <a:lnTo>
                  <a:pt x="1687720" y="991897"/>
                </a:lnTo>
                <a:lnTo>
                  <a:pt x="1721625" y="965024"/>
                </a:lnTo>
                <a:lnTo>
                  <a:pt x="1753106" y="936938"/>
                </a:lnTo>
                <a:lnTo>
                  <a:pt x="1782064" y="907701"/>
                </a:lnTo>
                <a:lnTo>
                  <a:pt x="1808398" y="877378"/>
                </a:lnTo>
                <a:lnTo>
                  <a:pt x="1832008" y="846032"/>
                </a:lnTo>
                <a:lnTo>
                  <a:pt x="1852795" y="813725"/>
                </a:lnTo>
                <a:lnTo>
                  <a:pt x="1885497" y="746482"/>
                </a:lnTo>
                <a:lnTo>
                  <a:pt x="1905706" y="676155"/>
                </a:lnTo>
                <a:lnTo>
                  <a:pt x="1912620" y="603250"/>
                </a:lnTo>
                <a:lnTo>
                  <a:pt x="1910874" y="566506"/>
                </a:lnTo>
                <a:lnTo>
                  <a:pt x="1897213" y="494826"/>
                </a:lnTo>
                <a:lnTo>
                  <a:pt x="1870658" y="425978"/>
                </a:lnTo>
                <a:lnTo>
                  <a:pt x="1832008" y="360467"/>
                </a:lnTo>
                <a:lnTo>
                  <a:pt x="1808398" y="329121"/>
                </a:lnTo>
                <a:lnTo>
                  <a:pt x="1782064" y="298798"/>
                </a:lnTo>
                <a:lnTo>
                  <a:pt x="1753106" y="269561"/>
                </a:lnTo>
                <a:lnTo>
                  <a:pt x="1721625" y="241475"/>
                </a:lnTo>
                <a:lnTo>
                  <a:pt x="1687720" y="214602"/>
                </a:lnTo>
                <a:lnTo>
                  <a:pt x="1651491" y="189004"/>
                </a:lnTo>
                <a:lnTo>
                  <a:pt x="1613039" y="164747"/>
                </a:lnTo>
                <a:lnTo>
                  <a:pt x="1572463" y="141891"/>
                </a:lnTo>
                <a:lnTo>
                  <a:pt x="1529864" y="120501"/>
                </a:lnTo>
                <a:lnTo>
                  <a:pt x="1485341" y="100640"/>
                </a:lnTo>
                <a:lnTo>
                  <a:pt x="1438994" y="82371"/>
                </a:lnTo>
                <a:lnTo>
                  <a:pt x="1390924" y="65756"/>
                </a:lnTo>
                <a:lnTo>
                  <a:pt x="1341230" y="50860"/>
                </a:lnTo>
                <a:lnTo>
                  <a:pt x="1290012" y="37746"/>
                </a:lnTo>
                <a:lnTo>
                  <a:pt x="1237371" y="26475"/>
                </a:lnTo>
                <a:lnTo>
                  <a:pt x="1183406" y="17112"/>
                </a:lnTo>
                <a:lnTo>
                  <a:pt x="1128217" y="9720"/>
                </a:lnTo>
                <a:lnTo>
                  <a:pt x="1071905" y="4362"/>
                </a:lnTo>
                <a:lnTo>
                  <a:pt x="1014569" y="1101"/>
                </a:lnTo>
                <a:lnTo>
                  <a:pt x="956310" y="0"/>
                </a:lnTo>
                <a:close/>
              </a:path>
            </a:pathLst>
          </a:custGeom>
          <a:solidFill>
            <a:srgbClr val="C0504D"/>
          </a:solidFill>
        </p:spPr>
        <p:txBody>
          <a:bodyPr wrap="square" lIns="0" tIns="0" rIns="0" bIns="0" rtlCol="0"/>
          <a:lstStyle/>
          <a:p>
            <a:endParaRPr sz="1050"/>
          </a:p>
        </p:txBody>
      </p:sp>
      <p:sp>
        <p:nvSpPr>
          <p:cNvPr id="5" name="object 6">
            <a:extLst>
              <a:ext uri="{FF2B5EF4-FFF2-40B4-BE49-F238E27FC236}">
                <a16:creationId xmlns:a16="http://schemas.microsoft.com/office/drawing/2014/main" id="{1A5F8E34-75DE-4B60-A751-04E8F8A7FA53}"/>
              </a:ext>
            </a:extLst>
          </p:cNvPr>
          <p:cNvSpPr txBox="1"/>
          <p:nvPr/>
        </p:nvSpPr>
        <p:spPr>
          <a:xfrm>
            <a:off x="704158" y="1492524"/>
            <a:ext cx="1795365" cy="443711"/>
          </a:xfrm>
          <a:prstGeom prst="rect">
            <a:avLst/>
          </a:prstGeom>
        </p:spPr>
        <p:txBody>
          <a:bodyPr vert="horz" wrap="square" lIns="0" tIns="12700" rIns="0" bIns="0" rtlCol="0">
            <a:spAutoFit/>
          </a:bodyPr>
          <a:lstStyle/>
          <a:p>
            <a:pPr marL="12700" algn="ctr">
              <a:lnSpc>
                <a:spcPct val="100000"/>
              </a:lnSpc>
              <a:spcBef>
                <a:spcPts val="100"/>
              </a:spcBef>
            </a:pPr>
            <a:r>
              <a:rPr lang="es-PE" sz="1400" spc="-10" dirty="0">
                <a:solidFill>
                  <a:srgbClr val="FFFFFF"/>
                </a:solidFill>
                <a:latin typeface="Cambria"/>
                <a:cs typeface="Cambria"/>
              </a:rPr>
              <a:t>1. Proceso de aleatorización</a:t>
            </a:r>
            <a:endParaRPr sz="1400" dirty="0">
              <a:latin typeface="Cambria"/>
              <a:cs typeface="Cambria"/>
            </a:endParaRPr>
          </a:p>
        </p:txBody>
      </p:sp>
      <p:sp>
        <p:nvSpPr>
          <p:cNvPr id="13" name="Cerrar llave 12">
            <a:extLst>
              <a:ext uri="{FF2B5EF4-FFF2-40B4-BE49-F238E27FC236}">
                <a16:creationId xmlns:a16="http://schemas.microsoft.com/office/drawing/2014/main" id="{56D57AB5-3AC9-4FB9-B481-D41BF1EB3C50}"/>
              </a:ext>
            </a:extLst>
          </p:cNvPr>
          <p:cNvSpPr/>
          <p:nvPr/>
        </p:nvSpPr>
        <p:spPr>
          <a:xfrm flipH="1">
            <a:off x="3014709" y="1855177"/>
            <a:ext cx="593510" cy="2841968"/>
          </a:xfrm>
          <a:prstGeom prst="rightBrace">
            <a:avLst/>
          </a:prstGeom>
          <a:ln w="38100">
            <a:solidFill>
              <a:srgbClr val="C0504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7BBC361F-1866-4CCC-BEE7-669513976959}"/>
              </a:ext>
            </a:extLst>
          </p:cNvPr>
          <p:cNvSpPr/>
          <p:nvPr/>
        </p:nvSpPr>
        <p:spPr>
          <a:xfrm>
            <a:off x="556139" y="3245320"/>
            <a:ext cx="2023284" cy="764799"/>
          </a:xfrm>
          <a:prstGeom prst="rect">
            <a:avLst/>
          </a:prstGeom>
          <a:solidFill>
            <a:srgbClr val="C050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t>2. desviaciones de las intervenciones previstas</a:t>
            </a:r>
            <a:endParaRPr lang="es-PE" sz="1400" dirty="0"/>
          </a:p>
        </p:txBody>
      </p:sp>
      <p:grpSp>
        <p:nvGrpSpPr>
          <p:cNvPr id="17" name="Grupo 16">
            <a:extLst>
              <a:ext uri="{FF2B5EF4-FFF2-40B4-BE49-F238E27FC236}">
                <a16:creationId xmlns:a16="http://schemas.microsoft.com/office/drawing/2014/main" id="{9CD7AC22-FB22-4F7E-92EF-9AE124AB6E05}"/>
              </a:ext>
            </a:extLst>
          </p:cNvPr>
          <p:cNvGrpSpPr/>
          <p:nvPr/>
        </p:nvGrpSpPr>
        <p:grpSpPr>
          <a:xfrm>
            <a:off x="3832219" y="638029"/>
            <a:ext cx="7018954" cy="4149359"/>
            <a:chOff x="2829896" y="1145636"/>
            <a:chExt cx="7018954" cy="4149359"/>
          </a:xfrm>
        </p:grpSpPr>
        <p:pic>
          <p:nvPicPr>
            <p:cNvPr id="19" name="Imagen 18">
              <a:extLst>
                <a:ext uri="{FF2B5EF4-FFF2-40B4-BE49-F238E27FC236}">
                  <a16:creationId xmlns:a16="http://schemas.microsoft.com/office/drawing/2014/main" id="{2C84BADC-D8E9-40B9-9C38-5A20D75C9575}"/>
                </a:ext>
              </a:extLst>
            </p:cNvPr>
            <p:cNvPicPr>
              <a:picLocks noChangeAspect="1"/>
            </p:cNvPicPr>
            <p:nvPr/>
          </p:nvPicPr>
          <p:blipFill rotWithShape="1">
            <a:blip r:embed="rId2"/>
            <a:srcRect l="50563" r="13659" b="25665"/>
            <a:stretch/>
          </p:blipFill>
          <p:spPr>
            <a:xfrm>
              <a:off x="6929598" y="1145636"/>
              <a:ext cx="2919252" cy="4149359"/>
            </a:xfrm>
            <a:prstGeom prst="rect">
              <a:avLst/>
            </a:prstGeom>
          </p:spPr>
        </p:pic>
        <p:sp>
          <p:nvSpPr>
            <p:cNvPr id="20" name="Rectángulo 19">
              <a:extLst>
                <a:ext uri="{FF2B5EF4-FFF2-40B4-BE49-F238E27FC236}">
                  <a16:creationId xmlns:a16="http://schemas.microsoft.com/office/drawing/2014/main" id="{208E1761-B525-49EE-97BD-918FB674893F}"/>
                </a:ext>
              </a:extLst>
            </p:cNvPr>
            <p:cNvSpPr/>
            <p:nvPr/>
          </p:nvSpPr>
          <p:spPr>
            <a:xfrm>
              <a:off x="4330697" y="1712899"/>
              <a:ext cx="2374903" cy="515952"/>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t>Generación de la secuencia aleatoria</a:t>
              </a:r>
              <a:endParaRPr lang="es-PE" sz="1400" dirty="0"/>
            </a:p>
          </p:txBody>
        </p:sp>
        <p:sp>
          <p:nvSpPr>
            <p:cNvPr id="21" name="Rectángulo 20">
              <a:extLst>
                <a:ext uri="{FF2B5EF4-FFF2-40B4-BE49-F238E27FC236}">
                  <a16:creationId xmlns:a16="http://schemas.microsoft.com/office/drawing/2014/main" id="{F2AA2D88-BEC9-4819-BEA1-C9AD4878F95E}"/>
                </a:ext>
              </a:extLst>
            </p:cNvPr>
            <p:cNvSpPr/>
            <p:nvPr/>
          </p:nvSpPr>
          <p:spPr>
            <a:xfrm>
              <a:off x="4330697" y="2285834"/>
              <a:ext cx="2374903" cy="515952"/>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t>Ocultamiento de la selección aleatoria</a:t>
              </a:r>
              <a:endParaRPr lang="es-PE" sz="1400" dirty="0"/>
            </a:p>
          </p:txBody>
        </p:sp>
        <p:sp>
          <p:nvSpPr>
            <p:cNvPr id="22" name="Rectángulo 21">
              <a:extLst>
                <a:ext uri="{FF2B5EF4-FFF2-40B4-BE49-F238E27FC236}">
                  <a16:creationId xmlns:a16="http://schemas.microsoft.com/office/drawing/2014/main" id="{AB53A2CB-1873-4316-8003-7B4BFE4237C9}"/>
                </a:ext>
              </a:extLst>
            </p:cNvPr>
            <p:cNvSpPr/>
            <p:nvPr/>
          </p:nvSpPr>
          <p:spPr>
            <a:xfrm>
              <a:off x="4330697" y="3337178"/>
              <a:ext cx="2374903" cy="411353"/>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Cegamiento de los participantes</a:t>
              </a:r>
              <a:endParaRPr lang="es-PE" sz="1300" dirty="0"/>
            </a:p>
          </p:txBody>
        </p:sp>
        <p:sp>
          <p:nvSpPr>
            <p:cNvPr id="23" name="Rectángulo 22">
              <a:extLst>
                <a:ext uri="{FF2B5EF4-FFF2-40B4-BE49-F238E27FC236}">
                  <a16:creationId xmlns:a16="http://schemas.microsoft.com/office/drawing/2014/main" id="{AC967517-28BB-4ADA-B152-6797BFDCE0EA}"/>
                </a:ext>
              </a:extLst>
            </p:cNvPr>
            <p:cNvSpPr/>
            <p:nvPr/>
          </p:nvSpPr>
          <p:spPr>
            <a:xfrm>
              <a:off x="4330696" y="4675390"/>
              <a:ext cx="2374903" cy="417551"/>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Desviaciones no previstas de la intervención</a:t>
              </a:r>
              <a:endParaRPr lang="es-PE" sz="1300" dirty="0"/>
            </a:p>
          </p:txBody>
        </p:sp>
        <p:sp>
          <p:nvSpPr>
            <p:cNvPr id="24" name="Rectángulo 23">
              <a:extLst>
                <a:ext uri="{FF2B5EF4-FFF2-40B4-BE49-F238E27FC236}">
                  <a16:creationId xmlns:a16="http://schemas.microsoft.com/office/drawing/2014/main" id="{45625949-7BD3-4A67-9863-0D3554CAE31A}"/>
                </a:ext>
              </a:extLst>
            </p:cNvPr>
            <p:cNvSpPr/>
            <p:nvPr/>
          </p:nvSpPr>
          <p:spPr>
            <a:xfrm>
              <a:off x="4330697" y="4003184"/>
              <a:ext cx="2374903" cy="417552"/>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Cegamiento del personal que administra la intervención</a:t>
              </a:r>
              <a:endParaRPr lang="es-PE" sz="1300" dirty="0"/>
            </a:p>
          </p:txBody>
        </p:sp>
        <p:pic>
          <p:nvPicPr>
            <p:cNvPr id="27" name="Imagen 26">
              <a:extLst>
                <a:ext uri="{FF2B5EF4-FFF2-40B4-BE49-F238E27FC236}">
                  <a16:creationId xmlns:a16="http://schemas.microsoft.com/office/drawing/2014/main" id="{26EB35C0-4515-4CBE-8AA8-8CB43C6CE59F}"/>
                </a:ext>
              </a:extLst>
            </p:cNvPr>
            <p:cNvPicPr>
              <a:picLocks noChangeAspect="1"/>
            </p:cNvPicPr>
            <p:nvPr/>
          </p:nvPicPr>
          <p:blipFill rotWithShape="1">
            <a:blip r:embed="rId2"/>
            <a:srcRect r="81482" b="26504"/>
            <a:stretch/>
          </p:blipFill>
          <p:spPr>
            <a:xfrm>
              <a:off x="2829896" y="1359052"/>
              <a:ext cx="1510970" cy="3902849"/>
            </a:xfrm>
            <a:prstGeom prst="rect">
              <a:avLst/>
            </a:prstGeom>
          </p:spPr>
        </p:pic>
      </p:grpSp>
    </p:spTree>
    <p:extLst>
      <p:ext uri="{BB962C8B-B14F-4D97-AF65-F5344CB8AC3E}">
        <p14:creationId xmlns:p14="http://schemas.microsoft.com/office/powerpoint/2010/main" val="4093959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5">
            <a:extLst>
              <a:ext uri="{FF2B5EF4-FFF2-40B4-BE49-F238E27FC236}">
                <a16:creationId xmlns:a16="http://schemas.microsoft.com/office/drawing/2014/main" id="{74283B73-DF38-4A23-A4EE-F708FA1883CE}"/>
              </a:ext>
            </a:extLst>
          </p:cNvPr>
          <p:cNvSpPr/>
          <p:nvPr/>
        </p:nvSpPr>
        <p:spPr>
          <a:xfrm>
            <a:off x="640426" y="1511711"/>
            <a:ext cx="1912620" cy="657059"/>
          </a:xfrm>
          <a:custGeom>
            <a:avLst/>
            <a:gdLst/>
            <a:ahLst/>
            <a:cxnLst/>
            <a:rect l="l" t="t" r="r" b="b"/>
            <a:pathLst>
              <a:path w="1912620" h="1206500">
                <a:moveTo>
                  <a:pt x="956310" y="0"/>
                </a:moveTo>
                <a:lnTo>
                  <a:pt x="898050" y="1101"/>
                </a:lnTo>
                <a:lnTo>
                  <a:pt x="840714" y="4362"/>
                </a:lnTo>
                <a:lnTo>
                  <a:pt x="784402" y="9720"/>
                </a:lnTo>
                <a:lnTo>
                  <a:pt x="729213" y="17112"/>
                </a:lnTo>
                <a:lnTo>
                  <a:pt x="675248" y="26475"/>
                </a:lnTo>
                <a:lnTo>
                  <a:pt x="622607" y="37746"/>
                </a:lnTo>
                <a:lnTo>
                  <a:pt x="571389" y="50860"/>
                </a:lnTo>
                <a:lnTo>
                  <a:pt x="521695" y="65756"/>
                </a:lnTo>
                <a:lnTo>
                  <a:pt x="473625" y="82371"/>
                </a:lnTo>
                <a:lnTo>
                  <a:pt x="427278" y="100640"/>
                </a:lnTo>
                <a:lnTo>
                  <a:pt x="382755" y="120501"/>
                </a:lnTo>
                <a:lnTo>
                  <a:pt x="340156" y="141891"/>
                </a:lnTo>
                <a:lnTo>
                  <a:pt x="299580" y="164747"/>
                </a:lnTo>
                <a:lnTo>
                  <a:pt x="261128" y="189004"/>
                </a:lnTo>
                <a:lnTo>
                  <a:pt x="224899" y="214602"/>
                </a:lnTo>
                <a:lnTo>
                  <a:pt x="190994" y="241475"/>
                </a:lnTo>
                <a:lnTo>
                  <a:pt x="159513" y="269561"/>
                </a:lnTo>
                <a:lnTo>
                  <a:pt x="130556" y="298798"/>
                </a:lnTo>
                <a:lnTo>
                  <a:pt x="104221" y="329121"/>
                </a:lnTo>
                <a:lnTo>
                  <a:pt x="80611" y="360467"/>
                </a:lnTo>
                <a:lnTo>
                  <a:pt x="59824" y="392774"/>
                </a:lnTo>
                <a:lnTo>
                  <a:pt x="27122" y="460017"/>
                </a:lnTo>
                <a:lnTo>
                  <a:pt x="6913" y="530344"/>
                </a:lnTo>
                <a:lnTo>
                  <a:pt x="0" y="603250"/>
                </a:lnTo>
                <a:lnTo>
                  <a:pt x="1745" y="639993"/>
                </a:lnTo>
                <a:lnTo>
                  <a:pt x="15406" y="711673"/>
                </a:lnTo>
                <a:lnTo>
                  <a:pt x="41961" y="780521"/>
                </a:lnTo>
                <a:lnTo>
                  <a:pt x="80611" y="846032"/>
                </a:lnTo>
                <a:lnTo>
                  <a:pt x="104221" y="877378"/>
                </a:lnTo>
                <a:lnTo>
                  <a:pt x="130555" y="907701"/>
                </a:lnTo>
                <a:lnTo>
                  <a:pt x="159513" y="936938"/>
                </a:lnTo>
                <a:lnTo>
                  <a:pt x="190994" y="965024"/>
                </a:lnTo>
                <a:lnTo>
                  <a:pt x="224899" y="991897"/>
                </a:lnTo>
                <a:lnTo>
                  <a:pt x="261128" y="1017495"/>
                </a:lnTo>
                <a:lnTo>
                  <a:pt x="299580" y="1041752"/>
                </a:lnTo>
                <a:lnTo>
                  <a:pt x="340156" y="1064608"/>
                </a:lnTo>
                <a:lnTo>
                  <a:pt x="382755" y="1085998"/>
                </a:lnTo>
                <a:lnTo>
                  <a:pt x="427278" y="1105859"/>
                </a:lnTo>
                <a:lnTo>
                  <a:pt x="473625" y="1124128"/>
                </a:lnTo>
                <a:lnTo>
                  <a:pt x="521695" y="1140743"/>
                </a:lnTo>
                <a:lnTo>
                  <a:pt x="571389" y="1155639"/>
                </a:lnTo>
                <a:lnTo>
                  <a:pt x="622607" y="1168753"/>
                </a:lnTo>
                <a:lnTo>
                  <a:pt x="675248" y="1180024"/>
                </a:lnTo>
                <a:lnTo>
                  <a:pt x="729213" y="1189387"/>
                </a:lnTo>
                <a:lnTo>
                  <a:pt x="784402" y="1196779"/>
                </a:lnTo>
                <a:lnTo>
                  <a:pt x="840714" y="1202137"/>
                </a:lnTo>
                <a:lnTo>
                  <a:pt x="898050" y="1205398"/>
                </a:lnTo>
                <a:lnTo>
                  <a:pt x="956310" y="1206500"/>
                </a:lnTo>
                <a:lnTo>
                  <a:pt x="1014569" y="1205398"/>
                </a:lnTo>
                <a:lnTo>
                  <a:pt x="1071905" y="1202137"/>
                </a:lnTo>
                <a:lnTo>
                  <a:pt x="1128217" y="1196779"/>
                </a:lnTo>
                <a:lnTo>
                  <a:pt x="1183406" y="1189387"/>
                </a:lnTo>
                <a:lnTo>
                  <a:pt x="1237371" y="1180024"/>
                </a:lnTo>
                <a:lnTo>
                  <a:pt x="1290012" y="1168753"/>
                </a:lnTo>
                <a:lnTo>
                  <a:pt x="1341230" y="1155639"/>
                </a:lnTo>
                <a:lnTo>
                  <a:pt x="1390924" y="1140743"/>
                </a:lnTo>
                <a:lnTo>
                  <a:pt x="1438994" y="1124128"/>
                </a:lnTo>
                <a:lnTo>
                  <a:pt x="1485341" y="1105859"/>
                </a:lnTo>
                <a:lnTo>
                  <a:pt x="1529864" y="1085998"/>
                </a:lnTo>
                <a:lnTo>
                  <a:pt x="1572463" y="1064608"/>
                </a:lnTo>
                <a:lnTo>
                  <a:pt x="1613039" y="1041752"/>
                </a:lnTo>
                <a:lnTo>
                  <a:pt x="1651491" y="1017495"/>
                </a:lnTo>
                <a:lnTo>
                  <a:pt x="1687720" y="991897"/>
                </a:lnTo>
                <a:lnTo>
                  <a:pt x="1721625" y="965024"/>
                </a:lnTo>
                <a:lnTo>
                  <a:pt x="1753106" y="936938"/>
                </a:lnTo>
                <a:lnTo>
                  <a:pt x="1782064" y="907701"/>
                </a:lnTo>
                <a:lnTo>
                  <a:pt x="1808398" y="877378"/>
                </a:lnTo>
                <a:lnTo>
                  <a:pt x="1832008" y="846032"/>
                </a:lnTo>
                <a:lnTo>
                  <a:pt x="1852795" y="813725"/>
                </a:lnTo>
                <a:lnTo>
                  <a:pt x="1885497" y="746482"/>
                </a:lnTo>
                <a:lnTo>
                  <a:pt x="1905706" y="676155"/>
                </a:lnTo>
                <a:lnTo>
                  <a:pt x="1912620" y="603250"/>
                </a:lnTo>
                <a:lnTo>
                  <a:pt x="1910874" y="566506"/>
                </a:lnTo>
                <a:lnTo>
                  <a:pt x="1897213" y="494826"/>
                </a:lnTo>
                <a:lnTo>
                  <a:pt x="1870658" y="425978"/>
                </a:lnTo>
                <a:lnTo>
                  <a:pt x="1832008" y="360467"/>
                </a:lnTo>
                <a:lnTo>
                  <a:pt x="1808398" y="329121"/>
                </a:lnTo>
                <a:lnTo>
                  <a:pt x="1782064" y="298798"/>
                </a:lnTo>
                <a:lnTo>
                  <a:pt x="1753106" y="269561"/>
                </a:lnTo>
                <a:lnTo>
                  <a:pt x="1721625" y="241475"/>
                </a:lnTo>
                <a:lnTo>
                  <a:pt x="1687720" y="214602"/>
                </a:lnTo>
                <a:lnTo>
                  <a:pt x="1651491" y="189004"/>
                </a:lnTo>
                <a:lnTo>
                  <a:pt x="1613039" y="164747"/>
                </a:lnTo>
                <a:lnTo>
                  <a:pt x="1572463" y="141891"/>
                </a:lnTo>
                <a:lnTo>
                  <a:pt x="1529864" y="120501"/>
                </a:lnTo>
                <a:lnTo>
                  <a:pt x="1485341" y="100640"/>
                </a:lnTo>
                <a:lnTo>
                  <a:pt x="1438994" y="82371"/>
                </a:lnTo>
                <a:lnTo>
                  <a:pt x="1390924" y="65756"/>
                </a:lnTo>
                <a:lnTo>
                  <a:pt x="1341230" y="50860"/>
                </a:lnTo>
                <a:lnTo>
                  <a:pt x="1290012" y="37746"/>
                </a:lnTo>
                <a:lnTo>
                  <a:pt x="1237371" y="26475"/>
                </a:lnTo>
                <a:lnTo>
                  <a:pt x="1183406" y="17112"/>
                </a:lnTo>
                <a:lnTo>
                  <a:pt x="1128217" y="9720"/>
                </a:lnTo>
                <a:lnTo>
                  <a:pt x="1071905" y="4362"/>
                </a:lnTo>
                <a:lnTo>
                  <a:pt x="1014569" y="1101"/>
                </a:lnTo>
                <a:lnTo>
                  <a:pt x="956310" y="0"/>
                </a:lnTo>
                <a:close/>
              </a:path>
            </a:pathLst>
          </a:custGeom>
          <a:solidFill>
            <a:srgbClr val="C0504D"/>
          </a:solidFill>
        </p:spPr>
        <p:txBody>
          <a:bodyPr wrap="square" lIns="0" tIns="0" rIns="0" bIns="0" rtlCol="0"/>
          <a:lstStyle/>
          <a:p>
            <a:endParaRPr sz="1050"/>
          </a:p>
        </p:txBody>
      </p:sp>
      <p:sp>
        <p:nvSpPr>
          <p:cNvPr id="5" name="object 6">
            <a:extLst>
              <a:ext uri="{FF2B5EF4-FFF2-40B4-BE49-F238E27FC236}">
                <a16:creationId xmlns:a16="http://schemas.microsoft.com/office/drawing/2014/main" id="{DC266007-9A3C-41D3-B89D-A3B95A4EB683}"/>
              </a:ext>
            </a:extLst>
          </p:cNvPr>
          <p:cNvSpPr txBox="1"/>
          <p:nvPr/>
        </p:nvSpPr>
        <p:spPr>
          <a:xfrm>
            <a:off x="677781" y="1578395"/>
            <a:ext cx="1795365" cy="443711"/>
          </a:xfrm>
          <a:prstGeom prst="rect">
            <a:avLst/>
          </a:prstGeom>
        </p:spPr>
        <p:txBody>
          <a:bodyPr vert="horz" wrap="square" lIns="0" tIns="12700" rIns="0" bIns="0" rtlCol="0">
            <a:spAutoFit/>
          </a:bodyPr>
          <a:lstStyle/>
          <a:p>
            <a:pPr marL="12700" algn="ctr">
              <a:lnSpc>
                <a:spcPct val="100000"/>
              </a:lnSpc>
              <a:spcBef>
                <a:spcPts val="100"/>
              </a:spcBef>
            </a:pPr>
            <a:r>
              <a:rPr lang="es-PE" sz="1400" spc="-10" dirty="0">
                <a:solidFill>
                  <a:srgbClr val="FFFFFF"/>
                </a:solidFill>
                <a:latin typeface="Cambria"/>
                <a:cs typeface="Cambria"/>
              </a:rPr>
              <a:t>1. Proceso de aleatorización</a:t>
            </a:r>
            <a:endParaRPr sz="1400" dirty="0">
              <a:latin typeface="Cambria"/>
              <a:cs typeface="Cambria"/>
            </a:endParaRPr>
          </a:p>
        </p:txBody>
      </p:sp>
      <p:sp>
        <p:nvSpPr>
          <p:cNvPr id="6" name="Título 38">
            <a:extLst>
              <a:ext uri="{FF2B5EF4-FFF2-40B4-BE49-F238E27FC236}">
                <a16:creationId xmlns:a16="http://schemas.microsoft.com/office/drawing/2014/main" id="{3CB028C2-FE4C-4A59-AFF9-5C3B398C209B}"/>
              </a:ext>
            </a:extLst>
          </p:cNvPr>
          <p:cNvSpPr>
            <a:spLocks noGrp="1"/>
          </p:cNvSpPr>
          <p:nvPr>
            <p:ph type="title"/>
          </p:nvPr>
        </p:nvSpPr>
        <p:spPr>
          <a:xfrm>
            <a:off x="785446" y="339498"/>
            <a:ext cx="7485185" cy="423064"/>
          </a:xfrm>
        </p:spPr>
        <p:txBody>
          <a:bodyPr/>
          <a:lstStyle/>
          <a:p>
            <a:r>
              <a:rPr lang="es-PE" dirty="0"/>
              <a:t>Momentos críticos de un ECA</a:t>
            </a:r>
          </a:p>
        </p:txBody>
      </p:sp>
      <p:sp>
        <p:nvSpPr>
          <p:cNvPr id="7" name="object 5">
            <a:extLst>
              <a:ext uri="{FF2B5EF4-FFF2-40B4-BE49-F238E27FC236}">
                <a16:creationId xmlns:a16="http://schemas.microsoft.com/office/drawing/2014/main" id="{6A7A1991-7EFB-4D8E-B7EE-F16793D83D41}"/>
              </a:ext>
            </a:extLst>
          </p:cNvPr>
          <p:cNvSpPr/>
          <p:nvPr/>
        </p:nvSpPr>
        <p:spPr>
          <a:xfrm>
            <a:off x="477723" y="5414002"/>
            <a:ext cx="2347420" cy="426923"/>
          </a:xfrm>
          <a:custGeom>
            <a:avLst/>
            <a:gdLst/>
            <a:ahLst/>
            <a:cxnLst/>
            <a:rect l="l" t="t" r="r" b="b"/>
            <a:pathLst>
              <a:path w="1912620" h="1206500">
                <a:moveTo>
                  <a:pt x="956310" y="0"/>
                </a:moveTo>
                <a:lnTo>
                  <a:pt x="898050" y="1101"/>
                </a:lnTo>
                <a:lnTo>
                  <a:pt x="840714" y="4362"/>
                </a:lnTo>
                <a:lnTo>
                  <a:pt x="784402" y="9720"/>
                </a:lnTo>
                <a:lnTo>
                  <a:pt x="729213" y="17112"/>
                </a:lnTo>
                <a:lnTo>
                  <a:pt x="675248" y="26475"/>
                </a:lnTo>
                <a:lnTo>
                  <a:pt x="622607" y="37746"/>
                </a:lnTo>
                <a:lnTo>
                  <a:pt x="571389" y="50860"/>
                </a:lnTo>
                <a:lnTo>
                  <a:pt x="521695" y="65756"/>
                </a:lnTo>
                <a:lnTo>
                  <a:pt x="473625" y="82371"/>
                </a:lnTo>
                <a:lnTo>
                  <a:pt x="427278" y="100640"/>
                </a:lnTo>
                <a:lnTo>
                  <a:pt x="382755" y="120501"/>
                </a:lnTo>
                <a:lnTo>
                  <a:pt x="340156" y="141891"/>
                </a:lnTo>
                <a:lnTo>
                  <a:pt x="299580" y="164747"/>
                </a:lnTo>
                <a:lnTo>
                  <a:pt x="261128" y="189004"/>
                </a:lnTo>
                <a:lnTo>
                  <a:pt x="224899" y="214602"/>
                </a:lnTo>
                <a:lnTo>
                  <a:pt x="190994" y="241475"/>
                </a:lnTo>
                <a:lnTo>
                  <a:pt x="159513" y="269561"/>
                </a:lnTo>
                <a:lnTo>
                  <a:pt x="130556" y="298798"/>
                </a:lnTo>
                <a:lnTo>
                  <a:pt x="104221" y="329121"/>
                </a:lnTo>
                <a:lnTo>
                  <a:pt x="80611" y="360467"/>
                </a:lnTo>
                <a:lnTo>
                  <a:pt x="59824" y="392774"/>
                </a:lnTo>
                <a:lnTo>
                  <a:pt x="27122" y="460017"/>
                </a:lnTo>
                <a:lnTo>
                  <a:pt x="6913" y="530344"/>
                </a:lnTo>
                <a:lnTo>
                  <a:pt x="0" y="603250"/>
                </a:lnTo>
                <a:lnTo>
                  <a:pt x="1745" y="639993"/>
                </a:lnTo>
                <a:lnTo>
                  <a:pt x="15406" y="711673"/>
                </a:lnTo>
                <a:lnTo>
                  <a:pt x="41961" y="780521"/>
                </a:lnTo>
                <a:lnTo>
                  <a:pt x="80611" y="846032"/>
                </a:lnTo>
                <a:lnTo>
                  <a:pt x="104221" y="877378"/>
                </a:lnTo>
                <a:lnTo>
                  <a:pt x="130555" y="907701"/>
                </a:lnTo>
                <a:lnTo>
                  <a:pt x="159513" y="936938"/>
                </a:lnTo>
                <a:lnTo>
                  <a:pt x="190994" y="965024"/>
                </a:lnTo>
                <a:lnTo>
                  <a:pt x="224899" y="991897"/>
                </a:lnTo>
                <a:lnTo>
                  <a:pt x="261128" y="1017495"/>
                </a:lnTo>
                <a:lnTo>
                  <a:pt x="299580" y="1041752"/>
                </a:lnTo>
                <a:lnTo>
                  <a:pt x="340156" y="1064608"/>
                </a:lnTo>
                <a:lnTo>
                  <a:pt x="382755" y="1085998"/>
                </a:lnTo>
                <a:lnTo>
                  <a:pt x="427278" y="1105859"/>
                </a:lnTo>
                <a:lnTo>
                  <a:pt x="473625" y="1124128"/>
                </a:lnTo>
                <a:lnTo>
                  <a:pt x="521695" y="1140743"/>
                </a:lnTo>
                <a:lnTo>
                  <a:pt x="571389" y="1155639"/>
                </a:lnTo>
                <a:lnTo>
                  <a:pt x="622607" y="1168753"/>
                </a:lnTo>
                <a:lnTo>
                  <a:pt x="675248" y="1180024"/>
                </a:lnTo>
                <a:lnTo>
                  <a:pt x="729213" y="1189387"/>
                </a:lnTo>
                <a:lnTo>
                  <a:pt x="784402" y="1196779"/>
                </a:lnTo>
                <a:lnTo>
                  <a:pt x="840714" y="1202137"/>
                </a:lnTo>
                <a:lnTo>
                  <a:pt x="898050" y="1205398"/>
                </a:lnTo>
                <a:lnTo>
                  <a:pt x="956310" y="1206500"/>
                </a:lnTo>
                <a:lnTo>
                  <a:pt x="1014569" y="1205398"/>
                </a:lnTo>
                <a:lnTo>
                  <a:pt x="1071905" y="1202137"/>
                </a:lnTo>
                <a:lnTo>
                  <a:pt x="1128217" y="1196779"/>
                </a:lnTo>
                <a:lnTo>
                  <a:pt x="1183406" y="1189387"/>
                </a:lnTo>
                <a:lnTo>
                  <a:pt x="1237371" y="1180024"/>
                </a:lnTo>
                <a:lnTo>
                  <a:pt x="1290012" y="1168753"/>
                </a:lnTo>
                <a:lnTo>
                  <a:pt x="1341230" y="1155639"/>
                </a:lnTo>
                <a:lnTo>
                  <a:pt x="1390924" y="1140743"/>
                </a:lnTo>
                <a:lnTo>
                  <a:pt x="1438994" y="1124128"/>
                </a:lnTo>
                <a:lnTo>
                  <a:pt x="1485341" y="1105859"/>
                </a:lnTo>
                <a:lnTo>
                  <a:pt x="1529864" y="1085998"/>
                </a:lnTo>
                <a:lnTo>
                  <a:pt x="1572463" y="1064608"/>
                </a:lnTo>
                <a:lnTo>
                  <a:pt x="1613039" y="1041752"/>
                </a:lnTo>
                <a:lnTo>
                  <a:pt x="1651491" y="1017495"/>
                </a:lnTo>
                <a:lnTo>
                  <a:pt x="1687720" y="991897"/>
                </a:lnTo>
                <a:lnTo>
                  <a:pt x="1721625" y="965024"/>
                </a:lnTo>
                <a:lnTo>
                  <a:pt x="1753106" y="936938"/>
                </a:lnTo>
                <a:lnTo>
                  <a:pt x="1782064" y="907701"/>
                </a:lnTo>
                <a:lnTo>
                  <a:pt x="1808398" y="877378"/>
                </a:lnTo>
                <a:lnTo>
                  <a:pt x="1832008" y="846032"/>
                </a:lnTo>
                <a:lnTo>
                  <a:pt x="1852795" y="813725"/>
                </a:lnTo>
                <a:lnTo>
                  <a:pt x="1885497" y="746482"/>
                </a:lnTo>
                <a:lnTo>
                  <a:pt x="1905706" y="676155"/>
                </a:lnTo>
                <a:lnTo>
                  <a:pt x="1912620" y="603250"/>
                </a:lnTo>
                <a:lnTo>
                  <a:pt x="1910874" y="566506"/>
                </a:lnTo>
                <a:lnTo>
                  <a:pt x="1897213" y="494826"/>
                </a:lnTo>
                <a:lnTo>
                  <a:pt x="1870658" y="425978"/>
                </a:lnTo>
                <a:lnTo>
                  <a:pt x="1832008" y="360467"/>
                </a:lnTo>
                <a:lnTo>
                  <a:pt x="1808398" y="329121"/>
                </a:lnTo>
                <a:lnTo>
                  <a:pt x="1782064" y="298798"/>
                </a:lnTo>
                <a:lnTo>
                  <a:pt x="1753106" y="269561"/>
                </a:lnTo>
                <a:lnTo>
                  <a:pt x="1721625" y="241475"/>
                </a:lnTo>
                <a:lnTo>
                  <a:pt x="1687720" y="214602"/>
                </a:lnTo>
                <a:lnTo>
                  <a:pt x="1651491" y="189004"/>
                </a:lnTo>
                <a:lnTo>
                  <a:pt x="1613039" y="164747"/>
                </a:lnTo>
                <a:lnTo>
                  <a:pt x="1572463" y="141891"/>
                </a:lnTo>
                <a:lnTo>
                  <a:pt x="1529864" y="120501"/>
                </a:lnTo>
                <a:lnTo>
                  <a:pt x="1485341" y="100640"/>
                </a:lnTo>
                <a:lnTo>
                  <a:pt x="1438994" y="82371"/>
                </a:lnTo>
                <a:lnTo>
                  <a:pt x="1390924" y="65756"/>
                </a:lnTo>
                <a:lnTo>
                  <a:pt x="1341230" y="50860"/>
                </a:lnTo>
                <a:lnTo>
                  <a:pt x="1290012" y="37746"/>
                </a:lnTo>
                <a:lnTo>
                  <a:pt x="1237371" y="26475"/>
                </a:lnTo>
                <a:lnTo>
                  <a:pt x="1183406" y="17112"/>
                </a:lnTo>
                <a:lnTo>
                  <a:pt x="1128217" y="9720"/>
                </a:lnTo>
                <a:lnTo>
                  <a:pt x="1071905" y="4362"/>
                </a:lnTo>
                <a:lnTo>
                  <a:pt x="1014569" y="1101"/>
                </a:lnTo>
                <a:lnTo>
                  <a:pt x="956310" y="0"/>
                </a:lnTo>
                <a:close/>
              </a:path>
            </a:pathLst>
          </a:custGeom>
          <a:solidFill>
            <a:srgbClr val="C0504D"/>
          </a:solidFill>
        </p:spPr>
        <p:txBody>
          <a:bodyPr wrap="square" lIns="0" tIns="0" rIns="0" bIns="0" rtlCol="0"/>
          <a:lstStyle/>
          <a:p>
            <a:endParaRPr sz="1100"/>
          </a:p>
        </p:txBody>
      </p:sp>
      <p:sp>
        <p:nvSpPr>
          <p:cNvPr id="8" name="object 6">
            <a:extLst>
              <a:ext uri="{FF2B5EF4-FFF2-40B4-BE49-F238E27FC236}">
                <a16:creationId xmlns:a16="http://schemas.microsoft.com/office/drawing/2014/main" id="{A8399551-AF16-42EC-866F-F3E9A81FD0E2}"/>
              </a:ext>
            </a:extLst>
          </p:cNvPr>
          <p:cNvSpPr txBox="1"/>
          <p:nvPr/>
        </p:nvSpPr>
        <p:spPr>
          <a:xfrm>
            <a:off x="687306" y="5495759"/>
            <a:ext cx="1926689" cy="228268"/>
          </a:xfrm>
          <a:prstGeom prst="rect">
            <a:avLst/>
          </a:prstGeom>
        </p:spPr>
        <p:txBody>
          <a:bodyPr vert="horz" wrap="square" lIns="0" tIns="12700" rIns="0" bIns="0" rtlCol="0">
            <a:spAutoFit/>
          </a:bodyPr>
          <a:lstStyle/>
          <a:p>
            <a:pPr marL="12700" algn="ctr">
              <a:lnSpc>
                <a:spcPct val="100000"/>
              </a:lnSpc>
              <a:spcBef>
                <a:spcPts val="100"/>
              </a:spcBef>
            </a:pPr>
            <a:r>
              <a:rPr lang="es-PE" sz="1400" spc="-10" dirty="0">
                <a:solidFill>
                  <a:srgbClr val="FFFFFF"/>
                </a:solidFill>
                <a:latin typeface="Cambria"/>
                <a:cs typeface="Cambria"/>
              </a:rPr>
              <a:t>4. Medición del desenlace</a:t>
            </a:r>
            <a:endParaRPr sz="1400" dirty="0">
              <a:latin typeface="Cambria"/>
              <a:cs typeface="Cambria"/>
            </a:endParaRPr>
          </a:p>
        </p:txBody>
      </p:sp>
      <p:sp>
        <p:nvSpPr>
          <p:cNvPr id="9" name="object 5">
            <a:extLst>
              <a:ext uri="{FF2B5EF4-FFF2-40B4-BE49-F238E27FC236}">
                <a16:creationId xmlns:a16="http://schemas.microsoft.com/office/drawing/2014/main" id="{0B41D10E-FF44-4B62-B2B0-FE2F09674CFE}"/>
              </a:ext>
            </a:extLst>
          </p:cNvPr>
          <p:cNvSpPr/>
          <p:nvPr/>
        </p:nvSpPr>
        <p:spPr>
          <a:xfrm>
            <a:off x="477723" y="5939442"/>
            <a:ext cx="2347420" cy="463279"/>
          </a:xfrm>
          <a:custGeom>
            <a:avLst/>
            <a:gdLst/>
            <a:ahLst/>
            <a:cxnLst/>
            <a:rect l="l" t="t" r="r" b="b"/>
            <a:pathLst>
              <a:path w="1912620" h="1206500">
                <a:moveTo>
                  <a:pt x="956310" y="0"/>
                </a:moveTo>
                <a:lnTo>
                  <a:pt x="898050" y="1101"/>
                </a:lnTo>
                <a:lnTo>
                  <a:pt x="840714" y="4362"/>
                </a:lnTo>
                <a:lnTo>
                  <a:pt x="784402" y="9720"/>
                </a:lnTo>
                <a:lnTo>
                  <a:pt x="729213" y="17112"/>
                </a:lnTo>
                <a:lnTo>
                  <a:pt x="675248" y="26475"/>
                </a:lnTo>
                <a:lnTo>
                  <a:pt x="622607" y="37746"/>
                </a:lnTo>
                <a:lnTo>
                  <a:pt x="571389" y="50860"/>
                </a:lnTo>
                <a:lnTo>
                  <a:pt x="521695" y="65756"/>
                </a:lnTo>
                <a:lnTo>
                  <a:pt x="473625" y="82371"/>
                </a:lnTo>
                <a:lnTo>
                  <a:pt x="427278" y="100640"/>
                </a:lnTo>
                <a:lnTo>
                  <a:pt x="382755" y="120501"/>
                </a:lnTo>
                <a:lnTo>
                  <a:pt x="340156" y="141891"/>
                </a:lnTo>
                <a:lnTo>
                  <a:pt x="299580" y="164747"/>
                </a:lnTo>
                <a:lnTo>
                  <a:pt x="261128" y="189004"/>
                </a:lnTo>
                <a:lnTo>
                  <a:pt x="224899" y="214602"/>
                </a:lnTo>
                <a:lnTo>
                  <a:pt x="190994" y="241475"/>
                </a:lnTo>
                <a:lnTo>
                  <a:pt x="159513" y="269561"/>
                </a:lnTo>
                <a:lnTo>
                  <a:pt x="130556" y="298798"/>
                </a:lnTo>
                <a:lnTo>
                  <a:pt x="104221" y="329121"/>
                </a:lnTo>
                <a:lnTo>
                  <a:pt x="80611" y="360467"/>
                </a:lnTo>
                <a:lnTo>
                  <a:pt x="59824" y="392774"/>
                </a:lnTo>
                <a:lnTo>
                  <a:pt x="27122" y="460017"/>
                </a:lnTo>
                <a:lnTo>
                  <a:pt x="6913" y="530344"/>
                </a:lnTo>
                <a:lnTo>
                  <a:pt x="0" y="603250"/>
                </a:lnTo>
                <a:lnTo>
                  <a:pt x="1745" y="639993"/>
                </a:lnTo>
                <a:lnTo>
                  <a:pt x="15406" y="711673"/>
                </a:lnTo>
                <a:lnTo>
                  <a:pt x="41961" y="780521"/>
                </a:lnTo>
                <a:lnTo>
                  <a:pt x="80611" y="846032"/>
                </a:lnTo>
                <a:lnTo>
                  <a:pt x="104221" y="877378"/>
                </a:lnTo>
                <a:lnTo>
                  <a:pt x="130555" y="907701"/>
                </a:lnTo>
                <a:lnTo>
                  <a:pt x="159513" y="936938"/>
                </a:lnTo>
                <a:lnTo>
                  <a:pt x="190994" y="965024"/>
                </a:lnTo>
                <a:lnTo>
                  <a:pt x="224899" y="991897"/>
                </a:lnTo>
                <a:lnTo>
                  <a:pt x="261128" y="1017495"/>
                </a:lnTo>
                <a:lnTo>
                  <a:pt x="299580" y="1041752"/>
                </a:lnTo>
                <a:lnTo>
                  <a:pt x="340156" y="1064608"/>
                </a:lnTo>
                <a:lnTo>
                  <a:pt x="382755" y="1085998"/>
                </a:lnTo>
                <a:lnTo>
                  <a:pt x="427278" y="1105859"/>
                </a:lnTo>
                <a:lnTo>
                  <a:pt x="473625" y="1124128"/>
                </a:lnTo>
                <a:lnTo>
                  <a:pt x="521695" y="1140743"/>
                </a:lnTo>
                <a:lnTo>
                  <a:pt x="571389" y="1155639"/>
                </a:lnTo>
                <a:lnTo>
                  <a:pt x="622607" y="1168753"/>
                </a:lnTo>
                <a:lnTo>
                  <a:pt x="675248" y="1180024"/>
                </a:lnTo>
                <a:lnTo>
                  <a:pt x="729213" y="1189387"/>
                </a:lnTo>
                <a:lnTo>
                  <a:pt x="784402" y="1196779"/>
                </a:lnTo>
                <a:lnTo>
                  <a:pt x="840714" y="1202137"/>
                </a:lnTo>
                <a:lnTo>
                  <a:pt x="898050" y="1205398"/>
                </a:lnTo>
                <a:lnTo>
                  <a:pt x="956310" y="1206500"/>
                </a:lnTo>
                <a:lnTo>
                  <a:pt x="1014569" y="1205398"/>
                </a:lnTo>
                <a:lnTo>
                  <a:pt x="1071905" y="1202137"/>
                </a:lnTo>
                <a:lnTo>
                  <a:pt x="1128217" y="1196779"/>
                </a:lnTo>
                <a:lnTo>
                  <a:pt x="1183406" y="1189387"/>
                </a:lnTo>
                <a:lnTo>
                  <a:pt x="1237371" y="1180024"/>
                </a:lnTo>
                <a:lnTo>
                  <a:pt x="1290012" y="1168753"/>
                </a:lnTo>
                <a:lnTo>
                  <a:pt x="1341230" y="1155639"/>
                </a:lnTo>
                <a:lnTo>
                  <a:pt x="1390924" y="1140743"/>
                </a:lnTo>
                <a:lnTo>
                  <a:pt x="1438994" y="1124128"/>
                </a:lnTo>
                <a:lnTo>
                  <a:pt x="1485341" y="1105859"/>
                </a:lnTo>
                <a:lnTo>
                  <a:pt x="1529864" y="1085998"/>
                </a:lnTo>
                <a:lnTo>
                  <a:pt x="1572463" y="1064608"/>
                </a:lnTo>
                <a:lnTo>
                  <a:pt x="1613039" y="1041752"/>
                </a:lnTo>
                <a:lnTo>
                  <a:pt x="1651491" y="1017495"/>
                </a:lnTo>
                <a:lnTo>
                  <a:pt x="1687720" y="991897"/>
                </a:lnTo>
                <a:lnTo>
                  <a:pt x="1721625" y="965024"/>
                </a:lnTo>
                <a:lnTo>
                  <a:pt x="1753106" y="936938"/>
                </a:lnTo>
                <a:lnTo>
                  <a:pt x="1782064" y="907701"/>
                </a:lnTo>
                <a:lnTo>
                  <a:pt x="1808398" y="877378"/>
                </a:lnTo>
                <a:lnTo>
                  <a:pt x="1832008" y="846032"/>
                </a:lnTo>
                <a:lnTo>
                  <a:pt x="1852795" y="813725"/>
                </a:lnTo>
                <a:lnTo>
                  <a:pt x="1885497" y="746482"/>
                </a:lnTo>
                <a:lnTo>
                  <a:pt x="1905706" y="676155"/>
                </a:lnTo>
                <a:lnTo>
                  <a:pt x="1912620" y="603250"/>
                </a:lnTo>
                <a:lnTo>
                  <a:pt x="1910874" y="566506"/>
                </a:lnTo>
                <a:lnTo>
                  <a:pt x="1897213" y="494826"/>
                </a:lnTo>
                <a:lnTo>
                  <a:pt x="1870658" y="425978"/>
                </a:lnTo>
                <a:lnTo>
                  <a:pt x="1832008" y="360467"/>
                </a:lnTo>
                <a:lnTo>
                  <a:pt x="1808398" y="329121"/>
                </a:lnTo>
                <a:lnTo>
                  <a:pt x="1782064" y="298798"/>
                </a:lnTo>
                <a:lnTo>
                  <a:pt x="1753106" y="269561"/>
                </a:lnTo>
                <a:lnTo>
                  <a:pt x="1721625" y="241475"/>
                </a:lnTo>
                <a:lnTo>
                  <a:pt x="1687720" y="214602"/>
                </a:lnTo>
                <a:lnTo>
                  <a:pt x="1651491" y="189004"/>
                </a:lnTo>
                <a:lnTo>
                  <a:pt x="1613039" y="164747"/>
                </a:lnTo>
                <a:lnTo>
                  <a:pt x="1572463" y="141891"/>
                </a:lnTo>
                <a:lnTo>
                  <a:pt x="1529864" y="120501"/>
                </a:lnTo>
                <a:lnTo>
                  <a:pt x="1485341" y="100640"/>
                </a:lnTo>
                <a:lnTo>
                  <a:pt x="1438994" y="82371"/>
                </a:lnTo>
                <a:lnTo>
                  <a:pt x="1390924" y="65756"/>
                </a:lnTo>
                <a:lnTo>
                  <a:pt x="1341230" y="50860"/>
                </a:lnTo>
                <a:lnTo>
                  <a:pt x="1290012" y="37746"/>
                </a:lnTo>
                <a:lnTo>
                  <a:pt x="1237371" y="26475"/>
                </a:lnTo>
                <a:lnTo>
                  <a:pt x="1183406" y="17112"/>
                </a:lnTo>
                <a:lnTo>
                  <a:pt x="1128217" y="9720"/>
                </a:lnTo>
                <a:lnTo>
                  <a:pt x="1071905" y="4362"/>
                </a:lnTo>
                <a:lnTo>
                  <a:pt x="1014569" y="1101"/>
                </a:lnTo>
                <a:lnTo>
                  <a:pt x="956310" y="0"/>
                </a:lnTo>
                <a:close/>
              </a:path>
            </a:pathLst>
          </a:custGeom>
          <a:solidFill>
            <a:srgbClr val="C0504D"/>
          </a:solidFill>
        </p:spPr>
        <p:txBody>
          <a:bodyPr wrap="square" lIns="0" tIns="0" rIns="0" bIns="0" rtlCol="0"/>
          <a:lstStyle/>
          <a:p>
            <a:endParaRPr sz="1100"/>
          </a:p>
        </p:txBody>
      </p:sp>
      <p:sp>
        <p:nvSpPr>
          <p:cNvPr id="10" name="object 6">
            <a:extLst>
              <a:ext uri="{FF2B5EF4-FFF2-40B4-BE49-F238E27FC236}">
                <a16:creationId xmlns:a16="http://schemas.microsoft.com/office/drawing/2014/main" id="{0434EDD7-670B-4BB7-BAC2-A22DD42A5AB2}"/>
              </a:ext>
            </a:extLst>
          </p:cNvPr>
          <p:cNvSpPr txBox="1"/>
          <p:nvPr/>
        </p:nvSpPr>
        <p:spPr>
          <a:xfrm>
            <a:off x="615121" y="5968536"/>
            <a:ext cx="2052521" cy="443711"/>
          </a:xfrm>
          <a:prstGeom prst="rect">
            <a:avLst/>
          </a:prstGeom>
        </p:spPr>
        <p:txBody>
          <a:bodyPr vert="horz" wrap="square" lIns="0" tIns="12700" rIns="0" bIns="0" rtlCol="0">
            <a:spAutoFit/>
          </a:bodyPr>
          <a:lstStyle/>
          <a:p>
            <a:pPr marL="12700" algn="ctr">
              <a:lnSpc>
                <a:spcPct val="100000"/>
              </a:lnSpc>
              <a:spcBef>
                <a:spcPts val="100"/>
              </a:spcBef>
            </a:pPr>
            <a:r>
              <a:rPr lang="es-PE" sz="1400" spc="-10" dirty="0">
                <a:solidFill>
                  <a:srgbClr val="FFFFFF"/>
                </a:solidFill>
                <a:latin typeface="Cambria"/>
                <a:cs typeface="Cambria"/>
              </a:rPr>
              <a:t>5. Selección de resultados reportados</a:t>
            </a:r>
            <a:endParaRPr sz="1400" dirty="0">
              <a:latin typeface="Cambria"/>
              <a:cs typeface="Cambria"/>
            </a:endParaRPr>
          </a:p>
        </p:txBody>
      </p:sp>
      <p:sp>
        <p:nvSpPr>
          <p:cNvPr id="11" name="object 5">
            <a:extLst>
              <a:ext uri="{FF2B5EF4-FFF2-40B4-BE49-F238E27FC236}">
                <a16:creationId xmlns:a16="http://schemas.microsoft.com/office/drawing/2014/main" id="{42B41D30-C2A5-4EE0-869A-23CC844AAC76}"/>
              </a:ext>
            </a:extLst>
          </p:cNvPr>
          <p:cNvSpPr/>
          <p:nvPr/>
        </p:nvSpPr>
        <p:spPr>
          <a:xfrm>
            <a:off x="476376" y="4840165"/>
            <a:ext cx="2347420" cy="475208"/>
          </a:xfrm>
          <a:custGeom>
            <a:avLst/>
            <a:gdLst/>
            <a:ahLst/>
            <a:cxnLst/>
            <a:rect l="l" t="t" r="r" b="b"/>
            <a:pathLst>
              <a:path w="1912620" h="1206500">
                <a:moveTo>
                  <a:pt x="956310" y="0"/>
                </a:moveTo>
                <a:lnTo>
                  <a:pt x="898050" y="1101"/>
                </a:lnTo>
                <a:lnTo>
                  <a:pt x="840714" y="4362"/>
                </a:lnTo>
                <a:lnTo>
                  <a:pt x="784402" y="9720"/>
                </a:lnTo>
                <a:lnTo>
                  <a:pt x="729213" y="17112"/>
                </a:lnTo>
                <a:lnTo>
                  <a:pt x="675248" y="26475"/>
                </a:lnTo>
                <a:lnTo>
                  <a:pt x="622607" y="37746"/>
                </a:lnTo>
                <a:lnTo>
                  <a:pt x="571389" y="50860"/>
                </a:lnTo>
                <a:lnTo>
                  <a:pt x="521695" y="65756"/>
                </a:lnTo>
                <a:lnTo>
                  <a:pt x="473625" y="82371"/>
                </a:lnTo>
                <a:lnTo>
                  <a:pt x="427278" y="100640"/>
                </a:lnTo>
                <a:lnTo>
                  <a:pt x="382755" y="120501"/>
                </a:lnTo>
                <a:lnTo>
                  <a:pt x="340156" y="141891"/>
                </a:lnTo>
                <a:lnTo>
                  <a:pt x="299580" y="164747"/>
                </a:lnTo>
                <a:lnTo>
                  <a:pt x="261128" y="189004"/>
                </a:lnTo>
                <a:lnTo>
                  <a:pt x="224899" y="214602"/>
                </a:lnTo>
                <a:lnTo>
                  <a:pt x="190994" y="241475"/>
                </a:lnTo>
                <a:lnTo>
                  <a:pt x="159513" y="269561"/>
                </a:lnTo>
                <a:lnTo>
                  <a:pt x="130556" y="298798"/>
                </a:lnTo>
                <a:lnTo>
                  <a:pt x="104221" y="329121"/>
                </a:lnTo>
                <a:lnTo>
                  <a:pt x="80611" y="360467"/>
                </a:lnTo>
                <a:lnTo>
                  <a:pt x="59824" y="392774"/>
                </a:lnTo>
                <a:lnTo>
                  <a:pt x="27122" y="460017"/>
                </a:lnTo>
                <a:lnTo>
                  <a:pt x="6913" y="530344"/>
                </a:lnTo>
                <a:lnTo>
                  <a:pt x="0" y="603250"/>
                </a:lnTo>
                <a:lnTo>
                  <a:pt x="1745" y="639993"/>
                </a:lnTo>
                <a:lnTo>
                  <a:pt x="15406" y="711673"/>
                </a:lnTo>
                <a:lnTo>
                  <a:pt x="41961" y="780521"/>
                </a:lnTo>
                <a:lnTo>
                  <a:pt x="80611" y="846032"/>
                </a:lnTo>
                <a:lnTo>
                  <a:pt x="104221" y="877378"/>
                </a:lnTo>
                <a:lnTo>
                  <a:pt x="130555" y="907701"/>
                </a:lnTo>
                <a:lnTo>
                  <a:pt x="159513" y="936938"/>
                </a:lnTo>
                <a:lnTo>
                  <a:pt x="190994" y="965024"/>
                </a:lnTo>
                <a:lnTo>
                  <a:pt x="224899" y="991897"/>
                </a:lnTo>
                <a:lnTo>
                  <a:pt x="261128" y="1017495"/>
                </a:lnTo>
                <a:lnTo>
                  <a:pt x="299580" y="1041752"/>
                </a:lnTo>
                <a:lnTo>
                  <a:pt x="340156" y="1064608"/>
                </a:lnTo>
                <a:lnTo>
                  <a:pt x="382755" y="1085998"/>
                </a:lnTo>
                <a:lnTo>
                  <a:pt x="427278" y="1105859"/>
                </a:lnTo>
                <a:lnTo>
                  <a:pt x="473625" y="1124128"/>
                </a:lnTo>
                <a:lnTo>
                  <a:pt x="521695" y="1140743"/>
                </a:lnTo>
                <a:lnTo>
                  <a:pt x="571389" y="1155639"/>
                </a:lnTo>
                <a:lnTo>
                  <a:pt x="622607" y="1168753"/>
                </a:lnTo>
                <a:lnTo>
                  <a:pt x="675248" y="1180024"/>
                </a:lnTo>
                <a:lnTo>
                  <a:pt x="729213" y="1189387"/>
                </a:lnTo>
                <a:lnTo>
                  <a:pt x="784402" y="1196779"/>
                </a:lnTo>
                <a:lnTo>
                  <a:pt x="840714" y="1202137"/>
                </a:lnTo>
                <a:lnTo>
                  <a:pt x="898050" y="1205398"/>
                </a:lnTo>
                <a:lnTo>
                  <a:pt x="956310" y="1206500"/>
                </a:lnTo>
                <a:lnTo>
                  <a:pt x="1014569" y="1205398"/>
                </a:lnTo>
                <a:lnTo>
                  <a:pt x="1071905" y="1202137"/>
                </a:lnTo>
                <a:lnTo>
                  <a:pt x="1128217" y="1196779"/>
                </a:lnTo>
                <a:lnTo>
                  <a:pt x="1183406" y="1189387"/>
                </a:lnTo>
                <a:lnTo>
                  <a:pt x="1237371" y="1180024"/>
                </a:lnTo>
                <a:lnTo>
                  <a:pt x="1290012" y="1168753"/>
                </a:lnTo>
                <a:lnTo>
                  <a:pt x="1341230" y="1155639"/>
                </a:lnTo>
                <a:lnTo>
                  <a:pt x="1390924" y="1140743"/>
                </a:lnTo>
                <a:lnTo>
                  <a:pt x="1438994" y="1124128"/>
                </a:lnTo>
                <a:lnTo>
                  <a:pt x="1485341" y="1105859"/>
                </a:lnTo>
                <a:lnTo>
                  <a:pt x="1529864" y="1085998"/>
                </a:lnTo>
                <a:lnTo>
                  <a:pt x="1572463" y="1064608"/>
                </a:lnTo>
                <a:lnTo>
                  <a:pt x="1613039" y="1041752"/>
                </a:lnTo>
                <a:lnTo>
                  <a:pt x="1651491" y="1017495"/>
                </a:lnTo>
                <a:lnTo>
                  <a:pt x="1687720" y="991897"/>
                </a:lnTo>
                <a:lnTo>
                  <a:pt x="1721625" y="965024"/>
                </a:lnTo>
                <a:lnTo>
                  <a:pt x="1753106" y="936938"/>
                </a:lnTo>
                <a:lnTo>
                  <a:pt x="1782064" y="907701"/>
                </a:lnTo>
                <a:lnTo>
                  <a:pt x="1808398" y="877378"/>
                </a:lnTo>
                <a:lnTo>
                  <a:pt x="1832008" y="846032"/>
                </a:lnTo>
                <a:lnTo>
                  <a:pt x="1852795" y="813725"/>
                </a:lnTo>
                <a:lnTo>
                  <a:pt x="1885497" y="746482"/>
                </a:lnTo>
                <a:lnTo>
                  <a:pt x="1905706" y="676155"/>
                </a:lnTo>
                <a:lnTo>
                  <a:pt x="1912620" y="603250"/>
                </a:lnTo>
                <a:lnTo>
                  <a:pt x="1910874" y="566506"/>
                </a:lnTo>
                <a:lnTo>
                  <a:pt x="1897213" y="494826"/>
                </a:lnTo>
                <a:lnTo>
                  <a:pt x="1870658" y="425978"/>
                </a:lnTo>
                <a:lnTo>
                  <a:pt x="1832008" y="360467"/>
                </a:lnTo>
                <a:lnTo>
                  <a:pt x="1808398" y="329121"/>
                </a:lnTo>
                <a:lnTo>
                  <a:pt x="1782064" y="298798"/>
                </a:lnTo>
                <a:lnTo>
                  <a:pt x="1753106" y="269561"/>
                </a:lnTo>
                <a:lnTo>
                  <a:pt x="1721625" y="241475"/>
                </a:lnTo>
                <a:lnTo>
                  <a:pt x="1687720" y="214602"/>
                </a:lnTo>
                <a:lnTo>
                  <a:pt x="1651491" y="189004"/>
                </a:lnTo>
                <a:lnTo>
                  <a:pt x="1613039" y="164747"/>
                </a:lnTo>
                <a:lnTo>
                  <a:pt x="1572463" y="141891"/>
                </a:lnTo>
                <a:lnTo>
                  <a:pt x="1529864" y="120501"/>
                </a:lnTo>
                <a:lnTo>
                  <a:pt x="1485341" y="100640"/>
                </a:lnTo>
                <a:lnTo>
                  <a:pt x="1438994" y="82371"/>
                </a:lnTo>
                <a:lnTo>
                  <a:pt x="1390924" y="65756"/>
                </a:lnTo>
                <a:lnTo>
                  <a:pt x="1341230" y="50860"/>
                </a:lnTo>
                <a:lnTo>
                  <a:pt x="1290012" y="37746"/>
                </a:lnTo>
                <a:lnTo>
                  <a:pt x="1237371" y="26475"/>
                </a:lnTo>
                <a:lnTo>
                  <a:pt x="1183406" y="17112"/>
                </a:lnTo>
                <a:lnTo>
                  <a:pt x="1128217" y="9720"/>
                </a:lnTo>
                <a:lnTo>
                  <a:pt x="1071905" y="4362"/>
                </a:lnTo>
                <a:lnTo>
                  <a:pt x="1014569" y="1101"/>
                </a:lnTo>
                <a:lnTo>
                  <a:pt x="956310" y="0"/>
                </a:lnTo>
                <a:close/>
              </a:path>
            </a:pathLst>
          </a:custGeom>
          <a:solidFill>
            <a:srgbClr val="C0504D"/>
          </a:solidFill>
        </p:spPr>
        <p:txBody>
          <a:bodyPr wrap="square" lIns="0" tIns="0" rIns="0" bIns="0" rtlCol="0"/>
          <a:lstStyle/>
          <a:p>
            <a:endParaRPr sz="1100"/>
          </a:p>
        </p:txBody>
      </p:sp>
      <p:sp>
        <p:nvSpPr>
          <p:cNvPr id="12" name="object 6">
            <a:extLst>
              <a:ext uri="{FF2B5EF4-FFF2-40B4-BE49-F238E27FC236}">
                <a16:creationId xmlns:a16="http://schemas.microsoft.com/office/drawing/2014/main" id="{5D3594E9-D5E8-4C86-9176-4F23CDFE16F0}"/>
              </a:ext>
            </a:extLst>
          </p:cNvPr>
          <p:cNvSpPr txBox="1"/>
          <p:nvPr/>
        </p:nvSpPr>
        <p:spPr>
          <a:xfrm>
            <a:off x="615121" y="4873259"/>
            <a:ext cx="2052521" cy="443711"/>
          </a:xfrm>
          <a:prstGeom prst="rect">
            <a:avLst/>
          </a:prstGeom>
        </p:spPr>
        <p:txBody>
          <a:bodyPr vert="horz" wrap="square" lIns="0" tIns="12700" rIns="0" bIns="0" rtlCol="0">
            <a:spAutoFit/>
          </a:bodyPr>
          <a:lstStyle/>
          <a:p>
            <a:pPr marL="12700" algn="ctr">
              <a:lnSpc>
                <a:spcPct val="100000"/>
              </a:lnSpc>
              <a:spcBef>
                <a:spcPts val="100"/>
              </a:spcBef>
            </a:pPr>
            <a:r>
              <a:rPr lang="es-PE" sz="1400" spc="-10" dirty="0">
                <a:solidFill>
                  <a:srgbClr val="FFFFFF"/>
                </a:solidFill>
                <a:latin typeface="Cambria"/>
                <a:cs typeface="Cambria"/>
              </a:rPr>
              <a:t>3. </a:t>
            </a:r>
            <a:r>
              <a:rPr lang="es-ES" sz="1400" spc="-10" dirty="0">
                <a:solidFill>
                  <a:srgbClr val="FFFFFF"/>
                </a:solidFill>
                <a:latin typeface="Cambria"/>
                <a:cs typeface="Cambria"/>
              </a:rPr>
              <a:t>falta de datos sobre resultados</a:t>
            </a:r>
            <a:endParaRPr sz="1400" dirty="0">
              <a:latin typeface="Cambria"/>
              <a:cs typeface="Cambria"/>
            </a:endParaRPr>
          </a:p>
        </p:txBody>
      </p:sp>
      <p:sp>
        <p:nvSpPr>
          <p:cNvPr id="13" name="Cerrar llave 12">
            <a:extLst>
              <a:ext uri="{FF2B5EF4-FFF2-40B4-BE49-F238E27FC236}">
                <a16:creationId xmlns:a16="http://schemas.microsoft.com/office/drawing/2014/main" id="{BEC8DA50-DF96-440E-BAEE-A5133D2CE328}"/>
              </a:ext>
            </a:extLst>
          </p:cNvPr>
          <p:cNvSpPr/>
          <p:nvPr/>
        </p:nvSpPr>
        <p:spPr>
          <a:xfrm flipH="1">
            <a:off x="2988333" y="2633254"/>
            <a:ext cx="555849" cy="2149762"/>
          </a:xfrm>
          <a:prstGeom prst="rightBrace">
            <a:avLst/>
          </a:prstGeom>
          <a:ln w="38100">
            <a:solidFill>
              <a:srgbClr val="C0504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dirty="0"/>
          </a:p>
        </p:txBody>
      </p:sp>
      <p:sp>
        <p:nvSpPr>
          <p:cNvPr id="14" name="Rectángulo 13">
            <a:extLst>
              <a:ext uri="{FF2B5EF4-FFF2-40B4-BE49-F238E27FC236}">
                <a16:creationId xmlns:a16="http://schemas.microsoft.com/office/drawing/2014/main" id="{49D0E69F-23D2-423A-993C-7091D5E4478F}"/>
              </a:ext>
            </a:extLst>
          </p:cNvPr>
          <p:cNvSpPr/>
          <p:nvPr/>
        </p:nvSpPr>
        <p:spPr>
          <a:xfrm>
            <a:off x="529762" y="3331191"/>
            <a:ext cx="2023284" cy="764799"/>
          </a:xfrm>
          <a:prstGeom prst="rect">
            <a:avLst/>
          </a:prstGeom>
          <a:solidFill>
            <a:srgbClr val="C050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t>2. desviaciones de las intervenciones previstas</a:t>
            </a:r>
            <a:endParaRPr lang="es-PE" sz="1400" dirty="0"/>
          </a:p>
        </p:txBody>
      </p:sp>
      <p:sp>
        <p:nvSpPr>
          <p:cNvPr id="15" name="Rectángulo 14">
            <a:extLst>
              <a:ext uri="{FF2B5EF4-FFF2-40B4-BE49-F238E27FC236}">
                <a16:creationId xmlns:a16="http://schemas.microsoft.com/office/drawing/2014/main" id="{98BFBED5-5AA2-48F8-947B-7B3E1C4067C1}"/>
              </a:ext>
            </a:extLst>
          </p:cNvPr>
          <p:cNvSpPr/>
          <p:nvPr/>
        </p:nvSpPr>
        <p:spPr>
          <a:xfrm>
            <a:off x="5306641" y="4914678"/>
            <a:ext cx="2374903" cy="417551"/>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Perdidas durante el estudio</a:t>
            </a:r>
            <a:endParaRPr lang="es-PE" sz="1300" dirty="0"/>
          </a:p>
        </p:txBody>
      </p:sp>
      <p:grpSp>
        <p:nvGrpSpPr>
          <p:cNvPr id="16" name="Grupo 15">
            <a:extLst>
              <a:ext uri="{FF2B5EF4-FFF2-40B4-BE49-F238E27FC236}">
                <a16:creationId xmlns:a16="http://schemas.microsoft.com/office/drawing/2014/main" id="{5B18C73C-1A05-4A14-90FF-9BEA361E54D0}"/>
              </a:ext>
            </a:extLst>
          </p:cNvPr>
          <p:cNvGrpSpPr/>
          <p:nvPr/>
        </p:nvGrpSpPr>
        <p:grpSpPr>
          <a:xfrm>
            <a:off x="3805842" y="723900"/>
            <a:ext cx="8259255" cy="5581942"/>
            <a:chOff x="3858596" y="1084385"/>
            <a:chExt cx="8259255" cy="5581942"/>
          </a:xfrm>
        </p:grpSpPr>
        <p:grpSp>
          <p:nvGrpSpPr>
            <p:cNvPr id="17" name="Grupo 16">
              <a:extLst>
                <a:ext uri="{FF2B5EF4-FFF2-40B4-BE49-F238E27FC236}">
                  <a16:creationId xmlns:a16="http://schemas.microsoft.com/office/drawing/2014/main" id="{6C55C3A2-81E1-43C0-8857-8D21243D86F8}"/>
                </a:ext>
              </a:extLst>
            </p:cNvPr>
            <p:cNvGrpSpPr/>
            <p:nvPr/>
          </p:nvGrpSpPr>
          <p:grpSpPr>
            <a:xfrm>
              <a:off x="3858596" y="1084385"/>
              <a:ext cx="7018954" cy="5581942"/>
              <a:chOff x="2829896" y="1145636"/>
              <a:chExt cx="7018954" cy="5581942"/>
            </a:xfrm>
          </p:grpSpPr>
          <p:pic>
            <p:nvPicPr>
              <p:cNvPr id="19" name="Imagen 18">
                <a:extLst>
                  <a:ext uri="{FF2B5EF4-FFF2-40B4-BE49-F238E27FC236}">
                    <a16:creationId xmlns:a16="http://schemas.microsoft.com/office/drawing/2014/main" id="{A8059B83-5FBB-4C28-8A3C-FBC5C51BA693}"/>
                  </a:ext>
                </a:extLst>
              </p:cNvPr>
              <p:cNvPicPr>
                <a:picLocks noChangeAspect="1"/>
              </p:cNvPicPr>
              <p:nvPr/>
            </p:nvPicPr>
            <p:blipFill rotWithShape="1">
              <a:blip r:embed="rId2"/>
              <a:srcRect l="50563" r="13659"/>
              <a:stretch/>
            </p:blipFill>
            <p:spPr>
              <a:xfrm>
                <a:off x="6929598" y="1145636"/>
                <a:ext cx="2919252" cy="5581942"/>
              </a:xfrm>
              <a:prstGeom prst="rect">
                <a:avLst/>
              </a:prstGeom>
            </p:spPr>
          </p:pic>
          <p:sp>
            <p:nvSpPr>
              <p:cNvPr id="20" name="Rectángulo 19">
                <a:extLst>
                  <a:ext uri="{FF2B5EF4-FFF2-40B4-BE49-F238E27FC236}">
                    <a16:creationId xmlns:a16="http://schemas.microsoft.com/office/drawing/2014/main" id="{399C9B60-B50E-4C52-A374-81BB48BAF41B}"/>
                  </a:ext>
                </a:extLst>
              </p:cNvPr>
              <p:cNvSpPr/>
              <p:nvPr/>
            </p:nvSpPr>
            <p:spPr>
              <a:xfrm>
                <a:off x="4330697" y="1712899"/>
                <a:ext cx="2374903" cy="515952"/>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t>Generación de la secuencia aleatoria</a:t>
                </a:r>
                <a:endParaRPr lang="es-PE" sz="1400" dirty="0"/>
              </a:p>
            </p:txBody>
          </p:sp>
          <p:sp>
            <p:nvSpPr>
              <p:cNvPr id="21" name="Rectángulo 20">
                <a:extLst>
                  <a:ext uri="{FF2B5EF4-FFF2-40B4-BE49-F238E27FC236}">
                    <a16:creationId xmlns:a16="http://schemas.microsoft.com/office/drawing/2014/main" id="{78353BDE-D49A-4833-84C5-C19064FDA4F1}"/>
                  </a:ext>
                </a:extLst>
              </p:cNvPr>
              <p:cNvSpPr/>
              <p:nvPr/>
            </p:nvSpPr>
            <p:spPr>
              <a:xfrm>
                <a:off x="4330697" y="2285834"/>
                <a:ext cx="2374903" cy="515952"/>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a:t>Ocultamiento de la selección aleatoria</a:t>
                </a:r>
                <a:endParaRPr lang="es-PE" sz="1400" dirty="0"/>
              </a:p>
            </p:txBody>
          </p:sp>
          <p:sp>
            <p:nvSpPr>
              <p:cNvPr id="22" name="Rectángulo 21">
                <a:extLst>
                  <a:ext uri="{FF2B5EF4-FFF2-40B4-BE49-F238E27FC236}">
                    <a16:creationId xmlns:a16="http://schemas.microsoft.com/office/drawing/2014/main" id="{EDDA60DB-0870-46D0-A8DF-70D4E12A3A6D}"/>
                  </a:ext>
                </a:extLst>
              </p:cNvPr>
              <p:cNvSpPr/>
              <p:nvPr/>
            </p:nvSpPr>
            <p:spPr>
              <a:xfrm>
                <a:off x="4330697" y="3337178"/>
                <a:ext cx="2374903" cy="411353"/>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Cegamiento de los participantes</a:t>
                </a:r>
                <a:endParaRPr lang="es-PE" sz="1300" dirty="0"/>
              </a:p>
            </p:txBody>
          </p:sp>
          <p:sp>
            <p:nvSpPr>
              <p:cNvPr id="23" name="Rectángulo 22">
                <a:extLst>
                  <a:ext uri="{FF2B5EF4-FFF2-40B4-BE49-F238E27FC236}">
                    <a16:creationId xmlns:a16="http://schemas.microsoft.com/office/drawing/2014/main" id="{21684900-3BD3-4906-BCAD-13AB8AAE40D5}"/>
                  </a:ext>
                </a:extLst>
              </p:cNvPr>
              <p:cNvSpPr/>
              <p:nvPr/>
            </p:nvSpPr>
            <p:spPr>
              <a:xfrm>
                <a:off x="4330696" y="4675390"/>
                <a:ext cx="2374903" cy="417551"/>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Desviaciones no previstas de la intervención</a:t>
                </a:r>
                <a:endParaRPr lang="es-PE" sz="1300" dirty="0"/>
              </a:p>
            </p:txBody>
          </p:sp>
          <p:sp>
            <p:nvSpPr>
              <p:cNvPr id="24" name="Rectángulo 23">
                <a:extLst>
                  <a:ext uri="{FF2B5EF4-FFF2-40B4-BE49-F238E27FC236}">
                    <a16:creationId xmlns:a16="http://schemas.microsoft.com/office/drawing/2014/main" id="{D06A3138-6F96-49BF-B96B-DEEF9F1B7B6B}"/>
                  </a:ext>
                </a:extLst>
              </p:cNvPr>
              <p:cNvSpPr/>
              <p:nvPr/>
            </p:nvSpPr>
            <p:spPr>
              <a:xfrm>
                <a:off x="4330697" y="4003184"/>
                <a:ext cx="2374903" cy="417552"/>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Cegamiento del personal que administra la intervención</a:t>
                </a:r>
                <a:endParaRPr lang="es-PE" sz="1300" dirty="0"/>
              </a:p>
            </p:txBody>
          </p:sp>
          <p:sp>
            <p:nvSpPr>
              <p:cNvPr id="25" name="Rectángulo 24">
                <a:extLst>
                  <a:ext uri="{FF2B5EF4-FFF2-40B4-BE49-F238E27FC236}">
                    <a16:creationId xmlns:a16="http://schemas.microsoft.com/office/drawing/2014/main" id="{BEF600EE-83CD-4C7E-90E4-19FDEB1CEF7B}"/>
                  </a:ext>
                </a:extLst>
              </p:cNvPr>
              <p:cNvSpPr/>
              <p:nvPr/>
            </p:nvSpPr>
            <p:spPr>
              <a:xfrm>
                <a:off x="4340866" y="5797156"/>
                <a:ext cx="2374903" cy="417551"/>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Medición del desenlace</a:t>
                </a:r>
                <a:endParaRPr lang="es-PE" sz="1300" dirty="0"/>
              </a:p>
            </p:txBody>
          </p:sp>
          <p:sp>
            <p:nvSpPr>
              <p:cNvPr id="26" name="Rectángulo 25">
                <a:extLst>
                  <a:ext uri="{FF2B5EF4-FFF2-40B4-BE49-F238E27FC236}">
                    <a16:creationId xmlns:a16="http://schemas.microsoft.com/office/drawing/2014/main" id="{F18DF46E-9DBC-43BD-912D-B3776ADBAC4C}"/>
                  </a:ext>
                </a:extLst>
              </p:cNvPr>
              <p:cNvSpPr/>
              <p:nvPr/>
            </p:nvSpPr>
            <p:spPr>
              <a:xfrm>
                <a:off x="4340866" y="6251780"/>
                <a:ext cx="2374903" cy="417551"/>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Reporte de los análisis</a:t>
                </a:r>
                <a:endParaRPr lang="es-PE" sz="1300" dirty="0"/>
              </a:p>
            </p:txBody>
          </p:sp>
          <p:pic>
            <p:nvPicPr>
              <p:cNvPr id="27" name="Imagen 26">
                <a:extLst>
                  <a:ext uri="{FF2B5EF4-FFF2-40B4-BE49-F238E27FC236}">
                    <a16:creationId xmlns:a16="http://schemas.microsoft.com/office/drawing/2014/main" id="{20176647-F40A-4331-98A7-6B66F65AB918}"/>
                  </a:ext>
                </a:extLst>
              </p:cNvPr>
              <p:cNvPicPr>
                <a:picLocks noChangeAspect="1"/>
              </p:cNvPicPr>
              <p:nvPr/>
            </p:nvPicPr>
            <p:blipFill rotWithShape="1">
              <a:blip r:embed="rId2"/>
              <a:srcRect r="81482"/>
              <a:stretch/>
            </p:blipFill>
            <p:spPr>
              <a:xfrm>
                <a:off x="2829896" y="1359052"/>
                <a:ext cx="1510970" cy="5310280"/>
              </a:xfrm>
              <a:prstGeom prst="rect">
                <a:avLst/>
              </a:prstGeom>
            </p:spPr>
          </p:pic>
        </p:grpSp>
        <p:sp>
          <p:nvSpPr>
            <p:cNvPr id="18" name="Rectángulo 17">
              <a:extLst>
                <a:ext uri="{FF2B5EF4-FFF2-40B4-BE49-F238E27FC236}">
                  <a16:creationId xmlns:a16="http://schemas.microsoft.com/office/drawing/2014/main" id="{A7DBC7EC-98A5-476C-8B73-5ECADC35A5D2}"/>
                </a:ext>
              </a:extLst>
            </p:cNvPr>
            <p:cNvSpPr/>
            <p:nvPr/>
          </p:nvSpPr>
          <p:spPr>
            <a:xfrm>
              <a:off x="10930399" y="5280437"/>
              <a:ext cx="1187452" cy="824554"/>
            </a:xfrm>
            <a:prstGeom prst="rect">
              <a:avLst/>
            </a:prstGeom>
            <a:solidFill>
              <a:srgbClr val="1136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300" dirty="0"/>
                <a:t>Cegamiento de los evaluadores del desenlace</a:t>
              </a:r>
              <a:endParaRPr lang="es-PE" sz="1300" dirty="0"/>
            </a:p>
          </p:txBody>
        </p:sp>
      </p:grpSp>
    </p:spTree>
    <p:extLst>
      <p:ext uri="{BB962C8B-B14F-4D97-AF65-F5344CB8AC3E}">
        <p14:creationId xmlns:p14="http://schemas.microsoft.com/office/powerpoint/2010/main" val="2969679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005300F-0973-476F-BEAC-988DB130B1FD}"/>
              </a:ext>
            </a:extLst>
          </p:cNvPr>
          <p:cNvSpPr>
            <a:spLocks noGrp="1"/>
          </p:cNvSpPr>
          <p:nvPr>
            <p:ph type="body" idx="1"/>
          </p:nvPr>
        </p:nvSpPr>
        <p:spPr>
          <a:xfrm>
            <a:off x="838200" y="1310054"/>
            <a:ext cx="10515599" cy="4866909"/>
          </a:xfrm>
        </p:spPr>
        <p:txBody>
          <a:bodyPr/>
          <a:lstStyle/>
          <a:p>
            <a:r>
              <a:rPr lang="es-PE" b="1" dirty="0"/>
              <a:t>Paso 3. Calcular el ATE</a:t>
            </a:r>
          </a:p>
        </p:txBody>
      </p:sp>
      <p:sp>
        <p:nvSpPr>
          <p:cNvPr id="3" name="Título 2">
            <a:extLst>
              <a:ext uri="{FF2B5EF4-FFF2-40B4-BE49-F238E27FC236}">
                <a16:creationId xmlns:a16="http://schemas.microsoft.com/office/drawing/2014/main" id="{103FBE35-491F-41A2-8FDB-17FC3CDE78E0}"/>
              </a:ext>
            </a:extLst>
          </p:cNvPr>
          <p:cNvSpPr>
            <a:spLocks noGrp="1"/>
          </p:cNvSpPr>
          <p:nvPr>
            <p:ph type="title"/>
          </p:nvPr>
        </p:nvSpPr>
        <p:spPr/>
        <p:txBody>
          <a:bodyPr/>
          <a:lstStyle/>
          <a:p>
            <a:r>
              <a:rPr lang="es-PE" dirty="0"/>
              <a:t>Control de confusión en ECA</a:t>
            </a:r>
          </a:p>
        </p:txBody>
      </p:sp>
      <p:pic>
        <p:nvPicPr>
          <p:cNvPr id="4" name="Imagen 3">
            <a:extLst>
              <a:ext uri="{FF2B5EF4-FFF2-40B4-BE49-F238E27FC236}">
                <a16:creationId xmlns:a16="http://schemas.microsoft.com/office/drawing/2014/main" id="{F7C2BD51-C2A2-4002-B6BF-B6067B81DD5D}"/>
              </a:ext>
            </a:extLst>
          </p:cNvPr>
          <p:cNvPicPr>
            <a:picLocks noChangeAspect="1"/>
          </p:cNvPicPr>
          <p:nvPr/>
        </p:nvPicPr>
        <p:blipFill rotWithShape="1">
          <a:blip r:embed="rId2"/>
          <a:srcRect l="-1" t="9121" r="55"/>
          <a:stretch/>
        </p:blipFill>
        <p:spPr>
          <a:xfrm>
            <a:off x="888084" y="2582989"/>
            <a:ext cx="6981031" cy="3696275"/>
          </a:xfrm>
          <a:prstGeom prst="rect">
            <a:avLst/>
          </a:prstGeom>
        </p:spPr>
      </p:pic>
    </p:spTree>
    <p:extLst>
      <p:ext uri="{BB962C8B-B14F-4D97-AF65-F5344CB8AC3E}">
        <p14:creationId xmlns:p14="http://schemas.microsoft.com/office/powerpoint/2010/main" val="2705365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Visual illustrations of the basic concepts in causal inference. (A)... |  Download Scientific Diagram">
            <a:extLst>
              <a:ext uri="{FF2B5EF4-FFF2-40B4-BE49-F238E27FC236}">
                <a16:creationId xmlns:a16="http://schemas.microsoft.com/office/drawing/2014/main" id="{B4658DF8-4B6E-49AC-95F6-ED78005C4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504825"/>
            <a:ext cx="8096250" cy="584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1853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7B068E03-8975-4EE7-9483-592B3CABFEB1}"/>
              </a:ext>
            </a:extLst>
          </p:cNvPr>
          <p:cNvSpPr>
            <a:spLocks noGrp="1"/>
          </p:cNvSpPr>
          <p:nvPr>
            <p:ph type="title"/>
          </p:nvPr>
        </p:nvSpPr>
        <p:spPr>
          <a:xfrm>
            <a:off x="838200" y="699983"/>
            <a:ext cx="11005038" cy="423064"/>
          </a:xfrm>
        </p:spPr>
        <p:txBody>
          <a:bodyPr/>
          <a:lstStyle/>
          <a:p>
            <a:r>
              <a:rPr lang="es-PE" dirty="0"/>
              <a:t>Es necesario 1 solo contrafactual por pacientes</a:t>
            </a:r>
          </a:p>
        </p:txBody>
      </p:sp>
      <p:pic>
        <p:nvPicPr>
          <p:cNvPr id="22530" name="Picture 2" descr="Prueba controlada aleatorizada - Wikipedia, la enciclopedia libre">
            <a:extLst>
              <a:ext uri="{FF2B5EF4-FFF2-40B4-BE49-F238E27FC236}">
                <a16:creationId xmlns:a16="http://schemas.microsoft.com/office/drawing/2014/main" id="{B86B849C-8886-400B-8D33-422A03BB002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765"/>
          <a:stretch/>
        </p:blipFill>
        <p:spPr bwMode="auto">
          <a:xfrm>
            <a:off x="2822331" y="1366913"/>
            <a:ext cx="6892071" cy="5491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5334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14E6EAB2-C35F-46AA-A8CD-899D15363BD9}"/>
              </a:ext>
            </a:extLst>
          </p:cNvPr>
          <p:cNvSpPr>
            <a:spLocks noGrp="1"/>
          </p:cNvSpPr>
          <p:nvPr>
            <p:ph type="title"/>
          </p:nvPr>
        </p:nvSpPr>
        <p:spPr>
          <a:xfrm>
            <a:off x="398586" y="3794875"/>
            <a:ext cx="4999892" cy="423064"/>
          </a:xfrm>
        </p:spPr>
        <p:txBody>
          <a:bodyPr/>
          <a:lstStyle/>
          <a:p>
            <a:pPr algn="ctr"/>
            <a:r>
              <a:rPr lang="es-PE" dirty="0"/>
              <a:t>Control de confusión</a:t>
            </a:r>
            <a:br>
              <a:rPr lang="es-PE" dirty="0"/>
            </a:br>
            <a:r>
              <a:rPr lang="es-PE" dirty="0"/>
              <a:t>con datos </a:t>
            </a:r>
            <a:br>
              <a:rPr lang="es-PE" dirty="0"/>
            </a:br>
            <a:r>
              <a:rPr lang="es-PE" dirty="0"/>
              <a:t>observacionales</a:t>
            </a:r>
          </a:p>
        </p:txBody>
      </p:sp>
      <p:pic>
        <p:nvPicPr>
          <p:cNvPr id="4" name="Imagen 3">
            <a:extLst>
              <a:ext uri="{FF2B5EF4-FFF2-40B4-BE49-F238E27FC236}">
                <a16:creationId xmlns:a16="http://schemas.microsoft.com/office/drawing/2014/main" id="{70732818-61C2-433D-B259-614D06BBDE4D}"/>
              </a:ext>
            </a:extLst>
          </p:cNvPr>
          <p:cNvPicPr>
            <a:picLocks noChangeAspect="1"/>
          </p:cNvPicPr>
          <p:nvPr/>
        </p:nvPicPr>
        <p:blipFill>
          <a:blip r:embed="rId2"/>
          <a:stretch>
            <a:fillRect/>
          </a:stretch>
        </p:blipFill>
        <p:spPr>
          <a:xfrm>
            <a:off x="938589" y="861637"/>
            <a:ext cx="3979210" cy="1732095"/>
          </a:xfrm>
          <a:prstGeom prst="rect">
            <a:avLst/>
          </a:prstGeom>
        </p:spPr>
      </p:pic>
      <p:pic>
        <p:nvPicPr>
          <p:cNvPr id="7" name="Imagen 6">
            <a:extLst>
              <a:ext uri="{FF2B5EF4-FFF2-40B4-BE49-F238E27FC236}">
                <a16:creationId xmlns:a16="http://schemas.microsoft.com/office/drawing/2014/main" id="{28444790-9D3C-4C9B-894E-ECBD3F251FB4}"/>
              </a:ext>
            </a:extLst>
          </p:cNvPr>
          <p:cNvPicPr>
            <a:picLocks noChangeAspect="1"/>
          </p:cNvPicPr>
          <p:nvPr/>
        </p:nvPicPr>
        <p:blipFill>
          <a:blip r:embed="rId3"/>
          <a:stretch>
            <a:fillRect/>
          </a:stretch>
        </p:blipFill>
        <p:spPr>
          <a:xfrm>
            <a:off x="5319283" y="0"/>
            <a:ext cx="6336450" cy="6858000"/>
          </a:xfrm>
          <a:prstGeom prst="rect">
            <a:avLst/>
          </a:prstGeom>
        </p:spPr>
      </p:pic>
      <p:sp>
        <p:nvSpPr>
          <p:cNvPr id="10" name="Título 2">
            <a:extLst>
              <a:ext uri="{FF2B5EF4-FFF2-40B4-BE49-F238E27FC236}">
                <a16:creationId xmlns:a16="http://schemas.microsoft.com/office/drawing/2014/main" id="{050F7A26-C111-4684-897C-DD68A1A80B11}"/>
              </a:ext>
            </a:extLst>
          </p:cNvPr>
          <p:cNvSpPr txBox="1">
            <a:spLocks/>
          </p:cNvSpPr>
          <p:nvPr/>
        </p:nvSpPr>
        <p:spPr>
          <a:xfrm>
            <a:off x="319391" y="5138070"/>
            <a:ext cx="4999892" cy="423064"/>
          </a:xfrm>
          <a:prstGeom prst="rect">
            <a:avLst/>
          </a:prstGeom>
          <a:noFill/>
          <a:ln>
            <a:noFill/>
          </a:ln>
        </p:spPr>
        <p:txBody>
          <a:bodyPr spcFirstLastPara="1" vert="horz" wrap="square" lIns="91425" tIns="45700" rIns="91425" bIns="45700" rtlCol="0" anchor="ctr" anchorCtr="0">
            <a:noAutofit/>
          </a:bodyPr>
          <a:lstStyle>
            <a:lvl1pPr lvl="0" algn="l" defTabSz="914400" rtl="0" eaLnBrk="1" latinLnBrk="0" hangingPunct="1">
              <a:lnSpc>
                <a:spcPct val="90000"/>
              </a:lnSpc>
              <a:spcBef>
                <a:spcPts val="0"/>
              </a:spcBef>
              <a:spcAft>
                <a:spcPts val="0"/>
              </a:spcAft>
              <a:buClr>
                <a:schemeClr val="lt1"/>
              </a:buClr>
              <a:buSzPts val="3200"/>
              <a:buFont typeface="Arial Black"/>
              <a:buNone/>
              <a:defRPr sz="3200" b="0" i="0" kern="1200">
                <a:solidFill>
                  <a:schemeClr val="tx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lgn="ctr"/>
            <a:r>
              <a:rPr lang="es-PE" sz="1600" dirty="0"/>
              <a:t>No olvides el </a:t>
            </a:r>
            <a:r>
              <a:rPr lang="es-PE" sz="1600" dirty="0" err="1"/>
              <a:t>matching</a:t>
            </a:r>
            <a:r>
              <a:rPr lang="es-PE" sz="1600" dirty="0"/>
              <a:t>, la restricción y la estratificación</a:t>
            </a:r>
          </a:p>
        </p:txBody>
      </p:sp>
    </p:spTree>
    <p:extLst>
      <p:ext uri="{BB962C8B-B14F-4D97-AF65-F5344CB8AC3E}">
        <p14:creationId xmlns:p14="http://schemas.microsoft.com/office/powerpoint/2010/main" val="1069405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4" name="Picture 4" descr="Bart golpea a Homero Simpson con una silla | Memespedia | Fandom">
            <a:extLst>
              <a:ext uri="{FF2B5EF4-FFF2-40B4-BE49-F238E27FC236}">
                <a16:creationId xmlns:a16="http://schemas.microsoft.com/office/drawing/2014/main" id="{78C8ADFE-BA11-4401-B9BD-907B816550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9891" y="1633170"/>
            <a:ext cx="4155831" cy="3116873"/>
          </a:xfrm>
          <a:prstGeom prst="rect">
            <a:avLst/>
          </a:prstGeom>
          <a:noFill/>
          <a:extLst>
            <a:ext uri="{909E8E84-426E-40DD-AFC4-6F175D3DCCD1}">
              <a14:hiddenFill xmlns:a14="http://schemas.microsoft.com/office/drawing/2010/main">
                <a:solidFill>
                  <a:srgbClr val="FFFFFF"/>
                </a:solidFill>
              </a14:hiddenFill>
            </a:ext>
          </a:extLst>
        </p:spPr>
      </p:pic>
      <p:pic>
        <p:nvPicPr>
          <p:cNvPr id="15368" name="Picture 8" descr="LOS SIMPSON: 30 AÑOS EN 30 MOMENTOS - El Palomitrón">
            <a:extLst>
              <a:ext uri="{FF2B5EF4-FFF2-40B4-BE49-F238E27FC236}">
                <a16:creationId xmlns:a16="http://schemas.microsoft.com/office/drawing/2014/main" id="{70B5D30D-F045-4DCB-8A73-1E33B624170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476" r="12812"/>
          <a:stretch/>
        </p:blipFill>
        <p:spPr bwMode="auto">
          <a:xfrm>
            <a:off x="6846280" y="1633170"/>
            <a:ext cx="4155829" cy="3116873"/>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3CAE5164-FBE0-45DF-9C94-00404E9124FA}"/>
              </a:ext>
            </a:extLst>
          </p:cNvPr>
          <p:cNvSpPr txBox="1"/>
          <p:nvPr/>
        </p:nvSpPr>
        <p:spPr>
          <a:xfrm>
            <a:off x="2842846" y="2143393"/>
            <a:ext cx="3050197" cy="461665"/>
          </a:xfrm>
          <a:prstGeom prst="rect">
            <a:avLst/>
          </a:prstGeom>
          <a:noFill/>
        </p:spPr>
        <p:txBody>
          <a:bodyPr wrap="square">
            <a:spAutoFit/>
          </a:bodyPr>
          <a:lstStyle/>
          <a:p>
            <a:pPr algn="ctr"/>
            <a:r>
              <a:rPr lang="es-PE" sz="2400" b="1" dirty="0">
                <a:ln>
                  <a:solidFill>
                    <a:sysClr val="windowText" lastClr="000000"/>
                  </a:solidFill>
                </a:ln>
                <a:solidFill>
                  <a:schemeClr val="bg1"/>
                </a:solidFill>
                <a:latin typeface="Bernard MT Condensed" panose="02050806060905020404" pitchFamily="18" charset="0"/>
              </a:rPr>
              <a:t>Aleatorización</a:t>
            </a:r>
          </a:p>
        </p:txBody>
      </p:sp>
      <p:sp>
        <p:nvSpPr>
          <p:cNvPr id="9" name="Título 1">
            <a:extLst>
              <a:ext uri="{FF2B5EF4-FFF2-40B4-BE49-F238E27FC236}">
                <a16:creationId xmlns:a16="http://schemas.microsoft.com/office/drawing/2014/main" id="{3DA600A9-7F03-4541-B130-178FB3BEF7B8}"/>
              </a:ext>
            </a:extLst>
          </p:cNvPr>
          <p:cNvSpPr txBox="1">
            <a:spLocks/>
          </p:cNvSpPr>
          <p:nvPr/>
        </p:nvSpPr>
        <p:spPr>
          <a:xfrm>
            <a:off x="1462320" y="3868218"/>
            <a:ext cx="1136112" cy="28135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1200" b="1" dirty="0">
                <a:solidFill>
                  <a:schemeClr val="bg1"/>
                </a:solidFill>
                <a:latin typeface="Bernard MT Condensed" panose="02050806060905020404" pitchFamily="18" charset="0"/>
              </a:rPr>
              <a:t>Confusión</a:t>
            </a:r>
          </a:p>
        </p:txBody>
      </p:sp>
      <p:sp>
        <p:nvSpPr>
          <p:cNvPr id="10" name="Título 1">
            <a:extLst>
              <a:ext uri="{FF2B5EF4-FFF2-40B4-BE49-F238E27FC236}">
                <a16:creationId xmlns:a16="http://schemas.microsoft.com/office/drawing/2014/main" id="{07230986-D909-4076-B8A2-30C9E6EEEEE6}"/>
              </a:ext>
            </a:extLst>
          </p:cNvPr>
          <p:cNvSpPr txBox="1">
            <a:spLocks/>
          </p:cNvSpPr>
          <p:nvPr/>
        </p:nvSpPr>
        <p:spPr>
          <a:xfrm>
            <a:off x="7549527" y="2323703"/>
            <a:ext cx="1136112" cy="28135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1200" b="1" dirty="0">
                <a:solidFill>
                  <a:schemeClr val="bg1"/>
                </a:solidFill>
                <a:latin typeface="Bernard MT Condensed" panose="02050806060905020404" pitchFamily="18" charset="0"/>
              </a:rPr>
              <a:t>Confusión</a:t>
            </a:r>
          </a:p>
        </p:txBody>
      </p:sp>
      <p:sp>
        <p:nvSpPr>
          <p:cNvPr id="11" name="CuadroTexto 10">
            <a:extLst>
              <a:ext uri="{FF2B5EF4-FFF2-40B4-BE49-F238E27FC236}">
                <a16:creationId xmlns:a16="http://schemas.microsoft.com/office/drawing/2014/main" id="{5EB31BB8-C0F4-4012-BE72-6650A8638CB0}"/>
              </a:ext>
            </a:extLst>
          </p:cNvPr>
          <p:cNvSpPr txBox="1"/>
          <p:nvPr/>
        </p:nvSpPr>
        <p:spPr>
          <a:xfrm>
            <a:off x="8314592" y="3778062"/>
            <a:ext cx="3050197" cy="461665"/>
          </a:xfrm>
          <a:prstGeom prst="rect">
            <a:avLst/>
          </a:prstGeom>
          <a:noFill/>
        </p:spPr>
        <p:txBody>
          <a:bodyPr wrap="square">
            <a:spAutoFit/>
          </a:bodyPr>
          <a:lstStyle/>
          <a:p>
            <a:pPr algn="ctr"/>
            <a:r>
              <a:rPr lang="es-PE" sz="2400" b="1" dirty="0">
                <a:ln>
                  <a:solidFill>
                    <a:sysClr val="windowText" lastClr="000000"/>
                  </a:solidFill>
                </a:ln>
                <a:solidFill>
                  <a:schemeClr val="bg1"/>
                </a:solidFill>
                <a:latin typeface="Bernard MT Condensed" panose="02050806060905020404" pitchFamily="18" charset="0"/>
              </a:rPr>
              <a:t>Otros métodos</a:t>
            </a:r>
          </a:p>
        </p:txBody>
      </p:sp>
    </p:spTree>
    <p:extLst>
      <p:ext uri="{BB962C8B-B14F-4D97-AF65-F5344CB8AC3E}">
        <p14:creationId xmlns:p14="http://schemas.microsoft.com/office/powerpoint/2010/main" val="2689455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6580435-0895-416B-B274-77392B2854E1}"/>
              </a:ext>
            </a:extLst>
          </p:cNvPr>
          <p:cNvSpPr>
            <a:spLocks noGrp="1"/>
          </p:cNvSpPr>
          <p:nvPr>
            <p:ph type="body" idx="1"/>
          </p:nvPr>
        </p:nvSpPr>
        <p:spPr>
          <a:xfrm>
            <a:off x="8050823" y="1825625"/>
            <a:ext cx="3302976" cy="4351338"/>
          </a:xfrm>
        </p:spPr>
        <p:txBody>
          <a:bodyPr>
            <a:normAutofit/>
          </a:bodyPr>
          <a:lstStyle/>
          <a:p>
            <a:r>
              <a:rPr lang="es-PE" sz="2000" dirty="0"/>
              <a:t>Aún puedes calcular el ATE en solo adultos mayores</a:t>
            </a:r>
          </a:p>
        </p:txBody>
      </p:sp>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Restricción</a:t>
            </a:r>
          </a:p>
        </p:txBody>
      </p:sp>
      <p:pic>
        <p:nvPicPr>
          <p:cNvPr id="5" name="Imagen 4">
            <a:extLst>
              <a:ext uri="{FF2B5EF4-FFF2-40B4-BE49-F238E27FC236}">
                <a16:creationId xmlns:a16="http://schemas.microsoft.com/office/drawing/2014/main" id="{BD9426C5-CB2B-494F-9CA4-40E96AF4D445}"/>
              </a:ext>
            </a:extLst>
          </p:cNvPr>
          <p:cNvPicPr>
            <a:picLocks noChangeAspect="1"/>
          </p:cNvPicPr>
          <p:nvPr/>
        </p:nvPicPr>
        <p:blipFill>
          <a:blip r:embed="rId2"/>
          <a:stretch>
            <a:fillRect/>
          </a:stretch>
        </p:blipFill>
        <p:spPr>
          <a:xfrm>
            <a:off x="838199" y="1322944"/>
            <a:ext cx="6969369" cy="5279256"/>
          </a:xfrm>
          <a:prstGeom prst="rect">
            <a:avLst/>
          </a:prstGeom>
        </p:spPr>
      </p:pic>
      <p:cxnSp>
        <p:nvCxnSpPr>
          <p:cNvPr id="7" name="Conector recto 6">
            <a:extLst>
              <a:ext uri="{FF2B5EF4-FFF2-40B4-BE49-F238E27FC236}">
                <a16:creationId xmlns:a16="http://schemas.microsoft.com/office/drawing/2014/main" id="{1B916213-10A2-41A4-AAE0-6AD0120CD8CE}"/>
              </a:ext>
            </a:extLst>
          </p:cNvPr>
          <p:cNvCxnSpPr/>
          <p:nvPr/>
        </p:nvCxnSpPr>
        <p:spPr>
          <a:xfrm>
            <a:off x="1081454" y="4756640"/>
            <a:ext cx="6453554"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1FEB786A-9728-4D27-B8C3-092FE1481C1D}"/>
              </a:ext>
            </a:extLst>
          </p:cNvPr>
          <p:cNvCxnSpPr/>
          <p:nvPr/>
        </p:nvCxnSpPr>
        <p:spPr>
          <a:xfrm>
            <a:off x="1081454" y="5181602"/>
            <a:ext cx="6453554"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2C33FD17-4B52-4436-985B-EB965C810A7D}"/>
              </a:ext>
            </a:extLst>
          </p:cNvPr>
          <p:cNvCxnSpPr/>
          <p:nvPr/>
        </p:nvCxnSpPr>
        <p:spPr>
          <a:xfrm>
            <a:off x="1081454" y="5553809"/>
            <a:ext cx="6453554"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3FA82C4E-9137-4775-98D9-946E97B9D67C}"/>
              </a:ext>
            </a:extLst>
          </p:cNvPr>
          <p:cNvCxnSpPr/>
          <p:nvPr/>
        </p:nvCxnSpPr>
        <p:spPr>
          <a:xfrm>
            <a:off x="1081454" y="5952393"/>
            <a:ext cx="6453554"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7353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Estratificación en ECA</a:t>
            </a:r>
          </a:p>
        </p:txBody>
      </p:sp>
      <p:pic>
        <p:nvPicPr>
          <p:cNvPr id="4" name="Imagen 3">
            <a:extLst>
              <a:ext uri="{FF2B5EF4-FFF2-40B4-BE49-F238E27FC236}">
                <a16:creationId xmlns:a16="http://schemas.microsoft.com/office/drawing/2014/main" id="{D4C0D6D2-7009-49B9-A186-191DD0B92ACA}"/>
              </a:ext>
            </a:extLst>
          </p:cNvPr>
          <p:cNvPicPr>
            <a:picLocks noChangeAspect="1"/>
          </p:cNvPicPr>
          <p:nvPr/>
        </p:nvPicPr>
        <p:blipFill>
          <a:blip r:embed="rId2"/>
          <a:stretch>
            <a:fillRect/>
          </a:stretch>
        </p:blipFill>
        <p:spPr>
          <a:xfrm>
            <a:off x="1018714" y="1302652"/>
            <a:ext cx="6799384" cy="5150493"/>
          </a:xfrm>
          <a:prstGeom prst="rect">
            <a:avLst/>
          </a:prstGeom>
        </p:spPr>
      </p:pic>
      <p:sp>
        <p:nvSpPr>
          <p:cNvPr id="5" name="Título 2">
            <a:extLst>
              <a:ext uri="{FF2B5EF4-FFF2-40B4-BE49-F238E27FC236}">
                <a16:creationId xmlns:a16="http://schemas.microsoft.com/office/drawing/2014/main" id="{4F94065F-1938-4D23-8103-5F556210F898}"/>
              </a:ext>
            </a:extLst>
          </p:cNvPr>
          <p:cNvSpPr txBox="1">
            <a:spLocks/>
          </p:cNvSpPr>
          <p:nvPr/>
        </p:nvSpPr>
        <p:spPr>
          <a:xfrm>
            <a:off x="8492084" y="1001209"/>
            <a:ext cx="3121268" cy="423064"/>
          </a:xfrm>
          <a:prstGeom prst="rect">
            <a:avLst/>
          </a:prstGeom>
          <a:noFill/>
          <a:ln>
            <a:noFill/>
          </a:ln>
        </p:spPr>
        <p:txBody>
          <a:bodyPr spcFirstLastPara="1" vert="horz" wrap="square" lIns="91425" tIns="45700" rIns="91425" bIns="45700" rtlCol="0" anchor="ctr" anchorCtr="0">
            <a:noAutofit/>
          </a:bodyPr>
          <a:lstStyle>
            <a:lvl1pPr lvl="0" algn="l" defTabSz="914400" rtl="0" eaLnBrk="1" latinLnBrk="0" hangingPunct="1">
              <a:lnSpc>
                <a:spcPct val="90000"/>
              </a:lnSpc>
              <a:spcBef>
                <a:spcPts val="0"/>
              </a:spcBef>
              <a:spcAft>
                <a:spcPts val="0"/>
              </a:spcAft>
              <a:buClr>
                <a:schemeClr val="lt1"/>
              </a:buClr>
              <a:buSzPts val="3200"/>
              <a:buFont typeface="Arial Black"/>
              <a:buNone/>
              <a:defRPr sz="3200" b="0" i="0" kern="1200">
                <a:solidFill>
                  <a:schemeClr val="tx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lgn="ctr"/>
            <a:r>
              <a:rPr lang="es-PE" sz="2400" dirty="0"/>
              <a:t>¿ATE en jóvenes y en ancianos?</a:t>
            </a:r>
          </a:p>
        </p:txBody>
      </p:sp>
    </p:spTree>
    <p:extLst>
      <p:ext uri="{BB962C8B-B14F-4D97-AF65-F5344CB8AC3E}">
        <p14:creationId xmlns:p14="http://schemas.microsoft.com/office/powerpoint/2010/main" val="580284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3"/>
            <a:ext cx="8305800" cy="423064"/>
          </a:xfrm>
        </p:spPr>
        <p:txBody>
          <a:bodyPr/>
          <a:lstStyle/>
          <a:p>
            <a:r>
              <a:rPr lang="es-PE" dirty="0"/>
              <a:t>Estratificación en observacionales</a:t>
            </a:r>
          </a:p>
        </p:txBody>
      </p:sp>
      <p:pic>
        <p:nvPicPr>
          <p:cNvPr id="11" name="Imagen 10">
            <a:extLst>
              <a:ext uri="{FF2B5EF4-FFF2-40B4-BE49-F238E27FC236}">
                <a16:creationId xmlns:a16="http://schemas.microsoft.com/office/drawing/2014/main" id="{CD224E6E-0DA5-4176-A455-3533EA99D3C4}"/>
              </a:ext>
            </a:extLst>
          </p:cNvPr>
          <p:cNvPicPr>
            <a:picLocks noChangeAspect="1"/>
          </p:cNvPicPr>
          <p:nvPr/>
        </p:nvPicPr>
        <p:blipFill>
          <a:blip r:embed="rId2"/>
          <a:stretch>
            <a:fillRect/>
          </a:stretch>
        </p:blipFill>
        <p:spPr>
          <a:xfrm>
            <a:off x="950193" y="1313371"/>
            <a:ext cx="6792273" cy="4934639"/>
          </a:xfrm>
          <a:prstGeom prst="rect">
            <a:avLst/>
          </a:prstGeom>
          <a:ln w="76200">
            <a:solidFill>
              <a:schemeClr val="tx1"/>
            </a:solidFill>
          </a:ln>
        </p:spPr>
      </p:pic>
      <p:pic>
        <p:nvPicPr>
          <p:cNvPr id="6" name="Imagen 5">
            <a:extLst>
              <a:ext uri="{FF2B5EF4-FFF2-40B4-BE49-F238E27FC236}">
                <a16:creationId xmlns:a16="http://schemas.microsoft.com/office/drawing/2014/main" id="{BB9981FA-526B-4CF5-BFDC-72A6702DA1C8}"/>
              </a:ext>
            </a:extLst>
          </p:cNvPr>
          <p:cNvPicPr>
            <a:picLocks noChangeAspect="1"/>
          </p:cNvPicPr>
          <p:nvPr/>
        </p:nvPicPr>
        <p:blipFill>
          <a:blip r:embed="rId3"/>
          <a:stretch>
            <a:fillRect/>
          </a:stretch>
        </p:blipFill>
        <p:spPr>
          <a:xfrm>
            <a:off x="7937709" y="1390932"/>
            <a:ext cx="4001058" cy="1209844"/>
          </a:xfrm>
          <a:prstGeom prst="rect">
            <a:avLst/>
          </a:prstGeom>
        </p:spPr>
      </p:pic>
      <p:pic>
        <p:nvPicPr>
          <p:cNvPr id="8" name="Imagen 7">
            <a:extLst>
              <a:ext uri="{FF2B5EF4-FFF2-40B4-BE49-F238E27FC236}">
                <a16:creationId xmlns:a16="http://schemas.microsoft.com/office/drawing/2014/main" id="{B0ADC660-B94A-40B7-88EA-9C4C8F688CE5}"/>
              </a:ext>
            </a:extLst>
          </p:cNvPr>
          <p:cNvPicPr>
            <a:picLocks noChangeAspect="1"/>
          </p:cNvPicPr>
          <p:nvPr/>
        </p:nvPicPr>
        <p:blipFill>
          <a:blip r:embed="rId4"/>
          <a:stretch>
            <a:fillRect/>
          </a:stretch>
        </p:blipFill>
        <p:spPr>
          <a:xfrm>
            <a:off x="7980577" y="3002517"/>
            <a:ext cx="3915321" cy="400106"/>
          </a:xfrm>
          <a:prstGeom prst="rect">
            <a:avLst/>
          </a:prstGeom>
        </p:spPr>
      </p:pic>
      <p:pic>
        <p:nvPicPr>
          <p:cNvPr id="10" name="Imagen 9">
            <a:extLst>
              <a:ext uri="{FF2B5EF4-FFF2-40B4-BE49-F238E27FC236}">
                <a16:creationId xmlns:a16="http://schemas.microsoft.com/office/drawing/2014/main" id="{1A480F2D-D3BE-4D3C-B587-7DD1845FFEEF}"/>
              </a:ext>
            </a:extLst>
          </p:cNvPr>
          <p:cNvPicPr>
            <a:picLocks noChangeAspect="1"/>
          </p:cNvPicPr>
          <p:nvPr/>
        </p:nvPicPr>
        <p:blipFill>
          <a:blip r:embed="rId5"/>
          <a:stretch>
            <a:fillRect/>
          </a:stretch>
        </p:blipFill>
        <p:spPr>
          <a:xfrm>
            <a:off x="7980577" y="3613639"/>
            <a:ext cx="4061958" cy="1616632"/>
          </a:xfrm>
          <a:prstGeom prst="rect">
            <a:avLst/>
          </a:prstGeom>
        </p:spPr>
      </p:pic>
    </p:spTree>
    <p:extLst>
      <p:ext uri="{BB962C8B-B14F-4D97-AF65-F5344CB8AC3E}">
        <p14:creationId xmlns:p14="http://schemas.microsoft.com/office/powerpoint/2010/main" val="38704244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Regresión multivariable</a:t>
            </a:r>
          </a:p>
        </p:txBody>
      </p:sp>
      <p:pic>
        <p:nvPicPr>
          <p:cNvPr id="16386" name="Picture 2" descr="Is this an example of interaction or confounding when adjusting for group  color. : r/AskStatistics">
            <a:extLst>
              <a:ext uri="{FF2B5EF4-FFF2-40B4-BE49-F238E27FC236}">
                <a16:creationId xmlns:a16="http://schemas.microsoft.com/office/drawing/2014/main" id="{5EA2DC55-F619-4DA8-8355-A1069B9688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6380" y="4141910"/>
            <a:ext cx="6096000" cy="2733675"/>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Association of estimated carotid-femoral pulse wave velocity with frailty  in middle-aged and older adults with cardiometabolic disease | Aging  Clinical and Experimental Research">
            <a:extLst>
              <a:ext uri="{FF2B5EF4-FFF2-40B4-BE49-F238E27FC236}">
                <a16:creationId xmlns:a16="http://schemas.microsoft.com/office/drawing/2014/main" id="{FF5BCF9F-3264-4068-88B8-CDA2ED6A7B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173" y="1495595"/>
            <a:ext cx="6524625" cy="2762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7267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A81EB620-DBAB-4C51-99AF-F77DA6E962D7}"/>
              </a:ext>
            </a:extLst>
          </p:cNvPr>
          <p:cNvSpPr>
            <a:spLocks noGrp="1"/>
          </p:cNvSpPr>
          <p:nvPr>
            <p:ph type="body" idx="1"/>
          </p:nvPr>
        </p:nvSpPr>
        <p:spPr>
          <a:xfrm>
            <a:off x="838200" y="905690"/>
            <a:ext cx="10515599" cy="5952309"/>
          </a:xfrm>
        </p:spPr>
        <p:txBody>
          <a:bodyPr>
            <a:normAutofit fontScale="55000" lnSpcReduction="20000"/>
          </a:bodyPr>
          <a:lstStyle/>
          <a:p>
            <a:r>
              <a:rPr lang="es-PE" dirty="0"/>
              <a:t>Y = X + w1 +w2+ w3 + w4+ w5 + w6</a:t>
            </a:r>
          </a:p>
          <a:p>
            <a:r>
              <a:rPr lang="es-PE" dirty="0"/>
              <a:t>-- &gt; </a:t>
            </a:r>
          </a:p>
          <a:p>
            <a:r>
              <a:rPr lang="es-PE" dirty="0"/>
              <a:t>Forward </a:t>
            </a:r>
            <a:r>
              <a:rPr lang="es-PE" dirty="0" err="1"/>
              <a:t>selection</a:t>
            </a:r>
            <a:r>
              <a:rPr lang="es-PE" dirty="0"/>
              <a:t> </a:t>
            </a:r>
          </a:p>
          <a:p>
            <a:pPr lvl="1"/>
            <a:r>
              <a:rPr lang="es-PE" dirty="0"/>
              <a:t>Y = X</a:t>
            </a:r>
          </a:p>
          <a:p>
            <a:pPr lvl="1"/>
            <a:r>
              <a:rPr lang="es-PE" dirty="0"/>
              <a:t>Y = X + </a:t>
            </a:r>
            <a:r>
              <a:rPr lang="es-PE" dirty="0" err="1"/>
              <a:t>Wn</a:t>
            </a:r>
            <a:r>
              <a:rPr lang="es-PE" dirty="0"/>
              <a:t> (test </a:t>
            </a:r>
            <a:r>
              <a:rPr lang="es-PE" dirty="0" err="1"/>
              <a:t>wald</a:t>
            </a:r>
            <a:r>
              <a:rPr lang="es-PE" dirty="0"/>
              <a:t>) </a:t>
            </a:r>
          </a:p>
          <a:p>
            <a:pPr lvl="1"/>
            <a:r>
              <a:rPr lang="es-PE" dirty="0"/>
              <a:t>Y = X + w4 + </a:t>
            </a:r>
            <a:r>
              <a:rPr lang="es-PE" dirty="0" err="1"/>
              <a:t>Wn</a:t>
            </a:r>
            <a:endParaRPr lang="es-PE" dirty="0"/>
          </a:p>
          <a:p>
            <a:pPr lvl="1"/>
            <a:r>
              <a:rPr lang="es-PE" dirty="0"/>
              <a:t>Y = X + w4 + W2</a:t>
            </a:r>
          </a:p>
          <a:p>
            <a:endParaRPr lang="es-PE" dirty="0"/>
          </a:p>
          <a:p>
            <a:r>
              <a:rPr lang="es-PE" dirty="0" err="1"/>
              <a:t>Backward</a:t>
            </a:r>
            <a:r>
              <a:rPr lang="es-PE" dirty="0"/>
              <a:t> </a:t>
            </a:r>
            <a:r>
              <a:rPr lang="es-PE" dirty="0" err="1"/>
              <a:t>elimination</a:t>
            </a:r>
            <a:endParaRPr lang="es-PE" dirty="0"/>
          </a:p>
          <a:p>
            <a:pPr lvl="1"/>
            <a:r>
              <a:rPr lang="es-PE" dirty="0"/>
              <a:t>Y = X + w1 +w2+ w3 + w4+ w5 + w6</a:t>
            </a:r>
          </a:p>
          <a:p>
            <a:pPr lvl="1"/>
            <a:r>
              <a:rPr lang="es-PE" dirty="0"/>
              <a:t>Y = X + w1 +w2+ w3 + w4+ w5 </a:t>
            </a:r>
          </a:p>
          <a:p>
            <a:pPr lvl="1"/>
            <a:r>
              <a:rPr lang="es-PE" dirty="0"/>
              <a:t>Y = X + w2+ w3 + w4+ w5 </a:t>
            </a:r>
          </a:p>
          <a:p>
            <a:pPr lvl="1"/>
            <a:r>
              <a:rPr lang="es-PE" dirty="0"/>
              <a:t>Y = X + w2+ w4+ w5 </a:t>
            </a:r>
          </a:p>
          <a:p>
            <a:pPr lvl="1"/>
            <a:endParaRPr lang="es-PE" dirty="0"/>
          </a:p>
          <a:p>
            <a:r>
              <a:rPr lang="es-PE" dirty="0"/>
              <a:t>Forward </a:t>
            </a:r>
            <a:r>
              <a:rPr lang="es-PE" dirty="0" err="1"/>
              <a:t>selection</a:t>
            </a:r>
            <a:r>
              <a:rPr lang="es-PE" dirty="0"/>
              <a:t> eficiente </a:t>
            </a:r>
          </a:p>
          <a:p>
            <a:pPr lvl="1"/>
            <a:r>
              <a:rPr lang="es-PE" dirty="0"/>
              <a:t>Y = X</a:t>
            </a:r>
          </a:p>
          <a:p>
            <a:pPr lvl="1"/>
            <a:r>
              <a:rPr lang="es-PE" dirty="0"/>
              <a:t>Y = X + </a:t>
            </a:r>
            <a:r>
              <a:rPr lang="es-PE" dirty="0" err="1"/>
              <a:t>Wn</a:t>
            </a:r>
            <a:r>
              <a:rPr lang="es-PE" dirty="0"/>
              <a:t> (test </a:t>
            </a:r>
            <a:r>
              <a:rPr lang="es-PE" dirty="0" err="1"/>
              <a:t>wald</a:t>
            </a:r>
            <a:r>
              <a:rPr lang="es-PE" dirty="0"/>
              <a:t>) </a:t>
            </a:r>
          </a:p>
          <a:p>
            <a:pPr lvl="1"/>
            <a:r>
              <a:rPr lang="es-PE" dirty="0"/>
              <a:t>Y = X + w4 + </a:t>
            </a:r>
            <a:r>
              <a:rPr lang="es-PE" dirty="0" err="1"/>
              <a:t>Wn</a:t>
            </a:r>
            <a:endParaRPr lang="es-PE" dirty="0"/>
          </a:p>
          <a:p>
            <a:pPr lvl="1"/>
            <a:r>
              <a:rPr lang="es-PE" dirty="0"/>
              <a:t>Y = X + w4 + W2</a:t>
            </a:r>
          </a:p>
          <a:p>
            <a:pPr lvl="1"/>
            <a:endParaRPr lang="es-PE" dirty="0"/>
          </a:p>
          <a:p>
            <a:r>
              <a:rPr lang="es-PE" dirty="0"/>
              <a:t>Forward </a:t>
            </a:r>
            <a:r>
              <a:rPr lang="es-PE" dirty="0" err="1"/>
              <a:t>stepwise</a:t>
            </a:r>
            <a:r>
              <a:rPr lang="es-PE" dirty="0"/>
              <a:t> </a:t>
            </a:r>
            <a:r>
              <a:rPr lang="es-PE" dirty="0" err="1"/>
              <a:t>selection</a:t>
            </a:r>
            <a:r>
              <a:rPr lang="es-PE" dirty="0"/>
              <a:t> </a:t>
            </a:r>
          </a:p>
          <a:p>
            <a:r>
              <a:rPr lang="es-PE" dirty="0" err="1"/>
              <a:t>Backward</a:t>
            </a:r>
            <a:r>
              <a:rPr lang="es-PE" dirty="0"/>
              <a:t> </a:t>
            </a:r>
            <a:r>
              <a:rPr lang="es-PE" dirty="0" err="1"/>
              <a:t>stepwise</a:t>
            </a:r>
            <a:r>
              <a:rPr lang="es-PE" dirty="0"/>
              <a:t> </a:t>
            </a:r>
            <a:r>
              <a:rPr lang="es-PE" dirty="0" err="1"/>
              <a:t>elimination</a:t>
            </a:r>
            <a:endParaRPr lang="es-PE" dirty="0"/>
          </a:p>
          <a:p>
            <a:endParaRPr lang="es-PE" dirty="0"/>
          </a:p>
          <a:p>
            <a:endParaRPr lang="es-PE" dirty="0"/>
          </a:p>
          <a:p>
            <a:endParaRPr lang="es-PE" dirty="0"/>
          </a:p>
        </p:txBody>
      </p:sp>
      <p:sp>
        <p:nvSpPr>
          <p:cNvPr id="3" name="Título 2">
            <a:extLst>
              <a:ext uri="{FF2B5EF4-FFF2-40B4-BE49-F238E27FC236}">
                <a16:creationId xmlns:a16="http://schemas.microsoft.com/office/drawing/2014/main" id="{7354766A-4C3A-4D20-BDAB-54349DD748E5}"/>
              </a:ext>
            </a:extLst>
          </p:cNvPr>
          <p:cNvSpPr>
            <a:spLocks noGrp="1"/>
          </p:cNvSpPr>
          <p:nvPr>
            <p:ph type="title"/>
          </p:nvPr>
        </p:nvSpPr>
        <p:spPr>
          <a:xfrm>
            <a:off x="838200" y="233616"/>
            <a:ext cx="7485185" cy="423064"/>
          </a:xfrm>
        </p:spPr>
        <p:txBody>
          <a:bodyPr/>
          <a:lstStyle/>
          <a:p>
            <a:r>
              <a:rPr lang="es-PE" dirty="0"/>
              <a:t>Modelos de selección </a:t>
            </a:r>
            <a:r>
              <a:rPr lang="es-PE" dirty="0" err="1"/>
              <a:t>jerarquica</a:t>
            </a:r>
            <a:endParaRPr lang="es-PE" dirty="0"/>
          </a:p>
        </p:txBody>
      </p:sp>
    </p:spTree>
    <p:extLst>
      <p:ext uri="{BB962C8B-B14F-4D97-AF65-F5344CB8AC3E}">
        <p14:creationId xmlns:p14="http://schemas.microsoft.com/office/powerpoint/2010/main" val="2290466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MATCHING</a:t>
            </a:r>
          </a:p>
        </p:txBody>
      </p:sp>
      <p:pic>
        <p:nvPicPr>
          <p:cNvPr id="20482" name="Picture 2">
            <a:extLst>
              <a:ext uri="{FF2B5EF4-FFF2-40B4-BE49-F238E27FC236}">
                <a16:creationId xmlns:a16="http://schemas.microsoft.com/office/drawing/2014/main" id="{0A1CEA83-5F50-43E0-A5DA-26FB1BEDA7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13877"/>
            <a:ext cx="4224337" cy="4092068"/>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a:extLst>
              <a:ext uri="{FF2B5EF4-FFF2-40B4-BE49-F238E27FC236}">
                <a16:creationId xmlns:a16="http://schemas.microsoft.com/office/drawing/2014/main" id="{B4BAD23D-37FB-4BB0-9FAC-A591AC4282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8880" y="911515"/>
            <a:ext cx="6170185" cy="462763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4F59D341-A955-4DDB-98E6-09689AB64491}"/>
              </a:ext>
            </a:extLst>
          </p:cNvPr>
          <p:cNvPicPr>
            <a:picLocks noChangeAspect="1"/>
          </p:cNvPicPr>
          <p:nvPr/>
        </p:nvPicPr>
        <p:blipFill>
          <a:blip r:embed="rId4"/>
          <a:stretch>
            <a:fillRect/>
          </a:stretch>
        </p:blipFill>
        <p:spPr>
          <a:xfrm>
            <a:off x="2363593" y="3383647"/>
            <a:ext cx="1028844" cy="276264"/>
          </a:xfrm>
          <a:prstGeom prst="rect">
            <a:avLst/>
          </a:prstGeom>
        </p:spPr>
      </p:pic>
    </p:spTree>
    <p:extLst>
      <p:ext uri="{BB962C8B-B14F-4D97-AF65-F5344CB8AC3E}">
        <p14:creationId xmlns:p14="http://schemas.microsoft.com/office/powerpoint/2010/main" val="3692173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descr="Same - Memebase - Funny Memes">
            <a:extLst>
              <a:ext uri="{FF2B5EF4-FFF2-40B4-BE49-F238E27FC236}">
                <a16:creationId xmlns:a16="http://schemas.microsoft.com/office/drawing/2014/main" id="{42E236EA-9539-45E7-BFC9-001B991238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9690C993-77DB-4C11-B490-61DDB87FB102}"/>
              </a:ext>
            </a:extLst>
          </p:cNvPr>
          <p:cNvPicPr>
            <a:picLocks noChangeAspect="1"/>
          </p:cNvPicPr>
          <p:nvPr/>
        </p:nvPicPr>
        <p:blipFill>
          <a:blip r:embed="rId3"/>
          <a:stretch>
            <a:fillRect/>
          </a:stretch>
        </p:blipFill>
        <p:spPr>
          <a:xfrm>
            <a:off x="3018678" y="501163"/>
            <a:ext cx="3068530" cy="464165"/>
          </a:xfrm>
          <a:prstGeom prst="rect">
            <a:avLst/>
          </a:prstGeom>
        </p:spPr>
      </p:pic>
      <p:pic>
        <p:nvPicPr>
          <p:cNvPr id="8" name="Imagen 7">
            <a:extLst>
              <a:ext uri="{FF2B5EF4-FFF2-40B4-BE49-F238E27FC236}">
                <a16:creationId xmlns:a16="http://schemas.microsoft.com/office/drawing/2014/main" id="{CC390795-FAE4-4190-B6E9-84251485F5AC}"/>
              </a:ext>
            </a:extLst>
          </p:cNvPr>
          <p:cNvPicPr>
            <a:picLocks noChangeAspect="1"/>
          </p:cNvPicPr>
          <p:nvPr/>
        </p:nvPicPr>
        <p:blipFill>
          <a:blip r:embed="rId3"/>
          <a:stretch>
            <a:fillRect/>
          </a:stretch>
        </p:blipFill>
        <p:spPr>
          <a:xfrm>
            <a:off x="2942478" y="537437"/>
            <a:ext cx="3068530" cy="464165"/>
          </a:xfrm>
          <a:prstGeom prst="rect">
            <a:avLst/>
          </a:prstGeom>
        </p:spPr>
      </p:pic>
      <p:pic>
        <p:nvPicPr>
          <p:cNvPr id="9" name="Imagen 8">
            <a:extLst>
              <a:ext uri="{FF2B5EF4-FFF2-40B4-BE49-F238E27FC236}">
                <a16:creationId xmlns:a16="http://schemas.microsoft.com/office/drawing/2014/main" id="{65ADE6A4-EAF4-4467-9A8C-5BF2D94BF028}"/>
              </a:ext>
            </a:extLst>
          </p:cNvPr>
          <p:cNvPicPr>
            <a:picLocks noChangeAspect="1"/>
          </p:cNvPicPr>
          <p:nvPr/>
        </p:nvPicPr>
        <p:blipFill>
          <a:blip r:embed="rId3"/>
          <a:stretch>
            <a:fillRect/>
          </a:stretch>
        </p:blipFill>
        <p:spPr>
          <a:xfrm>
            <a:off x="2866278" y="769903"/>
            <a:ext cx="3068530" cy="464165"/>
          </a:xfrm>
          <a:prstGeom prst="rect">
            <a:avLst/>
          </a:prstGeom>
        </p:spPr>
      </p:pic>
      <p:pic>
        <p:nvPicPr>
          <p:cNvPr id="10" name="Imagen 9">
            <a:extLst>
              <a:ext uri="{FF2B5EF4-FFF2-40B4-BE49-F238E27FC236}">
                <a16:creationId xmlns:a16="http://schemas.microsoft.com/office/drawing/2014/main" id="{4F29F229-7DFC-46E0-9583-D3E5F6974A42}"/>
              </a:ext>
            </a:extLst>
          </p:cNvPr>
          <p:cNvPicPr>
            <a:picLocks noChangeAspect="1"/>
          </p:cNvPicPr>
          <p:nvPr/>
        </p:nvPicPr>
        <p:blipFill>
          <a:blip r:embed="rId3"/>
          <a:stretch>
            <a:fillRect/>
          </a:stretch>
        </p:blipFill>
        <p:spPr>
          <a:xfrm>
            <a:off x="2790078" y="1074874"/>
            <a:ext cx="3144730" cy="464165"/>
          </a:xfrm>
          <a:prstGeom prst="rect">
            <a:avLst/>
          </a:prstGeom>
        </p:spPr>
      </p:pic>
      <p:pic>
        <p:nvPicPr>
          <p:cNvPr id="13" name="Imagen 12">
            <a:extLst>
              <a:ext uri="{FF2B5EF4-FFF2-40B4-BE49-F238E27FC236}">
                <a16:creationId xmlns:a16="http://schemas.microsoft.com/office/drawing/2014/main" id="{0AF9E115-0B5C-46E2-88CF-3639B1C25B1F}"/>
              </a:ext>
            </a:extLst>
          </p:cNvPr>
          <p:cNvPicPr>
            <a:picLocks noChangeAspect="1"/>
          </p:cNvPicPr>
          <p:nvPr/>
        </p:nvPicPr>
        <p:blipFill>
          <a:blip r:embed="rId3"/>
          <a:stretch>
            <a:fillRect/>
          </a:stretch>
        </p:blipFill>
        <p:spPr>
          <a:xfrm>
            <a:off x="3018678" y="922303"/>
            <a:ext cx="3068530" cy="464165"/>
          </a:xfrm>
          <a:prstGeom prst="rect">
            <a:avLst/>
          </a:prstGeom>
        </p:spPr>
      </p:pic>
      <p:pic>
        <p:nvPicPr>
          <p:cNvPr id="7" name="Imagen 6">
            <a:extLst>
              <a:ext uri="{FF2B5EF4-FFF2-40B4-BE49-F238E27FC236}">
                <a16:creationId xmlns:a16="http://schemas.microsoft.com/office/drawing/2014/main" id="{5603E1B7-52CD-4D2B-B825-859E7B59FC2C}"/>
              </a:ext>
            </a:extLst>
          </p:cNvPr>
          <p:cNvPicPr>
            <a:picLocks noChangeAspect="1"/>
          </p:cNvPicPr>
          <p:nvPr/>
        </p:nvPicPr>
        <p:blipFill>
          <a:blip r:embed="rId4"/>
          <a:stretch>
            <a:fillRect/>
          </a:stretch>
        </p:blipFill>
        <p:spPr>
          <a:xfrm>
            <a:off x="3018677" y="3933081"/>
            <a:ext cx="2142407" cy="1008196"/>
          </a:xfrm>
          <a:prstGeom prst="rect">
            <a:avLst/>
          </a:prstGeom>
        </p:spPr>
      </p:pic>
      <p:pic>
        <p:nvPicPr>
          <p:cNvPr id="18" name="Imagen 17">
            <a:extLst>
              <a:ext uri="{FF2B5EF4-FFF2-40B4-BE49-F238E27FC236}">
                <a16:creationId xmlns:a16="http://schemas.microsoft.com/office/drawing/2014/main" id="{FB58750D-C325-4F48-9A4C-029CB53F958E}"/>
              </a:ext>
            </a:extLst>
          </p:cNvPr>
          <p:cNvPicPr>
            <a:picLocks noChangeAspect="1"/>
          </p:cNvPicPr>
          <p:nvPr/>
        </p:nvPicPr>
        <p:blipFill>
          <a:blip r:embed="rId4"/>
          <a:stretch>
            <a:fillRect/>
          </a:stretch>
        </p:blipFill>
        <p:spPr>
          <a:xfrm rot="738069">
            <a:off x="2885025" y="4040704"/>
            <a:ext cx="318914" cy="1008196"/>
          </a:xfrm>
          <a:prstGeom prst="rect">
            <a:avLst/>
          </a:prstGeom>
        </p:spPr>
      </p:pic>
      <p:pic>
        <p:nvPicPr>
          <p:cNvPr id="19" name="Imagen 18">
            <a:extLst>
              <a:ext uri="{FF2B5EF4-FFF2-40B4-BE49-F238E27FC236}">
                <a16:creationId xmlns:a16="http://schemas.microsoft.com/office/drawing/2014/main" id="{1EBEFCE5-72DE-415D-8488-394947A1B82F}"/>
              </a:ext>
            </a:extLst>
          </p:cNvPr>
          <p:cNvPicPr>
            <a:picLocks noChangeAspect="1"/>
          </p:cNvPicPr>
          <p:nvPr/>
        </p:nvPicPr>
        <p:blipFill>
          <a:blip r:embed="rId4"/>
          <a:stretch>
            <a:fillRect/>
          </a:stretch>
        </p:blipFill>
        <p:spPr>
          <a:xfrm rot="738069">
            <a:off x="5001627" y="4452936"/>
            <a:ext cx="318914" cy="525412"/>
          </a:xfrm>
          <a:prstGeom prst="rect">
            <a:avLst/>
          </a:prstGeom>
        </p:spPr>
      </p:pic>
      <p:pic>
        <p:nvPicPr>
          <p:cNvPr id="20" name="Picture 4">
            <a:extLst>
              <a:ext uri="{FF2B5EF4-FFF2-40B4-BE49-F238E27FC236}">
                <a16:creationId xmlns:a16="http://schemas.microsoft.com/office/drawing/2014/main" id="{CAED1875-4D81-461A-ACCB-9B623A13E06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399" t="59151" r="-1306" b="16720"/>
          <a:stretch/>
        </p:blipFill>
        <p:spPr bwMode="auto">
          <a:xfrm>
            <a:off x="2939201" y="627484"/>
            <a:ext cx="3071807" cy="59834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a:extLst>
              <a:ext uri="{FF2B5EF4-FFF2-40B4-BE49-F238E27FC236}">
                <a16:creationId xmlns:a16="http://schemas.microsoft.com/office/drawing/2014/main" id="{C1E2BEA7-1830-4DCD-8A12-493CDB7979B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399" t="59151" r="17995" b="17408"/>
          <a:stretch/>
        </p:blipFill>
        <p:spPr bwMode="auto">
          <a:xfrm>
            <a:off x="2939200" y="4163455"/>
            <a:ext cx="2433650" cy="581295"/>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n 16">
            <a:extLst>
              <a:ext uri="{FF2B5EF4-FFF2-40B4-BE49-F238E27FC236}">
                <a16:creationId xmlns:a16="http://schemas.microsoft.com/office/drawing/2014/main" id="{E3FF1CA2-6BD7-4F6F-9E10-57EB70B667F1}"/>
              </a:ext>
            </a:extLst>
          </p:cNvPr>
          <p:cNvPicPr>
            <a:picLocks noChangeAspect="1"/>
          </p:cNvPicPr>
          <p:nvPr/>
        </p:nvPicPr>
        <p:blipFill>
          <a:blip r:embed="rId6"/>
          <a:stretch>
            <a:fillRect/>
          </a:stretch>
        </p:blipFill>
        <p:spPr>
          <a:xfrm>
            <a:off x="5372850" y="708382"/>
            <a:ext cx="510778" cy="140649"/>
          </a:xfrm>
          <a:prstGeom prst="rect">
            <a:avLst/>
          </a:prstGeom>
        </p:spPr>
      </p:pic>
    </p:spTree>
    <p:extLst>
      <p:ext uri="{BB962C8B-B14F-4D97-AF65-F5344CB8AC3E}">
        <p14:creationId xmlns:p14="http://schemas.microsoft.com/office/powerpoint/2010/main" val="9667301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80DEC1F-4FF4-486C-8134-97D542629E0E}"/>
              </a:ext>
            </a:extLst>
          </p:cNvPr>
          <p:cNvSpPr>
            <a:spLocks noGrp="1"/>
          </p:cNvSpPr>
          <p:nvPr>
            <p:ph type="body" idx="1"/>
          </p:nvPr>
        </p:nvSpPr>
        <p:spPr/>
        <p:txBody>
          <a:bodyPr/>
          <a:lstStyle/>
          <a:p>
            <a:r>
              <a:rPr lang="es-PE" dirty="0"/>
              <a:t>Ver script </a:t>
            </a:r>
          </a:p>
        </p:txBody>
      </p:sp>
      <p:sp>
        <p:nvSpPr>
          <p:cNvPr id="3" name="Título 2">
            <a:extLst>
              <a:ext uri="{FF2B5EF4-FFF2-40B4-BE49-F238E27FC236}">
                <a16:creationId xmlns:a16="http://schemas.microsoft.com/office/drawing/2014/main" id="{9E8224C6-8855-4B43-978F-B7F78FFD4F90}"/>
              </a:ext>
            </a:extLst>
          </p:cNvPr>
          <p:cNvSpPr>
            <a:spLocks noGrp="1"/>
          </p:cNvSpPr>
          <p:nvPr>
            <p:ph type="title"/>
          </p:nvPr>
        </p:nvSpPr>
        <p:spPr/>
        <p:txBody>
          <a:bodyPr/>
          <a:lstStyle/>
          <a:p>
            <a:r>
              <a:rPr lang="es-PE" dirty="0" err="1"/>
              <a:t>Matching</a:t>
            </a:r>
            <a:r>
              <a:rPr lang="es-PE" dirty="0"/>
              <a:t> en R</a:t>
            </a:r>
          </a:p>
        </p:txBody>
      </p:sp>
      <p:sp>
        <p:nvSpPr>
          <p:cNvPr id="4" name="Triángulo isósceles 3">
            <a:extLst>
              <a:ext uri="{FF2B5EF4-FFF2-40B4-BE49-F238E27FC236}">
                <a16:creationId xmlns:a16="http://schemas.microsoft.com/office/drawing/2014/main" id="{B37CFE30-61CE-48D7-9CD8-0BAD14930D72}"/>
              </a:ext>
            </a:extLst>
          </p:cNvPr>
          <p:cNvSpPr/>
          <p:nvPr/>
        </p:nvSpPr>
        <p:spPr>
          <a:xfrm rot="10800000">
            <a:off x="838200" y="2031026"/>
            <a:ext cx="360485" cy="18463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7530355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6580435-0895-416B-B274-77392B2854E1}"/>
              </a:ext>
            </a:extLst>
          </p:cNvPr>
          <p:cNvSpPr>
            <a:spLocks noGrp="1"/>
          </p:cNvSpPr>
          <p:nvPr>
            <p:ph type="body" idx="1"/>
          </p:nvPr>
        </p:nvSpPr>
        <p:spPr/>
        <p:txBody>
          <a:bodyPr>
            <a:normAutofit fontScale="92500" lnSpcReduction="10000"/>
          </a:bodyPr>
          <a:lstStyle/>
          <a:p>
            <a:r>
              <a:rPr lang="es-PE" dirty="0"/>
              <a:t>1. Confusión residual (información insuficiente sobre una variable, medición inexacta, mediciones erradas y </a:t>
            </a:r>
            <a:r>
              <a:rPr lang="es-PE" dirty="0" err="1"/>
              <a:t>matching</a:t>
            </a:r>
            <a:r>
              <a:rPr lang="es-PE" dirty="0"/>
              <a:t> no estrictos)</a:t>
            </a:r>
          </a:p>
          <a:p>
            <a:endParaRPr lang="es-PE" dirty="0"/>
          </a:p>
          <a:p>
            <a:r>
              <a:rPr lang="es-PE" dirty="0"/>
              <a:t>2. Confusores no medidos</a:t>
            </a:r>
          </a:p>
          <a:p>
            <a:endParaRPr lang="es-PE" dirty="0"/>
          </a:p>
          <a:p>
            <a:r>
              <a:rPr lang="es-PE" dirty="0"/>
              <a:t>3. Restricción de la población real de casos</a:t>
            </a:r>
          </a:p>
          <a:p>
            <a:endParaRPr lang="es-PE" dirty="0"/>
          </a:p>
          <a:p>
            <a:r>
              <a:rPr lang="es-PE" dirty="0"/>
              <a:t>4. </a:t>
            </a:r>
            <a:r>
              <a:rPr lang="es-ES" dirty="0"/>
              <a:t>la «maldición de la dimensionalidad», es decir, cuanto mayor sea el número de variables en 𝑋𝑖, menos probable es que haya «solapamiento» entre los grupos de tratamiento y control.</a:t>
            </a:r>
            <a:endParaRPr lang="es-PE" dirty="0"/>
          </a:p>
        </p:txBody>
      </p:sp>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Desventajas </a:t>
            </a:r>
            <a:r>
              <a:rPr lang="es-PE" dirty="0" err="1"/>
              <a:t>Matching</a:t>
            </a:r>
            <a:endParaRPr lang="es-PE" dirty="0"/>
          </a:p>
        </p:txBody>
      </p:sp>
      <p:pic>
        <p:nvPicPr>
          <p:cNvPr id="5" name="Picture 4">
            <a:extLst>
              <a:ext uri="{FF2B5EF4-FFF2-40B4-BE49-F238E27FC236}">
                <a16:creationId xmlns:a16="http://schemas.microsoft.com/office/drawing/2014/main" id="{A0BB14A7-4F8D-4FCB-AD08-D24B699A71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311"/>
          <a:stretch/>
        </p:blipFill>
        <p:spPr bwMode="auto">
          <a:xfrm>
            <a:off x="8110903" y="3235458"/>
            <a:ext cx="3111011" cy="1112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1E6D917-D4A5-4C58-ACEA-20EC134BE04C}"/>
              </a:ext>
            </a:extLst>
          </p:cNvPr>
          <p:cNvSpPr>
            <a:spLocks noGrp="1"/>
          </p:cNvSpPr>
          <p:nvPr>
            <p:ph type="body" idx="1"/>
          </p:nvPr>
        </p:nvSpPr>
        <p:spPr/>
        <p:txBody>
          <a:bodyPr/>
          <a:lstStyle/>
          <a:p>
            <a:endParaRPr lang="es-PE"/>
          </a:p>
        </p:txBody>
      </p:sp>
      <p:sp>
        <p:nvSpPr>
          <p:cNvPr id="3" name="Título 2">
            <a:extLst>
              <a:ext uri="{FF2B5EF4-FFF2-40B4-BE49-F238E27FC236}">
                <a16:creationId xmlns:a16="http://schemas.microsoft.com/office/drawing/2014/main" id="{F3130EB2-3752-4269-93D6-5B720E80B574}"/>
              </a:ext>
            </a:extLst>
          </p:cNvPr>
          <p:cNvSpPr>
            <a:spLocks noGrp="1"/>
          </p:cNvSpPr>
          <p:nvPr>
            <p:ph type="title"/>
          </p:nvPr>
        </p:nvSpPr>
        <p:spPr/>
        <p:txBody>
          <a:bodyPr/>
          <a:lstStyle/>
          <a:p>
            <a:endParaRPr lang="es-PE"/>
          </a:p>
        </p:txBody>
      </p:sp>
      <p:pic>
        <p:nvPicPr>
          <p:cNvPr id="5" name="Imagen 4">
            <a:extLst>
              <a:ext uri="{FF2B5EF4-FFF2-40B4-BE49-F238E27FC236}">
                <a16:creationId xmlns:a16="http://schemas.microsoft.com/office/drawing/2014/main" id="{B29D46CD-D180-4BBA-988A-98B6125ADB0D}"/>
              </a:ext>
            </a:extLst>
          </p:cNvPr>
          <p:cNvPicPr>
            <a:picLocks noChangeAspect="1"/>
          </p:cNvPicPr>
          <p:nvPr/>
        </p:nvPicPr>
        <p:blipFill>
          <a:blip r:embed="rId2"/>
          <a:stretch>
            <a:fillRect/>
          </a:stretch>
        </p:blipFill>
        <p:spPr>
          <a:xfrm>
            <a:off x="770782" y="156706"/>
            <a:ext cx="10650436" cy="6544588"/>
          </a:xfrm>
          <a:prstGeom prst="rect">
            <a:avLst/>
          </a:prstGeom>
        </p:spPr>
      </p:pic>
    </p:spTree>
    <p:extLst>
      <p:ext uri="{BB962C8B-B14F-4D97-AF65-F5344CB8AC3E}">
        <p14:creationId xmlns:p14="http://schemas.microsoft.com/office/powerpoint/2010/main" val="39355939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D916C941-E656-4B0F-AC17-B3FAF26C834A}"/>
              </a:ext>
            </a:extLst>
          </p:cNvPr>
          <p:cNvSpPr>
            <a:spLocks noGrp="1"/>
          </p:cNvSpPr>
          <p:nvPr>
            <p:ph type="title"/>
          </p:nvPr>
        </p:nvSpPr>
        <p:spPr>
          <a:xfrm>
            <a:off x="838200" y="699983"/>
            <a:ext cx="9923585" cy="423064"/>
          </a:xfrm>
        </p:spPr>
        <p:txBody>
          <a:bodyPr/>
          <a:lstStyle/>
          <a:p>
            <a:r>
              <a:rPr lang="es-PE" dirty="0"/>
              <a:t>Muestreo de densidad de incidencia</a:t>
            </a:r>
          </a:p>
        </p:txBody>
      </p:sp>
      <p:sp>
        <p:nvSpPr>
          <p:cNvPr id="8" name="Marcador de texto 7">
            <a:extLst>
              <a:ext uri="{FF2B5EF4-FFF2-40B4-BE49-F238E27FC236}">
                <a16:creationId xmlns:a16="http://schemas.microsoft.com/office/drawing/2014/main" id="{4D1100B2-E699-4D69-A6B6-5161370FFDA4}"/>
              </a:ext>
            </a:extLst>
          </p:cNvPr>
          <p:cNvSpPr>
            <a:spLocks noGrp="1"/>
          </p:cNvSpPr>
          <p:nvPr>
            <p:ph type="body" idx="1"/>
          </p:nvPr>
        </p:nvSpPr>
        <p:spPr>
          <a:xfrm>
            <a:off x="838200" y="5574322"/>
            <a:ext cx="10515599" cy="1046285"/>
          </a:xfrm>
        </p:spPr>
        <p:txBody>
          <a:bodyPr>
            <a:normAutofit fontScale="92500" lnSpcReduction="20000"/>
          </a:bodyPr>
          <a:lstStyle/>
          <a:p>
            <a:pPr marL="38100" indent="0">
              <a:buNone/>
            </a:pPr>
            <a:r>
              <a:rPr lang="es-ES" sz="1800" dirty="0">
                <a:solidFill>
                  <a:srgbClr val="0000FF"/>
                </a:solidFill>
                <a:latin typeface="Arial" panose="020B0604020202020204" pitchFamily="34" charset="0"/>
              </a:rPr>
              <a:t>Para realizar un estudio de caso-control anidado, se debe usar un muestreo de densidad de incidencia</a:t>
            </a:r>
          </a:p>
          <a:p>
            <a:pPr marL="38100" indent="0">
              <a:buNone/>
            </a:pPr>
            <a:r>
              <a:rPr lang="es-ES" sz="1800" dirty="0">
                <a:solidFill>
                  <a:srgbClr val="0000FF"/>
                </a:solidFill>
                <a:latin typeface="Arial" panose="020B0604020202020204" pitchFamily="34" charset="0"/>
              </a:rPr>
              <a:t>En </a:t>
            </a:r>
            <a:r>
              <a:rPr lang="es-ES" sz="1800" b="0" i="0" u="none" strike="noStrike" baseline="0" dirty="0">
                <a:solidFill>
                  <a:srgbClr val="0000FF"/>
                </a:solidFill>
                <a:latin typeface="Arial" panose="020B0604020202020204" pitchFamily="34" charset="0"/>
              </a:rPr>
              <a:t>base al gráfico, los casos incluirían a todos los participantes que desarrollaron SIDA durante el seguimiento, y los controles a aquellos participantes que no habían desarrollado SIDA al momento en que los casos desarrollan SIDA): </a:t>
            </a:r>
            <a:endParaRPr lang="es-PE" dirty="0"/>
          </a:p>
        </p:txBody>
      </p:sp>
      <p:pic>
        <p:nvPicPr>
          <p:cNvPr id="10" name="Imagen 9">
            <a:extLst>
              <a:ext uri="{FF2B5EF4-FFF2-40B4-BE49-F238E27FC236}">
                <a16:creationId xmlns:a16="http://schemas.microsoft.com/office/drawing/2014/main" id="{F253DC47-7679-40D9-9729-6BE0DFCCABB8}"/>
              </a:ext>
            </a:extLst>
          </p:cNvPr>
          <p:cNvPicPr>
            <a:picLocks noChangeAspect="1"/>
          </p:cNvPicPr>
          <p:nvPr/>
        </p:nvPicPr>
        <p:blipFill>
          <a:blip r:embed="rId2"/>
          <a:stretch>
            <a:fillRect/>
          </a:stretch>
        </p:blipFill>
        <p:spPr>
          <a:xfrm>
            <a:off x="1223537" y="1418944"/>
            <a:ext cx="6087325" cy="4020111"/>
          </a:xfrm>
          <a:prstGeom prst="rect">
            <a:avLst/>
          </a:prstGeom>
        </p:spPr>
      </p:pic>
      <p:pic>
        <p:nvPicPr>
          <p:cNvPr id="13" name="Imagen 12">
            <a:extLst>
              <a:ext uri="{FF2B5EF4-FFF2-40B4-BE49-F238E27FC236}">
                <a16:creationId xmlns:a16="http://schemas.microsoft.com/office/drawing/2014/main" id="{8951D582-9E9F-429F-997A-12111A10252F}"/>
              </a:ext>
            </a:extLst>
          </p:cNvPr>
          <p:cNvPicPr>
            <a:picLocks noChangeAspect="1"/>
          </p:cNvPicPr>
          <p:nvPr/>
        </p:nvPicPr>
        <p:blipFill>
          <a:blip r:embed="rId3"/>
          <a:stretch>
            <a:fillRect/>
          </a:stretch>
        </p:blipFill>
        <p:spPr>
          <a:xfrm>
            <a:off x="7429973" y="2024579"/>
            <a:ext cx="3715268" cy="876422"/>
          </a:xfrm>
          <a:prstGeom prst="rect">
            <a:avLst/>
          </a:prstGeom>
        </p:spPr>
      </p:pic>
    </p:spTree>
    <p:extLst>
      <p:ext uri="{BB962C8B-B14F-4D97-AF65-F5344CB8AC3E}">
        <p14:creationId xmlns:p14="http://schemas.microsoft.com/office/powerpoint/2010/main" val="1035496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5D7C2AC-A108-4CE9-82E8-ACBBEC1E0C9F}"/>
              </a:ext>
            </a:extLst>
          </p:cNvPr>
          <p:cNvSpPr>
            <a:spLocks noGrp="1"/>
          </p:cNvSpPr>
          <p:nvPr>
            <p:ph type="body" idx="1"/>
          </p:nvPr>
        </p:nvSpPr>
        <p:spPr/>
        <p:txBody>
          <a:bodyPr/>
          <a:lstStyle/>
          <a:p>
            <a:endParaRPr lang="es-PE" dirty="0"/>
          </a:p>
        </p:txBody>
      </p:sp>
      <p:sp>
        <p:nvSpPr>
          <p:cNvPr id="3" name="Título 2">
            <a:extLst>
              <a:ext uri="{FF2B5EF4-FFF2-40B4-BE49-F238E27FC236}">
                <a16:creationId xmlns:a16="http://schemas.microsoft.com/office/drawing/2014/main" id="{9B508DA9-7BC7-4D12-A626-E1EECC3D9424}"/>
              </a:ext>
            </a:extLst>
          </p:cNvPr>
          <p:cNvSpPr>
            <a:spLocks noGrp="1"/>
          </p:cNvSpPr>
          <p:nvPr>
            <p:ph type="title"/>
          </p:nvPr>
        </p:nvSpPr>
        <p:spPr/>
        <p:txBody>
          <a:bodyPr/>
          <a:lstStyle/>
          <a:p>
            <a:endParaRPr lang="es-PE"/>
          </a:p>
        </p:txBody>
      </p:sp>
      <p:pic>
        <p:nvPicPr>
          <p:cNvPr id="5" name="Imagen 4">
            <a:extLst>
              <a:ext uri="{FF2B5EF4-FFF2-40B4-BE49-F238E27FC236}">
                <a16:creationId xmlns:a16="http://schemas.microsoft.com/office/drawing/2014/main" id="{04278D1A-B22D-40D8-96F4-006CE94235AD}"/>
              </a:ext>
            </a:extLst>
          </p:cNvPr>
          <p:cNvPicPr>
            <a:picLocks noChangeAspect="1"/>
          </p:cNvPicPr>
          <p:nvPr/>
        </p:nvPicPr>
        <p:blipFill>
          <a:blip r:embed="rId2"/>
          <a:stretch>
            <a:fillRect/>
          </a:stretch>
        </p:blipFill>
        <p:spPr>
          <a:xfrm>
            <a:off x="0" y="338759"/>
            <a:ext cx="12192000" cy="6180481"/>
          </a:xfrm>
          <a:prstGeom prst="rect">
            <a:avLst/>
          </a:prstGeom>
        </p:spPr>
      </p:pic>
      <p:pic>
        <p:nvPicPr>
          <p:cNvPr id="9" name="Imagen 8">
            <a:extLst>
              <a:ext uri="{FF2B5EF4-FFF2-40B4-BE49-F238E27FC236}">
                <a16:creationId xmlns:a16="http://schemas.microsoft.com/office/drawing/2014/main" id="{F16C88F6-5CB0-463D-9276-74B2F2C1B3DA}"/>
              </a:ext>
            </a:extLst>
          </p:cNvPr>
          <p:cNvPicPr>
            <a:picLocks noChangeAspect="1"/>
          </p:cNvPicPr>
          <p:nvPr/>
        </p:nvPicPr>
        <p:blipFill>
          <a:blip r:embed="rId3"/>
          <a:stretch>
            <a:fillRect/>
          </a:stretch>
        </p:blipFill>
        <p:spPr>
          <a:xfrm>
            <a:off x="684523" y="152608"/>
            <a:ext cx="3896269" cy="733527"/>
          </a:xfrm>
          <a:prstGeom prst="rect">
            <a:avLst/>
          </a:prstGeom>
        </p:spPr>
      </p:pic>
    </p:spTree>
    <p:extLst>
      <p:ext uri="{BB962C8B-B14F-4D97-AF65-F5344CB8AC3E}">
        <p14:creationId xmlns:p14="http://schemas.microsoft.com/office/powerpoint/2010/main" val="26536852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F23BA0CA-99B7-4E5A-823E-5F689E4ACBA0}"/>
              </a:ext>
            </a:extLst>
          </p:cNvPr>
          <p:cNvSpPr>
            <a:spLocks noGrp="1"/>
          </p:cNvSpPr>
          <p:nvPr>
            <p:ph type="body" idx="1"/>
          </p:nvPr>
        </p:nvSpPr>
        <p:spPr/>
        <p:txBody>
          <a:bodyPr/>
          <a:lstStyle/>
          <a:p>
            <a:endParaRPr lang="es-PE"/>
          </a:p>
        </p:txBody>
      </p:sp>
      <p:sp>
        <p:nvSpPr>
          <p:cNvPr id="3" name="Título 2">
            <a:extLst>
              <a:ext uri="{FF2B5EF4-FFF2-40B4-BE49-F238E27FC236}">
                <a16:creationId xmlns:a16="http://schemas.microsoft.com/office/drawing/2014/main" id="{B51BB1BC-B429-4EF6-9B1E-843B14E08928}"/>
              </a:ext>
            </a:extLst>
          </p:cNvPr>
          <p:cNvSpPr>
            <a:spLocks noGrp="1"/>
          </p:cNvSpPr>
          <p:nvPr>
            <p:ph type="title"/>
          </p:nvPr>
        </p:nvSpPr>
        <p:spPr/>
        <p:txBody>
          <a:bodyPr/>
          <a:lstStyle/>
          <a:p>
            <a:endParaRPr lang="es-PE"/>
          </a:p>
        </p:txBody>
      </p:sp>
      <p:pic>
        <p:nvPicPr>
          <p:cNvPr id="5" name="Imagen 4">
            <a:extLst>
              <a:ext uri="{FF2B5EF4-FFF2-40B4-BE49-F238E27FC236}">
                <a16:creationId xmlns:a16="http://schemas.microsoft.com/office/drawing/2014/main" id="{DB068D87-D8AB-4C8F-9C6B-0747C5A52627}"/>
              </a:ext>
            </a:extLst>
          </p:cNvPr>
          <p:cNvPicPr>
            <a:picLocks noChangeAspect="1"/>
          </p:cNvPicPr>
          <p:nvPr/>
        </p:nvPicPr>
        <p:blipFill>
          <a:blip r:embed="rId2"/>
          <a:stretch>
            <a:fillRect/>
          </a:stretch>
        </p:blipFill>
        <p:spPr>
          <a:xfrm>
            <a:off x="970835" y="213864"/>
            <a:ext cx="10250330" cy="6430272"/>
          </a:xfrm>
          <a:prstGeom prst="rect">
            <a:avLst/>
          </a:prstGeom>
        </p:spPr>
      </p:pic>
    </p:spTree>
    <p:extLst>
      <p:ext uri="{BB962C8B-B14F-4D97-AF65-F5344CB8AC3E}">
        <p14:creationId xmlns:p14="http://schemas.microsoft.com/office/powerpoint/2010/main" val="3539612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D916C941-E656-4B0F-AC17-B3FAF26C834A}"/>
              </a:ext>
            </a:extLst>
          </p:cNvPr>
          <p:cNvSpPr>
            <a:spLocks noGrp="1"/>
          </p:cNvSpPr>
          <p:nvPr>
            <p:ph type="title"/>
          </p:nvPr>
        </p:nvSpPr>
        <p:spPr>
          <a:xfrm>
            <a:off x="838200" y="699983"/>
            <a:ext cx="9923585" cy="423064"/>
          </a:xfrm>
        </p:spPr>
        <p:txBody>
          <a:bodyPr/>
          <a:lstStyle/>
          <a:p>
            <a:r>
              <a:rPr lang="es-PE" dirty="0"/>
              <a:t>Muestreo de densidad de incidencia</a:t>
            </a:r>
          </a:p>
        </p:txBody>
      </p:sp>
      <p:sp>
        <p:nvSpPr>
          <p:cNvPr id="4" name="Marcador de texto 7">
            <a:extLst>
              <a:ext uri="{FF2B5EF4-FFF2-40B4-BE49-F238E27FC236}">
                <a16:creationId xmlns:a16="http://schemas.microsoft.com/office/drawing/2014/main" id="{4CAD6B65-4D1C-4902-A734-DD21CBFC8C42}"/>
              </a:ext>
            </a:extLst>
          </p:cNvPr>
          <p:cNvSpPr txBox="1">
            <a:spLocks noGrp="1"/>
          </p:cNvSpPr>
          <p:nvPr>
            <p:ph type="body" idx="1"/>
          </p:nvPr>
        </p:nvSpPr>
        <p:spPr>
          <a:xfrm>
            <a:off x="838200" y="5734952"/>
            <a:ext cx="10515600" cy="787278"/>
          </a:xfrm>
          <a:prstGeom prst="rect">
            <a:avLst/>
          </a:prstGeom>
          <a:noFill/>
          <a:ln>
            <a:noFill/>
          </a:ln>
        </p:spPr>
        <p:txBody>
          <a:bodyPr spcFirstLastPara="1" vert="horz" wrap="square" lIns="91425" tIns="45700" rIns="91425" bIns="45700" rtlCol="0" anchor="t" anchorCtr="0">
            <a:normAutofit fontScale="92500" lnSpcReduction="20000"/>
          </a:bodyPr>
          <a:lstStyle>
            <a:lvl1pPr marL="457200" marR="0" lvl="0" indent="-419100" algn="l" defTabSz="914400" rtl="0" eaLnBrk="1" latinLnBrk="0" hangingPunct="1">
              <a:lnSpc>
                <a:spcPct val="90000"/>
              </a:lnSpc>
              <a:spcBef>
                <a:spcPts val="600"/>
              </a:spcBef>
              <a:spcAft>
                <a:spcPts val="0"/>
              </a:spcAft>
              <a:buClr>
                <a:srgbClr val="595959"/>
              </a:buClr>
              <a:buSzPts val="3000"/>
              <a:buFont typeface="Arial"/>
              <a:buChar char="•"/>
              <a:defRPr sz="3000" b="0" i="0" kern="1200">
                <a:solidFill>
                  <a:srgbClr val="595959"/>
                </a:solidFill>
                <a:latin typeface="Calibri"/>
                <a:ea typeface="Calibri"/>
                <a:cs typeface="Calibri"/>
                <a:sym typeface="Calibri"/>
              </a:defRPr>
            </a:lvl1pPr>
            <a:lvl2pPr marL="914400" marR="0" lvl="1" indent="-419100" algn="l" defTabSz="914400" rtl="0" eaLnBrk="1" latinLnBrk="0" hangingPunct="1">
              <a:lnSpc>
                <a:spcPct val="90000"/>
              </a:lnSpc>
              <a:spcBef>
                <a:spcPts val="600"/>
              </a:spcBef>
              <a:spcAft>
                <a:spcPts val="0"/>
              </a:spcAft>
              <a:buClr>
                <a:srgbClr val="595959"/>
              </a:buClr>
              <a:buSzPts val="3000"/>
              <a:buFont typeface="Arial"/>
              <a:buChar char="•"/>
              <a:defRPr sz="3000" kern="1200">
                <a:solidFill>
                  <a:srgbClr val="595959"/>
                </a:solidFill>
                <a:latin typeface="+mn-lt"/>
                <a:ea typeface="+mn-ea"/>
                <a:cs typeface="+mn-cs"/>
              </a:defRPr>
            </a:lvl2pPr>
            <a:lvl3pPr marL="1371600" marR="0" lvl="2" indent="-419100" algn="l" defTabSz="914400" rtl="0" eaLnBrk="1" latinLnBrk="0" hangingPunct="1">
              <a:lnSpc>
                <a:spcPct val="90000"/>
              </a:lnSpc>
              <a:spcBef>
                <a:spcPts val="600"/>
              </a:spcBef>
              <a:spcAft>
                <a:spcPts val="0"/>
              </a:spcAft>
              <a:buClr>
                <a:srgbClr val="595959"/>
              </a:buClr>
              <a:buSzPts val="3000"/>
              <a:buFont typeface="Arial"/>
              <a:buChar char="•"/>
              <a:defRPr sz="3000" kern="1200">
                <a:solidFill>
                  <a:srgbClr val="595959"/>
                </a:solidFill>
                <a:latin typeface="+mn-lt"/>
                <a:ea typeface="+mn-ea"/>
                <a:cs typeface="+mn-cs"/>
              </a:defRPr>
            </a:lvl3pPr>
            <a:lvl4pPr marL="1828800" marR="0" lvl="3" indent="-419100" algn="l" defTabSz="914400" rtl="0" eaLnBrk="1" latinLnBrk="0" hangingPunct="1">
              <a:lnSpc>
                <a:spcPct val="90000"/>
              </a:lnSpc>
              <a:spcBef>
                <a:spcPts val="600"/>
              </a:spcBef>
              <a:spcAft>
                <a:spcPts val="0"/>
              </a:spcAft>
              <a:buClr>
                <a:srgbClr val="595959"/>
              </a:buClr>
              <a:buSzPts val="3000"/>
              <a:buFont typeface="Arial"/>
              <a:buChar char="•"/>
              <a:defRPr sz="3000" kern="1200">
                <a:solidFill>
                  <a:srgbClr val="595959"/>
                </a:solidFill>
                <a:latin typeface="Calibri"/>
                <a:ea typeface="Calibri"/>
                <a:cs typeface="Calibri"/>
                <a:sym typeface="Calibri"/>
              </a:defRPr>
            </a:lvl4pPr>
            <a:lvl5pPr marL="2286000" marR="0" lvl="4" indent="-419100" algn="l" defTabSz="914400" rtl="0" eaLnBrk="1" latinLnBrk="0" hangingPunct="1">
              <a:lnSpc>
                <a:spcPct val="90000"/>
              </a:lnSpc>
              <a:spcBef>
                <a:spcPts val="600"/>
              </a:spcBef>
              <a:spcAft>
                <a:spcPts val="0"/>
              </a:spcAft>
              <a:buClr>
                <a:srgbClr val="595959"/>
              </a:buClr>
              <a:buSzPts val="3000"/>
              <a:buFont typeface="Arial"/>
              <a:buChar char="•"/>
              <a:defRPr sz="3000" kern="1200">
                <a:solidFill>
                  <a:schemeClr val="tx1"/>
                </a:solidFill>
                <a:latin typeface="Calibri"/>
                <a:ea typeface="Calibri"/>
                <a:cs typeface="Calibri"/>
                <a:sym typeface="Calibri"/>
              </a:defRPr>
            </a:lvl5pPr>
            <a:lvl6pPr marL="2743200" lvl="5"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38100" indent="0">
              <a:buFont typeface="Arial"/>
              <a:buNone/>
            </a:pPr>
            <a:r>
              <a:rPr lang="es-ES" sz="1800" b="0" i="0" u="none" strike="noStrike" baseline="0" dirty="0">
                <a:solidFill>
                  <a:srgbClr val="0000FF"/>
                </a:solidFill>
                <a:latin typeface="Arial" panose="020B0604020202020204" pitchFamily="34" charset="0"/>
              </a:rPr>
              <a:t>En base al gráfico, los casos incluirían a todos los participantes que desarrollaron SIDA durante el seguimiento (S2, S6, S7, S10). El “</a:t>
            </a:r>
            <a:r>
              <a:rPr lang="es-ES" sz="1800" b="0" i="0" u="none" strike="noStrike" baseline="0" dirty="0" err="1">
                <a:solidFill>
                  <a:srgbClr val="0000FF"/>
                </a:solidFill>
                <a:latin typeface="Arial" panose="020B0604020202020204" pitchFamily="34" charset="0"/>
              </a:rPr>
              <a:t>risk</a:t>
            </a:r>
            <a:r>
              <a:rPr lang="es-ES" sz="1800" b="0" i="0" u="none" strike="noStrike" baseline="0" dirty="0">
                <a:solidFill>
                  <a:srgbClr val="0000FF"/>
                </a:solidFill>
                <a:latin typeface="Arial" panose="020B0604020202020204" pitchFamily="34" charset="0"/>
              </a:rPr>
              <a:t> set” incluiría a los casos y a los individuos miembros de la </a:t>
            </a:r>
            <a:r>
              <a:rPr lang="es-ES" sz="1800" b="0" i="0" u="none" strike="noStrike" baseline="0" dirty="0" err="1">
                <a:solidFill>
                  <a:srgbClr val="0000FF"/>
                </a:solidFill>
                <a:latin typeface="Arial" panose="020B0604020202020204" pitchFamily="34" charset="0"/>
              </a:rPr>
              <a:t>sub-cohorte</a:t>
            </a:r>
            <a:r>
              <a:rPr lang="es-ES" sz="1800" b="0" i="0" u="none" strike="noStrike" baseline="0" dirty="0">
                <a:solidFill>
                  <a:srgbClr val="0000FF"/>
                </a:solidFill>
                <a:latin typeface="Arial" panose="020B0604020202020204" pitchFamily="34" charset="0"/>
              </a:rPr>
              <a:t> que continúan en riesgo al momento en que ocurre cada caso: </a:t>
            </a:r>
            <a:endParaRPr lang="es-PE" dirty="0"/>
          </a:p>
        </p:txBody>
      </p:sp>
      <p:pic>
        <p:nvPicPr>
          <p:cNvPr id="5" name="Imagen 4">
            <a:extLst>
              <a:ext uri="{FF2B5EF4-FFF2-40B4-BE49-F238E27FC236}">
                <a16:creationId xmlns:a16="http://schemas.microsoft.com/office/drawing/2014/main" id="{51430A95-DD82-492C-9195-7500650AE5FC}"/>
              </a:ext>
            </a:extLst>
          </p:cNvPr>
          <p:cNvPicPr>
            <a:picLocks noChangeAspect="1"/>
          </p:cNvPicPr>
          <p:nvPr/>
        </p:nvPicPr>
        <p:blipFill>
          <a:blip r:embed="rId2"/>
          <a:stretch>
            <a:fillRect/>
          </a:stretch>
        </p:blipFill>
        <p:spPr>
          <a:xfrm>
            <a:off x="1223537" y="1418944"/>
            <a:ext cx="6087325" cy="4020111"/>
          </a:xfrm>
          <a:prstGeom prst="rect">
            <a:avLst/>
          </a:prstGeom>
        </p:spPr>
      </p:pic>
      <p:pic>
        <p:nvPicPr>
          <p:cNvPr id="6" name="Imagen 5">
            <a:extLst>
              <a:ext uri="{FF2B5EF4-FFF2-40B4-BE49-F238E27FC236}">
                <a16:creationId xmlns:a16="http://schemas.microsoft.com/office/drawing/2014/main" id="{0434FF60-2E5F-42F4-9C53-95A526A8F117}"/>
              </a:ext>
            </a:extLst>
          </p:cNvPr>
          <p:cNvPicPr>
            <a:picLocks noChangeAspect="1"/>
          </p:cNvPicPr>
          <p:nvPr/>
        </p:nvPicPr>
        <p:blipFill>
          <a:blip r:embed="rId3"/>
          <a:stretch>
            <a:fillRect/>
          </a:stretch>
        </p:blipFill>
        <p:spPr>
          <a:xfrm>
            <a:off x="8091319" y="2400155"/>
            <a:ext cx="2410161" cy="1028844"/>
          </a:xfrm>
          <a:prstGeom prst="rect">
            <a:avLst/>
          </a:prstGeom>
        </p:spPr>
      </p:pic>
    </p:spTree>
    <p:extLst>
      <p:ext uri="{BB962C8B-B14F-4D97-AF65-F5344CB8AC3E}">
        <p14:creationId xmlns:p14="http://schemas.microsoft.com/office/powerpoint/2010/main" val="1777214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14E6EAB2-C35F-46AA-A8CD-899D15363BD9}"/>
              </a:ext>
            </a:extLst>
          </p:cNvPr>
          <p:cNvSpPr>
            <a:spLocks noGrp="1"/>
          </p:cNvSpPr>
          <p:nvPr>
            <p:ph type="title"/>
          </p:nvPr>
        </p:nvSpPr>
        <p:spPr>
          <a:xfrm>
            <a:off x="398586" y="3794875"/>
            <a:ext cx="4999892" cy="423064"/>
          </a:xfrm>
        </p:spPr>
        <p:txBody>
          <a:bodyPr/>
          <a:lstStyle/>
          <a:p>
            <a:pPr algn="ctr"/>
            <a:r>
              <a:rPr lang="es-PE" dirty="0"/>
              <a:t>Control de confusión</a:t>
            </a:r>
            <a:br>
              <a:rPr lang="es-PE" dirty="0"/>
            </a:br>
            <a:r>
              <a:rPr lang="es-PE" dirty="0"/>
              <a:t>con datos </a:t>
            </a:r>
            <a:br>
              <a:rPr lang="es-PE" dirty="0"/>
            </a:br>
            <a:r>
              <a:rPr lang="es-PE" dirty="0"/>
              <a:t>observacionales</a:t>
            </a:r>
          </a:p>
        </p:txBody>
      </p:sp>
      <p:pic>
        <p:nvPicPr>
          <p:cNvPr id="4" name="Imagen 3">
            <a:extLst>
              <a:ext uri="{FF2B5EF4-FFF2-40B4-BE49-F238E27FC236}">
                <a16:creationId xmlns:a16="http://schemas.microsoft.com/office/drawing/2014/main" id="{70732818-61C2-433D-B259-614D06BBDE4D}"/>
              </a:ext>
            </a:extLst>
          </p:cNvPr>
          <p:cNvPicPr>
            <a:picLocks noChangeAspect="1"/>
          </p:cNvPicPr>
          <p:nvPr/>
        </p:nvPicPr>
        <p:blipFill>
          <a:blip r:embed="rId2"/>
          <a:stretch>
            <a:fillRect/>
          </a:stretch>
        </p:blipFill>
        <p:spPr>
          <a:xfrm>
            <a:off x="938589" y="861637"/>
            <a:ext cx="3979210" cy="1732095"/>
          </a:xfrm>
          <a:prstGeom prst="rect">
            <a:avLst/>
          </a:prstGeom>
        </p:spPr>
      </p:pic>
      <p:pic>
        <p:nvPicPr>
          <p:cNvPr id="7" name="Imagen 6">
            <a:extLst>
              <a:ext uri="{FF2B5EF4-FFF2-40B4-BE49-F238E27FC236}">
                <a16:creationId xmlns:a16="http://schemas.microsoft.com/office/drawing/2014/main" id="{28444790-9D3C-4C9B-894E-ECBD3F251FB4}"/>
              </a:ext>
            </a:extLst>
          </p:cNvPr>
          <p:cNvPicPr>
            <a:picLocks noChangeAspect="1"/>
          </p:cNvPicPr>
          <p:nvPr/>
        </p:nvPicPr>
        <p:blipFill>
          <a:blip r:embed="rId3"/>
          <a:stretch>
            <a:fillRect/>
          </a:stretch>
        </p:blipFill>
        <p:spPr>
          <a:xfrm>
            <a:off x="5319283" y="0"/>
            <a:ext cx="6336450" cy="6858000"/>
          </a:xfrm>
          <a:prstGeom prst="rect">
            <a:avLst/>
          </a:prstGeom>
        </p:spPr>
      </p:pic>
      <p:sp>
        <p:nvSpPr>
          <p:cNvPr id="10" name="Título 2">
            <a:extLst>
              <a:ext uri="{FF2B5EF4-FFF2-40B4-BE49-F238E27FC236}">
                <a16:creationId xmlns:a16="http://schemas.microsoft.com/office/drawing/2014/main" id="{050F7A26-C111-4684-897C-DD68A1A80B11}"/>
              </a:ext>
            </a:extLst>
          </p:cNvPr>
          <p:cNvSpPr txBox="1">
            <a:spLocks/>
          </p:cNvSpPr>
          <p:nvPr/>
        </p:nvSpPr>
        <p:spPr>
          <a:xfrm>
            <a:off x="319391" y="5138070"/>
            <a:ext cx="4999892" cy="423064"/>
          </a:xfrm>
          <a:prstGeom prst="rect">
            <a:avLst/>
          </a:prstGeom>
          <a:noFill/>
          <a:ln>
            <a:noFill/>
          </a:ln>
        </p:spPr>
        <p:txBody>
          <a:bodyPr spcFirstLastPara="1" vert="horz" wrap="square" lIns="91425" tIns="45700" rIns="91425" bIns="45700" rtlCol="0" anchor="ctr" anchorCtr="0">
            <a:noAutofit/>
          </a:bodyPr>
          <a:lstStyle>
            <a:lvl1pPr lvl="0" algn="l" defTabSz="914400" rtl="0" eaLnBrk="1" latinLnBrk="0" hangingPunct="1">
              <a:lnSpc>
                <a:spcPct val="90000"/>
              </a:lnSpc>
              <a:spcBef>
                <a:spcPts val="0"/>
              </a:spcBef>
              <a:spcAft>
                <a:spcPts val="0"/>
              </a:spcAft>
              <a:buClr>
                <a:schemeClr val="lt1"/>
              </a:buClr>
              <a:buSzPts val="3200"/>
              <a:buFont typeface="Arial Black"/>
              <a:buNone/>
              <a:defRPr sz="3200" b="0" i="0" kern="1200">
                <a:solidFill>
                  <a:schemeClr val="tx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lgn="ctr"/>
            <a:r>
              <a:rPr lang="es-PE" sz="1600" dirty="0"/>
              <a:t>No olvides el </a:t>
            </a:r>
            <a:r>
              <a:rPr lang="es-PE" sz="1600" dirty="0" err="1"/>
              <a:t>matching</a:t>
            </a:r>
            <a:r>
              <a:rPr lang="es-PE" sz="1600" dirty="0"/>
              <a:t>, la restricción y la estratificación</a:t>
            </a:r>
          </a:p>
        </p:txBody>
      </p:sp>
      <p:sp>
        <p:nvSpPr>
          <p:cNvPr id="2" name="Rectángulo 1">
            <a:extLst>
              <a:ext uri="{FF2B5EF4-FFF2-40B4-BE49-F238E27FC236}">
                <a16:creationId xmlns:a16="http://schemas.microsoft.com/office/drawing/2014/main" id="{E13A6C89-3292-4695-AAFE-88A1AD68E0AA}"/>
              </a:ext>
            </a:extLst>
          </p:cNvPr>
          <p:cNvSpPr/>
          <p:nvPr/>
        </p:nvSpPr>
        <p:spPr>
          <a:xfrm>
            <a:off x="5398478" y="597877"/>
            <a:ext cx="6257255" cy="55693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7937400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80DEC1F-4FF4-486C-8134-97D542629E0E}"/>
              </a:ext>
            </a:extLst>
          </p:cNvPr>
          <p:cNvSpPr>
            <a:spLocks noGrp="1"/>
          </p:cNvSpPr>
          <p:nvPr>
            <p:ph type="body" idx="1"/>
          </p:nvPr>
        </p:nvSpPr>
        <p:spPr>
          <a:xfrm>
            <a:off x="838200" y="1424354"/>
            <a:ext cx="10515599" cy="4752609"/>
          </a:xfrm>
        </p:spPr>
        <p:txBody>
          <a:bodyPr>
            <a:normAutofit fontScale="92500" lnSpcReduction="10000"/>
          </a:bodyPr>
          <a:lstStyle/>
          <a:p>
            <a:r>
              <a:rPr lang="es-PE" b="1" dirty="0"/>
              <a:t>Modela </a:t>
            </a:r>
            <a:r>
              <a:rPr lang="es-PE" dirty="0"/>
              <a:t>la relación entre 𝑋𝑖 y 𝑌𝑖, considerando la presencia de confusores (𝐷𝑖,).</a:t>
            </a:r>
          </a:p>
          <a:p>
            <a:endParaRPr lang="es-PE" dirty="0"/>
          </a:p>
          <a:p>
            <a:pPr marL="38100" indent="0">
              <a:buNone/>
            </a:pPr>
            <a:r>
              <a:rPr lang="es-PE" dirty="0"/>
              <a:t>			𝑌𝑖 = </a:t>
            </a:r>
            <a:r>
              <a:rPr lang="el-GR" dirty="0"/>
              <a:t>α + 𝑋𝑖𝛽 + 𝜏𝐷𝑖 + 𝑢𝑖 </a:t>
            </a:r>
            <a:endParaRPr lang="es-PE" dirty="0"/>
          </a:p>
          <a:p>
            <a:pPr marL="38100" indent="0">
              <a:buNone/>
            </a:pPr>
            <a:endParaRPr lang="es-PE" dirty="0"/>
          </a:p>
          <a:p>
            <a:r>
              <a:rPr lang="es-PE" dirty="0"/>
              <a:t>Pros: Fácil de aplicar, sencillo de interpretar.</a:t>
            </a:r>
          </a:p>
          <a:p>
            <a:endParaRPr lang="es-PE" dirty="0"/>
          </a:p>
          <a:p>
            <a:r>
              <a:rPr lang="es-PE" dirty="0"/>
              <a:t>Contras: Puede depender de suposiciones poco realistas sobre los parámetros del modelo. </a:t>
            </a:r>
          </a:p>
          <a:p>
            <a:endParaRPr lang="es-PE" dirty="0"/>
          </a:p>
          <a:p>
            <a:r>
              <a:rPr lang="es-PE" dirty="0"/>
              <a:t>Ver script de talleres previos </a:t>
            </a:r>
          </a:p>
        </p:txBody>
      </p:sp>
      <p:sp>
        <p:nvSpPr>
          <p:cNvPr id="3" name="Título 2">
            <a:extLst>
              <a:ext uri="{FF2B5EF4-FFF2-40B4-BE49-F238E27FC236}">
                <a16:creationId xmlns:a16="http://schemas.microsoft.com/office/drawing/2014/main" id="{9E8224C6-8855-4B43-978F-B7F78FFD4F90}"/>
              </a:ext>
            </a:extLst>
          </p:cNvPr>
          <p:cNvSpPr>
            <a:spLocks noGrp="1"/>
          </p:cNvSpPr>
          <p:nvPr>
            <p:ph type="title"/>
          </p:nvPr>
        </p:nvSpPr>
        <p:spPr/>
        <p:txBody>
          <a:bodyPr/>
          <a:lstStyle/>
          <a:p>
            <a:r>
              <a:rPr lang="es-PE" dirty="0"/>
              <a:t>Visto previamente en R</a:t>
            </a:r>
          </a:p>
        </p:txBody>
      </p:sp>
      <p:sp>
        <p:nvSpPr>
          <p:cNvPr id="4" name="Triángulo isósceles 3">
            <a:extLst>
              <a:ext uri="{FF2B5EF4-FFF2-40B4-BE49-F238E27FC236}">
                <a16:creationId xmlns:a16="http://schemas.microsoft.com/office/drawing/2014/main" id="{B37CFE30-61CE-48D7-9CD8-0BAD14930D72}"/>
              </a:ext>
            </a:extLst>
          </p:cNvPr>
          <p:cNvSpPr/>
          <p:nvPr/>
        </p:nvSpPr>
        <p:spPr>
          <a:xfrm rot="10800000">
            <a:off x="908538" y="5627079"/>
            <a:ext cx="360485" cy="18463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42935438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14E6EAB2-C35F-46AA-A8CD-899D15363BD9}"/>
              </a:ext>
            </a:extLst>
          </p:cNvPr>
          <p:cNvSpPr>
            <a:spLocks noGrp="1"/>
          </p:cNvSpPr>
          <p:nvPr>
            <p:ph type="title"/>
          </p:nvPr>
        </p:nvSpPr>
        <p:spPr>
          <a:xfrm>
            <a:off x="398586" y="3794875"/>
            <a:ext cx="4999892" cy="423064"/>
          </a:xfrm>
        </p:spPr>
        <p:txBody>
          <a:bodyPr/>
          <a:lstStyle/>
          <a:p>
            <a:pPr algn="ctr"/>
            <a:r>
              <a:rPr lang="es-PE" dirty="0"/>
              <a:t>Control de confusión</a:t>
            </a:r>
            <a:br>
              <a:rPr lang="es-PE" dirty="0"/>
            </a:br>
            <a:r>
              <a:rPr lang="es-PE" dirty="0"/>
              <a:t>con datos </a:t>
            </a:r>
            <a:br>
              <a:rPr lang="es-PE" dirty="0"/>
            </a:br>
            <a:r>
              <a:rPr lang="es-PE" dirty="0"/>
              <a:t>observacionales</a:t>
            </a:r>
          </a:p>
        </p:txBody>
      </p:sp>
      <p:pic>
        <p:nvPicPr>
          <p:cNvPr id="4" name="Imagen 3">
            <a:extLst>
              <a:ext uri="{FF2B5EF4-FFF2-40B4-BE49-F238E27FC236}">
                <a16:creationId xmlns:a16="http://schemas.microsoft.com/office/drawing/2014/main" id="{70732818-61C2-433D-B259-614D06BBDE4D}"/>
              </a:ext>
            </a:extLst>
          </p:cNvPr>
          <p:cNvPicPr>
            <a:picLocks noChangeAspect="1"/>
          </p:cNvPicPr>
          <p:nvPr/>
        </p:nvPicPr>
        <p:blipFill>
          <a:blip r:embed="rId2"/>
          <a:stretch>
            <a:fillRect/>
          </a:stretch>
        </p:blipFill>
        <p:spPr>
          <a:xfrm>
            <a:off x="938589" y="861637"/>
            <a:ext cx="3979210" cy="1732095"/>
          </a:xfrm>
          <a:prstGeom prst="rect">
            <a:avLst/>
          </a:prstGeom>
        </p:spPr>
      </p:pic>
      <p:pic>
        <p:nvPicPr>
          <p:cNvPr id="7" name="Imagen 6">
            <a:extLst>
              <a:ext uri="{FF2B5EF4-FFF2-40B4-BE49-F238E27FC236}">
                <a16:creationId xmlns:a16="http://schemas.microsoft.com/office/drawing/2014/main" id="{28444790-9D3C-4C9B-894E-ECBD3F251FB4}"/>
              </a:ext>
            </a:extLst>
          </p:cNvPr>
          <p:cNvPicPr>
            <a:picLocks noChangeAspect="1"/>
          </p:cNvPicPr>
          <p:nvPr/>
        </p:nvPicPr>
        <p:blipFill>
          <a:blip r:embed="rId3"/>
          <a:stretch>
            <a:fillRect/>
          </a:stretch>
        </p:blipFill>
        <p:spPr>
          <a:xfrm>
            <a:off x="5319283" y="0"/>
            <a:ext cx="6336450" cy="6858000"/>
          </a:xfrm>
          <a:prstGeom prst="rect">
            <a:avLst/>
          </a:prstGeom>
        </p:spPr>
      </p:pic>
      <p:sp>
        <p:nvSpPr>
          <p:cNvPr id="10" name="Título 2">
            <a:extLst>
              <a:ext uri="{FF2B5EF4-FFF2-40B4-BE49-F238E27FC236}">
                <a16:creationId xmlns:a16="http://schemas.microsoft.com/office/drawing/2014/main" id="{050F7A26-C111-4684-897C-DD68A1A80B11}"/>
              </a:ext>
            </a:extLst>
          </p:cNvPr>
          <p:cNvSpPr txBox="1">
            <a:spLocks/>
          </p:cNvSpPr>
          <p:nvPr/>
        </p:nvSpPr>
        <p:spPr>
          <a:xfrm>
            <a:off x="319391" y="5138070"/>
            <a:ext cx="4999892" cy="423064"/>
          </a:xfrm>
          <a:prstGeom prst="rect">
            <a:avLst/>
          </a:prstGeom>
          <a:noFill/>
          <a:ln>
            <a:noFill/>
          </a:ln>
        </p:spPr>
        <p:txBody>
          <a:bodyPr spcFirstLastPara="1" vert="horz" wrap="square" lIns="91425" tIns="45700" rIns="91425" bIns="45700" rtlCol="0" anchor="ctr" anchorCtr="0">
            <a:noAutofit/>
          </a:bodyPr>
          <a:lstStyle>
            <a:lvl1pPr lvl="0" algn="l" defTabSz="914400" rtl="0" eaLnBrk="1" latinLnBrk="0" hangingPunct="1">
              <a:lnSpc>
                <a:spcPct val="90000"/>
              </a:lnSpc>
              <a:spcBef>
                <a:spcPts val="0"/>
              </a:spcBef>
              <a:spcAft>
                <a:spcPts val="0"/>
              </a:spcAft>
              <a:buClr>
                <a:schemeClr val="lt1"/>
              </a:buClr>
              <a:buSzPts val="3200"/>
              <a:buFont typeface="Arial Black"/>
              <a:buNone/>
              <a:defRPr sz="3200" b="0" i="0" kern="1200">
                <a:solidFill>
                  <a:schemeClr val="tx1"/>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lgn="ctr"/>
            <a:r>
              <a:rPr lang="es-PE" sz="1600" dirty="0"/>
              <a:t>No olvides el </a:t>
            </a:r>
            <a:r>
              <a:rPr lang="es-PE" sz="1600" dirty="0" err="1"/>
              <a:t>matching</a:t>
            </a:r>
            <a:r>
              <a:rPr lang="es-PE" sz="1600" dirty="0"/>
              <a:t>, la restricción y la estratificación</a:t>
            </a:r>
          </a:p>
        </p:txBody>
      </p:sp>
      <p:sp>
        <p:nvSpPr>
          <p:cNvPr id="2" name="Rectángulo 1">
            <a:extLst>
              <a:ext uri="{FF2B5EF4-FFF2-40B4-BE49-F238E27FC236}">
                <a16:creationId xmlns:a16="http://schemas.microsoft.com/office/drawing/2014/main" id="{E13A6C89-3292-4695-AAFE-88A1AD68E0AA}"/>
              </a:ext>
            </a:extLst>
          </p:cNvPr>
          <p:cNvSpPr/>
          <p:nvPr/>
        </p:nvSpPr>
        <p:spPr>
          <a:xfrm>
            <a:off x="5398478" y="1907930"/>
            <a:ext cx="6257255" cy="55693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044424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6580435-0895-416B-B274-77392B2854E1}"/>
              </a:ext>
            </a:extLst>
          </p:cNvPr>
          <p:cNvSpPr>
            <a:spLocks noGrp="1"/>
          </p:cNvSpPr>
          <p:nvPr>
            <p:ph type="body" idx="1"/>
          </p:nvPr>
        </p:nvSpPr>
        <p:spPr>
          <a:xfrm>
            <a:off x="838200" y="1509102"/>
            <a:ext cx="10515599" cy="4351338"/>
          </a:xfrm>
        </p:spPr>
        <p:txBody>
          <a:bodyPr>
            <a:normAutofit/>
          </a:bodyPr>
          <a:lstStyle/>
          <a:p>
            <a:r>
              <a:rPr lang="es-ES" dirty="0"/>
              <a:t>Utilizan un modelo de regresión para estimar la </a:t>
            </a:r>
            <a:r>
              <a:rPr lang="es-ES" b="1" dirty="0"/>
              <a:t>probabilidad de la asignación al tratamiento </a:t>
            </a:r>
            <a:r>
              <a:rPr lang="es-ES" dirty="0"/>
              <a:t>en función de las covariables.</a:t>
            </a:r>
          </a:p>
          <a:p>
            <a:endParaRPr lang="es-ES" dirty="0"/>
          </a:p>
          <a:p>
            <a:endParaRPr lang="es-ES" dirty="0"/>
          </a:p>
          <a:p>
            <a:endParaRPr lang="es-ES" dirty="0"/>
          </a:p>
        </p:txBody>
      </p:sp>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err="1"/>
              <a:t>Propensity</a:t>
            </a:r>
            <a:r>
              <a:rPr lang="es-PE" dirty="0"/>
              <a:t> score </a:t>
            </a:r>
          </a:p>
        </p:txBody>
      </p:sp>
      <p:pic>
        <p:nvPicPr>
          <p:cNvPr id="7" name="Imagen 6">
            <a:extLst>
              <a:ext uri="{FF2B5EF4-FFF2-40B4-BE49-F238E27FC236}">
                <a16:creationId xmlns:a16="http://schemas.microsoft.com/office/drawing/2014/main" id="{5C438C90-6CC7-47A7-9E02-E14AD8933450}"/>
              </a:ext>
            </a:extLst>
          </p:cNvPr>
          <p:cNvPicPr>
            <a:picLocks noChangeAspect="1"/>
          </p:cNvPicPr>
          <p:nvPr/>
        </p:nvPicPr>
        <p:blipFill rotWithShape="1">
          <a:blip r:embed="rId2"/>
          <a:srcRect t="958" r="32457" b="58128"/>
          <a:stretch/>
        </p:blipFill>
        <p:spPr>
          <a:xfrm>
            <a:off x="4400313" y="2769577"/>
            <a:ext cx="2290634" cy="378069"/>
          </a:xfrm>
          <a:prstGeom prst="rect">
            <a:avLst/>
          </a:prstGeom>
        </p:spPr>
      </p:pic>
    </p:spTree>
    <p:extLst>
      <p:ext uri="{BB962C8B-B14F-4D97-AF65-F5344CB8AC3E}">
        <p14:creationId xmlns:p14="http://schemas.microsoft.com/office/powerpoint/2010/main" val="21844839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2"/>
            <a:ext cx="7485185" cy="1542055"/>
          </a:xfrm>
        </p:spPr>
        <p:txBody>
          <a:bodyPr/>
          <a:lstStyle/>
          <a:p>
            <a:r>
              <a:rPr lang="es-PE" dirty="0" err="1"/>
              <a:t>Propensity</a:t>
            </a:r>
            <a:r>
              <a:rPr lang="es-PE" dirty="0"/>
              <a:t> score</a:t>
            </a:r>
            <a:br>
              <a:rPr lang="es-PE" dirty="0"/>
            </a:br>
            <a:br>
              <a:rPr lang="es-PE" dirty="0"/>
            </a:br>
            <a:r>
              <a:rPr lang="es-PE" sz="1800" dirty="0"/>
              <a:t>Paso 1: Estimar la probabilidad de la asignación al </a:t>
            </a:r>
            <a:r>
              <a:rPr lang="es-PE" sz="1800" dirty="0" err="1"/>
              <a:t>tto</a:t>
            </a:r>
            <a:endParaRPr lang="es-PE" dirty="0"/>
          </a:p>
        </p:txBody>
      </p:sp>
      <p:pic>
        <p:nvPicPr>
          <p:cNvPr id="8" name="Imagen 7">
            <a:extLst>
              <a:ext uri="{FF2B5EF4-FFF2-40B4-BE49-F238E27FC236}">
                <a16:creationId xmlns:a16="http://schemas.microsoft.com/office/drawing/2014/main" id="{804CF1BD-F4DF-4060-9A04-00BED30A6561}"/>
              </a:ext>
            </a:extLst>
          </p:cNvPr>
          <p:cNvPicPr>
            <a:picLocks noChangeAspect="1"/>
          </p:cNvPicPr>
          <p:nvPr/>
        </p:nvPicPr>
        <p:blipFill rotWithShape="1">
          <a:blip r:embed="rId2"/>
          <a:srcRect t="22478"/>
          <a:stretch/>
        </p:blipFill>
        <p:spPr>
          <a:xfrm>
            <a:off x="1147762" y="2303585"/>
            <a:ext cx="9896475" cy="3854432"/>
          </a:xfrm>
          <a:prstGeom prst="rect">
            <a:avLst/>
          </a:prstGeom>
        </p:spPr>
      </p:pic>
      <p:sp>
        <p:nvSpPr>
          <p:cNvPr id="9" name="CuadroTexto 8">
            <a:extLst>
              <a:ext uri="{FF2B5EF4-FFF2-40B4-BE49-F238E27FC236}">
                <a16:creationId xmlns:a16="http://schemas.microsoft.com/office/drawing/2014/main" id="{29A7C24A-E1A8-474E-B0EB-302AAA772879}"/>
              </a:ext>
            </a:extLst>
          </p:cNvPr>
          <p:cNvSpPr txBox="1"/>
          <p:nvPr/>
        </p:nvSpPr>
        <p:spPr>
          <a:xfrm>
            <a:off x="5196254" y="4739108"/>
            <a:ext cx="1538654" cy="369332"/>
          </a:xfrm>
          <a:prstGeom prst="rect">
            <a:avLst/>
          </a:prstGeom>
          <a:noFill/>
        </p:spPr>
        <p:txBody>
          <a:bodyPr wrap="square" rtlCol="0">
            <a:spAutoFit/>
          </a:bodyPr>
          <a:lstStyle/>
          <a:p>
            <a:pPr algn="ctr"/>
            <a:r>
              <a:rPr lang="es-PE" b="1" dirty="0"/>
              <a:t>X ~ D</a:t>
            </a:r>
          </a:p>
        </p:txBody>
      </p:sp>
    </p:spTree>
    <p:extLst>
      <p:ext uri="{BB962C8B-B14F-4D97-AF65-F5344CB8AC3E}">
        <p14:creationId xmlns:p14="http://schemas.microsoft.com/office/powerpoint/2010/main" val="22773086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2"/>
            <a:ext cx="7485185" cy="1542055"/>
          </a:xfrm>
        </p:spPr>
        <p:txBody>
          <a:bodyPr/>
          <a:lstStyle/>
          <a:p>
            <a:r>
              <a:rPr lang="es-PE" dirty="0" err="1"/>
              <a:t>Propensity</a:t>
            </a:r>
            <a:r>
              <a:rPr lang="es-PE" dirty="0"/>
              <a:t> score</a:t>
            </a:r>
            <a:br>
              <a:rPr lang="es-PE" dirty="0"/>
            </a:br>
            <a:br>
              <a:rPr lang="es-PE" dirty="0"/>
            </a:br>
            <a:r>
              <a:rPr lang="es-PE" sz="1800" dirty="0"/>
              <a:t>Paso 2: escoger método de PS</a:t>
            </a:r>
            <a:endParaRPr lang="es-PE" dirty="0"/>
          </a:p>
        </p:txBody>
      </p:sp>
      <p:sp>
        <p:nvSpPr>
          <p:cNvPr id="9" name="CuadroTexto 8">
            <a:extLst>
              <a:ext uri="{FF2B5EF4-FFF2-40B4-BE49-F238E27FC236}">
                <a16:creationId xmlns:a16="http://schemas.microsoft.com/office/drawing/2014/main" id="{29A7C24A-E1A8-474E-B0EB-302AAA772879}"/>
              </a:ext>
            </a:extLst>
          </p:cNvPr>
          <p:cNvSpPr txBox="1"/>
          <p:nvPr/>
        </p:nvSpPr>
        <p:spPr>
          <a:xfrm>
            <a:off x="5196254" y="4739108"/>
            <a:ext cx="1538654" cy="369332"/>
          </a:xfrm>
          <a:prstGeom prst="rect">
            <a:avLst/>
          </a:prstGeom>
          <a:noFill/>
        </p:spPr>
        <p:txBody>
          <a:bodyPr wrap="square" rtlCol="0">
            <a:spAutoFit/>
          </a:bodyPr>
          <a:lstStyle/>
          <a:p>
            <a:pPr algn="ctr"/>
            <a:r>
              <a:rPr lang="es-PE" b="1" dirty="0"/>
              <a:t>X ~ D</a:t>
            </a:r>
          </a:p>
        </p:txBody>
      </p:sp>
      <p:pic>
        <p:nvPicPr>
          <p:cNvPr id="4" name="Imagen 3">
            <a:extLst>
              <a:ext uri="{FF2B5EF4-FFF2-40B4-BE49-F238E27FC236}">
                <a16:creationId xmlns:a16="http://schemas.microsoft.com/office/drawing/2014/main" id="{F09925A4-F5D1-4853-9C2C-522B7B424AAA}"/>
              </a:ext>
            </a:extLst>
          </p:cNvPr>
          <p:cNvPicPr>
            <a:picLocks noChangeAspect="1"/>
          </p:cNvPicPr>
          <p:nvPr/>
        </p:nvPicPr>
        <p:blipFill>
          <a:blip r:embed="rId2"/>
          <a:stretch>
            <a:fillRect/>
          </a:stretch>
        </p:blipFill>
        <p:spPr>
          <a:xfrm>
            <a:off x="2395021" y="2650306"/>
            <a:ext cx="7401958" cy="2981741"/>
          </a:xfrm>
          <a:prstGeom prst="rect">
            <a:avLst/>
          </a:prstGeom>
        </p:spPr>
      </p:pic>
      <p:sp>
        <p:nvSpPr>
          <p:cNvPr id="7" name="CuadroTexto 6">
            <a:extLst>
              <a:ext uri="{FF2B5EF4-FFF2-40B4-BE49-F238E27FC236}">
                <a16:creationId xmlns:a16="http://schemas.microsoft.com/office/drawing/2014/main" id="{4361276D-2AB9-4390-A7BD-9BC7F5A7439B}"/>
              </a:ext>
            </a:extLst>
          </p:cNvPr>
          <p:cNvSpPr txBox="1"/>
          <p:nvPr/>
        </p:nvSpPr>
        <p:spPr>
          <a:xfrm>
            <a:off x="8901479" y="2813510"/>
            <a:ext cx="3290521" cy="369332"/>
          </a:xfrm>
          <a:prstGeom prst="rect">
            <a:avLst/>
          </a:prstGeom>
          <a:noFill/>
        </p:spPr>
        <p:txBody>
          <a:bodyPr wrap="square">
            <a:spAutoFit/>
          </a:bodyPr>
          <a:lstStyle/>
          <a:p>
            <a:pPr algn="ctr"/>
            <a:r>
              <a:rPr lang="es-PE" b="1" dirty="0"/>
              <a:t>Y ~ X + PS</a:t>
            </a:r>
          </a:p>
        </p:txBody>
      </p:sp>
      <p:sp>
        <p:nvSpPr>
          <p:cNvPr id="10" name="Rectángulo 9">
            <a:extLst>
              <a:ext uri="{FF2B5EF4-FFF2-40B4-BE49-F238E27FC236}">
                <a16:creationId xmlns:a16="http://schemas.microsoft.com/office/drawing/2014/main" id="{9D6E4B43-1A04-4F39-A4D6-915328502477}"/>
              </a:ext>
            </a:extLst>
          </p:cNvPr>
          <p:cNvSpPr/>
          <p:nvPr/>
        </p:nvSpPr>
        <p:spPr>
          <a:xfrm>
            <a:off x="2395021" y="2650306"/>
            <a:ext cx="7401958" cy="55693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4274883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2"/>
            <a:ext cx="7485185" cy="1542055"/>
          </a:xfrm>
        </p:spPr>
        <p:txBody>
          <a:bodyPr/>
          <a:lstStyle/>
          <a:p>
            <a:r>
              <a:rPr lang="es-PE" dirty="0" err="1"/>
              <a:t>Propensity</a:t>
            </a:r>
            <a:r>
              <a:rPr lang="es-PE" dirty="0"/>
              <a:t> score</a:t>
            </a:r>
            <a:br>
              <a:rPr lang="es-PE" dirty="0"/>
            </a:br>
            <a:br>
              <a:rPr lang="es-PE" dirty="0"/>
            </a:br>
            <a:r>
              <a:rPr lang="es-PE" sz="1800" dirty="0"/>
              <a:t>Paso 2: escoger método de PS</a:t>
            </a:r>
            <a:endParaRPr lang="es-PE" dirty="0"/>
          </a:p>
        </p:txBody>
      </p:sp>
      <p:sp>
        <p:nvSpPr>
          <p:cNvPr id="9" name="CuadroTexto 8">
            <a:extLst>
              <a:ext uri="{FF2B5EF4-FFF2-40B4-BE49-F238E27FC236}">
                <a16:creationId xmlns:a16="http://schemas.microsoft.com/office/drawing/2014/main" id="{29A7C24A-E1A8-474E-B0EB-302AAA772879}"/>
              </a:ext>
            </a:extLst>
          </p:cNvPr>
          <p:cNvSpPr txBox="1"/>
          <p:nvPr/>
        </p:nvSpPr>
        <p:spPr>
          <a:xfrm>
            <a:off x="5196254" y="4739108"/>
            <a:ext cx="1538654" cy="369332"/>
          </a:xfrm>
          <a:prstGeom prst="rect">
            <a:avLst/>
          </a:prstGeom>
          <a:noFill/>
        </p:spPr>
        <p:txBody>
          <a:bodyPr wrap="square" rtlCol="0">
            <a:spAutoFit/>
          </a:bodyPr>
          <a:lstStyle/>
          <a:p>
            <a:pPr algn="ctr"/>
            <a:r>
              <a:rPr lang="es-PE" b="1" dirty="0"/>
              <a:t>X ~ D</a:t>
            </a:r>
          </a:p>
        </p:txBody>
      </p:sp>
      <p:pic>
        <p:nvPicPr>
          <p:cNvPr id="4" name="Imagen 3">
            <a:extLst>
              <a:ext uri="{FF2B5EF4-FFF2-40B4-BE49-F238E27FC236}">
                <a16:creationId xmlns:a16="http://schemas.microsoft.com/office/drawing/2014/main" id="{F09925A4-F5D1-4853-9C2C-522B7B424AAA}"/>
              </a:ext>
            </a:extLst>
          </p:cNvPr>
          <p:cNvPicPr>
            <a:picLocks noChangeAspect="1"/>
          </p:cNvPicPr>
          <p:nvPr/>
        </p:nvPicPr>
        <p:blipFill>
          <a:blip r:embed="rId2"/>
          <a:stretch>
            <a:fillRect/>
          </a:stretch>
        </p:blipFill>
        <p:spPr>
          <a:xfrm>
            <a:off x="2395021" y="2650306"/>
            <a:ext cx="7401958" cy="2981741"/>
          </a:xfrm>
          <a:prstGeom prst="rect">
            <a:avLst/>
          </a:prstGeom>
        </p:spPr>
      </p:pic>
      <p:sp>
        <p:nvSpPr>
          <p:cNvPr id="10" name="Rectángulo 9">
            <a:extLst>
              <a:ext uri="{FF2B5EF4-FFF2-40B4-BE49-F238E27FC236}">
                <a16:creationId xmlns:a16="http://schemas.microsoft.com/office/drawing/2014/main" id="{9D6E4B43-1A04-4F39-A4D6-915328502477}"/>
              </a:ext>
            </a:extLst>
          </p:cNvPr>
          <p:cNvSpPr/>
          <p:nvPr/>
        </p:nvSpPr>
        <p:spPr>
          <a:xfrm>
            <a:off x="2395021" y="3182842"/>
            <a:ext cx="7401958" cy="55693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1265261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2"/>
            <a:ext cx="10794023" cy="1542055"/>
          </a:xfrm>
        </p:spPr>
        <p:txBody>
          <a:bodyPr/>
          <a:lstStyle/>
          <a:p>
            <a:r>
              <a:rPr lang="es-PE" dirty="0" err="1"/>
              <a:t>Propensity</a:t>
            </a:r>
            <a:r>
              <a:rPr lang="es-PE" dirty="0"/>
              <a:t> score </a:t>
            </a:r>
            <a:r>
              <a:rPr lang="es-PE" dirty="0" err="1"/>
              <a:t>Matching</a:t>
            </a:r>
            <a:br>
              <a:rPr lang="es-PE" dirty="0"/>
            </a:br>
            <a:br>
              <a:rPr lang="es-PE" dirty="0"/>
            </a:br>
            <a:r>
              <a:rPr lang="es-PE" sz="1800" dirty="0"/>
              <a:t>Empareja tratados con no tratados que tengan similar probabilidad</a:t>
            </a:r>
            <a:endParaRPr lang="es-PE" dirty="0"/>
          </a:p>
        </p:txBody>
      </p:sp>
      <p:pic>
        <p:nvPicPr>
          <p:cNvPr id="4" name="Imagen 3">
            <a:extLst>
              <a:ext uri="{FF2B5EF4-FFF2-40B4-BE49-F238E27FC236}">
                <a16:creationId xmlns:a16="http://schemas.microsoft.com/office/drawing/2014/main" id="{FD284EC6-F38C-495E-B27A-CE711F8F6F97}"/>
              </a:ext>
            </a:extLst>
          </p:cNvPr>
          <p:cNvPicPr>
            <a:picLocks noChangeAspect="1"/>
          </p:cNvPicPr>
          <p:nvPr/>
        </p:nvPicPr>
        <p:blipFill>
          <a:blip r:embed="rId2"/>
          <a:stretch>
            <a:fillRect/>
          </a:stretch>
        </p:blipFill>
        <p:spPr>
          <a:xfrm>
            <a:off x="1789783" y="2242037"/>
            <a:ext cx="5582017" cy="4019639"/>
          </a:xfrm>
          <a:prstGeom prst="rect">
            <a:avLst/>
          </a:prstGeom>
        </p:spPr>
      </p:pic>
      <p:pic>
        <p:nvPicPr>
          <p:cNvPr id="7" name="Picture 4">
            <a:extLst>
              <a:ext uri="{FF2B5EF4-FFF2-40B4-BE49-F238E27FC236}">
                <a16:creationId xmlns:a16="http://schemas.microsoft.com/office/drawing/2014/main" id="{844B2BF7-13E9-4169-9A2D-1FC13BA4CB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2311"/>
          <a:stretch/>
        </p:blipFill>
        <p:spPr bwMode="auto">
          <a:xfrm>
            <a:off x="7946506" y="3695504"/>
            <a:ext cx="3111011" cy="1112705"/>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D4856F0A-79D5-4FAE-8A72-8AEE3AF6D9F7}"/>
              </a:ext>
            </a:extLst>
          </p:cNvPr>
          <p:cNvSpPr txBox="1"/>
          <p:nvPr/>
        </p:nvSpPr>
        <p:spPr>
          <a:xfrm>
            <a:off x="9333218" y="5046757"/>
            <a:ext cx="1030897" cy="369332"/>
          </a:xfrm>
          <a:prstGeom prst="rect">
            <a:avLst/>
          </a:prstGeom>
          <a:noFill/>
        </p:spPr>
        <p:txBody>
          <a:bodyPr wrap="square">
            <a:spAutoFit/>
          </a:bodyPr>
          <a:lstStyle/>
          <a:p>
            <a:r>
              <a:rPr lang="es-PE" b="1" dirty="0"/>
              <a:t>Y ~ X </a:t>
            </a:r>
            <a:endParaRPr lang="es-PE" dirty="0"/>
          </a:p>
        </p:txBody>
      </p:sp>
      <p:sp>
        <p:nvSpPr>
          <p:cNvPr id="11" name="CuadroTexto 10">
            <a:extLst>
              <a:ext uri="{FF2B5EF4-FFF2-40B4-BE49-F238E27FC236}">
                <a16:creationId xmlns:a16="http://schemas.microsoft.com/office/drawing/2014/main" id="{613C8CDF-C40E-40A9-875E-4C8A2F0F88FB}"/>
              </a:ext>
            </a:extLst>
          </p:cNvPr>
          <p:cNvSpPr txBox="1"/>
          <p:nvPr/>
        </p:nvSpPr>
        <p:spPr>
          <a:xfrm>
            <a:off x="7659153" y="2174364"/>
            <a:ext cx="4260423" cy="1384995"/>
          </a:xfrm>
          <a:prstGeom prst="rect">
            <a:avLst/>
          </a:prstGeom>
          <a:noFill/>
        </p:spPr>
        <p:txBody>
          <a:bodyPr wrap="square">
            <a:spAutoFit/>
          </a:bodyPr>
          <a:lstStyle/>
          <a:p>
            <a:pPr algn="just"/>
            <a:r>
              <a:rPr lang="es-ES" sz="1400" b="0" i="0" dirty="0">
                <a:solidFill>
                  <a:srgbClr val="555555"/>
                </a:solidFill>
                <a:effectLst/>
                <a:latin typeface="Roboto" panose="02000000000000000000" pitchFamily="2" charset="0"/>
              </a:rPr>
              <a:t>El emparejamiento con PS significa que los individuos con </a:t>
            </a:r>
            <a:r>
              <a:rPr lang="es-ES" sz="1400" dirty="0">
                <a:solidFill>
                  <a:srgbClr val="555555"/>
                </a:solidFill>
                <a:latin typeface="Roboto" panose="02000000000000000000" pitchFamily="2" charset="0"/>
              </a:rPr>
              <a:t>igual o similar puntaje </a:t>
            </a:r>
            <a:r>
              <a:rPr lang="es-ES" sz="1400" b="0" i="0" dirty="0">
                <a:solidFill>
                  <a:srgbClr val="555555"/>
                </a:solidFill>
                <a:effectLst/>
                <a:latin typeface="Roboto" panose="02000000000000000000" pitchFamily="2" charset="0"/>
              </a:rPr>
              <a:t>son indistinguibles entre sí en todos los aspectos, excepto (1) el estado de tratamiento observado y (2) las diferencias en los resultados potenciales que son independientes del estado de tratamiento</a:t>
            </a:r>
            <a:endParaRPr lang="es-PE" sz="1400" dirty="0"/>
          </a:p>
        </p:txBody>
      </p:sp>
    </p:spTree>
    <p:extLst>
      <p:ext uri="{BB962C8B-B14F-4D97-AF65-F5344CB8AC3E}">
        <p14:creationId xmlns:p14="http://schemas.microsoft.com/office/powerpoint/2010/main" val="9320499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A13D1E-F1F1-4D8E-B33B-718CBD62A827}"/>
              </a:ext>
            </a:extLst>
          </p:cNvPr>
          <p:cNvSpPr>
            <a:spLocks noGrp="1"/>
          </p:cNvSpPr>
          <p:nvPr>
            <p:ph type="body" idx="1"/>
          </p:nvPr>
        </p:nvSpPr>
        <p:spPr>
          <a:xfrm>
            <a:off x="7200899" y="5753897"/>
            <a:ext cx="4152899" cy="423065"/>
          </a:xfrm>
        </p:spPr>
        <p:txBody>
          <a:bodyPr>
            <a:normAutofit fontScale="70000" lnSpcReduction="20000"/>
          </a:bodyPr>
          <a:lstStyle/>
          <a:p>
            <a:r>
              <a:rPr lang="es-ES" b="0" i="0" dirty="0">
                <a:solidFill>
                  <a:srgbClr val="212121"/>
                </a:solidFill>
                <a:effectLst/>
                <a:latin typeface="Cambria" panose="02040503050406030204" pitchFamily="18" charset="0"/>
              </a:rPr>
              <a:t>ATT verdadero fue de − 0,02</a:t>
            </a:r>
            <a:endParaRPr lang="es-PE" dirty="0"/>
          </a:p>
        </p:txBody>
      </p:sp>
      <p:sp>
        <p:nvSpPr>
          <p:cNvPr id="3" name="Título 2">
            <a:extLst>
              <a:ext uri="{FF2B5EF4-FFF2-40B4-BE49-F238E27FC236}">
                <a16:creationId xmlns:a16="http://schemas.microsoft.com/office/drawing/2014/main" id="{8F334B6E-A867-487F-9A94-2990E50A9968}"/>
              </a:ext>
            </a:extLst>
          </p:cNvPr>
          <p:cNvSpPr>
            <a:spLocks noGrp="1"/>
          </p:cNvSpPr>
          <p:nvPr>
            <p:ph type="title"/>
          </p:nvPr>
        </p:nvSpPr>
        <p:spPr>
          <a:xfrm>
            <a:off x="838200" y="699983"/>
            <a:ext cx="9475177" cy="423064"/>
          </a:xfrm>
        </p:spPr>
        <p:txBody>
          <a:bodyPr/>
          <a:lstStyle/>
          <a:p>
            <a:r>
              <a:rPr lang="es-PE" dirty="0"/>
              <a:t>Aquí hay varias formas de emparejar</a:t>
            </a:r>
          </a:p>
        </p:txBody>
      </p:sp>
      <p:pic>
        <p:nvPicPr>
          <p:cNvPr id="4098" name="Picture 2">
            <a:extLst>
              <a:ext uri="{FF2B5EF4-FFF2-40B4-BE49-F238E27FC236}">
                <a16:creationId xmlns:a16="http://schemas.microsoft.com/office/drawing/2014/main" id="{484D2B52-D2EC-4192-9150-3933F2B41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74782"/>
            <a:ext cx="6235212" cy="460218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1092F6C1-8631-4336-A3FE-9531C97739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4537" y="1574782"/>
            <a:ext cx="3824537" cy="2651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40305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1EC9178-377E-438F-A32A-C5D572FA7C23}"/>
              </a:ext>
            </a:extLst>
          </p:cNvPr>
          <p:cNvSpPr txBox="1"/>
          <p:nvPr/>
        </p:nvSpPr>
        <p:spPr>
          <a:xfrm>
            <a:off x="2415686" y="2743172"/>
            <a:ext cx="3290521" cy="369332"/>
          </a:xfrm>
          <a:prstGeom prst="rect">
            <a:avLst/>
          </a:prstGeom>
          <a:noFill/>
        </p:spPr>
        <p:txBody>
          <a:bodyPr wrap="square">
            <a:spAutoFit/>
          </a:bodyPr>
          <a:lstStyle/>
          <a:p>
            <a:pPr algn="ctr"/>
            <a:r>
              <a:rPr lang="es-PE" b="1" dirty="0"/>
              <a:t>Y ~ X + PS</a:t>
            </a:r>
          </a:p>
        </p:txBody>
      </p:sp>
      <p:sp>
        <p:nvSpPr>
          <p:cNvPr id="8" name="Título 2">
            <a:extLst>
              <a:ext uri="{FF2B5EF4-FFF2-40B4-BE49-F238E27FC236}">
                <a16:creationId xmlns:a16="http://schemas.microsoft.com/office/drawing/2014/main" id="{1ECFF894-C54B-4ABF-A166-32E2C702597E}"/>
              </a:ext>
            </a:extLst>
          </p:cNvPr>
          <p:cNvSpPr>
            <a:spLocks noGrp="1"/>
          </p:cNvSpPr>
          <p:nvPr>
            <p:ph type="title"/>
          </p:nvPr>
        </p:nvSpPr>
        <p:spPr>
          <a:xfrm>
            <a:off x="838200" y="699982"/>
            <a:ext cx="10794023" cy="1542055"/>
          </a:xfrm>
        </p:spPr>
        <p:txBody>
          <a:bodyPr/>
          <a:lstStyle/>
          <a:p>
            <a:r>
              <a:rPr lang="es-PE" dirty="0" err="1"/>
              <a:t>Propensity</a:t>
            </a:r>
            <a:r>
              <a:rPr lang="es-PE" dirty="0"/>
              <a:t> score </a:t>
            </a:r>
            <a:r>
              <a:rPr lang="es-PE" dirty="0" err="1"/>
              <a:t>matching</a:t>
            </a:r>
            <a:br>
              <a:rPr lang="es-PE" dirty="0"/>
            </a:br>
            <a:br>
              <a:rPr lang="es-PE" dirty="0"/>
            </a:br>
            <a:r>
              <a:rPr lang="es-PE" sz="1800" dirty="0"/>
              <a:t>Paso 3: Modelar Y en función de X controlando por PS</a:t>
            </a:r>
            <a:endParaRPr lang="es-PE" dirty="0"/>
          </a:p>
        </p:txBody>
      </p:sp>
      <p:sp>
        <p:nvSpPr>
          <p:cNvPr id="9" name="Marcador de texto 1">
            <a:extLst>
              <a:ext uri="{FF2B5EF4-FFF2-40B4-BE49-F238E27FC236}">
                <a16:creationId xmlns:a16="http://schemas.microsoft.com/office/drawing/2014/main" id="{5075F1AA-6B48-435B-8B4F-5AC606A5611D}"/>
              </a:ext>
            </a:extLst>
          </p:cNvPr>
          <p:cNvSpPr>
            <a:spLocks noGrp="1"/>
          </p:cNvSpPr>
          <p:nvPr>
            <p:ph type="body" idx="1"/>
          </p:nvPr>
        </p:nvSpPr>
        <p:spPr>
          <a:xfrm>
            <a:off x="838200" y="3428999"/>
            <a:ext cx="10515599" cy="2747963"/>
          </a:xfrm>
        </p:spPr>
        <p:txBody>
          <a:bodyPr>
            <a:normAutofit fontScale="92500" lnSpcReduction="20000"/>
          </a:bodyPr>
          <a:lstStyle/>
          <a:p>
            <a:r>
              <a:rPr lang="es-ES" dirty="0"/>
              <a:t>Pros: flexibilidad en la especificación de la forma funcional, maneja la alta dimensionalidad mejor que el emparejamiento. </a:t>
            </a:r>
          </a:p>
          <a:p>
            <a:endParaRPr lang="es-ES" dirty="0"/>
          </a:p>
          <a:p>
            <a:r>
              <a:rPr lang="es-ES" dirty="0"/>
              <a:t>Contras: ¡sigue basándose en la independencia condicional y en supuestos de solapamiento!</a:t>
            </a:r>
            <a:endParaRPr lang="es-PE" dirty="0"/>
          </a:p>
          <a:p>
            <a:endParaRPr lang="es-PE" dirty="0"/>
          </a:p>
          <a:p>
            <a:r>
              <a:rPr lang="es-PE" dirty="0"/>
              <a:t>Ver script del siguiente taller</a:t>
            </a:r>
          </a:p>
          <a:p>
            <a:endParaRPr lang="es-PE" dirty="0"/>
          </a:p>
          <a:p>
            <a:endParaRPr lang="es-PE" dirty="0"/>
          </a:p>
          <a:p>
            <a:endParaRPr lang="es-PE" dirty="0"/>
          </a:p>
        </p:txBody>
      </p:sp>
      <p:sp>
        <p:nvSpPr>
          <p:cNvPr id="10" name="Triángulo isósceles 9">
            <a:extLst>
              <a:ext uri="{FF2B5EF4-FFF2-40B4-BE49-F238E27FC236}">
                <a16:creationId xmlns:a16="http://schemas.microsoft.com/office/drawing/2014/main" id="{79250385-24AF-40BB-949F-474CCC7DFF4E}"/>
              </a:ext>
            </a:extLst>
          </p:cNvPr>
          <p:cNvSpPr/>
          <p:nvPr/>
        </p:nvSpPr>
        <p:spPr>
          <a:xfrm rot="10800000">
            <a:off x="838200" y="5686322"/>
            <a:ext cx="360485" cy="116603"/>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5449153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CC8EA788-4061-4DE6-977C-1AE23BAC4198}"/>
              </a:ext>
            </a:extLst>
          </p:cNvPr>
          <p:cNvSpPr>
            <a:spLocks noGrp="1"/>
          </p:cNvSpPr>
          <p:nvPr>
            <p:ph type="title"/>
          </p:nvPr>
        </p:nvSpPr>
        <p:spPr>
          <a:xfrm>
            <a:off x="1622676" y="3498299"/>
            <a:ext cx="929054" cy="423064"/>
          </a:xfrm>
        </p:spPr>
        <p:txBody>
          <a:bodyPr/>
          <a:lstStyle/>
          <a:p>
            <a:r>
              <a:rPr lang="es-PE" dirty="0"/>
              <a:t>PS</a:t>
            </a:r>
          </a:p>
        </p:txBody>
      </p:sp>
      <p:pic>
        <p:nvPicPr>
          <p:cNvPr id="5" name="Imagen 4">
            <a:extLst>
              <a:ext uri="{FF2B5EF4-FFF2-40B4-BE49-F238E27FC236}">
                <a16:creationId xmlns:a16="http://schemas.microsoft.com/office/drawing/2014/main" id="{D2E87CC4-37EB-4A66-BD70-9FC1CB64BA64}"/>
              </a:ext>
            </a:extLst>
          </p:cNvPr>
          <p:cNvPicPr>
            <a:picLocks noChangeAspect="1"/>
          </p:cNvPicPr>
          <p:nvPr/>
        </p:nvPicPr>
        <p:blipFill>
          <a:blip r:embed="rId2"/>
          <a:stretch>
            <a:fillRect/>
          </a:stretch>
        </p:blipFill>
        <p:spPr>
          <a:xfrm>
            <a:off x="2723678" y="2445211"/>
            <a:ext cx="6744641" cy="2529240"/>
          </a:xfrm>
          <a:prstGeom prst="rect">
            <a:avLst/>
          </a:prstGeom>
        </p:spPr>
      </p:pic>
      <p:pic>
        <p:nvPicPr>
          <p:cNvPr id="7" name="Imagen 6">
            <a:extLst>
              <a:ext uri="{FF2B5EF4-FFF2-40B4-BE49-F238E27FC236}">
                <a16:creationId xmlns:a16="http://schemas.microsoft.com/office/drawing/2014/main" id="{7B17691D-375A-4E85-BD20-A4C5D96DBA7E}"/>
              </a:ext>
            </a:extLst>
          </p:cNvPr>
          <p:cNvPicPr>
            <a:picLocks noChangeAspect="1"/>
          </p:cNvPicPr>
          <p:nvPr/>
        </p:nvPicPr>
        <p:blipFill>
          <a:blip r:embed="rId3"/>
          <a:stretch>
            <a:fillRect/>
          </a:stretch>
        </p:blipFill>
        <p:spPr>
          <a:xfrm>
            <a:off x="1608991" y="1279632"/>
            <a:ext cx="7859328" cy="1165579"/>
          </a:xfrm>
          <a:prstGeom prst="rect">
            <a:avLst/>
          </a:prstGeom>
        </p:spPr>
      </p:pic>
      <p:cxnSp>
        <p:nvCxnSpPr>
          <p:cNvPr id="9" name="Conector recto 8">
            <a:extLst>
              <a:ext uri="{FF2B5EF4-FFF2-40B4-BE49-F238E27FC236}">
                <a16:creationId xmlns:a16="http://schemas.microsoft.com/office/drawing/2014/main" id="{EED57125-FD9B-4A9B-A0F9-B565EB80A0B5}"/>
              </a:ext>
            </a:extLst>
          </p:cNvPr>
          <p:cNvCxnSpPr/>
          <p:nvPr/>
        </p:nvCxnSpPr>
        <p:spPr>
          <a:xfrm>
            <a:off x="3358662" y="2593731"/>
            <a:ext cx="64183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75637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2"/>
            <a:ext cx="7485185" cy="1542055"/>
          </a:xfrm>
        </p:spPr>
        <p:txBody>
          <a:bodyPr/>
          <a:lstStyle/>
          <a:p>
            <a:r>
              <a:rPr lang="es-PE" dirty="0" err="1"/>
              <a:t>Propensity</a:t>
            </a:r>
            <a:r>
              <a:rPr lang="es-PE" dirty="0"/>
              <a:t> score</a:t>
            </a:r>
            <a:br>
              <a:rPr lang="es-PE" dirty="0"/>
            </a:br>
            <a:br>
              <a:rPr lang="es-PE" dirty="0"/>
            </a:br>
            <a:r>
              <a:rPr lang="es-PE" sz="1800" dirty="0"/>
              <a:t>Paso 2: escoger método de PS</a:t>
            </a:r>
            <a:endParaRPr lang="es-PE" dirty="0"/>
          </a:p>
        </p:txBody>
      </p:sp>
      <p:sp>
        <p:nvSpPr>
          <p:cNvPr id="9" name="CuadroTexto 8">
            <a:extLst>
              <a:ext uri="{FF2B5EF4-FFF2-40B4-BE49-F238E27FC236}">
                <a16:creationId xmlns:a16="http://schemas.microsoft.com/office/drawing/2014/main" id="{29A7C24A-E1A8-474E-B0EB-302AAA772879}"/>
              </a:ext>
            </a:extLst>
          </p:cNvPr>
          <p:cNvSpPr txBox="1"/>
          <p:nvPr/>
        </p:nvSpPr>
        <p:spPr>
          <a:xfrm>
            <a:off x="5196254" y="4739108"/>
            <a:ext cx="1538654" cy="369332"/>
          </a:xfrm>
          <a:prstGeom prst="rect">
            <a:avLst/>
          </a:prstGeom>
          <a:noFill/>
        </p:spPr>
        <p:txBody>
          <a:bodyPr wrap="square" rtlCol="0">
            <a:spAutoFit/>
          </a:bodyPr>
          <a:lstStyle/>
          <a:p>
            <a:pPr algn="ctr"/>
            <a:r>
              <a:rPr lang="es-PE" b="1" dirty="0"/>
              <a:t>X ~ D</a:t>
            </a:r>
          </a:p>
        </p:txBody>
      </p:sp>
      <p:pic>
        <p:nvPicPr>
          <p:cNvPr id="4" name="Imagen 3">
            <a:extLst>
              <a:ext uri="{FF2B5EF4-FFF2-40B4-BE49-F238E27FC236}">
                <a16:creationId xmlns:a16="http://schemas.microsoft.com/office/drawing/2014/main" id="{F09925A4-F5D1-4853-9C2C-522B7B424AAA}"/>
              </a:ext>
            </a:extLst>
          </p:cNvPr>
          <p:cNvPicPr>
            <a:picLocks noChangeAspect="1"/>
          </p:cNvPicPr>
          <p:nvPr/>
        </p:nvPicPr>
        <p:blipFill>
          <a:blip r:embed="rId2"/>
          <a:stretch>
            <a:fillRect/>
          </a:stretch>
        </p:blipFill>
        <p:spPr>
          <a:xfrm>
            <a:off x="2395021" y="2650306"/>
            <a:ext cx="7401958" cy="2981741"/>
          </a:xfrm>
          <a:prstGeom prst="rect">
            <a:avLst/>
          </a:prstGeom>
        </p:spPr>
      </p:pic>
      <p:sp>
        <p:nvSpPr>
          <p:cNvPr id="10" name="Rectángulo 9">
            <a:extLst>
              <a:ext uri="{FF2B5EF4-FFF2-40B4-BE49-F238E27FC236}">
                <a16:creationId xmlns:a16="http://schemas.microsoft.com/office/drawing/2014/main" id="{9D6E4B43-1A04-4F39-A4D6-915328502477}"/>
              </a:ext>
            </a:extLst>
          </p:cNvPr>
          <p:cNvSpPr/>
          <p:nvPr/>
        </p:nvSpPr>
        <p:spPr>
          <a:xfrm>
            <a:off x="2395021" y="3652820"/>
            <a:ext cx="7401958" cy="55693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2887797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2"/>
            <a:ext cx="10794023" cy="1542055"/>
          </a:xfrm>
        </p:spPr>
        <p:txBody>
          <a:bodyPr/>
          <a:lstStyle/>
          <a:p>
            <a:r>
              <a:rPr lang="es-PE" dirty="0" err="1"/>
              <a:t>Propensity</a:t>
            </a:r>
            <a:r>
              <a:rPr lang="es-PE" dirty="0"/>
              <a:t> score estratificado</a:t>
            </a:r>
            <a:br>
              <a:rPr lang="es-PE" dirty="0"/>
            </a:br>
            <a:br>
              <a:rPr lang="es-PE" dirty="0"/>
            </a:br>
            <a:r>
              <a:rPr lang="es-PE" sz="1800" dirty="0"/>
              <a:t>Crearemos pesos</a:t>
            </a:r>
            <a:endParaRPr lang="es-PE" dirty="0"/>
          </a:p>
        </p:txBody>
      </p:sp>
      <p:sp>
        <p:nvSpPr>
          <p:cNvPr id="10" name="CuadroTexto 9">
            <a:extLst>
              <a:ext uri="{FF2B5EF4-FFF2-40B4-BE49-F238E27FC236}">
                <a16:creationId xmlns:a16="http://schemas.microsoft.com/office/drawing/2014/main" id="{D4856F0A-79D5-4FAE-8A72-8AEE3AF6D9F7}"/>
              </a:ext>
            </a:extLst>
          </p:cNvPr>
          <p:cNvSpPr txBox="1"/>
          <p:nvPr/>
        </p:nvSpPr>
        <p:spPr>
          <a:xfrm>
            <a:off x="8533118" y="3115062"/>
            <a:ext cx="2312937" cy="369332"/>
          </a:xfrm>
          <a:prstGeom prst="rect">
            <a:avLst/>
          </a:prstGeom>
          <a:noFill/>
        </p:spPr>
        <p:txBody>
          <a:bodyPr wrap="square">
            <a:spAutoFit/>
          </a:bodyPr>
          <a:lstStyle/>
          <a:p>
            <a:r>
              <a:rPr lang="es-PE" b="1" dirty="0"/>
              <a:t>Y ~ X , </a:t>
            </a:r>
            <a:r>
              <a:rPr lang="es-PE" b="1" dirty="0" err="1"/>
              <a:t>weigths</a:t>
            </a:r>
            <a:r>
              <a:rPr lang="es-PE" b="1" dirty="0"/>
              <a:t> = W </a:t>
            </a:r>
            <a:endParaRPr lang="es-PE" dirty="0"/>
          </a:p>
        </p:txBody>
      </p:sp>
      <p:pic>
        <p:nvPicPr>
          <p:cNvPr id="2" name="Imagen 1">
            <a:extLst>
              <a:ext uri="{FF2B5EF4-FFF2-40B4-BE49-F238E27FC236}">
                <a16:creationId xmlns:a16="http://schemas.microsoft.com/office/drawing/2014/main" id="{AC649AAA-54D7-4115-AE80-D271D9497B99}"/>
              </a:ext>
            </a:extLst>
          </p:cNvPr>
          <p:cNvPicPr>
            <a:picLocks noChangeAspect="1"/>
          </p:cNvPicPr>
          <p:nvPr/>
        </p:nvPicPr>
        <p:blipFill>
          <a:blip r:embed="rId2"/>
          <a:stretch>
            <a:fillRect/>
          </a:stretch>
        </p:blipFill>
        <p:spPr>
          <a:xfrm>
            <a:off x="838200" y="2311408"/>
            <a:ext cx="6362171" cy="3846610"/>
          </a:xfrm>
          <a:prstGeom prst="rect">
            <a:avLst/>
          </a:prstGeom>
        </p:spPr>
      </p:pic>
      <p:pic>
        <p:nvPicPr>
          <p:cNvPr id="6" name="Imagen 5">
            <a:extLst>
              <a:ext uri="{FF2B5EF4-FFF2-40B4-BE49-F238E27FC236}">
                <a16:creationId xmlns:a16="http://schemas.microsoft.com/office/drawing/2014/main" id="{BBA8255B-0B79-40D4-AB28-E0B74419EE9C}"/>
              </a:ext>
            </a:extLst>
          </p:cNvPr>
          <p:cNvPicPr>
            <a:picLocks noChangeAspect="1"/>
          </p:cNvPicPr>
          <p:nvPr/>
        </p:nvPicPr>
        <p:blipFill>
          <a:blip r:embed="rId3"/>
          <a:stretch>
            <a:fillRect/>
          </a:stretch>
        </p:blipFill>
        <p:spPr>
          <a:xfrm>
            <a:off x="5425574" y="1573007"/>
            <a:ext cx="5420481" cy="581106"/>
          </a:xfrm>
          <a:prstGeom prst="rect">
            <a:avLst/>
          </a:prstGeom>
          <a:ln>
            <a:solidFill>
              <a:schemeClr val="tx1"/>
            </a:solidFill>
          </a:ln>
        </p:spPr>
      </p:pic>
      <p:sp>
        <p:nvSpPr>
          <p:cNvPr id="9" name="CuadroTexto 8">
            <a:extLst>
              <a:ext uri="{FF2B5EF4-FFF2-40B4-BE49-F238E27FC236}">
                <a16:creationId xmlns:a16="http://schemas.microsoft.com/office/drawing/2014/main" id="{2C5103F5-2F32-42E0-B78B-411D440E29D0}"/>
              </a:ext>
            </a:extLst>
          </p:cNvPr>
          <p:cNvSpPr txBox="1"/>
          <p:nvPr/>
        </p:nvSpPr>
        <p:spPr>
          <a:xfrm>
            <a:off x="3886200" y="1679331"/>
            <a:ext cx="993531" cy="369332"/>
          </a:xfrm>
          <a:prstGeom prst="rect">
            <a:avLst/>
          </a:prstGeom>
          <a:noFill/>
        </p:spPr>
        <p:txBody>
          <a:bodyPr wrap="square" rtlCol="0">
            <a:spAutoFit/>
          </a:bodyPr>
          <a:lstStyle/>
          <a:p>
            <a:r>
              <a:rPr lang="es-PE" dirty="0"/>
              <a:t>W = 1</a:t>
            </a:r>
          </a:p>
        </p:txBody>
      </p:sp>
      <p:sp>
        <p:nvSpPr>
          <p:cNvPr id="12" name="CuadroTexto 11">
            <a:extLst>
              <a:ext uri="{FF2B5EF4-FFF2-40B4-BE49-F238E27FC236}">
                <a16:creationId xmlns:a16="http://schemas.microsoft.com/office/drawing/2014/main" id="{B30DB219-FBE5-4791-A47C-70EF22231002}"/>
              </a:ext>
            </a:extLst>
          </p:cNvPr>
          <p:cNvSpPr txBox="1"/>
          <p:nvPr/>
        </p:nvSpPr>
        <p:spPr>
          <a:xfrm>
            <a:off x="8449408" y="3772643"/>
            <a:ext cx="3015761" cy="1600438"/>
          </a:xfrm>
          <a:prstGeom prst="rect">
            <a:avLst/>
          </a:prstGeom>
          <a:noFill/>
        </p:spPr>
        <p:txBody>
          <a:bodyPr wrap="square">
            <a:spAutoFit/>
          </a:bodyPr>
          <a:lstStyle/>
          <a:p>
            <a:pPr algn="just"/>
            <a:r>
              <a:rPr lang="es-ES" sz="1400" b="0" i="0" dirty="0">
                <a:solidFill>
                  <a:srgbClr val="212121"/>
                </a:solidFill>
                <a:effectLst/>
                <a:latin typeface="Cambria" panose="02040503050406030204" pitchFamily="18" charset="0"/>
              </a:rPr>
              <a:t>En efecto, esta ponderación crea una </a:t>
            </a:r>
            <a:r>
              <a:rPr lang="es-ES" sz="1400" b="0" i="0" dirty="0" err="1">
                <a:solidFill>
                  <a:srgbClr val="212121"/>
                </a:solidFill>
                <a:effectLst/>
                <a:latin typeface="Cambria" panose="02040503050406030204" pitchFamily="18" charset="0"/>
              </a:rPr>
              <a:t>pseudopoblación</a:t>
            </a:r>
            <a:r>
              <a:rPr lang="es-ES" sz="1400" b="0" i="0" dirty="0">
                <a:solidFill>
                  <a:srgbClr val="212121"/>
                </a:solidFill>
                <a:effectLst/>
                <a:latin typeface="Cambria" panose="02040503050406030204" pitchFamily="18" charset="0"/>
              </a:rPr>
              <a:t> en la que se logra la concordancia de la distribución de los factores de confusión entre los grupos expuestos y no expuestos, en la medida en que se logre dentro de cada estrato. </a:t>
            </a:r>
            <a:endParaRPr lang="es-PE" sz="1400" dirty="0"/>
          </a:p>
        </p:txBody>
      </p:sp>
    </p:spTree>
    <p:extLst>
      <p:ext uri="{BB962C8B-B14F-4D97-AF65-F5344CB8AC3E}">
        <p14:creationId xmlns:p14="http://schemas.microsoft.com/office/powerpoint/2010/main" val="8653363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2"/>
            <a:ext cx="7485185" cy="1542055"/>
          </a:xfrm>
        </p:spPr>
        <p:txBody>
          <a:bodyPr/>
          <a:lstStyle/>
          <a:p>
            <a:r>
              <a:rPr lang="es-PE" dirty="0" err="1"/>
              <a:t>Propensity</a:t>
            </a:r>
            <a:r>
              <a:rPr lang="es-PE" dirty="0"/>
              <a:t> score</a:t>
            </a:r>
            <a:br>
              <a:rPr lang="es-PE" dirty="0"/>
            </a:br>
            <a:br>
              <a:rPr lang="es-PE" dirty="0"/>
            </a:br>
            <a:r>
              <a:rPr lang="es-PE" sz="1800" dirty="0"/>
              <a:t>Paso 2: escoger método de PS</a:t>
            </a:r>
            <a:endParaRPr lang="es-PE" dirty="0"/>
          </a:p>
        </p:txBody>
      </p:sp>
      <p:sp>
        <p:nvSpPr>
          <p:cNvPr id="9" name="CuadroTexto 8">
            <a:extLst>
              <a:ext uri="{FF2B5EF4-FFF2-40B4-BE49-F238E27FC236}">
                <a16:creationId xmlns:a16="http://schemas.microsoft.com/office/drawing/2014/main" id="{29A7C24A-E1A8-474E-B0EB-302AAA772879}"/>
              </a:ext>
            </a:extLst>
          </p:cNvPr>
          <p:cNvSpPr txBox="1"/>
          <p:nvPr/>
        </p:nvSpPr>
        <p:spPr>
          <a:xfrm>
            <a:off x="5196254" y="4739108"/>
            <a:ext cx="1538654" cy="369332"/>
          </a:xfrm>
          <a:prstGeom prst="rect">
            <a:avLst/>
          </a:prstGeom>
          <a:noFill/>
        </p:spPr>
        <p:txBody>
          <a:bodyPr wrap="square" rtlCol="0">
            <a:spAutoFit/>
          </a:bodyPr>
          <a:lstStyle/>
          <a:p>
            <a:pPr algn="ctr"/>
            <a:r>
              <a:rPr lang="es-PE" b="1" dirty="0"/>
              <a:t>X ~ D</a:t>
            </a:r>
          </a:p>
        </p:txBody>
      </p:sp>
      <p:pic>
        <p:nvPicPr>
          <p:cNvPr id="4" name="Imagen 3">
            <a:extLst>
              <a:ext uri="{FF2B5EF4-FFF2-40B4-BE49-F238E27FC236}">
                <a16:creationId xmlns:a16="http://schemas.microsoft.com/office/drawing/2014/main" id="{F09925A4-F5D1-4853-9C2C-522B7B424AAA}"/>
              </a:ext>
            </a:extLst>
          </p:cNvPr>
          <p:cNvPicPr>
            <a:picLocks noChangeAspect="1"/>
          </p:cNvPicPr>
          <p:nvPr/>
        </p:nvPicPr>
        <p:blipFill>
          <a:blip r:embed="rId2"/>
          <a:stretch>
            <a:fillRect/>
          </a:stretch>
        </p:blipFill>
        <p:spPr>
          <a:xfrm>
            <a:off x="2395021" y="2650306"/>
            <a:ext cx="7401958" cy="2981741"/>
          </a:xfrm>
          <a:prstGeom prst="rect">
            <a:avLst/>
          </a:prstGeom>
        </p:spPr>
      </p:pic>
      <p:sp>
        <p:nvSpPr>
          <p:cNvPr id="10" name="Rectángulo 9">
            <a:extLst>
              <a:ext uri="{FF2B5EF4-FFF2-40B4-BE49-F238E27FC236}">
                <a16:creationId xmlns:a16="http://schemas.microsoft.com/office/drawing/2014/main" id="{9D6E4B43-1A04-4F39-A4D6-915328502477}"/>
              </a:ext>
            </a:extLst>
          </p:cNvPr>
          <p:cNvSpPr/>
          <p:nvPr/>
        </p:nvSpPr>
        <p:spPr>
          <a:xfrm>
            <a:off x="2395021" y="4141176"/>
            <a:ext cx="7401958" cy="55693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6748789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2"/>
            <a:ext cx="10794023" cy="2535587"/>
          </a:xfrm>
        </p:spPr>
        <p:txBody>
          <a:bodyPr/>
          <a:lstStyle/>
          <a:p>
            <a:r>
              <a:rPr lang="es-PE" dirty="0" err="1"/>
              <a:t>Propensity</a:t>
            </a:r>
            <a:r>
              <a:rPr lang="es-PE" dirty="0"/>
              <a:t> score: IPW</a:t>
            </a:r>
            <a:br>
              <a:rPr lang="es-PE" dirty="0"/>
            </a:br>
            <a:br>
              <a:rPr lang="es-PE" dirty="0"/>
            </a:br>
            <a:r>
              <a:rPr lang="es-PE" sz="1800" dirty="0"/>
              <a:t>Es considerado en realidad parte de métodos marginales (familia de formula G)</a:t>
            </a:r>
            <a:br>
              <a:rPr lang="es-PE" sz="1800" dirty="0"/>
            </a:br>
            <a:br>
              <a:rPr lang="es-PE" sz="1800" dirty="0"/>
            </a:br>
            <a:r>
              <a:rPr lang="es-PE" sz="1200" dirty="0">
                <a:latin typeface="Arial" panose="020B0604020202020204" pitchFamily="34" charset="0"/>
                <a:cs typeface="Arial" panose="020B0604020202020204" pitchFamily="34" charset="0"/>
              </a:rPr>
              <a:t>Explicación en breve :D </a:t>
            </a:r>
            <a:endParaRPr lang="es-PE" dirty="0"/>
          </a:p>
        </p:txBody>
      </p:sp>
    </p:spTree>
    <p:extLst>
      <p:ext uri="{BB962C8B-B14F-4D97-AF65-F5344CB8AC3E}">
        <p14:creationId xmlns:p14="http://schemas.microsoft.com/office/powerpoint/2010/main" val="10299699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2"/>
            <a:ext cx="7485185" cy="1542055"/>
          </a:xfrm>
        </p:spPr>
        <p:txBody>
          <a:bodyPr/>
          <a:lstStyle/>
          <a:p>
            <a:r>
              <a:rPr lang="es-PE" dirty="0" err="1"/>
              <a:t>Propensity</a:t>
            </a:r>
            <a:r>
              <a:rPr lang="es-PE" dirty="0"/>
              <a:t> score</a:t>
            </a:r>
            <a:br>
              <a:rPr lang="es-PE" dirty="0"/>
            </a:br>
            <a:br>
              <a:rPr lang="es-PE" dirty="0"/>
            </a:br>
            <a:r>
              <a:rPr lang="es-PE" sz="1800" dirty="0"/>
              <a:t>Paso 2: escoger método de PS</a:t>
            </a:r>
            <a:endParaRPr lang="es-PE" dirty="0"/>
          </a:p>
        </p:txBody>
      </p:sp>
      <p:sp>
        <p:nvSpPr>
          <p:cNvPr id="9" name="CuadroTexto 8">
            <a:extLst>
              <a:ext uri="{FF2B5EF4-FFF2-40B4-BE49-F238E27FC236}">
                <a16:creationId xmlns:a16="http://schemas.microsoft.com/office/drawing/2014/main" id="{29A7C24A-E1A8-474E-B0EB-302AAA772879}"/>
              </a:ext>
            </a:extLst>
          </p:cNvPr>
          <p:cNvSpPr txBox="1"/>
          <p:nvPr/>
        </p:nvSpPr>
        <p:spPr>
          <a:xfrm>
            <a:off x="5196254" y="4739108"/>
            <a:ext cx="1538654" cy="369332"/>
          </a:xfrm>
          <a:prstGeom prst="rect">
            <a:avLst/>
          </a:prstGeom>
          <a:noFill/>
        </p:spPr>
        <p:txBody>
          <a:bodyPr wrap="square" rtlCol="0">
            <a:spAutoFit/>
          </a:bodyPr>
          <a:lstStyle/>
          <a:p>
            <a:pPr algn="ctr"/>
            <a:r>
              <a:rPr lang="es-PE" b="1" dirty="0"/>
              <a:t>X ~ D</a:t>
            </a:r>
          </a:p>
        </p:txBody>
      </p:sp>
      <p:pic>
        <p:nvPicPr>
          <p:cNvPr id="4" name="Imagen 3">
            <a:extLst>
              <a:ext uri="{FF2B5EF4-FFF2-40B4-BE49-F238E27FC236}">
                <a16:creationId xmlns:a16="http://schemas.microsoft.com/office/drawing/2014/main" id="{F09925A4-F5D1-4853-9C2C-522B7B424AAA}"/>
              </a:ext>
            </a:extLst>
          </p:cNvPr>
          <p:cNvPicPr>
            <a:picLocks noChangeAspect="1"/>
          </p:cNvPicPr>
          <p:nvPr/>
        </p:nvPicPr>
        <p:blipFill>
          <a:blip r:embed="rId2"/>
          <a:stretch>
            <a:fillRect/>
          </a:stretch>
        </p:blipFill>
        <p:spPr>
          <a:xfrm>
            <a:off x="2395021" y="2650306"/>
            <a:ext cx="7401958" cy="2981741"/>
          </a:xfrm>
          <a:prstGeom prst="rect">
            <a:avLst/>
          </a:prstGeom>
        </p:spPr>
      </p:pic>
      <p:sp>
        <p:nvSpPr>
          <p:cNvPr id="10" name="Rectángulo 9">
            <a:extLst>
              <a:ext uri="{FF2B5EF4-FFF2-40B4-BE49-F238E27FC236}">
                <a16:creationId xmlns:a16="http://schemas.microsoft.com/office/drawing/2014/main" id="{9D6E4B43-1A04-4F39-A4D6-915328502477}"/>
              </a:ext>
            </a:extLst>
          </p:cNvPr>
          <p:cNvSpPr/>
          <p:nvPr/>
        </p:nvSpPr>
        <p:spPr>
          <a:xfrm>
            <a:off x="2395021" y="4645305"/>
            <a:ext cx="7401958" cy="902641"/>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41187242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2"/>
            <a:ext cx="10794023" cy="1542055"/>
          </a:xfrm>
        </p:spPr>
        <p:txBody>
          <a:bodyPr/>
          <a:lstStyle/>
          <a:p>
            <a:r>
              <a:rPr lang="es-PE" dirty="0" err="1"/>
              <a:t>Propensity</a:t>
            </a:r>
            <a:r>
              <a:rPr lang="es-PE" dirty="0"/>
              <a:t> score: métodos doble robustos</a:t>
            </a:r>
          </a:p>
        </p:txBody>
      </p:sp>
      <p:sp>
        <p:nvSpPr>
          <p:cNvPr id="4" name="CuadroTexto 3">
            <a:extLst>
              <a:ext uri="{FF2B5EF4-FFF2-40B4-BE49-F238E27FC236}">
                <a16:creationId xmlns:a16="http://schemas.microsoft.com/office/drawing/2014/main" id="{7A7C982B-B77A-44BA-8FC9-99EA909326C4}"/>
              </a:ext>
            </a:extLst>
          </p:cNvPr>
          <p:cNvSpPr txBox="1"/>
          <p:nvPr/>
        </p:nvSpPr>
        <p:spPr>
          <a:xfrm>
            <a:off x="940777" y="2156266"/>
            <a:ext cx="9311054" cy="369332"/>
          </a:xfrm>
          <a:prstGeom prst="rect">
            <a:avLst/>
          </a:prstGeom>
          <a:noFill/>
        </p:spPr>
        <p:txBody>
          <a:bodyPr wrap="square">
            <a:spAutoFit/>
          </a:bodyPr>
          <a:lstStyle/>
          <a:p>
            <a:pPr algn="just"/>
            <a:r>
              <a:rPr lang="es-PE" dirty="0"/>
              <a:t>Estimar el modelo de regresión por mínimos cuadrados ponderados tomando la forma: </a:t>
            </a:r>
          </a:p>
        </p:txBody>
      </p:sp>
      <p:pic>
        <p:nvPicPr>
          <p:cNvPr id="8" name="Imagen 7">
            <a:extLst>
              <a:ext uri="{FF2B5EF4-FFF2-40B4-BE49-F238E27FC236}">
                <a16:creationId xmlns:a16="http://schemas.microsoft.com/office/drawing/2014/main" id="{5FF160C0-9790-435B-AE29-22DF9F018E34}"/>
              </a:ext>
            </a:extLst>
          </p:cNvPr>
          <p:cNvPicPr>
            <a:picLocks noChangeAspect="1"/>
          </p:cNvPicPr>
          <p:nvPr/>
        </p:nvPicPr>
        <p:blipFill>
          <a:blip r:embed="rId2"/>
          <a:stretch>
            <a:fillRect/>
          </a:stretch>
        </p:blipFill>
        <p:spPr>
          <a:xfrm>
            <a:off x="4315685" y="4503065"/>
            <a:ext cx="3419952" cy="876422"/>
          </a:xfrm>
          <a:prstGeom prst="rect">
            <a:avLst/>
          </a:prstGeom>
        </p:spPr>
      </p:pic>
      <p:sp>
        <p:nvSpPr>
          <p:cNvPr id="9" name="CuadroTexto 8">
            <a:extLst>
              <a:ext uri="{FF2B5EF4-FFF2-40B4-BE49-F238E27FC236}">
                <a16:creationId xmlns:a16="http://schemas.microsoft.com/office/drawing/2014/main" id="{0B2ED2FA-8B3A-4BC6-B96A-A2EC1830D26E}"/>
              </a:ext>
            </a:extLst>
          </p:cNvPr>
          <p:cNvSpPr txBox="1"/>
          <p:nvPr/>
        </p:nvSpPr>
        <p:spPr>
          <a:xfrm>
            <a:off x="3738992" y="3198167"/>
            <a:ext cx="4573337" cy="461665"/>
          </a:xfrm>
          <a:prstGeom prst="rect">
            <a:avLst/>
          </a:prstGeom>
          <a:noFill/>
        </p:spPr>
        <p:txBody>
          <a:bodyPr wrap="square">
            <a:spAutoFit/>
          </a:bodyPr>
          <a:lstStyle/>
          <a:p>
            <a:r>
              <a:rPr lang="es-PE" sz="2400" b="1" dirty="0"/>
              <a:t>lm(Y ~ X + D, data, </a:t>
            </a:r>
            <a:r>
              <a:rPr lang="es-PE" sz="2400" b="1" dirty="0" err="1"/>
              <a:t>weigths</a:t>
            </a:r>
            <a:r>
              <a:rPr lang="es-PE" sz="2400" b="1" dirty="0"/>
              <a:t> = </a:t>
            </a:r>
            <a:r>
              <a:rPr lang="es-PE" sz="2400" b="1" dirty="0" err="1"/>
              <a:t>Wi</a:t>
            </a:r>
            <a:r>
              <a:rPr lang="es-PE" sz="2400" b="1" dirty="0"/>
              <a:t>)  </a:t>
            </a:r>
            <a:endParaRPr lang="es-PE" sz="2400" dirty="0"/>
          </a:p>
        </p:txBody>
      </p:sp>
      <p:sp>
        <p:nvSpPr>
          <p:cNvPr id="11" name="CuadroTexto 10">
            <a:extLst>
              <a:ext uri="{FF2B5EF4-FFF2-40B4-BE49-F238E27FC236}">
                <a16:creationId xmlns:a16="http://schemas.microsoft.com/office/drawing/2014/main" id="{33EE95F6-8BFC-4CA5-8B61-1D35CAD5FF1D}"/>
              </a:ext>
            </a:extLst>
          </p:cNvPr>
          <p:cNvSpPr txBox="1"/>
          <p:nvPr/>
        </p:nvSpPr>
        <p:spPr>
          <a:xfrm>
            <a:off x="4315685" y="5826087"/>
            <a:ext cx="6097464" cy="369332"/>
          </a:xfrm>
          <a:prstGeom prst="rect">
            <a:avLst/>
          </a:prstGeom>
          <a:noFill/>
        </p:spPr>
        <p:txBody>
          <a:bodyPr wrap="square">
            <a:spAutoFit/>
          </a:bodyPr>
          <a:lstStyle/>
          <a:p>
            <a:r>
              <a:rPr lang="es-PE" sz="1800" dirty="0">
                <a:latin typeface="Arial" panose="020B0604020202020204" pitchFamily="34" charset="0"/>
                <a:cs typeface="Arial" panose="020B0604020202020204" pitchFamily="34" charset="0"/>
              </a:rPr>
              <a:t>Explicación en breve :D </a:t>
            </a:r>
            <a:endParaRPr lang="es-PE" dirty="0"/>
          </a:p>
        </p:txBody>
      </p:sp>
    </p:spTree>
    <p:extLst>
      <p:ext uri="{BB962C8B-B14F-4D97-AF65-F5344CB8AC3E}">
        <p14:creationId xmlns:p14="http://schemas.microsoft.com/office/powerpoint/2010/main" val="9562344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80DEC1F-4FF4-486C-8134-97D542629E0E}"/>
              </a:ext>
            </a:extLst>
          </p:cNvPr>
          <p:cNvSpPr>
            <a:spLocks noGrp="1"/>
          </p:cNvSpPr>
          <p:nvPr>
            <p:ph type="body" idx="1"/>
          </p:nvPr>
        </p:nvSpPr>
        <p:spPr/>
        <p:txBody>
          <a:bodyPr/>
          <a:lstStyle/>
          <a:p>
            <a:r>
              <a:rPr lang="es-PE" dirty="0"/>
              <a:t>Ver script de los siguientes talleres</a:t>
            </a:r>
          </a:p>
        </p:txBody>
      </p:sp>
      <p:sp>
        <p:nvSpPr>
          <p:cNvPr id="3" name="Título 2">
            <a:extLst>
              <a:ext uri="{FF2B5EF4-FFF2-40B4-BE49-F238E27FC236}">
                <a16:creationId xmlns:a16="http://schemas.microsoft.com/office/drawing/2014/main" id="{9E8224C6-8855-4B43-978F-B7F78FFD4F90}"/>
              </a:ext>
            </a:extLst>
          </p:cNvPr>
          <p:cNvSpPr>
            <a:spLocks noGrp="1"/>
          </p:cNvSpPr>
          <p:nvPr>
            <p:ph type="title"/>
          </p:nvPr>
        </p:nvSpPr>
        <p:spPr>
          <a:xfrm>
            <a:off x="838200" y="699983"/>
            <a:ext cx="10785231" cy="423064"/>
          </a:xfrm>
        </p:spPr>
        <p:txBody>
          <a:bodyPr/>
          <a:lstStyle/>
          <a:p>
            <a:r>
              <a:rPr lang="es-PE" dirty="0"/>
              <a:t>Revisaremos PSM, IPW y PS doble robusto en R</a:t>
            </a:r>
          </a:p>
        </p:txBody>
      </p:sp>
      <p:sp>
        <p:nvSpPr>
          <p:cNvPr id="4" name="Triángulo isósceles 3">
            <a:extLst>
              <a:ext uri="{FF2B5EF4-FFF2-40B4-BE49-F238E27FC236}">
                <a16:creationId xmlns:a16="http://schemas.microsoft.com/office/drawing/2014/main" id="{B37CFE30-61CE-48D7-9CD8-0BAD14930D72}"/>
              </a:ext>
            </a:extLst>
          </p:cNvPr>
          <p:cNvSpPr/>
          <p:nvPr/>
        </p:nvSpPr>
        <p:spPr>
          <a:xfrm rot="10800000">
            <a:off x="838200" y="2031026"/>
            <a:ext cx="360485" cy="184639"/>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7918742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62424DBF-22BA-4832-AB94-CDD200034CE4}"/>
              </a:ext>
            </a:extLst>
          </p:cNvPr>
          <p:cNvGrpSpPr/>
          <p:nvPr/>
        </p:nvGrpSpPr>
        <p:grpSpPr>
          <a:xfrm>
            <a:off x="4010677" y="0"/>
            <a:ext cx="4170643" cy="6858000"/>
            <a:chOff x="831954" y="0"/>
            <a:chExt cx="4170643" cy="6858000"/>
          </a:xfrm>
        </p:grpSpPr>
        <p:pic>
          <p:nvPicPr>
            <p:cNvPr id="5" name="Picture 4" descr="The Simpsons - Moe kicks Barney out of his bar [HD Template] - Meme example  and more blank templates in comments : r/MemeTemplatesOfficial">
              <a:extLst>
                <a:ext uri="{FF2B5EF4-FFF2-40B4-BE49-F238E27FC236}">
                  <a16:creationId xmlns:a16="http://schemas.microsoft.com/office/drawing/2014/main" id="{2B8B9CD5-E855-4D80-A615-7DF29F70A1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954" y="0"/>
              <a:ext cx="4022725"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ítulo 1">
              <a:extLst>
                <a:ext uri="{FF2B5EF4-FFF2-40B4-BE49-F238E27FC236}">
                  <a16:creationId xmlns:a16="http://schemas.microsoft.com/office/drawing/2014/main" id="{D013467E-120D-4D9D-9954-DCC859FDB7EB}"/>
                </a:ext>
              </a:extLst>
            </p:cNvPr>
            <p:cNvSpPr txBox="1">
              <a:spLocks/>
            </p:cNvSpPr>
            <p:nvPr/>
          </p:nvSpPr>
          <p:spPr>
            <a:xfrm>
              <a:off x="2213758" y="1661745"/>
              <a:ext cx="1136112" cy="28135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1200" b="1" dirty="0">
                  <a:solidFill>
                    <a:schemeClr val="bg1"/>
                  </a:solidFill>
                  <a:latin typeface="Bernard MT Condensed" panose="02050806060905020404" pitchFamily="18" charset="0"/>
                </a:rPr>
                <a:t>Confusión</a:t>
              </a:r>
            </a:p>
          </p:txBody>
        </p:sp>
        <p:sp>
          <p:nvSpPr>
            <p:cNvPr id="7" name="Título 1">
              <a:extLst>
                <a:ext uri="{FF2B5EF4-FFF2-40B4-BE49-F238E27FC236}">
                  <a16:creationId xmlns:a16="http://schemas.microsoft.com/office/drawing/2014/main" id="{15BF80A2-7F1C-46EC-A0F2-7A51D31FDB57}"/>
                </a:ext>
              </a:extLst>
            </p:cNvPr>
            <p:cNvSpPr txBox="1">
              <a:spLocks/>
            </p:cNvSpPr>
            <p:nvPr/>
          </p:nvSpPr>
          <p:spPr>
            <a:xfrm>
              <a:off x="941804" y="4887245"/>
              <a:ext cx="1136112" cy="28135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1200" b="1" dirty="0">
                  <a:solidFill>
                    <a:schemeClr val="bg1"/>
                  </a:solidFill>
                  <a:latin typeface="Bernard MT Condensed" panose="02050806060905020404" pitchFamily="18" charset="0"/>
                </a:rPr>
                <a:t>Confusión</a:t>
              </a:r>
            </a:p>
          </p:txBody>
        </p:sp>
        <p:sp>
          <p:nvSpPr>
            <p:cNvPr id="8" name="Título 1">
              <a:extLst>
                <a:ext uri="{FF2B5EF4-FFF2-40B4-BE49-F238E27FC236}">
                  <a16:creationId xmlns:a16="http://schemas.microsoft.com/office/drawing/2014/main" id="{D484FB00-8C1F-4D55-9958-7976B648796F}"/>
                </a:ext>
              </a:extLst>
            </p:cNvPr>
            <p:cNvSpPr txBox="1">
              <a:spLocks/>
            </p:cNvSpPr>
            <p:nvPr/>
          </p:nvSpPr>
          <p:spPr>
            <a:xfrm>
              <a:off x="2398139" y="2770631"/>
              <a:ext cx="2604458" cy="645747"/>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3200" b="1" dirty="0">
                  <a:solidFill>
                    <a:schemeClr val="bg1"/>
                  </a:solidFill>
                  <a:latin typeface="Bernard MT Condensed" panose="02050806060905020404" pitchFamily="18" charset="0"/>
                </a:rPr>
                <a:t>Métodos condicionales</a:t>
              </a:r>
            </a:p>
          </p:txBody>
        </p:sp>
      </p:grpSp>
    </p:spTree>
    <p:extLst>
      <p:ext uri="{BB962C8B-B14F-4D97-AF65-F5344CB8AC3E}">
        <p14:creationId xmlns:p14="http://schemas.microsoft.com/office/powerpoint/2010/main" val="18135805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C9619E3A-33F7-4369-93A2-2513005D5BD8}"/>
              </a:ext>
            </a:extLst>
          </p:cNvPr>
          <p:cNvSpPr>
            <a:spLocks noGrp="1"/>
          </p:cNvSpPr>
          <p:nvPr>
            <p:ph type="title"/>
          </p:nvPr>
        </p:nvSpPr>
        <p:spPr>
          <a:xfrm>
            <a:off x="114301" y="699983"/>
            <a:ext cx="11843238" cy="423064"/>
          </a:xfrm>
        </p:spPr>
        <p:txBody>
          <a:bodyPr/>
          <a:lstStyle/>
          <a:p>
            <a:pPr algn="ctr"/>
            <a:r>
              <a:rPr lang="es-PE" sz="2800" dirty="0"/>
              <a:t>Emulación de ensayos clínicos con data observacional</a:t>
            </a:r>
          </a:p>
        </p:txBody>
      </p:sp>
      <p:pic>
        <p:nvPicPr>
          <p:cNvPr id="5" name="Imagen 4">
            <a:extLst>
              <a:ext uri="{FF2B5EF4-FFF2-40B4-BE49-F238E27FC236}">
                <a16:creationId xmlns:a16="http://schemas.microsoft.com/office/drawing/2014/main" id="{0B4E1620-4F2D-4AE6-8531-77BA13BAF868}"/>
              </a:ext>
            </a:extLst>
          </p:cNvPr>
          <p:cNvPicPr>
            <a:picLocks noChangeAspect="1"/>
          </p:cNvPicPr>
          <p:nvPr/>
        </p:nvPicPr>
        <p:blipFill>
          <a:blip r:embed="rId2"/>
          <a:stretch>
            <a:fillRect/>
          </a:stretch>
        </p:blipFill>
        <p:spPr>
          <a:xfrm>
            <a:off x="1577400" y="1449024"/>
            <a:ext cx="8946992" cy="4782240"/>
          </a:xfrm>
          <a:prstGeom prst="rect">
            <a:avLst/>
          </a:prstGeom>
        </p:spPr>
      </p:pic>
    </p:spTree>
    <p:extLst>
      <p:ext uri="{BB962C8B-B14F-4D97-AF65-F5344CB8AC3E}">
        <p14:creationId xmlns:p14="http://schemas.microsoft.com/office/powerpoint/2010/main" val="12181897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30B2A7C6-6E31-466C-A09C-F92B5707CC94}"/>
              </a:ext>
            </a:extLst>
          </p:cNvPr>
          <p:cNvSpPr>
            <a:spLocks noGrp="1"/>
          </p:cNvSpPr>
          <p:nvPr>
            <p:ph type="title"/>
          </p:nvPr>
        </p:nvSpPr>
        <p:spPr/>
        <p:txBody>
          <a:bodyPr/>
          <a:lstStyle/>
          <a:p>
            <a:endParaRPr lang="es-PE"/>
          </a:p>
        </p:txBody>
      </p:sp>
      <p:pic>
        <p:nvPicPr>
          <p:cNvPr id="5" name="Imagen 4">
            <a:extLst>
              <a:ext uri="{FF2B5EF4-FFF2-40B4-BE49-F238E27FC236}">
                <a16:creationId xmlns:a16="http://schemas.microsoft.com/office/drawing/2014/main" id="{16A6E0C0-422B-45E6-A449-280DA690081E}"/>
              </a:ext>
            </a:extLst>
          </p:cNvPr>
          <p:cNvPicPr>
            <a:picLocks noChangeAspect="1"/>
          </p:cNvPicPr>
          <p:nvPr/>
        </p:nvPicPr>
        <p:blipFill>
          <a:blip r:embed="rId2"/>
          <a:stretch>
            <a:fillRect/>
          </a:stretch>
        </p:blipFill>
        <p:spPr>
          <a:xfrm>
            <a:off x="610792" y="506552"/>
            <a:ext cx="9921576" cy="4351338"/>
          </a:xfrm>
          <a:prstGeom prst="rect">
            <a:avLst/>
          </a:prstGeom>
        </p:spPr>
      </p:pic>
      <p:pic>
        <p:nvPicPr>
          <p:cNvPr id="8194" name="Picture 2" descr="30 años del 'gif' más popular de 'Los Simpson': así nació el meme de Homer  desapareciendo en los arbustos">
            <a:extLst>
              <a:ext uri="{FF2B5EF4-FFF2-40B4-BE49-F238E27FC236}">
                <a16:creationId xmlns:a16="http://schemas.microsoft.com/office/drawing/2014/main" id="{0CABCDDE-F54D-4B72-8789-93F6576D78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15"/>
          <a:stretch/>
        </p:blipFill>
        <p:spPr bwMode="auto">
          <a:xfrm>
            <a:off x="9873764" y="4640413"/>
            <a:ext cx="2206868" cy="1980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35940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2988B62B-4157-46B0-A032-B0FEF2113655}"/>
              </a:ext>
            </a:extLst>
          </p:cNvPr>
          <p:cNvSpPr>
            <a:spLocks noGrp="1"/>
          </p:cNvSpPr>
          <p:nvPr>
            <p:ph type="title"/>
          </p:nvPr>
        </p:nvSpPr>
        <p:spPr>
          <a:xfrm>
            <a:off x="838200" y="699983"/>
            <a:ext cx="9803674" cy="423064"/>
          </a:xfrm>
        </p:spPr>
        <p:txBody>
          <a:bodyPr/>
          <a:lstStyle/>
          <a:p>
            <a:r>
              <a:rPr lang="es-PE" dirty="0"/>
              <a:t>Básicamente se crea contrafactuales</a:t>
            </a:r>
          </a:p>
        </p:txBody>
      </p:sp>
      <p:pic>
        <p:nvPicPr>
          <p:cNvPr id="8194" name="Picture 2" descr="Exigen que Fragmentado sea eliminada de Netflix por su mala representación  de personas con trastorno de">
            <a:extLst>
              <a:ext uri="{FF2B5EF4-FFF2-40B4-BE49-F238E27FC236}">
                <a16:creationId xmlns:a16="http://schemas.microsoft.com/office/drawing/2014/main" id="{71A8D24D-DB28-4B89-A6B6-D5C68B6670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17765"/>
            <a:ext cx="9039497" cy="4519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2381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9F834C0-78A4-40D1-AF2E-112E7DF6A4D4}"/>
              </a:ext>
            </a:extLst>
          </p:cNvPr>
          <p:cNvSpPr>
            <a:spLocks noGrp="1"/>
          </p:cNvSpPr>
          <p:nvPr>
            <p:ph type="title"/>
          </p:nvPr>
        </p:nvSpPr>
        <p:spPr/>
        <p:txBody>
          <a:bodyPr/>
          <a:lstStyle/>
          <a:p>
            <a:r>
              <a:rPr lang="es-PE" dirty="0"/>
              <a:t>Contrafactuales</a:t>
            </a:r>
          </a:p>
        </p:txBody>
      </p:sp>
      <p:pic>
        <p:nvPicPr>
          <p:cNvPr id="9218" name="Picture 2" descr="Patricia GIFs | Tenor">
            <a:extLst>
              <a:ext uri="{FF2B5EF4-FFF2-40B4-BE49-F238E27FC236}">
                <a16:creationId xmlns:a16="http://schemas.microsoft.com/office/drawing/2014/main" id="{2C875980-7E5D-43E5-A48C-6B1859943BFA}"/>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255726" y="2414587"/>
            <a:ext cx="2850424" cy="2759729"/>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Jajajajajaja no era yo era Patricia">
            <a:extLst>
              <a:ext uri="{FF2B5EF4-FFF2-40B4-BE49-F238E27FC236}">
                <a16:creationId xmlns:a16="http://schemas.microsoft.com/office/drawing/2014/main" id="{4DE65490-DA16-4BEE-AC6C-B75260EFBB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1619" y="2414587"/>
            <a:ext cx="2850424" cy="2759729"/>
          </a:xfrm>
          <a:prstGeom prst="rect">
            <a:avLst/>
          </a:prstGeom>
          <a:noFill/>
          <a:extLst>
            <a:ext uri="{909E8E84-426E-40DD-AFC4-6F175D3DCCD1}">
              <a14:hiddenFill xmlns:a14="http://schemas.microsoft.com/office/drawing/2010/main">
                <a:solidFill>
                  <a:srgbClr val="FFFFFF"/>
                </a:solidFill>
              </a14:hiddenFill>
            </a:ext>
          </a:extLst>
        </p:spPr>
      </p:pic>
      <p:sp>
        <p:nvSpPr>
          <p:cNvPr id="6" name="Título 1">
            <a:extLst>
              <a:ext uri="{FF2B5EF4-FFF2-40B4-BE49-F238E27FC236}">
                <a16:creationId xmlns:a16="http://schemas.microsoft.com/office/drawing/2014/main" id="{2BC55109-05B1-4FF1-AA98-55D970AF59AD}"/>
              </a:ext>
            </a:extLst>
          </p:cNvPr>
          <p:cNvSpPr txBox="1">
            <a:spLocks/>
          </p:cNvSpPr>
          <p:nvPr/>
        </p:nvSpPr>
        <p:spPr>
          <a:xfrm>
            <a:off x="8255726" y="1643071"/>
            <a:ext cx="2850424" cy="65473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3200" b="1" dirty="0">
                <a:solidFill>
                  <a:schemeClr val="bg1"/>
                </a:solidFill>
                <a:latin typeface="Bernard MT Condensed" panose="02050806060905020404" pitchFamily="18" charset="0"/>
              </a:rPr>
              <a:t>Con tratamiento</a:t>
            </a:r>
          </a:p>
        </p:txBody>
      </p:sp>
      <p:sp>
        <p:nvSpPr>
          <p:cNvPr id="7" name="Título 1">
            <a:extLst>
              <a:ext uri="{FF2B5EF4-FFF2-40B4-BE49-F238E27FC236}">
                <a16:creationId xmlns:a16="http://schemas.microsoft.com/office/drawing/2014/main" id="{AE481049-68F3-499F-B20A-6BFA9E2ECE3F}"/>
              </a:ext>
            </a:extLst>
          </p:cNvPr>
          <p:cNvSpPr txBox="1">
            <a:spLocks/>
          </p:cNvSpPr>
          <p:nvPr/>
        </p:nvSpPr>
        <p:spPr>
          <a:xfrm>
            <a:off x="4241619" y="1601033"/>
            <a:ext cx="2850424" cy="654735"/>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3200" b="1" dirty="0">
                <a:solidFill>
                  <a:schemeClr val="bg1"/>
                </a:solidFill>
                <a:latin typeface="Bernard MT Condensed" panose="02050806060905020404" pitchFamily="18" charset="0"/>
              </a:rPr>
              <a:t>Sin tratamiento</a:t>
            </a:r>
          </a:p>
        </p:txBody>
      </p:sp>
    </p:spTree>
    <p:extLst>
      <p:ext uri="{BB962C8B-B14F-4D97-AF65-F5344CB8AC3E}">
        <p14:creationId xmlns:p14="http://schemas.microsoft.com/office/powerpoint/2010/main" val="25736364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G formula</a:t>
            </a:r>
          </a:p>
        </p:txBody>
      </p:sp>
      <p:pic>
        <p:nvPicPr>
          <p:cNvPr id="5" name="Imagen 4">
            <a:extLst>
              <a:ext uri="{FF2B5EF4-FFF2-40B4-BE49-F238E27FC236}">
                <a16:creationId xmlns:a16="http://schemas.microsoft.com/office/drawing/2014/main" id="{1DD5AE66-7D55-47A5-80F1-93209DB93D6A}"/>
              </a:ext>
            </a:extLst>
          </p:cNvPr>
          <p:cNvPicPr>
            <a:picLocks noChangeAspect="1"/>
          </p:cNvPicPr>
          <p:nvPr/>
        </p:nvPicPr>
        <p:blipFill>
          <a:blip r:embed="rId2"/>
          <a:stretch>
            <a:fillRect/>
          </a:stretch>
        </p:blipFill>
        <p:spPr>
          <a:xfrm>
            <a:off x="838200" y="1488596"/>
            <a:ext cx="4315427" cy="3353268"/>
          </a:xfrm>
          <a:prstGeom prst="rect">
            <a:avLst/>
          </a:prstGeom>
        </p:spPr>
      </p:pic>
      <p:pic>
        <p:nvPicPr>
          <p:cNvPr id="10" name="Imagen 9">
            <a:extLst>
              <a:ext uri="{FF2B5EF4-FFF2-40B4-BE49-F238E27FC236}">
                <a16:creationId xmlns:a16="http://schemas.microsoft.com/office/drawing/2014/main" id="{CC9C5F0C-1432-47AF-8593-412F21A05CC9}"/>
              </a:ext>
            </a:extLst>
          </p:cNvPr>
          <p:cNvPicPr>
            <a:picLocks noChangeAspect="1"/>
          </p:cNvPicPr>
          <p:nvPr/>
        </p:nvPicPr>
        <p:blipFill>
          <a:blip r:embed="rId3"/>
          <a:stretch>
            <a:fillRect/>
          </a:stretch>
        </p:blipFill>
        <p:spPr>
          <a:xfrm>
            <a:off x="5922444" y="1832529"/>
            <a:ext cx="5597032" cy="2520697"/>
          </a:xfrm>
          <a:prstGeom prst="rect">
            <a:avLst/>
          </a:prstGeom>
        </p:spPr>
      </p:pic>
      <p:pic>
        <p:nvPicPr>
          <p:cNvPr id="14" name="Imagen 13">
            <a:extLst>
              <a:ext uri="{FF2B5EF4-FFF2-40B4-BE49-F238E27FC236}">
                <a16:creationId xmlns:a16="http://schemas.microsoft.com/office/drawing/2014/main" id="{7C58AFAD-05C0-4816-8499-99A15D9EE482}"/>
              </a:ext>
            </a:extLst>
          </p:cNvPr>
          <p:cNvPicPr>
            <a:picLocks noChangeAspect="1"/>
          </p:cNvPicPr>
          <p:nvPr/>
        </p:nvPicPr>
        <p:blipFill>
          <a:blip r:embed="rId4"/>
          <a:stretch>
            <a:fillRect/>
          </a:stretch>
        </p:blipFill>
        <p:spPr>
          <a:xfrm>
            <a:off x="6096000" y="699983"/>
            <a:ext cx="3858163" cy="724001"/>
          </a:xfrm>
          <a:prstGeom prst="rect">
            <a:avLst/>
          </a:prstGeom>
        </p:spPr>
      </p:pic>
    </p:spTree>
    <p:extLst>
      <p:ext uri="{BB962C8B-B14F-4D97-AF65-F5344CB8AC3E}">
        <p14:creationId xmlns:p14="http://schemas.microsoft.com/office/powerpoint/2010/main" val="3064765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231083" y="691191"/>
            <a:ext cx="7485185" cy="423064"/>
          </a:xfrm>
        </p:spPr>
        <p:txBody>
          <a:bodyPr/>
          <a:lstStyle/>
          <a:p>
            <a:r>
              <a:rPr lang="es-PE" dirty="0"/>
              <a:t>G formula</a:t>
            </a:r>
          </a:p>
        </p:txBody>
      </p:sp>
      <p:pic>
        <p:nvPicPr>
          <p:cNvPr id="4" name="Imagen 3">
            <a:extLst>
              <a:ext uri="{FF2B5EF4-FFF2-40B4-BE49-F238E27FC236}">
                <a16:creationId xmlns:a16="http://schemas.microsoft.com/office/drawing/2014/main" id="{0D4FA292-0FC0-4A89-B417-1AB19A1E2A18}"/>
              </a:ext>
            </a:extLst>
          </p:cNvPr>
          <p:cNvPicPr>
            <a:picLocks noChangeAspect="1"/>
          </p:cNvPicPr>
          <p:nvPr/>
        </p:nvPicPr>
        <p:blipFill>
          <a:blip r:embed="rId2"/>
          <a:stretch>
            <a:fillRect/>
          </a:stretch>
        </p:blipFill>
        <p:spPr>
          <a:xfrm>
            <a:off x="319900" y="1540680"/>
            <a:ext cx="4096322" cy="2457793"/>
          </a:xfrm>
          <a:prstGeom prst="rect">
            <a:avLst/>
          </a:prstGeom>
        </p:spPr>
      </p:pic>
      <p:sp>
        <p:nvSpPr>
          <p:cNvPr id="5" name="Rectangle 1">
            <a:extLst>
              <a:ext uri="{FF2B5EF4-FFF2-40B4-BE49-F238E27FC236}">
                <a16:creationId xmlns:a16="http://schemas.microsoft.com/office/drawing/2014/main" id="{C274A20F-FDE8-4F91-A9A1-B95142A8B2F1}"/>
              </a:ext>
            </a:extLst>
          </p:cNvPr>
          <p:cNvSpPr>
            <a:spLocks noChangeArrowheads="1"/>
          </p:cNvSpPr>
          <p:nvPr/>
        </p:nvSpPr>
        <p:spPr bwMode="auto">
          <a:xfrm>
            <a:off x="231083" y="4574376"/>
            <a:ext cx="4185139"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PE" altLang="es-PE" sz="1600" b="0" i="0" u="none" strike="noStrike" cap="none" normalizeH="0" baseline="0" dirty="0">
                <a:ln>
                  <a:noFill/>
                </a:ln>
                <a:solidFill>
                  <a:schemeClr val="tx1"/>
                </a:solidFill>
                <a:effectLst/>
                <a:latin typeface="Arial" panose="020B0604020202020204" pitchFamily="34" charset="0"/>
              </a:rPr>
              <a:t>"Entonces, utiliza ese ajuste del modelo para predecir el resultado de cada observación utilizando:"</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PE" altLang="es-PE" sz="1600" b="0" i="0" u="none" strike="noStrike" cap="none" normalizeH="0" baseline="0" dirty="0">
              <a:ln>
                <a:noFill/>
              </a:ln>
              <a:solidFill>
                <a:schemeClr val="tx1"/>
              </a:solidFill>
              <a:effectLst/>
              <a:latin typeface="Arial" panose="020B0604020202020204" pitchFamily="34" charset="0"/>
            </a:endParaRPr>
          </a:p>
        </p:txBody>
      </p:sp>
      <p:pic>
        <p:nvPicPr>
          <p:cNvPr id="7" name="Imagen 6">
            <a:extLst>
              <a:ext uri="{FF2B5EF4-FFF2-40B4-BE49-F238E27FC236}">
                <a16:creationId xmlns:a16="http://schemas.microsoft.com/office/drawing/2014/main" id="{5986835C-FEFE-4A36-9558-B012B81BA067}"/>
              </a:ext>
            </a:extLst>
          </p:cNvPr>
          <p:cNvPicPr>
            <a:picLocks noChangeAspect="1"/>
          </p:cNvPicPr>
          <p:nvPr/>
        </p:nvPicPr>
        <p:blipFill>
          <a:blip r:embed="rId3"/>
          <a:stretch>
            <a:fillRect/>
          </a:stretch>
        </p:blipFill>
        <p:spPr>
          <a:xfrm>
            <a:off x="4433269" y="2241928"/>
            <a:ext cx="3342511" cy="2332448"/>
          </a:xfrm>
          <a:prstGeom prst="rect">
            <a:avLst/>
          </a:prstGeom>
        </p:spPr>
      </p:pic>
      <p:pic>
        <p:nvPicPr>
          <p:cNvPr id="9" name="Imagen 8">
            <a:extLst>
              <a:ext uri="{FF2B5EF4-FFF2-40B4-BE49-F238E27FC236}">
                <a16:creationId xmlns:a16="http://schemas.microsoft.com/office/drawing/2014/main" id="{7A52224A-A404-4C96-A53C-55700DAB3CBA}"/>
              </a:ext>
            </a:extLst>
          </p:cNvPr>
          <p:cNvPicPr>
            <a:picLocks noChangeAspect="1"/>
          </p:cNvPicPr>
          <p:nvPr/>
        </p:nvPicPr>
        <p:blipFill>
          <a:blip r:embed="rId4"/>
          <a:stretch>
            <a:fillRect/>
          </a:stretch>
        </p:blipFill>
        <p:spPr>
          <a:xfrm>
            <a:off x="7983415" y="2410765"/>
            <a:ext cx="3752084" cy="1587708"/>
          </a:xfrm>
          <a:prstGeom prst="rect">
            <a:avLst/>
          </a:prstGeom>
        </p:spPr>
      </p:pic>
      <p:sp>
        <p:nvSpPr>
          <p:cNvPr id="11" name="CuadroTexto 10">
            <a:extLst>
              <a:ext uri="{FF2B5EF4-FFF2-40B4-BE49-F238E27FC236}">
                <a16:creationId xmlns:a16="http://schemas.microsoft.com/office/drawing/2014/main" id="{C4A3332C-2FAC-4845-B8FD-CFA19BD3B08C}"/>
              </a:ext>
            </a:extLst>
          </p:cNvPr>
          <p:cNvSpPr txBox="1"/>
          <p:nvPr/>
        </p:nvSpPr>
        <p:spPr>
          <a:xfrm>
            <a:off x="5220433" y="5112985"/>
            <a:ext cx="6097464" cy="1200329"/>
          </a:xfrm>
          <a:prstGeom prst="rect">
            <a:avLst/>
          </a:prstGeom>
          <a:noFill/>
        </p:spPr>
        <p:txBody>
          <a:bodyPr wrap="square">
            <a:spAutoFit/>
          </a:bodyPr>
          <a:lstStyle/>
          <a:p>
            <a:pPr algn="just"/>
            <a:r>
              <a:rPr lang="es-ES" sz="1200" dirty="0"/>
              <a:t>El estimador de G-</a:t>
            </a:r>
            <a:r>
              <a:rPr lang="es-ES" sz="1200" dirty="0" err="1"/>
              <a:t>computation</a:t>
            </a:r>
            <a:r>
              <a:rPr lang="es-ES" sz="1200" dirty="0"/>
              <a:t> depende de la correcta especificación del modelo lineal generalizado (GLM) para que la estimación final sea consistente.</a:t>
            </a:r>
          </a:p>
          <a:p>
            <a:pPr algn="just"/>
            <a:r>
              <a:rPr lang="es-ES" sz="1200" dirty="0"/>
              <a:t>Aunque se pueden utilizar modelos flexibles de aprendizaje automático para la regresión del desenlace en lugar de los </a:t>
            </a:r>
            <a:r>
              <a:rPr lang="es-ES" sz="1200" dirty="0" err="1"/>
              <a:t>GLMs</a:t>
            </a:r>
            <a:r>
              <a:rPr lang="es-ES" sz="1200" dirty="0"/>
              <a:t>, generalmente no existe una teoría que respalde la distribución normal del estimador para calcular intervalos de confianza, valores p, etc.</a:t>
            </a:r>
          </a:p>
          <a:p>
            <a:pPr algn="just"/>
            <a:endParaRPr lang="es-ES" sz="1200" dirty="0"/>
          </a:p>
        </p:txBody>
      </p:sp>
    </p:spTree>
    <p:extLst>
      <p:ext uri="{BB962C8B-B14F-4D97-AF65-F5344CB8AC3E}">
        <p14:creationId xmlns:p14="http://schemas.microsoft.com/office/powerpoint/2010/main" val="3668257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6ADF52DD-A070-4180-A167-908751F6787C}"/>
              </a:ext>
            </a:extLst>
          </p:cNvPr>
          <p:cNvSpPr>
            <a:spLocks noGrp="1"/>
          </p:cNvSpPr>
          <p:nvPr>
            <p:ph type="body" idx="1"/>
          </p:nvPr>
        </p:nvSpPr>
        <p:spPr/>
        <p:txBody>
          <a:bodyPr/>
          <a:lstStyle/>
          <a:p>
            <a:r>
              <a:rPr lang="es-ES" dirty="0">
                <a:solidFill>
                  <a:srgbClr val="212529"/>
                </a:solidFill>
                <a:latin typeface="system-ui"/>
              </a:rPr>
              <a:t>N</a:t>
            </a:r>
            <a:r>
              <a:rPr lang="es-ES" b="0" i="0" dirty="0">
                <a:solidFill>
                  <a:srgbClr val="212529"/>
                </a:solidFill>
                <a:effectLst/>
                <a:latin typeface="system-ui"/>
              </a:rPr>
              <a:t>o se excluyen aquellos que no </a:t>
            </a:r>
            <a:r>
              <a:rPr lang="es-ES" b="0" i="0" dirty="0" err="1">
                <a:solidFill>
                  <a:srgbClr val="212529"/>
                </a:solidFill>
                <a:effectLst/>
                <a:latin typeface="system-ui"/>
              </a:rPr>
              <a:t>matchean</a:t>
            </a:r>
            <a:r>
              <a:rPr lang="es-ES" b="0" i="0" dirty="0">
                <a:solidFill>
                  <a:srgbClr val="212529"/>
                </a:solidFill>
                <a:effectLst/>
                <a:latin typeface="system-ui"/>
              </a:rPr>
              <a:t> con el puntaje de propensión </a:t>
            </a:r>
          </a:p>
          <a:p>
            <a:r>
              <a:rPr lang="es-ES" dirty="0">
                <a:solidFill>
                  <a:srgbClr val="212529"/>
                </a:solidFill>
                <a:latin typeface="system-ui"/>
              </a:rPr>
              <a:t>Se </a:t>
            </a:r>
            <a:r>
              <a:rPr lang="es-ES" b="0" i="0" dirty="0">
                <a:solidFill>
                  <a:srgbClr val="212529"/>
                </a:solidFill>
                <a:effectLst/>
                <a:latin typeface="system-ui"/>
              </a:rPr>
              <a:t>construye dos grupos comparables (intercambiabilidad).</a:t>
            </a:r>
            <a:endParaRPr lang="es-PE" dirty="0"/>
          </a:p>
        </p:txBody>
      </p:sp>
      <p:sp>
        <p:nvSpPr>
          <p:cNvPr id="3" name="Título 2">
            <a:extLst>
              <a:ext uri="{FF2B5EF4-FFF2-40B4-BE49-F238E27FC236}">
                <a16:creationId xmlns:a16="http://schemas.microsoft.com/office/drawing/2014/main" id="{F1FB8C3B-9490-4EA8-AEA4-72DE079000DF}"/>
              </a:ext>
            </a:extLst>
          </p:cNvPr>
          <p:cNvSpPr>
            <a:spLocks noGrp="1"/>
          </p:cNvSpPr>
          <p:nvPr>
            <p:ph type="title"/>
          </p:nvPr>
        </p:nvSpPr>
        <p:spPr/>
        <p:txBody>
          <a:bodyPr/>
          <a:lstStyle/>
          <a:p>
            <a:r>
              <a:rPr lang="es-PE" dirty="0"/>
              <a:t>IPW</a:t>
            </a:r>
          </a:p>
        </p:txBody>
      </p:sp>
    </p:spTree>
    <p:extLst>
      <p:ext uri="{BB962C8B-B14F-4D97-AF65-F5344CB8AC3E}">
        <p14:creationId xmlns:p14="http://schemas.microsoft.com/office/powerpoint/2010/main" val="4327548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B713D353-6530-4624-B30E-263685E8F97E}"/>
              </a:ext>
            </a:extLst>
          </p:cNvPr>
          <p:cNvSpPr>
            <a:spLocks noGrp="1"/>
          </p:cNvSpPr>
          <p:nvPr>
            <p:ph type="body" idx="1"/>
          </p:nvPr>
        </p:nvSpPr>
        <p:spPr/>
        <p:txBody>
          <a:bodyPr/>
          <a:lstStyle/>
          <a:p>
            <a:endParaRPr lang="es-PE"/>
          </a:p>
        </p:txBody>
      </p:sp>
      <p:sp>
        <p:nvSpPr>
          <p:cNvPr id="3" name="Título 2">
            <a:extLst>
              <a:ext uri="{FF2B5EF4-FFF2-40B4-BE49-F238E27FC236}">
                <a16:creationId xmlns:a16="http://schemas.microsoft.com/office/drawing/2014/main" id="{C509F5DD-65E2-4675-9CA5-571B44411E18}"/>
              </a:ext>
            </a:extLst>
          </p:cNvPr>
          <p:cNvSpPr>
            <a:spLocks noGrp="1"/>
          </p:cNvSpPr>
          <p:nvPr>
            <p:ph type="title"/>
          </p:nvPr>
        </p:nvSpPr>
        <p:spPr/>
        <p:txBody>
          <a:bodyPr/>
          <a:lstStyle/>
          <a:p>
            <a:endParaRPr lang="es-PE"/>
          </a:p>
        </p:txBody>
      </p:sp>
      <p:pic>
        <p:nvPicPr>
          <p:cNvPr id="1026" name="Picture 2">
            <a:extLst>
              <a:ext uri="{FF2B5EF4-FFF2-40B4-BE49-F238E27FC236}">
                <a16:creationId xmlns:a16="http://schemas.microsoft.com/office/drawing/2014/main" id="{4E53F16C-8ECF-4A12-88DB-44AF1F4FED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013" y="0"/>
            <a:ext cx="117379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18759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9ED9430A-6336-40B4-8D3E-ACCB6832C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35050"/>
            <a:ext cx="12192000" cy="478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8574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C410EC5-785A-41E4-9151-DC010EF737A5}"/>
              </a:ext>
            </a:extLst>
          </p:cNvPr>
          <p:cNvSpPr>
            <a:spLocks noGrp="1"/>
          </p:cNvSpPr>
          <p:nvPr>
            <p:ph type="body" idx="1"/>
          </p:nvPr>
        </p:nvSpPr>
        <p:spPr/>
        <p:txBody>
          <a:bodyPr/>
          <a:lstStyle/>
          <a:p>
            <a:endParaRPr lang="es-PE"/>
          </a:p>
        </p:txBody>
      </p:sp>
      <p:sp>
        <p:nvSpPr>
          <p:cNvPr id="3" name="Título 2">
            <a:extLst>
              <a:ext uri="{FF2B5EF4-FFF2-40B4-BE49-F238E27FC236}">
                <a16:creationId xmlns:a16="http://schemas.microsoft.com/office/drawing/2014/main" id="{F2E895DE-8034-4AA9-9AE1-C10B41FC6061}"/>
              </a:ext>
            </a:extLst>
          </p:cNvPr>
          <p:cNvSpPr>
            <a:spLocks noGrp="1"/>
          </p:cNvSpPr>
          <p:nvPr>
            <p:ph type="title"/>
          </p:nvPr>
        </p:nvSpPr>
        <p:spPr/>
        <p:txBody>
          <a:bodyPr/>
          <a:lstStyle/>
          <a:p>
            <a:endParaRPr lang="es-PE"/>
          </a:p>
        </p:txBody>
      </p:sp>
      <p:pic>
        <p:nvPicPr>
          <p:cNvPr id="3074" name="Picture 2">
            <a:extLst>
              <a:ext uri="{FF2B5EF4-FFF2-40B4-BE49-F238E27FC236}">
                <a16:creationId xmlns:a16="http://schemas.microsoft.com/office/drawing/2014/main" id="{9E0C3B65-413D-4DFB-A9DB-A9C7B0350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0"/>
            <a:ext cx="96012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49473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F6373BE7-51D6-405A-B9BA-0F6890FBAD6F}"/>
              </a:ext>
            </a:extLst>
          </p:cNvPr>
          <p:cNvSpPr>
            <a:spLocks noGrp="1"/>
          </p:cNvSpPr>
          <p:nvPr>
            <p:ph type="body" idx="1"/>
          </p:nvPr>
        </p:nvSpPr>
        <p:spPr/>
        <p:txBody>
          <a:bodyPr/>
          <a:lstStyle/>
          <a:p>
            <a:endParaRPr lang="es-PE"/>
          </a:p>
        </p:txBody>
      </p:sp>
      <p:sp>
        <p:nvSpPr>
          <p:cNvPr id="3" name="Título 2">
            <a:extLst>
              <a:ext uri="{FF2B5EF4-FFF2-40B4-BE49-F238E27FC236}">
                <a16:creationId xmlns:a16="http://schemas.microsoft.com/office/drawing/2014/main" id="{8C1F9172-9F9C-41C1-A50A-D127C5D34FBD}"/>
              </a:ext>
            </a:extLst>
          </p:cNvPr>
          <p:cNvSpPr>
            <a:spLocks noGrp="1"/>
          </p:cNvSpPr>
          <p:nvPr>
            <p:ph type="title"/>
          </p:nvPr>
        </p:nvSpPr>
        <p:spPr/>
        <p:txBody>
          <a:bodyPr/>
          <a:lstStyle/>
          <a:p>
            <a:endParaRPr lang="es-PE"/>
          </a:p>
        </p:txBody>
      </p:sp>
      <p:pic>
        <p:nvPicPr>
          <p:cNvPr id="4098" name="Picture 2">
            <a:extLst>
              <a:ext uri="{FF2B5EF4-FFF2-40B4-BE49-F238E27FC236}">
                <a16:creationId xmlns:a16="http://schemas.microsoft.com/office/drawing/2014/main" id="{906169FC-328C-4E8A-9CAA-E44F24B904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0"/>
            <a:ext cx="10972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12909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867FAC9-5F7E-4C1E-8231-E42A1F01C1D1}"/>
              </a:ext>
            </a:extLst>
          </p:cNvPr>
          <p:cNvSpPr>
            <a:spLocks noGrp="1"/>
          </p:cNvSpPr>
          <p:nvPr>
            <p:ph type="body" idx="1"/>
          </p:nvPr>
        </p:nvSpPr>
        <p:spPr/>
        <p:txBody>
          <a:bodyPr>
            <a:normAutofit fontScale="92500" lnSpcReduction="10000"/>
          </a:bodyPr>
          <a:lstStyle/>
          <a:p>
            <a:pPr algn="just"/>
            <a:r>
              <a:rPr lang="es-ES" b="0" i="0" dirty="0">
                <a:solidFill>
                  <a:srgbClr val="212529"/>
                </a:solidFill>
                <a:effectLst/>
                <a:latin typeface="Libre Franklin" panose="020B0604020202020204" pitchFamily="2" charset="0"/>
              </a:rPr>
              <a:t>En general, las personas que utilizaban mosquiteros tenían una mayor probabilidad de utilizarlos, mientras que las personas que no los utilizaban tenían una menor probabilidad de utilizarlos. Eso era de esperar.</a:t>
            </a:r>
          </a:p>
          <a:p>
            <a:pPr algn="just"/>
            <a:r>
              <a:rPr lang="es-ES" b="0" i="0" dirty="0">
                <a:solidFill>
                  <a:srgbClr val="212529"/>
                </a:solidFill>
                <a:effectLst/>
                <a:latin typeface="Libre Franklin" panose="020B0604020202020204" pitchFamily="2" charset="0"/>
              </a:rPr>
              <a:t>Pero hay algunas personas que tenían una baja probabilidad de usar mosquiteros y que </a:t>
            </a:r>
            <a:r>
              <a:rPr lang="es-ES" b="0" i="1" dirty="0">
                <a:solidFill>
                  <a:srgbClr val="212529"/>
                </a:solidFill>
                <a:effectLst/>
                <a:latin typeface="Libre Franklin" panose="020B0604020202020204" pitchFamily="2" charset="0"/>
              </a:rPr>
              <a:t>sí</a:t>
            </a:r>
            <a:r>
              <a:rPr lang="es-ES" b="0" i="0" dirty="0">
                <a:solidFill>
                  <a:srgbClr val="212529"/>
                </a:solidFill>
                <a:effectLst/>
                <a:latin typeface="Libre Franklin" panose="020B0604020202020204" pitchFamily="2" charset="0"/>
              </a:rPr>
              <a:t> los usaron, y otras que tenían una alta probabilidad de usar mosquiteros y que </a:t>
            </a:r>
            <a:r>
              <a:rPr lang="es-ES" b="0" i="1" dirty="0">
                <a:solidFill>
                  <a:srgbClr val="212529"/>
                </a:solidFill>
                <a:effectLst/>
                <a:latin typeface="Libre Franklin" panose="020B0604020202020204" pitchFamily="2" charset="0"/>
              </a:rPr>
              <a:t>no</a:t>
            </a:r>
            <a:r>
              <a:rPr lang="es-ES" b="0" i="0" dirty="0">
                <a:solidFill>
                  <a:srgbClr val="212529"/>
                </a:solidFill>
                <a:effectLst/>
                <a:latin typeface="Libre Franklin" panose="020B0604020202020204" pitchFamily="2" charset="0"/>
              </a:rPr>
              <a:t> los usaron. Eso es curioso y extraño. Se podría decir que estas personas son muy similares (es decir, tienen ingresos y salud similares), pero por alguna razón, no hicieron lo que el modelo predijo que debían hacer.</a:t>
            </a:r>
          </a:p>
          <a:p>
            <a:endParaRPr lang="es-PE" dirty="0"/>
          </a:p>
        </p:txBody>
      </p:sp>
      <p:sp>
        <p:nvSpPr>
          <p:cNvPr id="3" name="Título 2">
            <a:extLst>
              <a:ext uri="{FF2B5EF4-FFF2-40B4-BE49-F238E27FC236}">
                <a16:creationId xmlns:a16="http://schemas.microsoft.com/office/drawing/2014/main" id="{941C022D-E2F7-47B9-8E54-70519C0D14E2}"/>
              </a:ext>
            </a:extLst>
          </p:cNvPr>
          <p:cNvSpPr>
            <a:spLocks noGrp="1"/>
          </p:cNvSpPr>
          <p:nvPr>
            <p:ph type="title"/>
          </p:nvPr>
        </p:nvSpPr>
        <p:spPr/>
        <p:txBody>
          <a:bodyPr/>
          <a:lstStyle/>
          <a:p>
            <a:r>
              <a:rPr lang="es-PE" dirty="0"/>
              <a:t>Los raros</a:t>
            </a:r>
          </a:p>
        </p:txBody>
      </p:sp>
    </p:spTree>
    <p:extLst>
      <p:ext uri="{BB962C8B-B14F-4D97-AF65-F5344CB8AC3E}">
        <p14:creationId xmlns:p14="http://schemas.microsoft.com/office/powerpoint/2010/main" val="102119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2AB74E9-E5F5-4BF1-B015-7891EA71FCCA}"/>
              </a:ext>
            </a:extLst>
          </p:cNvPr>
          <p:cNvSpPr>
            <a:spLocks noGrp="1"/>
          </p:cNvSpPr>
          <p:nvPr>
            <p:ph type="body" idx="1"/>
          </p:nvPr>
        </p:nvSpPr>
        <p:spPr/>
        <p:txBody>
          <a:bodyPr/>
          <a:lstStyle/>
          <a:p>
            <a:endParaRPr lang="es-PE"/>
          </a:p>
        </p:txBody>
      </p:sp>
      <p:sp>
        <p:nvSpPr>
          <p:cNvPr id="3" name="Título 2">
            <a:extLst>
              <a:ext uri="{FF2B5EF4-FFF2-40B4-BE49-F238E27FC236}">
                <a16:creationId xmlns:a16="http://schemas.microsoft.com/office/drawing/2014/main" id="{0AC22490-39A2-4C9F-802D-081082BF2F0A}"/>
              </a:ext>
            </a:extLst>
          </p:cNvPr>
          <p:cNvSpPr>
            <a:spLocks noGrp="1"/>
          </p:cNvSpPr>
          <p:nvPr>
            <p:ph type="title"/>
          </p:nvPr>
        </p:nvSpPr>
        <p:spPr/>
        <p:txBody>
          <a:bodyPr/>
          <a:lstStyle/>
          <a:p>
            <a:endParaRPr lang="es-PE"/>
          </a:p>
        </p:txBody>
      </p:sp>
      <p:pic>
        <p:nvPicPr>
          <p:cNvPr id="5122" name="Picture 2">
            <a:extLst>
              <a:ext uri="{FF2B5EF4-FFF2-40B4-BE49-F238E27FC236}">
                <a16:creationId xmlns:a16="http://schemas.microsoft.com/office/drawing/2014/main" id="{917192F7-0B7F-41B4-9279-4023B37F9D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0"/>
            <a:ext cx="10972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26915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BD0AE6B-6B07-4AD3-8F59-B75022C39CAD}"/>
              </a:ext>
            </a:extLst>
          </p:cNvPr>
          <p:cNvSpPr>
            <a:spLocks noGrp="1"/>
          </p:cNvSpPr>
          <p:nvPr>
            <p:ph type="body" idx="1"/>
          </p:nvPr>
        </p:nvSpPr>
        <p:spPr/>
        <p:txBody>
          <a:bodyPr>
            <a:normAutofit fontScale="85000" lnSpcReduction="20000"/>
          </a:bodyPr>
          <a:lstStyle/>
          <a:p>
            <a:pPr algn="just"/>
            <a:r>
              <a:rPr lang="es-ES" dirty="0"/>
              <a:t>Si escalamos la importancia de cada sujeto de acuerdo con sus pesos de probabilidad inversa, podemos dar más importancia a estas personas “extrañas” que no recibieron tratamiento pero que deberían haberlo recibido y que recibieron tratamiento pero no deberían haberlo recibido, lo que las hace más equilibradas en comparación con sus contrapartes que recibieron tratamiento pero que deberían haberlo recibido y que no recibieron tratamiento pero que deberían haberlo recibido. </a:t>
            </a:r>
          </a:p>
          <a:p>
            <a:pPr algn="just"/>
            <a:endParaRPr lang="es-ES" dirty="0"/>
          </a:p>
          <a:p>
            <a:pPr algn="just"/>
            <a:r>
              <a:rPr lang="es-ES" dirty="0"/>
              <a:t>El histograma más tenue que se muestra aquí representa las </a:t>
            </a:r>
            <a:r>
              <a:rPr lang="es-ES" dirty="0" err="1"/>
              <a:t>pseudopoblaciones</a:t>
            </a:r>
            <a:r>
              <a:rPr lang="es-ES" dirty="0"/>
              <a:t> ajustadas y </a:t>
            </a:r>
            <a:r>
              <a:rPr lang="es-ES" dirty="0" err="1"/>
              <a:t>reponderadas</a:t>
            </a:r>
            <a:r>
              <a:rPr lang="es-ES" dirty="0"/>
              <a:t> de usuarios de la red y usuarios que no lo reciben. Estas dos </a:t>
            </a:r>
            <a:r>
              <a:rPr lang="es-ES" dirty="0" err="1"/>
              <a:t>pseudopoblaciones</a:t>
            </a:r>
            <a:r>
              <a:rPr lang="es-ES" dirty="0"/>
              <a:t> ahora están libres de la confusión que proviene de la salud y los ingresos y posiblemente sean más comparables, actuando más como grupos de tratamiento y control aleatorizados.</a:t>
            </a:r>
          </a:p>
          <a:p>
            <a:endParaRPr lang="es-ES" dirty="0"/>
          </a:p>
          <a:p>
            <a:endParaRPr lang="es-PE" dirty="0"/>
          </a:p>
        </p:txBody>
      </p:sp>
      <p:sp>
        <p:nvSpPr>
          <p:cNvPr id="3" name="Título 2">
            <a:extLst>
              <a:ext uri="{FF2B5EF4-FFF2-40B4-BE49-F238E27FC236}">
                <a16:creationId xmlns:a16="http://schemas.microsoft.com/office/drawing/2014/main" id="{90DD52E8-904A-47C4-986F-4DDB7EA801F8}"/>
              </a:ext>
            </a:extLst>
          </p:cNvPr>
          <p:cNvSpPr>
            <a:spLocks noGrp="1"/>
          </p:cNvSpPr>
          <p:nvPr>
            <p:ph type="title"/>
          </p:nvPr>
        </p:nvSpPr>
        <p:spPr/>
        <p:txBody>
          <a:bodyPr/>
          <a:lstStyle/>
          <a:p>
            <a:r>
              <a:rPr lang="es-PE" dirty="0"/>
              <a:t>Mecanismo detrás del IPW</a:t>
            </a:r>
          </a:p>
        </p:txBody>
      </p:sp>
    </p:spTree>
    <p:extLst>
      <p:ext uri="{BB962C8B-B14F-4D97-AF65-F5344CB8AC3E}">
        <p14:creationId xmlns:p14="http://schemas.microsoft.com/office/powerpoint/2010/main" val="37179378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67A93D7E-30E2-4DA9-ABAC-E14E7BB3D7EB}"/>
              </a:ext>
            </a:extLst>
          </p:cNvPr>
          <p:cNvSpPr>
            <a:spLocks noGrp="1"/>
          </p:cNvSpPr>
          <p:nvPr>
            <p:ph type="body" idx="1"/>
          </p:nvPr>
        </p:nvSpPr>
        <p:spPr/>
        <p:txBody>
          <a:bodyPr/>
          <a:lstStyle/>
          <a:p>
            <a:endParaRPr lang="es-PE"/>
          </a:p>
        </p:txBody>
      </p:sp>
      <p:sp>
        <p:nvSpPr>
          <p:cNvPr id="3" name="Título 2">
            <a:extLst>
              <a:ext uri="{FF2B5EF4-FFF2-40B4-BE49-F238E27FC236}">
                <a16:creationId xmlns:a16="http://schemas.microsoft.com/office/drawing/2014/main" id="{E5101DF1-0823-4717-A325-E1695218B9F1}"/>
              </a:ext>
            </a:extLst>
          </p:cNvPr>
          <p:cNvSpPr>
            <a:spLocks noGrp="1"/>
          </p:cNvSpPr>
          <p:nvPr>
            <p:ph type="title"/>
          </p:nvPr>
        </p:nvSpPr>
        <p:spPr/>
        <p:txBody>
          <a:bodyPr/>
          <a:lstStyle/>
          <a:p>
            <a:endParaRPr lang="es-PE"/>
          </a:p>
        </p:txBody>
      </p:sp>
      <p:pic>
        <p:nvPicPr>
          <p:cNvPr id="7170" name="Picture 2">
            <a:extLst>
              <a:ext uri="{FF2B5EF4-FFF2-40B4-BE49-F238E27FC236}">
                <a16:creationId xmlns:a16="http://schemas.microsoft.com/office/drawing/2014/main" id="{76942E55-AC0C-4A0F-8FC7-5CF91E474E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3638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IPW en R</a:t>
            </a:r>
          </a:p>
        </p:txBody>
      </p:sp>
      <p:pic>
        <p:nvPicPr>
          <p:cNvPr id="4" name="Imagen 3">
            <a:extLst>
              <a:ext uri="{FF2B5EF4-FFF2-40B4-BE49-F238E27FC236}">
                <a16:creationId xmlns:a16="http://schemas.microsoft.com/office/drawing/2014/main" id="{0112BD50-D806-4994-80B9-B5617387F47E}"/>
              </a:ext>
            </a:extLst>
          </p:cNvPr>
          <p:cNvPicPr>
            <a:picLocks noChangeAspect="1"/>
          </p:cNvPicPr>
          <p:nvPr/>
        </p:nvPicPr>
        <p:blipFill>
          <a:blip r:embed="rId2"/>
          <a:stretch>
            <a:fillRect/>
          </a:stretch>
        </p:blipFill>
        <p:spPr>
          <a:xfrm>
            <a:off x="838200" y="1978045"/>
            <a:ext cx="4182059" cy="3200847"/>
          </a:xfrm>
          <a:prstGeom prst="rect">
            <a:avLst/>
          </a:prstGeom>
        </p:spPr>
      </p:pic>
      <p:pic>
        <p:nvPicPr>
          <p:cNvPr id="6" name="Imagen 5">
            <a:extLst>
              <a:ext uri="{FF2B5EF4-FFF2-40B4-BE49-F238E27FC236}">
                <a16:creationId xmlns:a16="http://schemas.microsoft.com/office/drawing/2014/main" id="{4DA883D4-BF12-413E-8211-FE97624342C2}"/>
              </a:ext>
            </a:extLst>
          </p:cNvPr>
          <p:cNvPicPr>
            <a:picLocks noChangeAspect="1"/>
          </p:cNvPicPr>
          <p:nvPr/>
        </p:nvPicPr>
        <p:blipFill>
          <a:blip r:embed="rId3"/>
          <a:stretch>
            <a:fillRect/>
          </a:stretch>
        </p:blipFill>
        <p:spPr>
          <a:xfrm>
            <a:off x="6031605" y="1463623"/>
            <a:ext cx="4067743" cy="4229690"/>
          </a:xfrm>
          <a:prstGeom prst="rect">
            <a:avLst/>
          </a:prstGeom>
        </p:spPr>
      </p:pic>
    </p:spTree>
    <p:extLst>
      <p:ext uri="{BB962C8B-B14F-4D97-AF65-F5344CB8AC3E}">
        <p14:creationId xmlns:p14="http://schemas.microsoft.com/office/powerpoint/2010/main" val="4468660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IPW</a:t>
            </a:r>
          </a:p>
        </p:txBody>
      </p:sp>
      <p:pic>
        <p:nvPicPr>
          <p:cNvPr id="4" name="Imagen 3">
            <a:extLst>
              <a:ext uri="{FF2B5EF4-FFF2-40B4-BE49-F238E27FC236}">
                <a16:creationId xmlns:a16="http://schemas.microsoft.com/office/drawing/2014/main" id="{CF5DBE95-60D3-4355-8DF3-D704BEE93C11}"/>
              </a:ext>
            </a:extLst>
          </p:cNvPr>
          <p:cNvPicPr>
            <a:picLocks noChangeAspect="1"/>
          </p:cNvPicPr>
          <p:nvPr/>
        </p:nvPicPr>
        <p:blipFill>
          <a:blip r:embed="rId2"/>
          <a:stretch>
            <a:fillRect/>
          </a:stretch>
        </p:blipFill>
        <p:spPr>
          <a:xfrm>
            <a:off x="244082" y="2236350"/>
            <a:ext cx="3356898" cy="2388404"/>
          </a:xfrm>
          <a:prstGeom prst="rect">
            <a:avLst/>
          </a:prstGeom>
        </p:spPr>
      </p:pic>
      <p:pic>
        <p:nvPicPr>
          <p:cNvPr id="6" name="Imagen 5">
            <a:extLst>
              <a:ext uri="{FF2B5EF4-FFF2-40B4-BE49-F238E27FC236}">
                <a16:creationId xmlns:a16="http://schemas.microsoft.com/office/drawing/2014/main" id="{24263D3B-01FF-4171-BF7B-2E272B212EF3}"/>
              </a:ext>
            </a:extLst>
          </p:cNvPr>
          <p:cNvPicPr>
            <a:picLocks noChangeAspect="1"/>
          </p:cNvPicPr>
          <p:nvPr/>
        </p:nvPicPr>
        <p:blipFill>
          <a:blip r:embed="rId3"/>
          <a:stretch>
            <a:fillRect/>
          </a:stretch>
        </p:blipFill>
        <p:spPr>
          <a:xfrm>
            <a:off x="3600980" y="2145771"/>
            <a:ext cx="4066807" cy="2404463"/>
          </a:xfrm>
          <a:prstGeom prst="rect">
            <a:avLst/>
          </a:prstGeom>
        </p:spPr>
      </p:pic>
      <p:pic>
        <p:nvPicPr>
          <p:cNvPr id="10" name="Imagen 9">
            <a:extLst>
              <a:ext uri="{FF2B5EF4-FFF2-40B4-BE49-F238E27FC236}">
                <a16:creationId xmlns:a16="http://schemas.microsoft.com/office/drawing/2014/main" id="{44792FBF-DAA9-4A6B-8EE0-843AF29979D3}"/>
              </a:ext>
            </a:extLst>
          </p:cNvPr>
          <p:cNvPicPr>
            <a:picLocks noChangeAspect="1"/>
          </p:cNvPicPr>
          <p:nvPr/>
        </p:nvPicPr>
        <p:blipFill>
          <a:blip r:embed="rId4"/>
          <a:stretch>
            <a:fillRect/>
          </a:stretch>
        </p:blipFill>
        <p:spPr>
          <a:xfrm>
            <a:off x="7945131" y="1390549"/>
            <a:ext cx="4002787" cy="3761743"/>
          </a:xfrm>
          <a:prstGeom prst="rect">
            <a:avLst/>
          </a:prstGeom>
        </p:spPr>
      </p:pic>
    </p:spTree>
    <p:extLst>
      <p:ext uri="{BB962C8B-B14F-4D97-AF65-F5344CB8AC3E}">
        <p14:creationId xmlns:p14="http://schemas.microsoft.com/office/powerpoint/2010/main" val="12676665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Pin page">
            <a:extLst>
              <a:ext uri="{FF2B5EF4-FFF2-40B4-BE49-F238E27FC236}">
                <a16:creationId xmlns:a16="http://schemas.microsoft.com/office/drawing/2014/main" id="{D7ADB1B3-FFE8-4004-B2CA-03BDC8C912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077" b="17180"/>
          <a:stretch/>
        </p:blipFill>
        <p:spPr bwMode="auto">
          <a:xfrm>
            <a:off x="2662238" y="1239714"/>
            <a:ext cx="6867525" cy="4440117"/>
          </a:xfrm>
          <a:prstGeom prst="rect">
            <a:avLst/>
          </a:prstGeom>
          <a:noFill/>
          <a:extLst>
            <a:ext uri="{909E8E84-426E-40DD-AFC4-6F175D3DCCD1}">
              <a14:hiddenFill xmlns:a14="http://schemas.microsoft.com/office/drawing/2010/main">
                <a:solidFill>
                  <a:srgbClr val="FFFFFF"/>
                </a:solidFill>
              </a14:hiddenFill>
            </a:ext>
          </a:extLst>
        </p:spPr>
      </p:pic>
      <p:sp>
        <p:nvSpPr>
          <p:cNvPr id="5" name="Título 1">
            <a:extLst>
              <a:ext uri="{FF2B5EF4-FFF2-40B4-BE49-F238E27FC236}">
                <a16:creationId xmlns:a16="http://schemas.microsoft.com/office/drawing/2014/main" id="{7E19027D-4609-4AF0-A887-DE87FC47D6CE}"/>
              </a:ext>
            </a:extLst>
          </p:cNvPr>
          <p:cNvSpPr txBox="1">
            <a:spLocks/>
          </p:cNvSpPr>
          <p:nvPr/>
        </p:nvSpPr>
        <p:spPr>
          <a:xfrm>
            <a:off x="6188816" y="1502751"/>
            <a:ext cx="2604458" cy="645747"/>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3200" b="1" dirty="0">
                <a:ln>
                  <a:solidFill>
                    <a:sysClr val="windowText" lastClr="000000"/>
                  </a:solidFill>
                </a:ln>
                <a:solidFill>
                  <a:schemeClr val="bg1"/>
                </a:solidFill>
                <a:latin typeface="Bernard MT Condensed" panose="02050806060905020404" pitchFamily="18" charset="0"/>
              </a:rPr>
              <a:t>Métodos marginales</a:t>
            </a:r>
          </a:p>
        </p:txBody>
      </p:sp>
      <p:sp>
        <p:nvSpPr>
          <p:cNvPr id="6" name="Título 1">
            <a:extLst>
              <a:ext uri="{FF2B5EF4-FFF2-40B4-BE49-F238E27FC236}">
                <a16:creationId xmlns:a16="http://schemas.microsoft.com/office/drawing/2014/main" id="{784A3BDC-5B39-4E2B-8A26-A630BF2F57C4}"/>
              </a:ext>
            </a:extLst>
          </p:cNvPr>
          <p:cNvSpPr txBox="1">
            <a:spLocks/>
          </p:cNvSpPr>
          <p:nvPr/>
        </p:nvSpPr>
        <p:spPr>
          <a:xfrm>
            <a:off x="3158400" y="4248882"/>
            <a:ext cx="2604458" cy="645747"/>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3200" b="1" dirty="0">
                <a:ln>
                  <a:solidFill>
                    <a:sysClr val="windowText" lastClr="000000"/>
                  </a:solidFill>
                </a:ln>
                <a:solidFill>
                  <a:schemeClr val="bg1"/>
                </a:solidFill>
                <a:latin typeface="Bernard MT Condensed" panose="02050806060905020404" pitchFamily="18" charset="0"/>
              </a:rPr>
              <a:t>Métodos condicionales</a:t>
            </a:r>
          </a:p>
        </p:txBody>
      </p:sp>
    </p:spTree>
    <p:extLst>
      <p:ext uri="{BB962C8B-B14F-4D97-AF65-F5344CB8AC3E}">
        <p14:creationId xmlns:p14="http://schemas.microsoft.com/office/powerpoint/2010/main" val="5949549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CC8EA788-4061-4DE6-977C-1AE23BAC4198}"/>
              </a:ext>
            </a:extLst>
          </p:cNvPr>
          <p:cNvSpPr>
            <a:spLocks noGrp="1"/>
          </p:cNvSpPr>
          <p:nvPr>
            <p:ph type="title"/>
          </p:nvPr>
        </p:nvSpPr>
        <p:spPr>
          <a:xfrm>
            <a:off x="1415562" y="3498299"/>
            <a:ext cx="1136168" cy="423064"/>
          </a:xfrm>
        </p:spPr>
        <p:txBody>
          <a:bodyPr/>
          <a:lstStyle/>
          <a:p>
            <a:r>
              <a:rPr lang="es-PE" dirty="0"/>
              <a:t>IPW</a:t>
            </a:r>
          </a:p>
        </p:txBody>
      </p:sp>
      <p:pic>
        <p:nvPicPr>
          <p:cNvPr id="5" name="Imagen 4">
            <a:extLst>
              <a:ext uri="{FF2B5EF4-FFF2-40B4-BE49-F238E27FC236}">
                <a16:creationId xmlns:a16="http://schemas.microsoft.com/office/drawing/2014/main" id="{D2E87CC4-37EB-4A66-BD70-9FC1CB64BA64}"/>
              </a:ext>
            </a:extLst>
          </p:cNvPr>
          <p:cNvPicPr>
            <a:picLocks noChangeAspect="1"/>
          </p:cNvPicPr>
          <p:nvPr/>
        </p:nvPicPr>
        <p:blipFill>
          <a:blip r:embed="rId2"/>
          <a:stretch>
            <a:fillRect/>
          </a:stretch>
        </p:blipFill>
        <p:spPr>
          <a:xfrm>
            <a:off x="2723678" y="2445211"/>
            <a:ext cx="6744641" cy="2529240"/>
          </a:xfrm>
          <a:prstGeom prst="rect">
            <a:avLst/>
          </a:prstGeom>
        </p:spPr>
      </p:pic>
      <p:pic>
        <p:nvPicPr>
          <p:cNvPr id="7" name="Imagen 6">
            <a:extLst>
              <a:ext uri="{FF2B5EF4-FFF2-40B4-BE49-F238E27FC236}">
                <a16:creationId xmlns:a16="http://schemas.microsoft.com/office/drawing/2014/main" id="{7B17691D-375A-4E85-BD20-A4C5D96DBA7E}"/>
              </a:ext>
            </a:extLst>
          </p:cNvPr>
          <p:cNvPicPr>
            <a:picLocks noChangeAspect="1"/>
          </p:cNvPicPr>
          <p:nvPr/>
        </p:nvPicPr>
        <p:blipFill>
          <a:blip r:embed="rId3"/>
          <a:stretch>
            <a:fillRect/>
          </a:stretch>
        </p:blipFill>
        <p:spPr>
          <a:xfrm>
            <a:off x="1608991" y="1279632"/>
            <a:ext cx="7859328" cy="1165579"/>
          </a:xfrm>
          <a:prstGeom prst="rect">
            <a:avLst/>
          </a:prstGeom>
        </p:spPr>
      </p:pic>
      <p:cxnSp>
        <p:nvCxnSpPr>
          <p:cNvPr id="9" name="Conector recto 8">
            <a:extLst>
              <a:ext uri="{FF2B5EF4-FFF2-40B4-BE49-F238E27FC236}">
                <a16:creationId xmlns:a16="http://schemas.microsoft.com/office/drawing/2014/main" id="{EED57125-FD9B-4A9B-A0F9-B565EB80A0B5}"/>
              </a:ext>
            </a:extLst>
          </p:cNvPr>
          <p:cNvCxnSpPr/>
          <p:nvPr/>
        </p:nvCxnSpPr>
        <p:spPr>
          <a:xfrm>
            <a:off x="3358662" y="2593731"/>
            <a:ext cx="641838"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Imagen 10">
            <a:extLst>
              <a:ext uri="{FF2B5EF4-FFF2-40B4-BE49-F238E27FC236}">
                <a16:creationId xmlns:a16="http://schemas.microsoft.com/office/drawing/2014/main" id="{274B81A6-A50F-4A17-897B-9B4D861E509E}"/>
              </a:ext>
            </a:extLst>
          </p:cNvPr>
          <p:cNvPicPr>
            <a:picLocks noChangeAspect="1"/>
          </p:cNvPicPr>
          <p:nvPr/>
        </p:nvPicPr>
        <p:blipFill>
          <a:blip r:embed="rId4"/>
          <a:stretch>
            <a:fillRect/>
          </a:stretch>
        </p:blipFill>
        <p:spPr>
          <a:xfrm>
            <a:off x="2723678" y="2445211"/>
            <a:ext cx="6744640" cy="2959720"/>
          </a:xfrm>
          <a:prstGeom prst="rect">
            <a:avLst/>
          </a:prstGeom>
        </p:spPr>
      </p:pic>
    </p:spTree>
    <p:extLst>
      <p:ext uri="{BB962C8B-B14F-4D97-AF65-F5344CB8AC3E}">
        <p14:creationId xmlns:p14="http://schemas.microsoft.com/office/powerpoint/2010/main" val="6347706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6580435-0895-416B-B274-77392B2854E1}"/>
              </a:ext>
            </a:extLst>
          </p:cNvPr>
          <p:cNvSpPr>
            <a:spLocks noGrp="1"/>
          </p:cNvSpPr>
          <p:nvPr>
            <p:ph type="body" idx="1"/>
          </p:nvPr>
        </p:nvSpPr>
        <p:spPr>
          <a:xfrm>
            <a:off x="776654" y="6388495"/>
            <a:ext cx="10515599" cy="312494"/>
          </a:xfrm>
        </p:spPr>
        <p:txBody>
          <a:bodyPr>
            <a:normAutofit fontScale="40000" lnSpcReduction="20000"/>
          </a:bodyPr>
          <a:lstStyle/>
          <a:p>
            <a:pPr marL="38100" indent="0">
              <a:buNone/>
            </a:pPr>
            <a:r>
              <a:rPr lang="es-PE" dirty="0">
                <a:hlinkClick r:id="rId2"/>
              </a:rPr>
              <a:t>https://sci-hub.ru/10.1007/s40471-016-0081-9</a:t>
            </a:r>
            <a:r>
              <a:rPr lang="es-PE" dirty="0"/>
              <a:t> </a:t>
            </a:r>
          </a:p>
        </p:txBody>
      </p:sp>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518745" y="469505"/>
            <a:ext cx="11154508" cy="423064"/>
          </a:xfrm>
        </p:spPr>
        <p:txBody>
          <a:bodyPr/>
          <a:lstStyle/>
          <a:p>
            <a:r>
              <a:rPr lang="es-ES" dirty="0"/>
              <a:t>Estimación G de modelos anidados estructurales </a:t>
            </a:r>
            <a:endParaRPr lang="es-PE" dirty="0"/>
          </a:p>
        </p:txBody>
      </p:sp>
      <p:sp>
        <p:nvSpPr>
          <p:cNvPr id="5" name="CuadroTexto 4">
            <a:extLst>
              <a:ext uri="{FF2B5EF4-FFF2-40B4-BE49-F238E27FC236}">
                <a16:creationId xmlns:a16="http://schemas.microsoft.com/office/drawing/2014/main" id="{D697A381-723A-44B3-B0F4-B60BF411A46A}"/>
              </a:ext>
            </a:extLst>
          </p:cNvPr>
          <p:cNvSpPr txBox="1"/>
          <p:nvPr/>
        </p:nvSpPr>
        <p:spPr>
          <a:xfrm>
            <a:off x="776654" y="1217337"/>
            <a:ext cx="5676900" cy="3416320"/>
          </a:xfrm>
          <a:prstGeom prst="rect">
            <a:avLst/>
          </a:prstGeom>
          <a:noFill/>
        </p:spPr>
        <p:txBody>
          <a:bodyPr wrap="square">
            <a:spAutoFit/>
          </a:bodyPr>
          <a:lstStyle/>
          <a:p>
            <a:pPr algn="just"/>
            <a:r>
              <a:rPr lang="es-PE" dirty="0"/>
              <a:t>La mayoría de las implementaciones de la estimación g son para modelos estructurales anidados. El descriptor “</a:t>
            </a:r>
            <a:r>
              <a:rPr lang="es-PE" dirty="0" err="1"/>
              <a:t>nested</a:t>
            </a:r>
            <a:r>
              <a:rPr lang="es-PE" dirty="0"/>
              <a:t>” se refiere a una conceptualización de los datos longitudinales como resultado de una serie anidada de mediciones. </a:t>
            </a:r>
          </a:p>
          <a:p>
            <a:pPr algn="just"/>
            <a:endParaRPr lang="es-PE" dirty="0"/>
          </a:p>
          <a:p>
            <a:pPr algn="just"/>
            <a:endParaRPr lang="es-PE" dirty="0"/>
          </a:p>
          <a:p>
            <a:pPr algn="just"/>
            <a:r>
              <a:rPr lang="es-PE" dirty="0"/>
              <a:t>A: </a:t>
            </a:r>
            <a:r>
              <a:rPr lang="es-PE" dirty="0" err="1"/>
              <a:t>exposure</a:t>
            </a:r>
            <a:endParaRPr lang="es-PE" dirty="0"/>
          </a:p>
          <a:p>
            <a:pPr algn="just"/>
            <a:r>
              <a:rPr lang="es-PE" dirty="0"/>
              <a:t>X: </a:t>
            </a:r>
            <a:r>
              <a:rPr lang="es-PE" dirty="0" err="1"/>
              <a:t>confusor</a:t>
            </a:r>
            <a:endParaRPr lang="es-PE" dirty="0"/>
          </a:p>
          <a:p>
            <a:pPr algn="just"/>
            <a:r>
              <a:rPr lang="es-PE" dirty="0"/>
              <a:t>U: </a:t>
            </a:r>
            <a:r>
              <a:rPr lang="es-PE" dirty="0" err="1"/>
              <a:t>confusor</a:t>
            </a:r>
            <a:r>
              <a:rPr lang="es-PE" dirty="0"/>
              <a:t> no medido</a:t>
            </a:r>
          </a:p>
          <a:p>
            <a:pPr algn="just"/>
            <a:r>
              <a:rPr lang="es-PE" dirty="0"/>
              <a:t>Y: desenlace</a:t>
            </a:r>
          </a:p>
          <a:p>
            <a:pPr algn="just"/>
            <a:endParaRPr lang="es-PE" dirty="0"/>
          </a:p>
        </p:txBody>
      </p:sp>
      <p:pic>
        <p:nvPicPr>
          <p:cNvPr id="7" name="Imagen 6">
            <a:extLst>
              <a:ext uri="{FF2B5EF4-FFF2-40B4-BE49-F238E27FC236}">
                <a16:creationId xmlns:a16="http://schemas.microsoft.com/office/drawing/2014/main" id="{2178DFB0-246B-4A0D-9AEB-95C9A074B6F7}"/>
              </a:ext>
            </a:extLst>
          </p:cNvPr>
          <p:cNvPicPr>
            <a:picLocks noChangeAspect="1"/>
          </p:cNvPicPr>
          <p:nvPr/>
        </p:nvPicPr>
        <p:blipFill rotWithShape="1">
          <a:blip r:embed="rId3"/>
          <a:srcRect b="60665"/>
          <a:stretch/>
        </p:blipFill>
        <p:spPr>
          <a:xfrm>
            <a:off x="6571838" y="1409326"/>
            <a:ext cx="5480079" cy="1588852"/>
          </a:xfrm>
          <a:prstGeom prst="rect">
            <a:avLst/>
          </a:prstGeom>
        </p:spPr>
      </p:pic>
    </p:spTree>
    <p:extLst>
      <p:ext uri="{BB962C8B-B14F-4D97-AF65-F5344CB8AC3E}">
        <p14:creationId xmlns:p14="http://schemas.microsoft.com/office/powerpoint/2010/main" val="4996313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6580435-0895-416B-B274-77392B2854E1}"/>
              </a:ext>
            </a:extLst>
          </p:cNvPr>
          <p:cNvSpPr>
            <a:spLocks noGrp="1"/>
          </p:cNvSpPr>
          <p:nvPr>
            <p:ph type="body" idx="1"/>
          </p:nvPr>
        </p:nvSpPr>
        <p:spPr>
          <a:xfrm>
            <a:off x="776654" y="6388495"/>
            <a:ext cx="10515599" cy="312494"/>
          </a:xfrm>
        </p:spPr>
        <p:txBody>
          <a:bodyPr>
            <a:normAutofit fontScale="40000" lnSpcReduction="20000"/>
          </a:bodyPr>
          <a:lstStyle/>
          <a:p>
            <a:pPr marL="38100" indent="0">
              <a:buNone/>
            </a:pPr>
            <a:r>
              <a:rPr lang="es-PE" dirty="0">
                <a:hlinkClick r:id="rId2"/>
              </a:rPr>
              <a:t>https://sci-hub.ru/10.1007/s40471-016-0081-9</a:t>
            </a:r>
            <a:r>
              <a:rPr lang="es-PE" dirty="0"/>
              <a:t> </a:t>
            </a:r>
          </a:p>
        </p:txBody>
      </p:sp>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518745" y="469505"/>
            <a:ext cx="11154508" cy="423064"/>
          </a:xfrm>
        </p:spPr>
        <p:txBody>
          <a:bodyPr/>
          <a:lstStyle/>
          <a:p>
            <a:r>
              <a:rPr lang="es-ES" dirty="0"/>
              <a:t>Estimación G de modelos anidados estructurales </a:t>
            </a:r>
            <a:endParaRPr lang="es-PE" dirty="0"/>
          </a:p>
        </p:txBody>
      </p:sp>
      <p:pic>
        <p:nvPicPr>
          <p:cNvPr id="9" name="Imagen 8">
            <a:extLst>
              <a:ext uri="{FF2B5EF4-FFF2-40B4-BE49-F238E27FC236}">
                <a16:creationId xmlns:a16="http://schemas.microsoft.com/office/drawing/2014/main" id="{174549EC-28DE-410A-B16D-890FAB1719E7}"/>
              </a:ext>
            </a:extLst>
          </p:cNvPr>
          <p:cNvPicPr>
            <a:picLocks noChangeAspect="1"/>
          </p:cNvPicPr>
          <p:nvPr/>
        </p:nvPicPr>
        <p:blipFill>
          <a:blip r:embed="rId3"/>
          <a:stretch>
            <a:fillRect/>
          </a:stretch>
        </p:blipFill>
        <p:spPr>
          <a:xfrm>
            <a:off x="389792" y="2487999"/>
            <a:ext cx="9869109" cy="3427926"/>
          </a:xfrm>
          <a:prstGeom prst="rect">
            <a:avLst/>
          </a:prstGeom>
        </p:spPr>
      </p:pic>
      <p:pic>
        <p:nvPicPr>
          <p:cNvPr id="10" name="Imagen 9">
            <a:extLst>
              <a:ext uri="{FF2B5EF4-FFF2-40B4-BE49-F238E27FC236}">
                <a16:creationId xmlns:a16="http://schemas.microsoft.com/office/drawing/2014/main" id="{374F6DC9-BD60-4479-B988-334837033F80}"/>
              </a:ext>
            </a:extLst>
          </p:cNvPr>
          <p:cNvPicPr>
            <a:picLocks noChangeAspect="1"/>
          </p:cNvPicPr>
          <p:nvPr/>
        </p:nvPicPr>
        <p:blipFill rotWithShape="1">
          <a:blip r:embed="rId4"/>
          <a:srcRect b="59142"/>
          <a:stretch/>
        </p:blipFill>
        <p:spPr>
          <a:xfrm>
            <a:off x="3626415" y="1164935"/>
            <a:ext cx="5480079" cy="1650398"/>
          </a:xfrm>
          <a:prstGeom prst="rect">
            <a:avLst/>
          </a:prstGeom>
        </p:spPr>
      </p:pic>
    </p:spTree>
    <p:extLst>
      <p:ext uri="{BB962C8B-B14F-4D97-AF65-F5344CB8AC3E}">
        <p14:creationId xmlns:p14="http://schemas.microsoft.com/office/powerpoint/2010/main" val="24374422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6580435-0895-416B-B274-77392B2854E1}"/>
              </a:ext>
            </a:extLst>
          </p:cNvPr>
          <p:cNvSpPr>
            <a:spLocks noGrp="1"/>
          </p:cNvSpPr>
          <p:nvPr>
            <p:ph type="body" idx="1"/>
          </p:nvPr>
        </p:nvSpPr>
        <p:spPr>
          <a:xfrm>
            <a:off x="776654" y="6388495"/>
            <a:ext cx="10515599" cy="312494"/>
          </a:xfrm>
        </p:spPr>
        <p:txBody>
          <a:bodyPr>
            <a:normAutofit fontScale="40000" lnSpcReduction="20000"/>
          </a:bodyPr>
          <a:lstStyle/>
          <a:p>
            <a:pPr marL="38100" indent="0">
              <a:buNone/>
            </a:pPr>
            <a:r>
              <a:rPr lang="es-PE" dirty="0">
                <a:hlinkClick r:id="rId2"/>
              </a:rPr>
              <a:t>https://sci-hub.ru/10.1007/s40471-016-0081-9</a:t>
            </a:r>
            <a:r>
              <a:rPr lang="es-PE" dirty="0"/>
              <a:t> </a:t>
            </a:r>
          </a:p>
        </p:txBody>
      </p:sp>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518745" y="469505"/>
            <a:ext cx="11154508" cy="423064"/>
          </a:xfrm>
        </p:spPr>
        <p:txBody>
          <a:bodyPr/>
          <a:lstStyle/>
          <a:p>
            <a:r>
              <a:rPr lang="es-ES" dirty="0"/>
              <a:t>Estimación G de modelos anidados estructurales </a:t>
            </a:r>
            <a:endParaRPr lang="es-PE" dirty="0"/>
          </a:p>
        </p:txBody>
      </p:sp>
      <p:pic>
        <p:nvPicPr>
          <p:cNvPr id="9" name="Imagen 8">
            <a:extLst>
              <a:ext uri="{FF2B5EF4-FFF2-40B4-BE49-F238E27FC236}">
                <a16:creationId xmlns:a16="http://schemas.microsoft.com/office/drawing/2014/main" id="{174549EC-28DE-410A-B16D-890FAB1719E7}"/>
              </a:ext>
            </a:extLst>
          </p:cNvPr>
          <p:cNvPicPr>
            <a:picLocks noChangeAspect="1"/>
          </p:cNvPicPr>
          <p:nvPr/>
        </p:nvPicPr>
        <p:blipFill>
          <a:blip r:embed="rId3"/>
          <a:stretch>
            <a:fillRect/>
          </a:stretch>
        </p:blipFill>
        <p:spPr>
          <a:xfrm>
            <a:off x="389792" y="2531960"/>
            <a:ext cx="9869109" cy="3427926"/>
          </a:xfrm>
          <a:prstGeom prst="rect">
            <a:avLst/>
          </a:prstGeom>
        </p:spPr>
      </p:pic>
      <p:pic>
        <p:nvPicPr>
          <p:cNvPr id="5" name="Imagen 4">
            <a:extLst>
              <a:ext uri="{FF2B5EF4-FFF2-40B4-BE49-F238E27FC236}">
                <a16:creationId xmlns:a16="http://schemas.microsoft.com/office/drawing/2014/main" id="{3AC90B06-4406-41EB-B761-C05BE507E092}"/>
              </a:ext>
            </a:extLst>
          </p:cNvPr>
          <p:cNvPicPr>
            <a:picLocks noChangeAspect="1"/>
          </p:cNvPicPr>
          <p:nvPr/>
        </p:nvPicPr>
        <p:blipFill>
          <a:blip r:embed="rId4"/>
          <a:stretch>
            <a:fillRect/>
          </a:stretch>
        </p:blipFill>
        <p:spPr>
          <a:xfrm>
            <a:off x="389792" y="2560032"/>
            <a:ext cx="10125808" cy="3729051"/>
          </a:xfrm>
          <a:prstGeom prst="rect">
            <a:avLst/>
          </a:prstGeom>
        </p:spPr>
      </p:pic>
      <p:pic>
        <p:nvPicPr>
          <p:cNvPr id="8" name="Imagen 7">
            <a:extLst>
              <a:ext uri="{FF2B5EF4-FFF2-40B4-BE49-F238E27FC236}">
                <a16:creationId xmlns:a16="http://schemas.microsoft.com/office/drawing/2014/main" id="{797373B7-5239-4127-8BA8-744AB19C9354}"/>
              </a:ext>
            </a:extLst>
          </p:cNvPr>
          <p:cNvPicPr>
            <a:picLocks noChangeAspect="1"/>
          </p:cNvPicPr>
          <p:nvPr/>
        </p:nvPicPr>
        <p:blipFill rotWithShape="1">
          <a:blip r:embed="rId5"/>
          <a:srcRect l="820" t="38713" r="-820" b="20429"/>
          <a:stretch/>
        </p:blipFill>
        <p:spPr>
          <a:xfrm>
            <a:off x="3626415" y="1164935"/>
            <a:ext cx="5480079" cy="1650398"/>
          </a:xfrm>
          <a:prstGeom prst="rect">
            <a:avLst/>
          </a:prstGeom>
        </p:spPr>
      </p:pic>
    </p:spTree>
    <p:extLst>
      <p:ext uri="{BB962C8B-B14F-4D97-AF65-F5344CB8AC3E}">
        <p14:creationId xmlns:p14="http://schemas.microsoft.com/office/powerpoint/2010/main" val="35386029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6580435-0895-416B-B274-77392B2854E1}"/>
              </a:ext>
            </a:extLst>
          </p:cNvPr>
          <p:cNvSpPr>
            <a:spLocks noGrp="1"/>
          </p:cNvSpPr>
          <p:nvPr>
            <p:ph type="body" idx="1"/>
          </p:nvPr>
        </p:nvSpPr>
        <p:spPr>
          <a:xfrm>
            <a:off x="776654" y="6388495"/>
            <a:ext cx="10515599" cy="312494"/>
          </a:xfrm>
        </p:spPr>
        <p:txBody>
          <a:bodyPr>
            <a:normAutofit fontScale="40000" lnSpcReduction="20000"/>
          </a:bodyPr>
          <a:lstStyle/>
          <a:p>
            <a:pPr marL="38100" indent="0">
              <a:buNone/>
            </a:pPr>
            <a:r>
              <a:rPr lang="es-PE" dirty="0">
                <a:hlinkClick r:id="rId2"/>
              </a:rPr>
              <a:t>https://sci-hub.ru/10.1007/s40471-016-0081-9</a:t>
            </a:r>
            <a:r>
              <a:rPr lang="es-PE" dirty="0"/>
              <a:t> </a:t>
            </a:r>
          </a:p>
        </p:txBody>
      </p:sp>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518745" y="469505"/>
            <a:ext cx="11154508" cy="423064"/>
          </a:xfrm>
        </p:spPr>
        <p:txBody>
          <a:bodyPr/>
          <a:lstStyle/>
          <a:p>
            <a:r>
              <a:rPr lang="es-ES" dirty="0"/>
              <a:t>Estimación G de modelos anidados estructurales </a:t>
            </a:r>
            <a:endParaRPr lang="es-PE" dirty="0"/>
          </a:p>
        </p:txBody>
      </p:sp>
      <p:pic>
        <p:nvPicPr>
          <p:cNvPr id="5" name="Imagen 4">
            <a:extLst>
              <a:ext uri="{FF2B5EF4-FFF2-40B4-BE49-F238E27FC236}">
                <a16:creationId xmlns:a16="http://schemas.microsoft.com/office/drawing/2014/main" id="{76A7B6AA-DB85-443E-A759-1A9D747B455F}"/>
              </a:ext>
            </a:extLst>
          </p:cNvPr>
          <p:cNvPicPr>
            <a:picLocks noChangeAspect="1"/>
          </p:cNvPicPr>
          <p:nvPr/>
        </p:nvPicPr>
        <p:blipFill>
          <a:blip r:embed="rId3"/>
          <a:stretch>
            <a:fillRect/>
          </a:stretch>
        </p:blipFill>
        <p:spPr>
          <a:xfrm>
            <a:off x="389792" y="2487999"/>
            <a:ext cx="9872920" cy="1922764"/>
          </a:xfrm>
          <a:prstGeom prst="rect">
            <a:avLst/>
          </a:prstGeom>
        </p:spPr>
      </p:pic>
      <p:pic>
        <p:nvPicPr>
          <p:cNvPr id="8" name="Imagen 7">
            <a:extLst>
              <a:ext uri="{FF2B5EF4-FFF2-40B4-BE49-F238E27FC236}">
                <a16:creationId xmlns:a16="http://schemas.microsoft.com/office/drawing/2014/main" id="{292346DA-F103-46F8-A78D-13D575338336}"/>
              </a:ext>
            </a:extLst>
          </p:cNvPr>
          <p:cNvPicPr>
            <a:picLocks noChangeAspect="1"/>
          </p:cNvPicPr>
          <p:nvPr/>
        </p:nvPicPr>
        <p:blipFill rotWithShape="1">
          <a:blip r:embed="rId4"/>
          <a:srcRect l="321" t="78840" r="-321" b="-935"/>
          <a:stretch/>
        </p:blipFill>
        <p:spPr>
          <a:xfrm>
            <a:off x="3186800" y="1499043"/>
            <a:ext cx="5480079" cy="892465"/>
          </a:xfrm>
          <a:prstGeom prst="rect">
            <a:avLst/>
          </a:prstGeom>
        </p:spPr>
      </p:pic>
    </p:spTree>
    <p:extLst>
      <p:ext uri="{BB962C8B-B14F-4D97-AF65-F5344CB8AC3E}">
        <p14:creationId xmlns:p14="http://schemas.microsoft.com/office/powerpoint/2010/main" val="8929213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6580435-0895-416B-B274-77392B2854E1}"/>
              </a:ext>
            </a:extLst>
          </p:cNvPr>
          <p:cNvSpPr>
            <a:spLocks noGrp="1"/>
          </p:cNvSpPr>
          <p:nvPr>
            <p:ph type="body" idx="1"/>
          </p:nvPr>
        </p:nvSpPr>
        <p:spPr>
          <a:xfrm>
            <a:off x="776654" y="6388495"/>
            <a:ext cx="10515599" cy="312494"/>
          </a:xfrm>
        </p:spPr>
        <p:txBody>
          <a:bodyPr>
            <a:normAutofit fontScale="40000" lnSpcReduction="20000"/>
          </a:bodyPr>
          <a:lstStyle/>
          <a:p>
            <a:pPr marL="38100" indent="0">
              <a:buNone/>
            </a:pPr>
            <a:r>
              <a:rPr lang="es-PE" dirty="0">
                <a:hlinkClick r:id="rId2"/>
              </a:rPr>
              <a:t>https://sci-hub.ru/10.1007/s40471-016-0081-9</a:t>
            </a:r>
            <a:r>
              <a:rPr lang="es-PE" dirty="0"/>
              <a:t> </a:t>
            </a:r>
          </a:p>
        </p:txBody>
      </p:sp>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518745" y="469505"/>
            <a:ext cx="11154508" cy="423064"/>
          </a:xfrm>
        </p:spPr>
        <p:txBody>
          <a:bodyPr/>
          <a:lstStyle/>
          <a:p>
            <a:r>
              <a:rPr lang="es-ES" dirty="0"/>
              <a:t>Estimación G de modelos anidados estructurales </a:t>
            </a:r>
            <a:endParaRPr lang="es-PE" dirty="0"/>
          </a:p>
        </p:txBody>
      </p:sp>
      <p:pic>
        <p:nvPicPr>
          <p:cNvPr id="8" name="Imagen 7">
            <a:extLst>
              <a:ext uri="{FF2B5EF4-FFF2-40B4-BE49-F238E27FC236}">
                <a16:creationId xmlns:a16="http://schemas.microsoft.com/office/drawing/2014/main" id="{292346DA-F103-46F8-A78D-13D575338336}"/>
              </a:ext>
            </a:extLst>
          </p:cNvPr>
          <p:cNvPicPr>
            <a:picLocks noChangeAspect="1"/>
          </p:cNvPicPr>
          <p:nvPr/>
        </p:nvPicPr>
        <p:blipFill rotWithShape="1">
          <a:blip r:embed="rId3"/>
          <a:srcRect l="321" t="78840" r="-321" b="-935"/>
          <a:stretch/>
        </p:blipFill>
        <p:spPr>
          <a:xfrm>
            <a:off x="3186800" y="1499043"/>
            <a:ext cx="5480079" cy="892465"/>
          </a:xfrm>
          <a:prstGeom prst="rect">
            <a:avLst/>
          </a:prstGeom>
        </p:spPr>
      </p:pic>
      <p:pic>
        <p:nvPicPr>
          <p:cNvPr id="6" name="Imagen 5">
            <a:extLst>
              <a:ext uri="{FF2B5EF4-FFF2-40B4-BE49-F238E27FC236}">
                <a16:creationId xmlns:a16="http://schemas.microsoft.com/office/drawing/2014/main" id="{0A47AF25-1272-4128-BD9E-F63A684371C2}"/>
              </a:ext>
            </a:extLst>
          </p:cNvPr>
          <p:cNvPicPr>
            <a:picLocks noChangeAspect="1"/>
          </p:cNvPicPr>
          <p:nvPr/>
        </p:nvPicPr>
        <p:blipFill>
          <a:blip r:embed="rId4"/>
          <a:stretch>
            <a:fillRect/>
          </a:stretch>
        </p:blipFill>
        <p:spPr>
          <a:xfrm>
            <a:off x="2970474" y="2616797"/>
            <a:ext cx="6383762" cy="1234283"/>
          </a:xfrm>
          <a:prstGeom prst="rect">
            <a:avLst/>
          </a:prstGeom>
        </p:spPr>
      </p:pic>
      <p:pic>
        <p:nvPicPr>
          <p:cNvPr id="9" name="Imagen 8">
            <a:extLst>
              <a:ext uri="{FF2B5EF4-FFF2-40B4-BE49-F238E27FC236}">
                <a16:creationId xmlns:a16="http://schemas.microsoft.com/office/drawing/2014/main" id="{6625A24E-A6DD-442E-B75D-2F73A12397B5}"/>
              </a:ext>
            </a:extLst>
          </p:cNvPr>
          <p:cNvPicPr>
            <a:picLocks noChangeAspect="1"/>
          </p:cNvPicPr>
          <p:nvPr/>
        </p:nvPicPr>
        <p:blipFill>
          <a:blip r:embed="rId5"/>
          <a:stretch>
            <a:fillRect/>
          </a:stretch>
        </p:blipFill>
        <p:spPr>
          <a:xfrm>
            <a:off x="2970474" y="4214448"/>
            <a:ext cx="3017088" cy="2029431"/>
          </a:xfrm>
          <a:prstGeom prst="rect">
            <a:avLst/>
          </a:prstGeom>
        </p:spPr>
      </p:pic>
    </p:spTree>
    <p:extLst>
      <p:ext uri="{BB962C8B-B14F-4D97-AF65-F5344CB8AC3E}">
        <p14:creationId xmlns:p14="http://schemas.microsoft.com/office/powerpoint/2010/main" val="39651612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Usted es diabolico ingeee...jajaja - Universidad De Los Momos | Facebook">
            <a:extLst>
              <a:ext uri="{FF2B5EF4-FFF2-40B4-BE49-F238E27FC236}">
                <a16:creationId xmlns:a16="http://schemas.microsoft.com/office/drawing/2014/main" id="{2DE764D5-4E1F-4DB1-9802-D36C80B5C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2920" y="577803"/>
            <a:ext cx="2420202" cy="5702394"/>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656AED82-9138-40E8-A548-6D6E238810F3}"/>
              </a:ext>
            </a:extLst>
          </p:cNvPr>
          <p:cNvPicPr>
            <a:picLocks noChangeAspect="1"/>
          </p:cNvPicPr>
          <p:nvPr/>
        </p:nvPicPr>
        <p:blipFill rotWithShape="1">
          <a:blip r:embed="rId3"/>
          <a:srcRect t="-1" b="60884"/>
          <a:stretch/>
        </p:blipFill>
        <p:spPr>
          <a:xfrm>
            <a:off x="1759842" y="930538"/>
            <a:ext cx="3126344" cy="901413"/>
          </a:xfrm>
          <a:prstGeom prst="rect">
            <a:avLst/>
          </a:prstGeom>
        </p:spPr>
      </p:pic>
      <p:pic>
        <p:nvPicPr>
          <p:cNvPr id="8" name="Imagen 7">
            <a:extLst>
              <a:ext uri="{FF2B5EF4-FFF2-40B4-BE49-F238E27FC236}">
                <a16:creationId xmlns:a16="http://schemas.microsoft.com/office/drawing/2014/main" id="{75D292E3-A32E-4A06-816B-728002FAEB41}"/>
              </a:ext>
            </a:extLst>
          </p:cNvPr>
          <p:cNvPicPr>
            <a:picLocks noChangeAspect="1"/>
          </p:cNvPicPr>
          <p:nvPr/>
        </p:nvPicPr>
        <p:blipFill rotWithShape="1">
          <a:blip r:embed="rId3"/>
          <a:srcRect t="40349" b="21994"/>
          <a:stretch/>
        </p:blipFill>
        <p:spPr>
          <a:xfrm>
            <a:off x="1856576" y="2585128"/>
            <a:ext cx="3126344" cy="867759"/>
          </a:xfrm>
          <a:prstGeom prst="rect">
            <a:avLst/>
          </a:prstGeom>
        </p:spPr>
      </p:pic>
      <p:pic>
        <p:nvPicPr>
          <p:cNvPr id="9" name="Imagen 8">
            <a:extLst>
              <a:ext uri="{FF2B5EF4-FFF2-40B4-BE49-F238E27FC236}">
                <a16:creationId xmlns:a16="http://schemas.microsoft.com/office/drawing/2014/main" id="{CCC569B4-DC7F-44B2-8BDA-6AEAF872B71F}"/>
              </a:ext>
            </a:extLst>
          </p:cNvPr>
          <p:cNvPicPr>
            <a:picLocks noChangeAspect="1"/>
          </p:cNvPicPr>
          <p:nvPr/>
        </p:nvPicPr>
        <p:blipFill rotWithShape="1">
          <a:blip r:embed="rId3"/>
          <a:srcRect t="79240" b="-1369"/>
          <a:stretch/>
        </p:blipFill>
        <p:spPr>
          <a:xfrm>
            <a:off x="1856577" y="4582038"/>
            <a:ext cx="3126343" cy="509954"/>
          </a:xfrm>
          <a:prstGeom prst="rect">
            <a:avLst/>
          </a:prstGeom>
        </p:spPr>
      </p:pic>
    </p:spTree>
    <p:extLst>
      <p:ext uri="{BB962C8B-B14F-4D97-AF65-F5344CB8AC3E}">
        <p14:creationId xmlns:p14="http://schemas.microsoft.com/office/powerpoint/2010/main" val="41002686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6580435-0895-416B-B274-77392B2854E1}"/>
              </a:ext>
            </a:extLst>
          </p:cNvPr>
          <p:cNvSpPr>
            <a:spLocks noGrp="1"/>
          </p:cNvSpPr>
          <p:nvPr>
            <p:ph type="body" idx="1"/>
          </p:nvPr>
        </p:nvSpPr>
        <p:spPr>
          <a:xfrm>
            <a:off x="838200" y="1459523"/>
            <a:ext cx="10515599" cy="4717440"/>
          </a:xfrm>
        </p:spPr>
        <p:txBody>
          <a:bodyPr>
            <a:normAutofit fontScale="92500" lnSpcReduction="20000"/>
          </a:bodyPr>
          <a:lstStyle/>
          <a:p>
            <a:r>
              <a:rPr lang="es-ES" dirty="0"/>
              <a:t>La </a:t>
            </a:r>
            <a:r>
              <a:rPr lang="es-ES" b="1" dirty="0" err="1"/>
              <a:t>Doubly</a:t>
            </a:r>
            <a:r>
              <a:rPr lang="es-ES" b="1" dirty="0"/>
              <a:t> </a:t>
            </a:r>
            <a:r>
              <a:rPr lang="es-ES" b="1" dirty="0" err="1"/>
              <a:t>Robust</a:t>
            </a:r>
            <a:r>
              <a:rPr lang="es-ES" b="1" dirty="0"/>
              <a:t> </a:t>
            </a:r>
            <a:r>
              <a:rPr lang="es-ES" b="1" dirty="0" err="1"/>
              <a:t>Learning</a:t>
            </a:r>
            <a:r>
              <a:rPr lang="es-ES" b="1" dirty="0"/>
              <a:t> (DR)</a:t>
            </a:r>
            <a:r>
              <a:rPr lang="es-ES" dirty="0"/>
              <a:t> o aprendizaje doblemente robusto es un enfoque en el que se utilizan tanto el modelo de propensión como el modelo de resultado para estimar efectos causales de un tratamiento. </a:t>
            </a:r>
          </a:p>
          <a:p>
            <a:r>
              <a:rPr lang="es-ES" dirty="0"/>
              <a:t>La idea clave detrás de este método es que se puede obtener una estimación precisa del efecto del tratamiento incluso si uno de los modelos (propensión o resultado) es incorrecto, siempre y cuando el otro modelo esté bien especificado.</a:t>
            </a:r>
          </a:p>
          <a:p>
            <a:r>
              <a:rPr lang="es-ES" dirty="0"/>
              <a:t>Se han propuesto varios métodos doblemente robustos (</a:t>
            </a:r>
            <a:r>
              <a:rPr lang="es-ES" dirty="0" err="1"/>
              <a:t>Bang</a:t>
            </a:r>
            <a:r>
              <a:rPr lang="es-ES" dirty="0"/>
              <a:t> y </a:t>
            </a:r>
            <a:r>
              <a:rPr lang="es-ES" dirty="0" err="1"/>
              <a:t>Robins</a:t>
            </a:r>
            <a:r>
              <a:rPr lang="es-ES" dirty="0"/>
              <a:t>, 2005; Hernán y </a:t>
            </a:r>
            <a:r>
              <a:rPr lang="es-ES" dirty="0" err="1"/>
              <a:t>Robins</a:t>
            </a:r>
            <a:r>
              <a:rPr lang="es-ES" dirty="0"/>
              <a:t>, 2020). </a:t>
            </a:r>
          </a:p>
          <a:p>
            <a:pPr lvl="1"/>
            <a:endParaRPr lang="es-ES" dirty="0"/>
          </a:p>
          <a:p>
            <a:pPr lvl="1"/>
            <a:r>
              <a:rPr lang="es-ES" dirty="0"/>
              <a:t>TMLE</a:t>
            </a:r>
          </a:p>
          <a:p>
            <a:pPr lvl="1"/>
            <a:r>
              <a:rPr lang="es-ES" dirty="0"/>
              <a:t>DR con IPW</a:t>
            </a:r>
            <a:endParaRPr lang="es-PE" dirty="0"/>
          </a:p>
        </p:txBody>
      </p:sp>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Estimación doble robusta</a:t>
            </a:r>
          </a:p>
        </p:txBody>
      </p:sp>
    </p:spTree>
    <p:extLst>
      <p:ext uri="{BB962C8B-B14F-4D97-AF65-F5344CB8AC3E}">
        <p14:creationId xmlns:p14="http://schemas.microsoft.com/office/powerpoint/2010/main" val="28900211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Estimación doble robusta</a:t>
            </a:r>
          </a:p>
        </p:txBody>
      </p:sp>
      <p:pic>
        <p:nvPicPr>
          <p:cNvPr id="7" name="Imagen 6">
            <a:extLst>
              <a:ext uri="{FF2B5EF4-FFF2-40B4-BE49-F238E27FC236}">
                <a16:creationId xmlns:a16="http://schemas.microsoft.com/office/drawing/2014/main" id="{F03B6B98-B961-4C45-9C65-E9CE72DF843A}"/>
              </a:ext>
            </a:extLst>
          </p:cNvPr>
          <p:cNvPicPr>
            <a:picLocks noChangeAspect="1"/>
          </p:cNvPicPr>
          <p:nvPr/>
        </p:nvPicPr>
        <p:blipFill rotWithShape="1">
          <a:blip r:embed="rId2"/>
          <a:srcRect r="30643" b="87006"/>
          <a:stretch/>
        </p:blipFill>
        <p:spPr>
          <a:xfrm>
            <a:off x="838201" y="1728316"/>
            <a:ext cx="6347312" cy="423064"/>
          </a:xfrm>
          <a:prstGeom prst="rect">
            <a:avLst/>
          </a:prstGeom>
        </p:spPr>
      </p:pic>
      <p:sp>
        <p:nvSpPr>
          <p:cNvPr id="11" name="CuadroTexto 10">
            <a:extLst>
              <a:ext uri="{FF2B5EF4-FFF2-40B4-BE49-F238E27FC236}">
                <a16:creationId xmlns:a16="http://schemas.microsoft.com/office/drawing/2014/main" id="{B36BEE9F-CF48-430D-B06C-0523E1507F26}"/>
              </a:ext>
            </a:extLst>
          </p:cNvPr>
          <p:cNvSpPr txBox="1"/>
          <p:nvPr/>
        </p:nvSpPr>
        <p:spPr>
          <a:xfrm>
            <a:off x="1088048" y="6321642"/>
            <a:ext cx="6097464" cy="369332"/>
          </a:xfrm>
          <a:prstGeom prst="rect">
            <a:avLst/>
          </a:prstGeom>
          <a:noFill/>
        </p:spPr>
        <p:txBody>
          <a:bodyPr wrap="square">
            <a:spAutoFit/>
          </a:bodyPr>
          <a:lstStyle/>
          <a:p>
            <a:r>
              <a:rPr lang="es-PE" dirty="0">
                <a:hlinkClick r:id="rId3"/>
              </a:rPr>
              <a:t>https://arxiv.org/html/2406.00853v1</a:t>
            </a:r>
            <a:r>
              <a:rPr lang="es-PE" dirty="0"/>
              <a:t> </a:t>
            </a:r>
          </a:p>
        </p:txBody>
      </p:sp>
      <p:sp>
        <p:nvSpPr>
          <p:cNvPr id="13" name="CuadroTexto 12">
            <a:extLst>
              <a:ext uri="{FF2B5EF4-FFF2-40B4-BE49-F238E27FC236}">
                <a16:creationId xmlns:a16="http://schemas.microsoft.com/office/drawing/2014/main" id="{6633A591-19A6-4F57-8023-C3911BD7860B}"/>
              </a:ext>
            </a:extLst>
          </p:cNvPr>
          <p:cNvSpPr txBox="1"/>
          <p:nvPr/>
        </p:nvSpPr>
        <p:spPr>
          <a:xfrm>
            <a:off x="973748" y="2505698"/>
            <a:ext cx="6097464" cy="1477328"/>
          </a:xfrm>
          <a:prstGeom prst="rect">
            <a:avLst/>
          </a:prstGeom>
          <a:noFill/>
        </p:spPr>
        <p:txBody>
          <a:bodyPr wrap="square">
            <a:spAutoFit/>
          </a:bodyPr>
          <a:lstStyle/>
          <a:p>
            <a:pPr algn="just"/>
            <a:r>
              <a:rPr lang="es-PE" dirty="0"/>
              <a:t>Entrene una puntuación de propensión para estimar la probabilidad de que una unidad pertenezca al grupo de tratamiento dadas sus covariables. En este caso pueden utilizarse modelos de clasificación típicos, por ejemplo, regresión logística o un árbol de decisión.</a:t>
            </a:r>
          </a:p>
        </p:txBody>
      </p:sp>
      <p:pic>
        <p:nvPicPr>
          <p:cNvPr id="15" name="Imagen 14">
            <a:extLst>
              <a:ext uri="{FF2B5EF4-FFF2-40B4-BE49-F238E27FC236}">
                <a16:creationId xmlns:a16="http://schemas.microsoft.com/office/drawing/2014/main" id="{C38D4BD7-6435-4F6A-94C7-05BD24E34ADA}"/>
              </a:ext>
            </a:extLst>
          </p:cNvPr>
          <p:cNvPicPr>
            <a:picLocks noChangeAspect="1"/>
          </p:cNvPicPr>
          <p:nvPr/>
        </p:nvPicPr>
        <p:blipFill>
          <a:blip r:embed="rId4"/>
          <a:stretch>
            <a:fillRect/>
          </a:stretch>
        </p:blipFill>
        <p:spPr>
          <a:xfrm>
            <a:off x="7480305" y="2806151"/>
            <a:ext cx="3377722" cy="877826"/>
          </a:xfrm>
          <a:prstGeom prst="rect">
            <a:avLst/>
          </a:prstGeom>
        </p:spPr>
      </p:pic>
    </p:spTree>
    <p:extLst>
      <p:ext uri="{BB962C8B-B14F-4D97-AF65-F5344CB8AC3E}">
        <p14:creationId xmlns:p14="http://schemas.microsoft.com/office/powerpoint/2010/main" val="28039935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Estimación doble robusta</a:t>
            </a:r>
          </a:p>
        </p:txBody>
      </p:sp>
      <p:pic>
        <p:nvPicPr>
          <p:cNvPr id="6" name="Imagen 5">
            <a:extLst>
              <a:ext uri="{FF2B5EF4-FFF2-40B4-BE49-F238E27FC236}">
                <a16:creationId xmlns:a16="http://schemas.microsoft.com/office/drawing/2014/main" id="{A38E82A2-A028-4306-AF3D-7777024519BC}"/>
              </a:ext>
            </a:extLst>
          </p:cNvPr>
          <p:cNvPicPr>
            <a:picLocks noChangeAspect="1"/>
          </p:cNvPicPr>
          <p:nvPr/>
        </p:nvPicPr>
        <p:blipFill rotWithShape="1">
          <a:blip r:embed="rId2"/>
          <a:srcRect r="31785" b="87006"/>
          <a:stretch/>
        </p:blipFill>
        <p:spPr>
          <a:xfrm>
            <a:off x="838200" y="1801054"/>
            <a:ext cx="6371492" cy="423065"/>
          </a:xfrm>
          <a:prstGeom prst="rect">
            <a:avLst/>
          </a:prstGeom>
        </p:spPr>
      </p:pic>
      <p:sp>
        <p:nvSpPr>
          <p:cNvPr id="9" name="CuadroTexto 8">
            <a:extLst>
              <a:ext uri="{FF2B5EF4-FFF2-40B4-BE49-F238E27FC236}">
                <a16:creationId xmlns:a16="http://schemas.microsoft.com/office/drawing/2014/main" id="{853D5A26-AEDB-4A40-8BE1-5CAC8CF29B53}"/>
              </a:ext>
            </a:extLst>
          </p:cNvPr>
          <p:cNvSpPr txBox="1"/>
          <p:nvPr/>
        </p:nvSpPr>
        <p:spPr>
          <a:xfrm>
            <a:off x="975214" y="2459559"/>
            <a:ext cx="6097464" cy="1200329"/>
          </a:xfrm>
          <a:prstGeom prst="rect">
            <a:avLst/>
          </a:prstGeom>
          <a:noFill/>
        </p:spPr>
        <p:txBody>
          <a:bodyPr wrap="square">
            <a:spAutoFit/>
          </a:bodyPr>
          <a:lstStyle/>
          <a:p>
            <a:pPr algn="just"/>
            <a:r>
              <a:rPr lang="es-PE" dirty="0"/>
              <a:t>Entrene el modelo de resultados para estimar el resultado potencial de una unidad dada su covariable y la asignación al tratamiento. Aquí pueden utilizarse modelos de regresión típicos, por ejemplo, regresión lineal o redes neuronales.</a:t>
            </a:r>
          </a:p>
        </p:txBody>
      </p:sp>
      <p:pic>
        <p:nvPicPr>
          <p:cNvPr id="11" name="Imagen 10">
            <a:extLst>
              <a:ext uri="{FF2B5EF4-FFF2-40B4-BE49-F238E27FC236}">
                <a16:creationId xmlns:a16="http://schemas.microsoft.com/office/drawing/2014/main" id="{A7AD0FA8-EB00-43C5-B17B-7E23AB2C43B5}"/>
              </a:ext>
            </a:extLst>
          </p:cNvPr>
          <p:cNvPicPr>
            <a:picLocks noChangeAspect="1"/>
          </p:cNvPicPr>
          <p:nvPr/>
        </p:nvPicPr>
        <p:blipFill>
          <a:blip r:embed="rId3"/>
          <a:stretch>
            <a:fillRect/>
          </a:stretch>
        </p:blipFill>
        <p:spPr>
          <a:xfrm>
            <a:off x="7996273" y="2459559"/>
            <a:ext cx="3220513" cy="892170"/>
          </a:xfrm>
          <a:prstGeom prst="rect">
            <a:avLst/>
          </a:prstGeom>
        </p:spPr>
      </p:pic>
    </p:spTree>
    <p:extLst>
      <p:ext uri="{BB962C8B-B14F-4D97-AF65-F5344CB8AC3E}">
        <p14:creationId xmlns:p14="http://schemas.microsoft.com/office/powerpoint/2010/main" val="2832721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Estimación doble robusta</a:t>
            </a:r>
          </a:p>
        </p:txBody>
      </p:sp>
      <p:pic>
        <p:nvPicPr>
          <p:cNvPr id="4" name="Imagen 3">
            <a:extLst>
              <a:ext uri="{FF2B5EF4-FFF2-40B4-BE49-F238E27FC236}">
                <a16:creationId xmlns:a16="http://schemas.microsoft.com/office/drawing/2014/main" id="{02D13910-B041-4100-8A64-7148C063732B}"/>
              </a:ext>
            </a:extLst>
          </p:cNvPr>
          <p:cNvPicPr>
            <a:picLocks noChangeAspect="1"/>
          </p:cNvPicPr>
          <p:nvPr/>
        </p:nvPicPr>
        <p:blipFill>
          <a:blip r:embed="rId2"/>
          <a:stretch>
            <a:fillRect/>
          </a:stretch>
        </p:blipFill>
        <p:spPr>
          <a:xfrm>
            <a:off x="838199" y="1843631"/>
            <a:ext cx="9483969" cy="3748552"/>
          </a:xfrm>
          <a:prstGeom prst="rect">
            <a:avLst/>
          </a:prstGeom>
        </p:spPr>
      </p:pic>
    </p:spTree>
    <p:extLst>
      <p:ext uri="{BB962C8B-B14F-4D97-AF65-F5344CB8AC3E}">
        <p14:creationId xmlns:p14="http://schemas.microsoft.com/office/powerpoint/2010/main" val="28708992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p:txBody>
          <a:bodyPr/>
          <a:lstStyle/>
          <a:p>
            <a:r>
              <a:rPr lang="es-PE" dirty="0"/>
              <a:t>Estimación doble robusta</a:t>
            </a:r>
          </a:p>
        </p:txBody>
      </p:sp>
      <p:pic>
        <p:nvPicPr>
          <p:cNvPr id="5" name="Imagen 4">
            <a:extLst>
              <a:ext uri="{FF2B5EF4-FFF2-40B4-BE49-F238E27FC236}">
                <a16:creationId xmlns:a16="http://schemas.microsoft.com/office/drawing/2014/main" id="{C398B084-EB03-4B5C-AECF-69098EDAB02E}"/>
              </a:ext>
            </a:extLst>
          </p:cNvPr>
          <p:cNvPicPr>
            <a:picLocks noChangeAspect="1"/>
          </p:cNvPicPr>
          <p:nvPr/>
        </p:nvPicPr>
        <p:blipFill>
          <a:blip r:embed="rId2"/>
          <a:stretch>
            <a:fillRect/>
          </a:stretch>
        </p:blipFill>
        <p:spPr>
          <a:xfrm>
            <a:off x="838200" y="1447523"/>
            <a:ext cx="8683869" cy="4848979"/>
          </a:xfrm>
          <a:prstGeom prst="rect">
            <a:avLst/>
          </a:prstGeom>
        </p:spPr>
      </p:pic>
    </p:spTree>
    <p:extLst>
      <p:ext uri="{BB962C8B-B14F-4D97-AF65-F5344CB8AC3E}">
        <p14:creationId xmlns:p14="http://schemas.microsoft.com/office/powerpoint/2010/main" val="36332366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Pin page">
            <a:extLst>
              <a:ext uri="{FF2B5EF4-FFF2-40B4-BE49-F238E27FC236}">
                <a16:creationId xmlns:a16="http://schemas.microsoft.com/office/drawing/2014/main" id="{02D203A2-48BA-4527-927C-9862418802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9928" y="713642"/>
            <a:ext cx="6608518" cy="4952659"/>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99B48A06-131F-46A2-AF70-AA5EA586CE3B}"/>
              </a:ext>
            </a:extLst>
          </p:cNvPr>
          <p:cNvSpPr txBox="1"/>
          <p:nvPr/>
        </p:nvSpPr>
        <p:spPr>
          <a:xfrm>
            <a:off x="4624754" y="4732316"/>
            <a:ext cx="2475765" cy="461665"/>
          </a:xfrm>
          <a:prstGeom prst="rect">
            <a:avLst/>
          </a:prstGeom>
          <a:noFill/>
        </p:spPr>
        <p:txBody>
          <a:bodyPr wrap="square">
            <a:spAutoFit/>
          </a:bodyPr>
          <a:lstStyle/>
          <a:p>
            <a:pPr algn="ctr"/>
            <a:r>
              <a:rPr lang="es-PE" sz="2400" b="1" dirty="0">
                <a:ln>
                  <a:solidFill>
                    <a:sysClr val="windowText" lastClr="000000"/>
                  </a:solidFill>
                </a:ln>
                <a:solidFill>
                  <a:schemeClr val="bg1"/>
                </a:solidFill>
                <a:latin typeface="Bernard MT Condensed" panose="02050806060905020404" pitchFamily="18" charset="0"/>
              </a:rPr>
              <a:t>Confusión</a:t>
            </a:r>
          </a:p>
        </p:txBody>
      </p:sp>
      <p:sp>
        <p:nvSpPr>
          <p:cNvPr id="8" name="CuadroTexto 7">
            <a:extLst>
              <a:ext uri="{FF2B5EF4-FFF2-40B4-BE49-F238E27FC236}">
                <a16:creationId xmlns:a16="http://schemas.microsoft.com/office/drawing/2014/main" id="{5D0ACFF7-BAB0-40A4-94BA-BEB49191C4B3}"/>
              </a:ext>
            </a:extLst>
          </p:cNvPr>
          <p:cNvSpPr txBox="1"/>
          <p:nvPr/>
        </p:nvSpPr>
        <p:spPr>
          <a:xfrm>
            <a:off x="7001612" y="3429000"/>
            <a:ext cx="2475765" cy="830997"/>
          </a:xfrm>
          <a:prstGeom prst="rect">
            <a:avLst/>
          </a:prstGeom>
          <a:noFill/>
        </p:spPr>
        <p:txBody>
          <a:bodyPr wrap="square">
            <a:spAutoFit/>
          </a:bodyPr>
          <a:lstStyle/>
          <a:p>
            <a:pPr algn="ctr"/>
            <a:r>
              <a:rPr lang="es-PE" sz="2400" b="1" dirty="0">
                <a:ln>
                  <a:solidFill>
                    <a:sysClr val="windowText" lastClr="000000"/>
                  </a:solidFill>
                </a:ln>
                <a:solidFill>
                  <a:schemeClr val="bg1"/>
                </a:solidFill>
                <a:latin typeface="Bernard MT Condensed" panose="02050806060905020404" pitchFamily="18" charset="0"/>
              </a:rPr>
              <a:t>Estimación doble robusta</a:t>
            </a:r>
          </a:p>
        </p:txBody>
      </p:sp>
    </p:spTree>
    <p:extLst>
      <p:ext uri="{BB962C8B-B14F-4D97-AF65-F5344CB8AC3E}">
        <p14:creationId xmlns:p14="http://schemas.microsoft.com/office/powerpoint/2010/main" val="35814059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8202560-D7A7-4B8D-A84B-72ECC9ED5999}"/>
              </a:ext>
            </a:extLst>
          </p:cNvPr>
          <p:cNvSpPr>
            <a:spLocks noGrp="1"/>
          </p:cNvSpPr>
          <p:nvPr>
            <p:ph type="title"/>
          </p:nvPr>
        </p:nvSpPr>
        <p:spPr>
          <a:xfrm>
            <a:off x="838200" y="699983"/>
            <a:ext cx="8261838" cy="423064"/>
          </a:xfrm>
        </p:spPr>
        <p:txBody>
          <a:bodyPr/>
          <a:lstStyle/>
          <a:p>
            <a:r>
              <a:rPr lang="es-PE" dirty="0"/>
              <a:t>Estimación doble robusta - TMLE</a:t>
            </a:r>
          </a:p>
        </p:txBody>
      </p:sp>
      <p:pic>
        <p:nvPicPr>
          <p:cNvPr id="7" name="Imagen 6">
            <a:extLst>
              <a:ext uri="{FF2B5EF4-FFF2-40B4-BE49-F238E27FC236}">
                <a16:creationId xmlns:a16="http://schemas.microsoft.com/office/drawing/2014/main" id="{52F947E3-3270-4F9B-807D-1EEF09065073}"/>
              </a:ext>
            </a:extLst>
          </p:cNvPr>
          <p:cNvPicPr>
            <a:picLocks noChangeAspect="1"/>
          </p:cNvPicPr>
          <p:nvPr/>
        </p:nvPicPr>
        <p:blipFill>
          <a:blip r:embed="rId2"/>
          <a:stretch>
            <a:fillRect/>
          </a:stretch>
        </p:blipFill>
        <p:spPr>
          <a:xfrm>
            <a:off x="710850" y="1391649"/>
            <a:ext cx="4258269" cy="1419423"/>
          </a:xfrm>
          <a:prstGeom prst="rect">
            <a:avLst/>
          </a:prstGeom>
        </p:spPr>
      </p:pic>
      <p:sp>
        <p:nvSpPr>
          <p:cNvPr id="9" name="CuadroTexto 8">
            <a:extLst>
              <a:ext uri="{FF2B5EF4-FFF2-40B4-BE49-F238E27FC236}">
                <a16:creationId xmlns:a16="http://schemas.microsoft.com/office/drawing/2014/main" id="{4B38F00D-1C8D-48E2-AFFD-B418A40497D6}"/>
              </a:ext>
            </a:extLst>
          </p:cNvPr>
          <p:cNvSpPr txBox="1"/>
          <p:nvPr/>
        </p:nvSpPr>
        <p:spPr>
          <a:xfrm>
            <a:off x="710850" y="3079674"/>
            <a:ext cx="4415935" cy="738664"/>
          </a:xfrm>
          <a:prstGeom prst="rect">
            <a:avLst/>
          </a:prstGeom>
          <a:noFill/>
        </p:spPr>
        <p:txBody>
          <a:bodyPr wrap="square">
            <a:spAutoFit/>
          </a:bodyPr>
          <a:lstStyle/>
          <a:p>
            <a:pPr algn="just"/>
            <a:r>
              <a:rPr lang="es-ES" sz="1400" b="0" i="0" dirty="0">
                <a:solidFill>
                  <a:srgbClr val="303030"/>
                </a:solidFill>
                <a:effectLst/>
                <a:latin typeface="-apple-system"/>
              </a:rPr>
              <a:t>Aquí usaremos TMLE para estimar la diferencia media en un resultado binario, ajustando por factores de confusión. Bajo supuestos causales, esto es el ATE.</a:t>
            </a:r>
            <a:endParaRPr lang="es-PE" sz="1400" dirty="0"/>
          </a:p>
        </p:txBody>
      </p:sp>
      <p:pic>
        <p:nvPicPr>
          <p:cNvPr id="11" name="Imagen 10">
            <a:extLst>
              <a:ext uri="{FF2B5EF4-FFF2-40B4-BE49-F238E27FC236}">
                <a16:creationId xmlns:a16="http://schemas.microsoft.com/office/drawing/2014/main" id="{3E973221-6FC3-454C-A1DA-A304FF08A931}"/>
              </a:ext>
            </a:extLst>
          </p:cNvPr>
          <p:cNvPicPr>
            <a:picLocks noChangeAspect="1"/>
          </p:cNvPicPr>
          <p:nvPr/>
        </p:nvPicPr>
        <p:blipFill>
          <a:blip r:embed="rId3"/>
          <a:stretch>
            <a:fillRect/>
          </a:stretch>
        </p:blipFill>
        <p:spPr>
          <a:xfrm>
            <a:off x="5484529" y="1484288"/>
            <a:ext cx="5996621" cy="2964620"/>
          </a:xfrm>
          <a:prstGeom prst="rect">
            <a:avLst/>
          </a:prstGeom>
        </p:spPr>
      </p:pic>
    </p:spTree>
    <p:extLst>
      <p:ext uri="{BB962C8B-B14F-4D97-AF65-F5344CB8AC3E}">
        <p14:creationId xmlns:p14="http://schemas.microsoft.com/office/powerpoint/2010/main" val="6007826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8202560-D7A7-4B8D-A84B-72ECC9ED5999}"/>
              </a:ext>
            </a:extLst>
          </p:cNvPr>
          <p:cNvSpPr>
            <a:spLocks noGrp="1"/>
          </p:cNvSpPr>
          <p:nvPr>
            <p:ph type="title"/>
          </p:nvPr>
        </p:nvSpPr>
        <p:spPr>
          <a:xfrm>
            <a:off x="838200" y="699983"/>
            <a:ext cx="8261838" cy="423064"/>
          </a:xfrm>
        </p:spPr>
        <p:txBody>
          <a:bodyPr/>
          <a:lstStyle/>
          <a:p>
            <a:r>
              <a:rPr lang="es-PE" dirty="0"/>
              <a:t>Estimación doble robusta - TMLE</a:t>
            </a:r>
          </a:p>
        </p:txBody>
      </p:sp>
      <p:pic>
        <p:nvPicPr>
          <p:cNvPr id="4" name="Imagen 3">
            <a:extLst>
              <a:ext uri="{FF2B5EF4-FFF2-40B4-BE49-F238E27FC236}">
                <a16:creationId xmlns:a16="http://schemas.microsoft.com/office/drawing/2014/main" id="{483F1DEB-20D6-4272-BADF-5878E83D40CE}"/>
              </a:ext>
            </a:extLst>
          </p:cNvPr>
          <p:cNvPicPr>
            <a:picLocks noChangeAspect="1"/>
          </p:cNvPicPr>
          <p:nvPr/>
        </p:nvPicPr>
        <p:blipFill>
          <a:blip r:embed="rId2"/>
          <a:stretch>
            <a:fillRect/>
          </a:stretch>
        </p:blipFill>
        <p:spPr>
          <a:xfrm>
            <a:off x="838200" y="2530198"/>
            <a:ext cx="4258269" cy="2219635"/>
          </a:xfrm>
          <a:prstGeom prst="rect">
            <a:avLst/>
          </a:prstGeom>
        </p:spPr>
      </p:pic>
      <p:pic>
        <p:nvPicPr>
          <p:cNvPr id="6" name="Imagen 5">
            <a:extLst>
              <a:ext uri="{FF2B5EF4-FFF2-40B4-BE49-F238E27FC236}">
                <a16:creationId xmlns:a16="http://schemas.microsoft.com/office/drawing/2014/main" id="{628AEE53-06AE-4A2B-A1A1-F6C074C7DF8B}"/>
              </a:ext>
            </a:extLst>
          </p:cNvPr>
          <p:cNvPicPr>
            <a:picLocks noChangeAspect="1"/>
          </p:cNvPicPr>
          <p:nvPr/>
        </p:nvPicPr>
        <p:blipFill>
          <a:blip r:embed="rId3"/>
          <a:stretch>
            <a:fillRect/>
          </a:stretch>
        </p:blipFill>
        <p:spPr>
          <a:xfrm>
            <a:off x="5668184" y="1347823"/>
            <a:ext cx="4143953" cy="4725059"/>
          </a:xfrm>
          <a:prstGeom prst="rect">
            <a:avLst/>
          </a:prstGeom>
        </p:spPr>
      </p:pic>
      <p:pic>
        <p:nvPicPr>
          <p:cNvPr id="8" name="Imagen 7">
            <a:extLst>
              <a:ext uri="{FF2B5EF4-FFF2-40B4-BE49-F238E27FC236}">
                <a16:creationId xmlns:a16="http://schemas.microsoft.com/office/drawing/2014/main" id="{36237770-BAFE-4AF5-8E4C-0657FDCDAF44}"/>
              </a:ext>
            </a:extLst>
          </p:cNvPr>
          <p:cNvPicPr>
            <a:picLocks noChangeAspect="1"/>
          </p:cNvPicPr>
          <p:nvPr/>
        </p:nvPicPr>
        <p:blipFill rotWithShape="1">
          <a:blip r:embed="rId4"/>
          <a:srcRect l="-1" r="267" b="18684"/>
          <a:stretch/>
        </p:blipFill>
        <p:spPr>
          <a:xfrm>
            <a:off x="1818138" y="1285158"/>
            <a:ext cx="2525262" cy="1017894"/>
          </a:xfrm>
          <a:prstGeom prst="rect">
            <a:avLst/>
          </a:prstGeom>
        </p:spPr>
      </p:pic>
    </p:spTree>
    <p:extLst>
      <p:ext uri="{BB962C8B-B14F-4D97-AF65-F5344CB8AC3E}">
        <p14:creationId xmlns:p14="http://schemas.microsoft.com/office/powerpoint/2010/main" val="26507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8202560-D7A7-4B8D-A84B-72ECC9ED5999}"/>
              </a:ext>
            </a:extLst>
          </p:cNvPr>
          <p:cNvSpPr>
            <a:spLocks noGrp="1"/>
          </p:cNvSpPr>
          <p:nvPr>
            <p:ph type="title"/>
          </p:nvPr>
        </p:nvSpPr>
        <p:spPr>
          <a:xfrm>
            <a:off x="838200" y="699983"/>
            <a:ext cx="8261838" cy="423064"/>
          </a:xfrm>
        </p:spPr>
        <p:txBody>
          <a:bodyPr/>
          <a:lstStyle/>
          <a:p>
            <a:r>
              <a:rPr lang="es-PE" dirty="0"/>
              <a:t>Estimación doble robusta - TMLE</a:t>
            </a:r>
          </a:p>
        </p:txBody>
      </p:sp>
      <p:pic>
        <p:nvPicPr>
          <p:cNvPr id="4" name="Imagen 3">
            <a:extLst>
              <a:ext uri="{FF2B5EF4-FFF2-40B4-BE49-F238E27FC236}">
                <a16:creationId xmlns:a16="http://schemas.microsoft.com/office/drawing/2014/main" id="{F2661CCA-7D2E-4AA4-A313-0AAEE170A51E}"/>
              </a:ext>
            </a:extLst>
          </p:cNvPr>
          <p:cNvPicPr>
            <a:picLocks noChangeAspect="1"/>
          </p:cNvPicPr>
          <p:nvPr/>
        </p:nvPicPr>
        <p:blipFill>
          <a:blip r:embed="rId2"/>
          <a:stretch>
            <a:fillRect/>
          </a:stretch>
        </p:blipFill>
        <p:spPr>
          <a:xfrm>
            <a:off x="556846" y="2576393"/>
            <a:ext cx="5449060" cy="1705213"/>
          </a:xfrm>
          <a:prstGeom prst="rect">
            <a:avLst/>
          </a:prstGeom>
        </p:spPr>
      </p:pic>
      <p:pic>
        <p:nvPicPr>
          <p:cNvPr id="6" name="Imagen 5">
            <a:extLst>
              <a:ext uri="{FF2B5EF4-FFF2-40B4-BE49-F238E27FC236}">
                <a16:creationId xmlns:a16="http://schemas.microsoft.com/office/drawing/2014/main" id="{A3726714-C56E-4042-B9FA-B40D2164D4A5}"/>
              </a:ext>
            </a:extLst>
          </p:cNvPr>
          <p:cNvPicPr>
            <a:picLocks noChangeAspect="1"/>
          </p:cNvPicPr>
          <p:nvPr/>
        </p:nvPicPr>
        <p:blipFill>
          <a:blip r:embed="rId3"/>
          <a:stretch>
            <a:fillRect/>
          </a:stretch>
        </p:blipFill>
        <p:spPr>
          <a:xfrm>
            <a:off x="6342165" y="1458485"/>
            <a:ext cx="5515745" cy="4363059"/>
          </a:xfrm>
          <a:prstGeom prst="rect">
            <a:avLst/>
          </a:prstGeom>
        </p:spPr>
      </p:pic>
      <p:pic>
        <p:nvPicPr>
          <p:cNvPr id="7" name="Imagen 6">
            <a:extLst>
              <a:ext uri="{FF2B5EF4-FFF2-40B4-BE49-F238E27FC236}">
                <a16:creationId xmlns:a16="http://schemas.microsoft.com/office/drawing/2014/main" id="{B5A7A77B-CCEF-4A8D-BC1B-DEB5A9EF6EEE}"/>
              </a:ext>
            </a:extLst>
          </p:cNvPr>
          <p:cNvPicPr>
            <a:picLocks noChangeAspect="1"/>
          </p:cNvPicPr>
          <p:nvPr/>
        </p:nvPicPr>
        <p:blipFill rotWithShape="1">
          <a:blip r:embed="rId4"/>
          <a:srcRect l="-1" r="267" b="18684"/>
          <a:stretch/>
        </p:blipFill>
        <p:spPr>
          <a:xfrm>
            <a:off x="1818138" y="1285158"/>
            <a:ext cx="2525262" cy="1017894"/>
          </a:xfrm>
          <a:prstGeom prst="rect">
            <a:avLst/>
          </a:prstGeom>
        </p:spPr>
      </p:pic>
    </p:spTree>
    <p:extLst>
      <p:ext uri="{BB962C8B-B14F-4D97-AF65-F5344CB8AC3E}">
        <p14:creationId xmlns:p14="http://schemas.microsoft.com/office/powerpoint/2010/main" val="1498373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8202560-D7A7-4B8D-A84B-72ECC9ED5999}"/>
              </a:ext>
            </a:extLst>
          </p:cNvPr>
          <p:cNvSpPr>
            <a:spLocks noGrp="1"/>
          </p:cNvSpPr>
          <p:nvPr>
            <p:ph type="title"/>
          </p:nvPr>
        </p:nvSpPr>
        <p:spPr>
          <a:xfrm>
            <a:off x="838200" y="488968"/>
            <a:ext cx="8261838" cy="423064"/>
          </a:xfrm>
        </p:spPr>
        <p:txBody>
          <a:bodyPr/>
          <a:lstStyle/>
          <a:p>
            <a:r>
              <a:rPr lang="es-PE" dirty="0"/>
              <a:t>Estimación doble robusta - TMLE</a:t>
            </a:r>
          </a:p>
        </p:txBody>
      </p:sp>
      <p:pic>
        <p:nvPicPr>
          <p:cNvPr id="4" name="Imagen 3">
            <a:extLst>
              <a:ext uri="{FF2B5EF4-FFF2-40B4-BE49-F238E27FC236}">
                <a16:creationId xmlns:a16="http://schemas.microsoft.com/office/drawing/2014/main" id="{D23E7B66-2382-4FB7-AD0B-8C25059C8C16}"/>
              </a:ext>
            </a:extLst>
          </p:cNvPr>
          <p:cNvPicPr>
            <a:picLocks noChangeAspect="1"/>
          </p:cNvPicPr>
          <p:nvPr/>
        </p:nvPicPr>
        <p:blipFill rotWithShape="1">
          <a:blip r:embed="rId2"/>
          <a:srcRect l="-1" r="267" b="18684"/>
          <a:stretch/>
        </p:blipFill>
        <p:spPr>
          <a:xfrm>
            <a:off x="1818138" y="1074143"/>
            <a:ext cx="2525262" cy="1017894"/>
          </a:xfrm>
          <a:prstGeom prst="rect">
            <a:avLst/>
          </a:prstGeom>
        </p:spPr>
      </p:pic>
      <p:pic>
        <p:nvPicPr>
          <p:cNvPr id="5" name="Imagen 4">
            <a:extLst>
              <a:ext uri="{FF2B5EF4-FFF2-40B4-BE49-F238E27FC236}">
                <a16:creationId xmlns:a16="http://schemas.microsoft.com/office/drawing/2014/main" id="{EDBB20A9-E31A-4540-B4F0-FC3728AD9B39}"/>
              </a:ext>
            </a:extLst>
          </p:cNvPr>
          <p:cNvPicPr>
            <a:picLocks noChangeAspect="1"/>
          </p:cNvPicPr>
          <p:nvPr/>
        </p:nvPicPr>
        <p:blipFill rotWithShape="1">
          <a:blip r:embed="rId3"/>
          <a:srcRect b="93717"/>
          <a:stretch/>
        </p:blipFill>
        <p:spPr>
          <a:xfrm>
            <a:off x="4475641" y="1074143"/>
            <a:ext cx="4624397" cy="332627"/>
          </a:xfrm>
          <a:prstGeom prst="rect">
            <a:avLst/>
          </a:prstGeom>
        </p:spPr>
      </p:pic>
      <p:pic>
        <p:nvPicPr>
          <p:cNvPr id="6" name="Imagen 5">
            <a:extLst>
              <a:ext uri="{FF2B5EF4-FFF2-40B4-BE49-F238E27FC236}">
                <a16:creationId xmlns:a16="http://schemas.microsoft.com/office/drawing/2014/main" id="{3F5DBAF3-236E-41D7-B3B5-BDCA670825F8}"/>
              </a:ext>
            </a:extLst>
          </p:cNvPr>
          <p:cNvPicPr>
            <a:picLocks noChangeAspect="1"/>
          </p:cNvPicPr>
          <p:nvPr/>
        </p:nvPicPr>
        <p:blipFill rotWithShape="1">
          <a:blip r:embed="rId3"/>
          <a:srcRect t="37614" b="57570"/>
          <a:stretch/>
        </p:blipFill>
        <p:spPr>
          <a:xfrm>
            <a:off x="4369400" y="3217985"/>
            <a:ext cx="4624397" cy="254977"/>
          </a:xfrm>
          <a:prstGeom prst="rect">
            <a:avLst/>
          </a:prstGeom>
        </p:spPr>
      </p:pic>
      <p:pic>
        <p:nvPicPr>
          <p:cNvPr id="7" name="Imagen 6">
            <a:extLst>
              <a:ext uri="{FF2B5EF4-FFF2-40B4-BE49-F238E27FC236}">
                <a16:creationId xmlns:a16="http://schemas.microsoft.com/office/drawing/2014/main" id="{C406B763-DA50-49DB-B0FD-CBEF48EC461C}"/>
              </a:ext>
            </a:extLst>
          </p:cNvPr>
          <p:cNvPicPr>
            <a:picLocks noChangeAspect="1"/>
          </p:cNvPicPr>
          <p:nvPr/>
        </p:nvPicPr>
        <p:blipFill rotWithShape="1">
          <a:blip r:embed="rId3"/>
          <a:srcRect t="58816" b="29393"/>
          <a:stretch/>
        </p:blipFill>
        <p:spPr>
          <a:xfrm>
            <a:off x="4780441" y="4492870"/>
            <a:ext cx="4624397" cy="624254"/>
          </a:xfrm>
          <a:prstGeom prst="rect">
            <a:avLst/>
          </a:prstGeom>
        </p:spPr>
      </p:pic>
      <p:pic>
        <p:nvPicPr>
          <p:cNvPr id="8" name="Imagen 7">
            <a:extLst>
              <a:ext uri="{FF2B5EF4-FFF2-40B4-BE49-F238E27FC236}">
                <a16:creationId xmlns:a16="http://schemas.microsoft.com/office/drawing/2014/main" id="{8AC5A665-F398-4EC5-A7FF-E91770F45720}"/>
              </a:ext>
            </a:extLst>
          </p:cNvPr>
          <p:cNvPicPr>
            <a:picLocks noChangeAspect="1"/>
          </p:cNvPicPr>
          <p:nvPr/>
        </p:nvPicPr>
        <p:blipFill rotWithShape="1">
          <a:blip r:embed="rId3"/>
          <a:srcRect t="75368" b="18155"/>
          <a:stretch/>
        </p:blipFill>
        <p:spPr>
          <a:xfrm>
            <a:off x="4932841" y="5521570"/>
            <a:ext cx="4624397" cy="342900"/>
          </a:xfrm>
          <a:prstGeom prst="rect">
            <a:avLst/>
          </a:prstGeom>
        </p:spPr>
      </p:pic>
      <p:sp>
        <p:nvSpPr>
          <p:cNvPr id="10" name="CuadroTexto 9">
            <a:extLst>
              <a:ext uri="{FF2B5EF4-FFF2-40B4-BE49-F238E27FC236}">
                <a16:creationId xmlns:a16="http://schemas.microsoft.com/office/drawing/2014/main" id="{F9FECFB2-5C8A-4B96-BC12-86B101548D1C}"/>
              </a:ext>
            </a:extLst>
          </p:cNvPr>
          <p:cNvSpPr txBox="1"/>
          <p:nvPr/>
        </p:nvSpPr>
        <p:spPr>
          <a:xfrm>
            <a:off x="4628040" y="1536027"/>
            <a:ext cx="4471997" cy="1569660"/>
          </a:xfrm>
          <a:prstGeom prst="rect">
            <a:avLst/>
          </a:prstGeom>
          <a:noFill/>
        </p:spPr>
        <p:txBody>
          <a:bodyPr wrap="square">
            <a:spAutoFit/>
          </a:bodyPr>
          <a:lstStyle/>
          <a:p>
            <a:pPr algn="just"/>
            <a:r>
              <a:rPr lang="es-ES" sz="1200" b="0" i="0" dirty="0">
                <a:solidFill>
                  <a:srgbClr val="303030"/>
                </a:solidFill>
                <a:effectLst/>
                <a:latin typeface="-apple-system"/>
              </a:rPr>
              <a:t>El ajuste de regresión del Paso 1 es óptimo para estimar el resultado esperado (dado el tratamiento y los factores de confusión), pero no para estimar el ATE. Necesitamos usar información sobre el mecanismo de tratamiento en el Paso 2 para optimizar el equilibrio sesgo-varianza para nuestra estimación del ATE, de modo que podamos obtener una inferencia válida. Haremos esto resolviendo una ecuación para determinar cuánto actualizar, o fluctuar, nuestras estimaciones iniciales del resultado.</a:t>
            </a:r>
            <a:endParaRPr lang="es-PE" sz="1200" dirty="0"/>
          </a:p>
        </p:txBody>
      </p:sp>
      <p:sp>
        <p:nvSpPr>
          <p:cNvPr id="12" name="CuadroTexto 11">
            <a:extLst>
              <a:ext uri="{FF2B5EF4-FFF2-40B4-BE49-F238E27FC236}">
                <a16:creationId xmlns:a16="http://schemas.microsoft.com/office/drawing/2014/main" id="{6DFB90CE-C9CE-48BA-AED9-F1E3B0D58FF0}"/>
              </a:ext>
            </a:extLst>
          </p:cNvPr>
          <p:cNvSpPr txBox="1"/>
          <p:nvPr/>
        </p:nvSpPr>
        <p:spPr>
          <a:xfrm>
            <a:off x="4628042" y="3578783"/>
            <a:ext cx="4471996" cy="2492990"/>
          </a:xfrm>
          <a:prstGeom prst="rect">
            <a:avLst/>
          </a:prstGeom>
          <a:noFill/>
        </p:spPr>
        <p:txBody>
          <a:bodyPr wrap="square">
            <a:spAutoFit/>
          </a:bodyPr>
          <a:lstStyle/>
          <a:p>
            <a:pPr algn="just"/>
            <a:r>
              <a:rPr lang="es-ES" sz="1200" b="0" i="0" dirty="0">
                <a:solidFill>
                  <a:srgbClr val="303030"/>
                </a:solidFill>
                <a:effectLst/>
                <a:latin typeface="-apple-system"/>
              </a:rPr>
              <a:t>Para resolver esta ecuación, ajuste una regresión logística usando la covariable inteligente como único predictor del resultado observado, y el resultado inicialmente predicho bajo el tratamiento observado como un intercepto fijo. </a:t>
            </a:r>
          </a:p>
          <a:p>
            <a:pPr algn="just"/>
            <a:endParaRPr lang="es-ES" sz="1200" dirty="0">
              <a:solidFill>
                <a:srgbClr val="303030"/>
              </a:solidFill>
              <a:latin typeface="-apple-system"/>
            </a:endParaRPr>
          </a:p>
          <a:p>
            <a:pPr algn="just"/>
            <a:endParaRPr lang="es-ES" sz="1200" b="0" i="0" dirty="0">
              <a:solidFill>
                <a:srgbClr val="303030"/>
              </a:solidFill>
              <a:effectLst/>
              <a:latin typeface="-apple-system"/>
            </a:endParaRPr>
          </a:p>
          <a:p>
            <a:pPr algn="just"/>
            <a:endParaRPr lang="es-ES" sz="1200" dirty="0">
              <a:solidFill>
                <a:srgbClr val="303030"/>
              </a:solidFill>
              <a:latin typeface="-apple-system"/>
            </a:endParaRPr>
          </a:p>
          <a:p>
            <a:pPr algn="just"/>
            <a:endParaRPr lang="es-ES" sz="1200" b="0" i="0" dirty="0">
              <a:solidFill>
                <a:srgbClr val="303030"/>
              </a:solidFill>
              <a:effectLst/>
              <a:latin typeface="-apple-system"/>
            </a:endParaRPr>
          </a:p>
          <a:p>
            <a:pPr algn="just"/>
            <a:endParaRPr lang="es-ES" sz="1200" dirty="0">
              <a:solidFill>
                <a:srgbClr val="303030"/>
              </a:solidFill>
              <a:latin typeface="-apple-system"/>
            </a:endParaRPr>
          </a:p>
          <a:p>
            <a:pPr algn="just"/>
            <a:r>
              <a:rPr lang="es-ES" sz="1200" b="0" i="0" dirty="0">
                <a:solidFill>
                  <a:srgbClr val="303030"/>
                </a:solidFill>
                <a:effectLst/>
                <a:latin typeface="-apple-system"/>
              </a:rPr>
              <a:t>El único coeficiente de la regresión es el parámetro de fluctuación:</a:t>
            </a:r>
          </a:p>
          <a:p>
            <a:pPr algn="just"/>
            <a:endParaRPr lang="es-ES" sz="1200" b="0" i="0" dirty="0">
              <a:solidFill>
                <a:srgbClr val="303030"/>
              </a:solidFill>
              <a:effectLst/>
              <a:latin typeface="-apple-system"/>
            </a:endParaRPr>
          </a:p>
          <a:p>
            <a:pPr algn="just"/>
            <a:br>
              <a:rPr lang="es-ES" sz="1200" dirty="0"/>
            </a:br>
            <a:endParaRPr lang="es-PE" sz="1200" dirty="0"/>
          </a:p>
        </p:txBody>
      </p:sp>
      <p:sp>
        <p:nvSpPr>
          <p:cNvPr id="14" name="CuadroTexto 13">
            <a:extLst>
              <a:ext uri="{FF2B5EF4-FFF2-40B4-BE49-F238E27FC236}">
                <a16:creationId xmlns:a16="http://schemas.microsoft.com/office/drawing/2014/main" id="{E77AEC0A-D5B8-4A7B-8BDE-DDBBBAB38F97}"/>
              </a:ext>
            </a:extLst>
          </p:cNvPr>
          <p:cNvSpPr txBox="1"/>
          <p:nvPr/>
        </p:nvSpPr>
        <p:spPr>
          <a:xfrm>
            <a:off x="4607881" y="5855695"/>
            <a:ext cx="4492156" cy="1323439"/>
          </a:xfrm>
          <a:prstGeom prst="rect">
            <a:avLst/>
          </a:prstGeom>
          <a:noFill/>
        </p:spPr>
        <p:txBody>
          <a:bodyPr wrap="square">
            <a:spAutoFit/>
          </a:bodyPr>
          <a:lstStyle/>
          <a:p>
            <a:pPr algn="just"/>
            <a:r>
              <a:rPr lang="es-ES" sz="1000" b="0" i="0" dirty="0">
                <a:solidFill>
                  <a:srgbClr val="000000"/>
                </a:solidFill>
                <a:effectLst/>
                <a:latin typeface="-apple-system"/>
              </a:rPr>
              <a:t>Ajustar la regresión logística resuelve una "ecuación de estimación de influencia eficiente" que produce muchas propiedades estadísticas útiles de TMLE, como: 1) siempre que </a:t>
            </a:r>
            <a:r>
              <a:rPr lang="es-ES" sz="1000" b="0" i="0" dirty="0" err="1">
                <a:solidFill>
                  <a:srgbClr val="000000"/>
                </a:solidFill>
                <a:effectLst/>
                <a:latin typeface="-apple-system"/>
              </a:rPr>
              <a:t>outcome_fit</a:t>
            </a:r>
            <a:r>
              <a:rPr lang="es-ES" sz="1000" b="0" i="0" dirty="0">
                <a:solidFill>
                  <a:srgbClr val="000000"/>
                </a:solidFill>
                <a:effectLst/>
                <a:latin typeface="-apple-system"/>
              </a:rPr>
              <a:t> o </a:t>
            </a:r>
            <a:r>
              <a:rPr lang="es-ES" sz="1000" b="0" i="0" dirty="0" err="1">
                <a:solidFill>
                  <a:srgbClr val="000000"/>
                </a:solidFill>
                <a:effectLst/>
                <a:latin typeface="-apple-system"/>
              </a:rPr>
              <a:t>treatment_fit</a:t>
            </a:r>
            <a:r>
              <a:rPr lang="es-ES" sz="1000" b="0" i="0" dirty="0">
                <a:solidFill>
                  <a:srgbClr val="000000"/>
                </a:solidFill>
                <a:effectLst/>
                <a:latin typeface="-apple-system"/>
              </a:rPr>
              <a:t> se estimen correctamente (consistentemente), la estimación final es consistente; 2) si ambos se estiman consistentemente, la estimación final logra su varianza más pequeña posible a medida que el tamaño de la muestra se acerca al infinito (eficiencia)."</a:t>
            </a:r>
          </a:p>
          <a:p>
            <a:br>
              <a:rPr lang="es-ES" sz="1000" b="0" i="0" dirty="0">
                <a:solidFill>
                  <a:srgbClr val="000000"/>
                </a:solidFill>
                <a:effectLst/>
                <a:latin typeface="InterVariable"/>
              </a:rPr>
            </a:br>
            <a:endParaRPr lang="es-PE" sz="1000" dirty="0"/>
          </a:p>
        </p:txBody>
      </p:sp>
    </p:spTree>
    <p:extLst>
      <p:ext uri="{BB962C8B-B14F-4D97-AF65-F5344CB8AC3E}">
        <p14:creationId xmlns:p14="http://schemas.microsoft.com/office/powerpoint/2010/main" val="99990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8202560-D7A7-4B8D-A84B-72ECC9ED5999}"/>
              </a:ext>
            </a:extLst>
          </p:cNvPr>
          <p:cNvSpPr>
            <a:spLocks noGrp="1"/>
          </p:cNvSpPr>
          <p:nvPr>
            <p:ph type="title"/>
          </p:nvPr>
        </p:nvSpPr>
        <p:spPr>
          <a:xfrm>
            <a:off x="838200" y="699983"/>
            <a:ext cx="8261838" cy="423064"/>
          </a:xfrm>
        </p:spPr>
        <p:txBody>
          <a:bodyPr/>
          <a:lstStyle/>
          <a:p>
            <a:r>
              <a:rPr lang="es-PE" dirty="0"/>
              <a:t>Estimación doble robusta - TMLE</a:t>
            </a:r>
          </a:p>
        </p:txBody>
      </p:sp>
      <p:pic>
        <p:nvPicPr>
          <p:cNvPr id="4" name="Imagen 3">
            <a:extLst>
              <a:ext uri="{FF2B5EF4-FFF2-40B4-BE49-F238E27FC236}">
                <a16:creationId xmlns:a16="http://schemas.microsoft.com/office/drawing/2014/main" id="{CE89FA53-8BA4-4729-BD8F-ABCB5F2F1D2C}"/>
              </a:ext>
            </a:extLst>
          </p:cNvPr>
          <p:cNvPicPr>
            <a:picLocks noChangeAspect="1"/>
          </p:cNvPicPr>
          <p:nvPr/>
        </p:nvPicPr>
        <p:blipFill>
          <a:blip r:embed="rId2"/>
          <a:stretch>
            <a:fillRect/>
          </a:stretch>
        </p:blipFill>
        <p:spPr>
          <a:xfrm>
            <a:off x="3168161" y="1375800"/>
            <a:ext cx="5487166" cy="4782217"/>
          </a:xfrm>
          <a:prstGeom prst="rect">
            <a:avLst/>
          </a:prstGeom>
        </p:spPr>
      </p:pic>
    </p:spTree>
    <p:extLst>
      <p:ext uri="{BB962C8B-B14F-4D97-AF65-F5344CB8AC3E}">
        <p14:creationId xmlns:p14="http://schemas.microsoft.com/office/powerpoint/2010/main" val="55354671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8202560-D7A7-4B8D-A84B-72ECC9ED5999}"/>
              </a:ext>
            </a:extLst>
          </p:cNvPr>
          <p:cNvSpPr>
            <a:spLocks noGrp="1"/>
          </p:cNvSpPr>
          <p:nvPr>
            <p:ph type="title"/>
          </p:nvPr>
        </p:nvSpPr>
        <p:spPr>
          <a:xfrm>
            <a:off x="838200" y="699983"/>
            <a:ext cx="8261838" cy="423064"/>
          </a:xfrm>
        </p:spPr>
        <p:txBody>
          <a:bodyPr/>
          <a:lstStyle/>
          <a:p>
            <a:r>
              <a:rPr lang="es-PE" dirty="0"/>
              <a:t>Estimación doble robusta - TMLE</a:t>
            </a:r>
          </a:p>
        </p:txBody>
      </p:sp>
      <p:pic>
        <p:nvPicPr>
          <p:cNvPr id="4" name="Imagen 3">
            <a:extLst>
              <a:ext uri="{FF2B5EF4-FFF2-40B4-BE49-F238E27FC236}">
                <a16:creationId xmlns:a16="http://schemas.microsoft.com/office/drawing/2014/main" id="{CC592C36-D81A-4B3A-AF4C-2E77FC9C1D38}"/>
              </a:ext>
            </a:extLst>
          </p:cNvPr>
          <p:cNvPicPr>
            <a:picLocks noChangeAspect="1"/>
          </p:cNvPicPr>
          <p:nvPr/>
        </p:nvPicPr>
        <p:blipFill>
          <a:blip r:embed="rId2"/>
          <a:stretch>
            <a:fillRect/>
          </a:stretch>
        </p:blipFill>
        <p:spPr>
          <a:xfrm>
            <a:off x="3342891" y="1418944"/>
            <a:ext cx="5506218" cy="4020111"/>
          </a:xfrm>
          <a:prstGeom prst="rect">
            <a:avLst/>
          </a:prstGeom>
        </p:spPr>
      </p:pic>
    </p:spTree>
    <p:extLst>
      <p:ext uri="{BB962C8B-B14F-4D97-AF65-F5344CB8AC3E}">
        <p14:creationId xmlns:p14="http://schemas.microsoft.com/office/powerpoint/2010/main" val="16464049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F8202560-D7A7-4B8D-A84B-72ECC9ED5999}"/>
              </a:ext>
            </a:extLst>
          </p:cNvPr>
          <p:cNvSpPr>
            <a:spLocks noGrp="1"/>
          </p:cNvSpPr>
          <p:nvPr>
            <p:ph type="title"/>
          </p:nvPr>
        </p:nvSpPr>
        <p:spPr>
          <a:xfrm>
            <a:off x="838200" y="699983"/>
            <a:ext cx="8261838" cy="423064"/>
          </a:xfrm>
        </p:spPr>
        <p:txBody>
          <a:bodyPr/>
          <a:lstStyle/>
          <a:p>
            <a:r>
              <a:rPr lang="es-PE" dirty="0"/>
              <a:t>Estimación doble robusta - TMLE</a:t>
            </a:r>
          </a:p>
        </p:txBody>
      </p:sp>
      <p:pic>
        <p:nvPicPr>
          <p:cNvPr id="4" name="Imagen 3">
            <a:extLst>
              <a:ext uri="{FF2B5EF4-FFF2-40B4-BE49-F238E27FC236}">
                <a16:creationId xmlns:a16="http://schemas.microsoft.com/office/drawing/2014/main" id="{0908935F-330C-43F6-B5E1-D0BF8A79FC57}"/>
              </a:ext>
            </a:extLst>
          </p:cNvPr>
          <p:cNvPicPr>
            <a:picLocks noChangeAspect="1"/>
          </p:cNvPicPr>
          <p:nvPr/>
        </p:nvPicPr>
        <p:blipFill>
          <a:blip r:embed="rId2"/>
          <a:stretch>
            <a:fillRect/>
          </a:stretch>
        </p:blipFill>
        <p:spPr>
          <a:xfrm>
            <a:off x="3014649" y="1606191"/>
            <a:ext cx="6085389" cy="3790023"/>
          </a:xfrm>
          <a:prstGeom prst="rect">
            <a:avLst/>
          </a:prstGeom>
        </p:spPr>
      </p:pic>
    </p:spTree>
    <p:extLst>
      <p:ext uri="{BB962C8B-B14F-4D97-AF65-F5344CB8AC3E}">
        <p14:creationId xmlns:p14="http://schemas.microsoft.com/office/powerpoint/2010/main" val="42446167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838200" y="699983"/>
            <a:ext cx="8859715" cy="423064"/>
          </a:xfrm>
        </p:spPr>
        <p:txBody>
          <a:bodyPr/>
          <a:lstStyle/>
          <a:p>
            <a:r>
              <a:rPr lang="es-PE" dirty="0"/>
              <a:t>¿Qué es Causal </a:t>
            </a:r>
            <a:r>
              <a:rPr lang="es-PE" dirty="0" err="1"/>
              <a:t>Maching</a:t>
            </a:r>
            <a:r>
              <a:rPr lang="es-PE" dirty="0"/>
              <a:t> </a:t>
            </a:r>
            <a:r>
              <a:rPr lang="es-PE" dirty="0" err="1"/>
              <a:t>learning</a:t>
            </a:r>
            <a:r>
              <a:rPr lang="es-PE" dirty="0"/>
              <a:t>?</a:t>
            </a:r>
          </a:p>
        </p:txBody>
      </p:sp>
      <p:pic>
        <p:nvPicPr>
          <p:cNvPr id="4098" name="Picture 2">
            <a:extLst>
              <a:ext uri="{FF2B5EF4-FFF2-40B4-BE49-F238E27FC236}">
                <a16:creationId xmlns:a16="http://schemas.microsoft.com/office/drawing/2014/main" id="{C2EF2694-79EF-4A7A-A4C3-A3AEDB85E2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7146" y="1363541"/>
            <a:ext cx="6667500" cy="386715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F405C4FC-6AF5-401F-BD8B-07A489F0DFE5}"/>
              </a:ext>
            </a:extLst>
          </p:cNvPr>
          <p:cNvSpPr txBox="1"/>
          <p:nvPr/>
        </p:nvSpPr>
        <p:spPr>
          <a:xfrm>
            <a:off x="4136780" y="4861359"/>
            <a:ext cx="4308231" cy="738664"/>
          </a:xfrm>
          <a:prstGeom prst="rect">
            <a:avLst/>
          </a:prstGeom>
          <a:noFill/>
        </p:spPr>
        <p:txBody>
          <a:bodyPr wrap="square">
            <a:spAutoFit/>
          </a:bodyPr>
          <a:lstStyle/>
          <a:p>
            <a:pPr algn="just"/>
            <a:r>
              <a:rPr lang="es-ES" sz="1400" b="0" i="0" dirty="0">
                <a:solidFill>
                  <a:srgbClr val="303030"/>
                </a:solidFill>
                <a:effectLst/>
                <a:latin typeface="-apple-system"/>
              </a:rPr>
              <a:t>Ahora somos </a:t>
            </a:r>
            <a:r>
              <a:rPr lang="es-ES" sz="1400" b="0" i="0" dirty="0" err="1">
                <a:solidFill>
                  <a:srgbClr val="303030"/>
                </a:solidFill>
                <a:effectLst/>
                <a:latin typeface="-apple-system"/>
              </a:rPr>
              <a:t>concientes</a:t>
            </a:r>
            <a:r>
              <a:rPr lang="es-ES" sz="1400" b="0" i="0" dirty="0">
                <a:solidFill>
                  <a:srgbClr val="303030"/>
                </a:solidFill>
                <a:effectLst/>
                <a:latin typeface="-apple-system"/>
              </a:rPr>
              <a:t> de la existencia de métodos para inferencia causal… antes de ver causal </a:t>
            </a:r>
            <a:r>
              <a:rPr lang="es-ES" sz="1400" b="0" i="0" dirty="0" err="1">
                <a:solidFill>
                  <a:srgbClr val="303030"/>
                </a:solidFill>
                <a:effectLst/>
                <a:latin typeface="-apple-system"/>
              </a:rPr>
              <a:t>maching</a:t>
            </a:r>
            <a:r>
              <a:rPr lang="es-ES" sz="1400" b="0" i="0" dirty="0">
                <a:solidFill>
                  <a:srgbClr val="303030"/>
                </a:solidFill>
                <a:effectLst/>
                <a:latin typeface="-apple-system"/>
              </a:rPr>
              <a:t> </a:t>
            </a:r>
            <a:r>
              <a:rPr lang="es-ES" sz="1400" b="0" i="0" dirty="0" err="1">
                <a:solidFill>
                  <a:srgbClr val="303030"/>
                </a:solidFill>
                <a:effectLst/>
                <a:latin typeface="-apple-system"/>
              </a:rPr>
              <a:t>learning</a:t>
            </a:r>
            <a:r>
              <a:rPr lang="es-ES" sz="1400" b="0" i="0" dirty="0">
                <a:solidFill>
                  <a:srgbClr val="303030"/>
                </a:solidFill>
                <a:effectLst/>
                <a:latin typeface="-apple-system"/>
              </a:rPr>
              <a:t>, necesitamos saber que es </a:t>
            </a:r>
            <a:r>
              <a:rPr lang="es-ES" sz="1400" b="0" i="0" dirty="0" err="1">
                <a:solidFill>
                  <a:srgbClr val="303030"/>
                </a:solidFill>
                <a:effectLst/>
                <a:latin typeface="-apple-system"/>
              </a:rPr>
              <a:t>maching</a:t>
            </a:r>
            <a:r>
              <a:rPr lang="es-ES" sz="1400" b="0" i="0" dirty="0">
                <a:solidFill>
                  <a:srgbClr val="303030"/>
                </a:solidFill>
                <a:effectLst/>
                <a:latin typeface="-apple-system"/>
              </a:rPr>
              <a:t> </a:t>
            </a:r>
            <a:r>
              <a:rPr lang="es-ES" sz="1400" b="0" i="0" dirty="0" err="1">
                <a:solidFill>
                  <a:srgbClr val="303030"/>
                </a:solidFill>
                <a:effectLst/>
                <a:latin typeface="-apple-system"/>
              </a:rPr>
              <a:t>learning</a:t>
            </a:r>
            <a:endParaRPr lang="es-PE" sz="1400" dirty="0"/>
          </a:p>
        </p:txBody>
      </p:sp>
    </p:spTree>
    <p:extLst>
      <p:ext uri="{BB962C8B-B14F-4D97-AF65-F5344CB8AC3E}">
        <p14:creationId xmlns:p14="http://schemas.microsoft.com/office/powerpoint/2010/main" val="405121159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0087203-6DB1-4FE1-9643-A55BE0E2655F}"/>
              </a:ext>
            </a:extLst>
          </p:cNvPr>
          <p:cNvSpPr>
            <a:spLocks noGrp="1"/>
          </p:cNvSpPr>
          <p:nvPr>
            <p:ph type="body" idx="1"/>
          </p:nvPr>
        </p:nvSpPr>
        <p:spPr>
          <a:xfrm>
            <a:off x="838200" y="1324464"/>
            <a:ext cx="10515599" cy="3572851"/>
          </a:xfrm>
        </p:spPr>
        <p:txBody>
          <a:bodyPr>
            <a:normAutofit fontScale="92500" lnSpcReduction="10000"/>
          </a:bodyPr>
          <a:lstStyle/>
          <a:p>
            <a:pPr algn="just"/>
            <a:r>
              <a:rPr lang="es-PE" dirty="0"/>
              <a:t>¿Enserio necesitan aprender el código?</a:t>
            </a:r>
          </a:p>
          <a:p>
            <a:pPr algn="just"/>
            <a:endParaRPr lang="es-PE" dirty="0"/>
          </a:p>
          <a:p>
            <a:pPr algn="just"/>
            <a:r>
              <a:rPr lang="es-PE" dirty="0"/>
              <a:t>¿Qué planean hacer con ello?</a:t>
            </a:r>
          </a:p>
          <a:p>
            <a:pPr algn="just"/>
            <a:endParaRPr lang="es-PE" dirty="0"/>
          </a:p>
          <a:p>
            <a:pPr algn="just"/>
            <a:r>
              <a:rPr lang="es-PE" dirty="0"/>
              <a:t>Para utilizar estos métodos se requieren múltiples supuestos teóricos, empecemos con modelos más simples y si hay la necesidad podemos aprender el código de nuevas cosas (pero requieren leer primero y ser consientes de que un gran poder conlleva una responsabilidad) </a:t>
            </a:r>
          </a:p>
        </p:txBody>
      </p:sp>
      <p:sp>
        <p:nvSpPr>
          <p:cNvPr id="3" name="Título 2">
            <a:extLst>
              <a:ext uri="{FF2B5EF4-FFF2-40B4-BE49-F238E27FC236}">
                <a16:creationId xmlns:a16="http://schemas.microsoft.com/office/drawing/2014/main" id="{99B423FD-88D8-4690-BFC5-FC61C4D9BA27}"/>
              </a:ext>
            </a:extLst>
          </p:cNvPr>
          <p:cNvSpPr>
            <a:spLocks noGrp="1"/>
          </p:cNvSpPr>
          <p:nvPr>
            <p:ph type="title"/>
          </p:nvPr>
        </p:nvSpPr>
        <p:spPr/>
        <p:txBody>
          <a:bodyPr/>
          <a:lstStyle/>
          <a:p>
            <a:r>
              <a:rPr lang="es-PE" dirty="0"/>
              <a:t>Declaración y reflexión</a:t>
            </a:r>
          </a:p>
        </p:txBody>
      </p:sp>
      <p:pic>
        <p:nvPicPr>
          <p:cNvPr id="5" name="Imagen 4">
            <a:extLst>
              <a:ext uri="{FF2B5EF4-FFF2-40B4-BE49-F238E27FC236}">
                <a16:creationId xmlns:a16="http://schemas.microsoft.com/office/drawing/2014/main" id="{6A4B917E-05A0-48E7-9C9C-C7960F275816}"/>
              </a:ext>
            </a:extLst>
          </p:cNvPr>
          <p:cNvPicPr>
            <a:picLocks noChangeAspect="1"/>
          </p:cNvPicPr>
          <p:nvPr/>
        </p:nvPicPr>
        <p:blipFill>
          <a:blip r:embed="rId2"/>
          <a:stretch>
            <a:fillRect/>
          </a:stretch>
        </p:blipFill>
        <p:spPr>
          <a:xfrm>
            <a:off x="7704730" y="4703884"/>
            <a:ext cx="3391162" cy="1849243"/>
          </a:xfrm>
          <a:prstGeom prst="rect">
            <a:avLst/>
          </a:prstGeom>
        </p:spPr>
      </p:pic>
    </p:spTree>
    <p:extLst>
      <p:ext uri="{BB962C8B-B14F-4D97-AF65-F5344CB8AC3E}">
        <p14:creationId xmlns:p14="http://schemas.microsoft.com/office/powerpoint/2010/main" val="3209598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80">
                                          <p:stCondLst>
                                            <p:cond delay="0"/>
                                          </p:stCondLst>
                                        </p:cTn>
                                        <p:tgtEl>
                                          <p:spTgt spid="2">
                                            <p:txEl>
                                              <p:pRg st="0" end="0"/>
                                            </p:txEl>
                                          </p:spTgt>
                                        </p:tgtEl>
                                      </p:cBhvr>
                                    </p:animEffect>
                                    <p:anim calcmode="lin" valueType="num">
                                      <p:cBhvr>
                                        <p:cTn id="8"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xEl>
                                              <p:pRg st="0" end="0"/>
                                            </p:txEl>
                                          </p:spTgt>
                                        </p:tgtEl>
                                      </p:cBhvr>
                                      <p:to x="100000" y="60000"/>
                                    </p:animScale>
                                    <p:animScale>
                                      <p:cBhvr>
                                        <p:cTn id="14" dur="166" decel="50000">
                                          <p:stCondLst>
                                            <p:cond delay="676"/>
                                          </p:stCondLst>
                                        </p:cTn>
                                        <p:tgtEl>
                                          <p:spTgt spid="2">
                                            <p:txEl>
                                              <p:pRg st="0" end="0"/>
                                            </p:txEl>
                                          </p:spTgt>
                                        </p:tgtEl>
                                      </p:cBhvr>
                                      <p:to x="100000" y="100000"/>
                                    </p:animScale>
                                    <p:animScale>
                                      <p:cBhvr>
                                        <p:cTn id="15" dur="26">
                                          <p:stCondLst>
                                            <p:cond delay="1312"/>
                                          </p:stCondLst>
                                        </p:cTn>
                                        <p:tgtEl>
                                          <p:spTgt spid="2">
                                            <p:txEl>
                                              <p:pRg st="0" end="0"/>
                                            </p:txEl>
                                          </p:spTgt>
                                        </p:tgtEl>
                                      </p:cBhvr>
                                      <p:to x="100000" y="80000"/>
                                    </p:animScale>
                                    <p:animScale>
                                      <p:cBhvr>
                                        <p:cTn id="16" dur="166" decel="50000">
                                          <p:stCondLst>
                                            <p:cond delay="1338"/>
                                          </p:stCondLst>
                                        </p:cTn>
                                        <p:tgtEl>
                                          <p:spTgt spid="2">
                                            <p:txEl>
                                              <p:pRg st="0" end="0"/>
                                            </p:txEl>
                                          </p:spTgt>
                                        </p:tgtEl>
                                      </p:cBhvr>
                                      <p:to x="100000" y="100000"/>
                                    </p:animScale>
                                    <p:animScale>
                                      <p:cBhvr>
                                        <p:cTn id="17" dur="26">
                                          <p:stCondLst>
                                            <p:cond delay="1642"/>
                                          </p:stCondLst>
                                        </p:cTn>
                                        <p:tgtEl>
                                          <p:spTgt spid="2">
                                            <p:txEl>
                                              <p:pRg st="0" end="0"/>
                                            </p:txEl>
                                          </p:spTgt>
                                        </p:tgtEl>
                                      </p:cBhvr>
                                      <p:to x="100000" y="90000"/>
                                    </p:animScale>
                                    <p:animScale>
                                      <p:cBhvr>
                                        <p:cTn id="18" dur="166" decel="50000">
                                          <p:stCondLst>
                                            <p:cond delay="1668"/>
                                          </p:stCondLst>
                                        </p:cTn>
                                        <p:tgtEl>
                                          <p:spTgt spid="2">
                                            <p:txEl>
                                              <p:pRg st="0" end="0"/>
                                            </p:txEl>
                                          </p:spTgt>
                                        </p:tgtEl>
                                      </p:cBhvr>
                                      <p:to x="100000" y="100000"/>
                                    </p:animScale>
                                    <p:animScale>
                                      <p:cBhvr>
                                        <p:cTn id="19" dur="26">
                                          <p:stCondLst>
                                            <p:cond delay="1808"/>
                                          </p:stCondLst>
                                        </p:cTn>
                                        <p:tgtEl>
                                          <p:spTgt spid="2">
                                            <p:txEl>
                                              <p:pRg st="0" end="0"/>
                                            </p:txEl>
                                          </p:spTgt>
                                        </p:tgtEl>
                                      </p:cBhvr>
                                      <p:to x="100000" y="95000"/>
                                    </p:animScale>
                                    <p:animScale>
                                      <p:cBhvr>
                                        <p:cTn id="20" dur="166" decel="50000">
                                          <p:stCondLst>
                                            <p:cond delay="1834"/>
                                          </p:stCondLst>
                                        </p:cTn>
                                        <p:tgtEl>
                                          <p:spTgt spid="2">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wipe(down)">
                                      <p:cBhvr>
                                        <p:cTn id="25" dur="580">
                                          <p:stCondLst>
                                            <p:cond delay="0"/>
                                          </p:stCondLst>
                                        </p:cTn>
                                        <p:tgtEl>
                                          <p:spTgt spid="2">
                                            <p:txEl>
                                              <p:pRg st="2" end="2"/>
                                            </p:txEl>
                                          </p:spTgt>
                                        </p:tgtEl>
                                      </p:cBhvr>
                                    </p:animEffect>
                                    <p:anim calcmode="lin" valueType="num">
                                      <p:cBhvr>
                                        <p:cTn id="26" dur="1822" tmFilter="0,0; 0.14,0.36; 0.43,0.73; 0.71,0.91; 1.0,1.0">
                                          <p:stCondLst>
                                            <p:cond delay="0"/>
                                          </p:stCondLst>
                                        </p:cTn>
                                        <p:tgtEl>
                                          <p:spTgt spid="2">
                                            <p:txEl>
                                              <p:pRg st="2" end="2"/>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2" end="2"/>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2" end="2"/>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2" end="2"/>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2" end="2"/>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2" end="2"/>
                                            </p:txEl>
                                          </p:spTgt>
                                        </p:tgtEl>
                                      </p:cBhvr>
                                      <p:to x="100000" y="60000"/>
                                    </p:animScale>
                                    <p:animScale>
                                      <p:cBhvr>
                                        <p:cTn id="32" dur="166" decel="50000">
                                          <p:stCondLst>
                                            <p:cond delay="676"/>
                                          </p:stCondLst>
                                        </p:cTn>
                                        <p:tgtEl>
                                          <p:spTgt spid="2">
                                            <p:txEl>
                                              <p:pRg st="2" end="2"/>
                                            </p:txEl>
                                          </p:spTgt>
                                        </p:tgtEl>
                                      </p:cBhvr>
                                      <p:to x="100000" y="100000"/>
                                    </p:animScale>
                                    <p:animScale>
                                      <p:cBhvr>
                                        <p:cTn id="33" dur="26">
                                          <p:stCondLst>
                                            <p:cond delay="1312"/>
                                          </p:stCondLst>
                                        </p:cTn>
                                        <p:tgtEl>
                                          <p:spTgt spid="2">
                                            <p:txEl>
                                              <p:pRg st="2" end="2"/>
                                            </p:txEl>
                                          </p:spTgt>
                                        </p:tgtEl>
                                      </p:cBhvr>
                                      <p:to x="100000" y="80000"/>
                                    </p:animScale>
                                    <p:animScale>
                                      <p:cBhvr>
                                        <p:cTn id="34" dur="166" decel="50000">
                                          <p:stCondLst>
                                            <p:cond delay="1338"/>
                                          </p:stCondLst>
                                        </p:cTn>
                                        <p:tgtEl>
                                          <p:spTgt spid="2">
                                            <p:txEl>
                                              <p:pRg st="2" end="2"/>
                                            </p:txEl>
                                          </p:spTgt>
                                        </p:tgtEl>
                                      </p:cBhvr>
                                      <p:to x="100000" y="100000"/>
                                    </p:animScale>
                                    <p:animScale>
                                      <p:cBhvr>
                                        <p:cTn id="35" dur="26">
                                          <p:stCondLst>
                                            <p:cond delay="1642"/>
                                          </p:stCondLst>
                                        </p:cTn>
                                        <p:tgtEl>
                                          <p:spTgt spid="2">
                                            <p:txEl>
                                              <p:pRg st="2" end="2"/>
                                            </p:txEl>
                                          </p:spTgt>
                                        </p:tgtEl>
                                      </p:cBhvr>
                                      <p:to x="100000" y="90000"/>
                                    </p:animScale>
                                    <p:animScale>
                                      <p:cBhvr>
                                        <p:cTn id="36" dur="166" decel="50000">
                                          <p:stCondLst>
                                            <p:cond delay="1668"/>
                                          </p:stCondLst>
                                        </p:cTn>
                                        <p:tgtEl>
                                          <p:spTgt spid="2">
                                            <p:txEl>
                                              <p:pRg st="2" end="2"/>
                                            </p:txEl>
                                          </p:spTgt>
                                        </p:tgtEl>
                                      </p:cBhvr>
                                      <p:to x="100000" y="100000"/>
                                    </p:animScale>
                                    <p:animScale>
                                      <p:cBhvr>
                                        <p:cTn id="37" dur="26">
                                          <p:stCondLst>
                                            <p:cond delay="1808"/>
                                          </p:stCondLst>
                                        </p:cTn>
                                        <p:tgtEl>
                                          <p:spTgt spid="2">
                                            <p:txEl>
                                              <p:pRg st="2" end="2"/>
                                            </p:txEl>
                                          </p:spTgt>
                                        </p:tgtEl>
                                      </p:cBhvr>
                                      <p:to x="100000" y="95000"/>
                                    </p:animScale>
                                    <p:animScale>
                                      <p:cBhvr>
                                        <p:cTn id="38" dur="166" decel="50000">
                                          <p:stCondLst>
                                            <p:cond delay="1834"/>
                                          </p:stCondLst>
                                        </p:cTn>
                                        <p:tgtEl>
                                          <p:spTgt spid="2">
                                            <p:txEl>
                                              <p:pRg st="2" end="2"/>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2">
                                            <p:txEl>
                                              <p:pRg st="4" end="4"/>
                                            </p:txEl>
                                          </p:spTgt>
                                        </p:tgtEl>
                                        <p:attrNameLst>
                                          <p:attrName>style.visibility</p:attrName>
                                        </p:attrNameLst>
                                      </p:cBhvr>
                                      <p:to>
                                        <p:strVal val="visible"/>
                                      </p:to>
                                    </p:set>
                                    <p:animEffect transition="in" filter="wipe(down)">
                                      <p:cBhvr>
                                        <p:cTn id="43" dur="580">
                                          <p:stCondLst>
                                            <p:cond delay="0"/>
                                          </p:stCondLst>
                                        </p:cTn>
                                        <p:tgtEl>
                                          <p:spTgt spid="2">
                                            <p:txEl>
                                              <p:pRg st="4" end="4"/>
                                            </p:txEl>
                                          </p:spTgt>
                                        </p:tgtEl>
                                      </p:cBhvr>
                                    </p:animEffect>
                                    <p:anim calcmode="lin" valueType="num">
                                      <p:cBhvr>
                                        <p:cTn id="44" dur="1822" tmFilter="0,0; 0.14,0.36; 0.43,0.73; 0.71,0.91; 1.0,1.0">
                                          <p:stCondLst>
                                            <p:cond delay="0"/>
                                          </p:stCondLst>
                                        </p:cTn>
                                        <p:tgtEl>
                                          <p:spTgt spid="2">
                                            <p:txEl>
                                              <p:pRg st="4" end="4"/>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
                                            <p:txEl>
                                              <p:pRg st="4" end="4"/>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
                                            <p:txEl>
                                              <p:pRg st="4" end="4"/>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
                                            <p:txEl>
                                              <p:pRg st="4" end="4"/>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
                                            <p:txEl>
                                              <p:pRg st="4" end="4"/>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2">
                                            <p:txEl>
                                              <p:pRg st="4" end="4"/>
                                            </p:txEl>
                                          </p:spTgt>
                                        </p:tgtEl>
                                      </p:cBhvr>
                                      <p:to x="100000" y="60000"/>
                                    </p:animScale>
                                    <p:animScale>
                                      <p:cBhvr>
                                        <p:cTn id="50" dur="166" decel="50000">
                                          <p:stCondLst>
                                            <p:cond delay="676"/>
                                          </p:stCondLst>
                                        </p:cTn>
                                        <p:tgtEl>
                                          <p:spTgt spid="2">
                                            <p:txEl>
                                              <p:pRg st="4" end="4"/>
                                            </p:txEl>
                                          </p:spTgt>
                                        </p:tgtEl>
                                      </p:cBhvr>
                                      <p:to x="100000" y="100000"/>
                                    </p:animScale>
                                    <p:animScale>
                                      <p:cBhvr>
                                        <p:cTn id="51" dur="26">
                                          <p:stCondLst>
                                            <p:cond delay="1312"/>
                                          </p:stCondLst>
                                        </p:cTn>
                                        <p:tgtEl>
                                          <p:spTgt spid="2">
                                            <p:txEl>
                                              <p:pRg st="4" end="4"/>
                                            </p:txEl>
                                          </p:spTgt>
                                        </p:tgtEl>
                                      </p:cBhvr>
                                      <p:to x="100000" y="80000"/>
                                    </p:animScale>
                                    <p:animScale>
                                      <p:cBhvr>
                                        <p:cTn id="52" dur="166" decel="50000">
                                          <p:stCondLst>
                                            <p:cond delay="1338"/>
                                          </p:stCondLst>
                                        </p:cTn>
                                        <p:tgtEl>
                                          <p:spTgt spid="2">
                                            <p:txEl>
                                              <p:pRg st="4" end="4"/>
                                            </p:txEl>
                                          </p:spTgt>
                                        </p:tgtEl>
                                      </p:cBhvr>
                                      <p:to x="100000" y="100000"/>
                                    </p:animScale>
                                    <p:animScale>
                                      <p:cBhvr>
                                        <p:cTn id="53" dur="26">
                                          <p:stCondLst>
                                            <p:cond delay="1642"/>
                                          </p:stCondLst>
                                        </p:cTn>
                                        <p:tgtEl>
                                          <p:spTgt spid="2">
                                            <p:txEl>
                                              <p:pRg st="4" end="4"/>
                                            </p:txEl>
                                          </p:spTgt>
                                        </p:tgtEl>
                                      </p:cBhvr>
                                      <p:to x="100000" y="90000"/>
                                    </p:animScale>
                                    <p:animScale>
                                      <p:cBhvr>
                                        <p:cTn id="54" dur="166" decel="50000">
                                          <p:stCondLst>
                                            <p:cond delay="1668"/>
                                          </p:stCondLst>
                                        </p:cTn>
                                        <p:tgtEl>
                                          <p:spTgt spid="2">
                                            <p:txEl>
                                              <p:pRg st="4" end="4"/>
                                            </p:txEl>
                                          </p:spTgt>
                                        </p:tgtEl>
                                      </p:cBhvr>
                                      <p:to x="100000" y="100000"/>
                                    </p:animScale>
                                    <p:animScale>
                                      <p:cBhvr>
                                        <p:cTn id="55" dur="26">
                                          <p:stCondLst>
                                            <p:cond delay="1808"/>
                                          </p:stCondLst>
                                        </p:cTn>
                                        <p:tgtEl>
                                          <p:spTgt spid="2">
                                            <p:txEl>
                                              <p:pRg st="4" end="4"/>
                                            </p:txEl>
                                          </p:spTgt>
                                        </p:tgtEl>
                                      </p:cBhvr>
                                      <p:to x="100000" y="95000"/>
                                    </p:animScale>
                                    <p:animScale>
                                      <p:cBhvr>
                                        <p:cTn id="56" dur="166" decel="50000">
                                          <p:stCondLst>
                                            <p:cond delay="1834"/>
                                          </p:stCondLst>
                                        </p:cTn>
                                        <p:tgtEl>
                                          <p:spTgt spid="2">
                                            <p:txEl>
                                              <p:pRg st="4" end="4"/>
                                            </p:txEl>
                                          </p:spTgt>
                                        </p:tgtEl>
                                      </p:cBhvr>
                                      <p:to x="100000" y="100000"/>
                                    </p:animScale>
                                  </p:childTnLst>
                                </p:cTn>
                              </p:par>
                              <p:par>
                                <p:cTn id="57" presetID="1" presetClass="entr" presetSubtype="0" fill="hold" nodeType="withEffect">
                                  <p:stCondLst>
                                    <p:cond delay="0"/>
                                  </p:stCondLst>
                                  <p:childTnLst>
                                    <p:set>
                                      <p:cBhvr>
                                        <p:cTn id="5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B8310D6-B854-42EC-8E04-18D1DC4AAEB8}"/>
              </a:ext>
            </a:extLst>
          </p:cNvPr>
          <p:cNvSpPr>
            <a:spLocks noGrp="1"/>
          </p:cNvSpPr>
          <p:nvPr>
            <p:ph type="title"/>
          </p:nvPr>
        </p:nvSpPr>
        <p:spPr>
          <a:xfrm>
            <a:off x="2888272" y="6195148"/>
            <a:ext cx="7485185" cy="423064"/>
          </a:xfrm>
        </p:spPr>
        <p:txBody>
          <a:bodyPr/>
          <a:lstStyle/>
          <a:p>
            <a:pPr algn="r"/>
            <a:r>
              <a:rPr lang="es-PE" dirty="0"/>
              <a:t>GRACIAS</a:t>
            </a:r>
          </a:p>
        </p:txBody>
      </p:sp>
      <p:pic>
        <p:nvPicPr>
          <p:cNvPr id="5" name="Imagen 4">
            <a:extLst>
              <a:ext uri="{FF2B5EF4-FFF2-40B4-BE49-F238E27FC236}">
                <a16:creationId xmlns:a16="http://schemas.microsoft.com/office/drawing/2014/main" id="{4E9E2FE3-EF51-455C-9B88-019A9E009C80}"/>
              </a:ext>
            </a:extLst>
          </p:cNvPr>
          <p:cNvPicPr>
            <a:picLocks noChangeAspect="1"/>
          </p:cNvPicPr>
          <p:nvPr/>
        </p:nvPicPr>
        <p:blipFill>
          <a:blip r:embed="rId2"/>
          <a:stretch>
            <a:fillRect/>
          </a:stretch>
        </p:blipFill>
        <p:spPr>
          <a:xfrm>
            <a:off x="956896" y="536608"/>
            <a:ext cx="9416561" cy="5298054"/>
          </a:xfrm>
          <a:prstGeom prst="rect">
            <a:avLst/>
          </a:prstGeom>
        </p:spPr>
      </p:pic>
    </p:spTree>
    <p:extLst>
      <p:ext uri="{BB962C8B-B14F-4D97-AF65-F5344CB8AC3E}">
        <p14:creationId xmlns:p14="http://schemas.microsoft.com/office/powerpoint/2010/main" val="67252822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5112</TotalTime>
  <Words>3290</Words>
  <Application>Microsoft Office PowerPoint</Application>
  <PresentationFormat>Panorámica</PresentationFormat>
  <Paragraphs>279</Paragraphs>
  <Slides>100</Slides>
  <Notes>0</Notes>
  <HiddenSlides>6</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100</vt:i4>
      </vt:variant>
    </vt:vector>
  </HeadingPairs>
  <TitlesOfParts>
    <vt:vector size="113" baseType="lpstr">
      <vt:lpstr>-apple-system</vt:lpstr>
      <vt:lpstr>Arial</vt:lpstr>
      <vt:lpstr>Arial Black</vt:lpstr>
      <vt:lpstr>Bernard MT Condensed</vt:lpstr>
      <vt:lpstr>Calibri</vt:lpstr>
      <vt:lpstr>Calibri Light</vt:lpstr>
      <vt:lpstr>Cambria</vt:lpstr>
      <vt:lpstr>Century Gothic</vt:lpstr>
      <vt:lpstr>InterVariable</vt:lpstr>
      <vt:lpstr>Libre Franklin</vt:lpstr>
      <vt:lpstr>Roboto</vt:lpstr>
      <vt:lpstr>system-ui</vt:lpstr>
      <vt:lpstr>Tema de Office</vt:lpstr>
      <vt:lpstr>Teoría sobre control de confusión</vt:lpstr>
      <vt:lpstr>Presentación de PowerPoint</vt:lpstr>
      <vt:lpstr>Presentación de PowerPoint</vt:lpstr>
      <vt:lpstr>Identifica los confusores</vt:lpstr>
      <vt:lpstr>Identifica los supuestos de causalidad</vt:lpstr>
      <vt:lpstr>Necesitamos definir muy bien las preguntas causales</vt:lpstr>
      <vt:lpstr>Preguntas importantes para una exposición compleja</vt:lpstr>
      <vt:lpstr>Presentación de PowerPoint</vt:lpstr>
      <vt:lpstr>Causalidad – enfoque de resultados potenciales</vt:lpstr>
      <vt:lpstr>What if?</vt:lpstr>
      <vt:lpstr>¿ITE?</vt:lpstr>
      <vt:lpstr>¿ATT?</vt:lpstr>
      <vt:lpstr>Recuerdas que supuestos tiene un efecto causal</vt:lpstr>
      <vt:lpstr>Recuerdas que supuestos tiene un efecto causal</vt:lpstr>
      <vt:lpstr>Recuerdas que supuestos tiene un efecto causal</vt:lpstr>
      <vt:lpstr>Recuerdas que supuestos tiene un efecto causal</vt:lpstr>
      <vt:lpstr>Recuerdas que supuestos tiene un efecto causal</vt:lpstr>
      <vt:lpstr>Control de confusión en ECA</vt:lpstr>
      <vt:lpstr>Control de confusión en ECA</vt:lpstr>
      <vt:lpstr>Presentación de PowerPoint</vt:lpstr>
      <vt:lpstr>Momentos críticos de un ECA</vt:lpstr>
      <vt:lpstr>Control de confusión en ECA</vt:lpstr>
      <vt:lpstr>Presentación de PowerPoint</vt:lpstr>
      <vt:lpstr>Es necesario 1 solo contrafactual por pacientes</vt:lpstr>
      <vt:lpstr>Control de confusión con datos  observacionales</vt:lpstr>
      <vt:lpstr>Presentación de PowerPoint</vt:lpstr>
      <vt:lpstr>Restricción</vt:lpstr>
      <vt:lpstr>Estratificación en ECA</vt:lpstr>
      <vt:lpstr>Estratificación en observacionales</vt:lpstr>
      <vt:lpstr>Regresión multivariable</vt:lpstr>
      <vt:lpstr>Modelos de selección jerarquica</vt:lpstr>
      <vt:lpstr>MATCHING</vt:lpstr>
      <vt:lpstr>Presentación de PowerPoint</vt:lpstr>
      <vt:lpstr>Matching en R</vt:lpstr>
      <vt:lpstr>Desventajas Matching</vt:lpstr>
      <vt:lpstr>Presentación de PowerPoint</vt:lpstr>
      <vt:lpstr>Muestreo de densidad de incidencia</vt:lpstr>
      <vt:lpstr>Presentación de PowerPoint</vt:lpstr>
      <vt:lpstr>Presentación de PowerPoint</vt:lpstr>
      <vt:lpstr>Muestreo de densidad de incidencia</vt:lpstr>
      <vt:lpstr>Control de confusión con datos  observacionales</vt:lpstr>
      <vt:lpstr>Visto previamente en R</vt:lpstr>
      <vt:lpstr>Control de confusión con datos  observacionales</vt:lpstr>
      <vt:lpstr>Propensity score </vt:lpstr>
      <vt:lpstr>Propensity score  Paso 1: Estimar la probabilidad de la asignación al tto</vt:lpstr>
      <vt:lpstr>Propensity score  Paso 2: escoger método de PS</vt:lpstr>
      <vt:lpstr>Propensity score  Paso 2: escoger método de PS</vt:lpstr>
      <vt:lpstr>Propensity score Matching  Empareja tratados con no tratados que tengan similar probabilidad</vt:lpstr>
      <vt:lpstr>Aquí hay varias formas de emparejar</vt:lpstr>
      <vt:lpstr>Propensity score matching  Paso 3: Modelar Y en función de X controlando por PS</vt:lpstr>
      <vt:lpstr>PS</vt:lpstr>
      <vt:lpstr>Propensity score  Paso 2: escoger método de PS</vt:lpstr>
      <vt:lpstr>Propensity score estratificado  Crearemos pesos</vt:lpstr>
      <vt:lpstr>Propensity score  Paso 2: escoger método de PS</vt:lpstr>
      <vt:lpstr>Propensity score: IPW  Es considerado en realidad parte de métodos marginales (familia de formula G)  Explicación en breve :D </vt:lpstr>
      <vt:lpstr>Propensity score  Paso 2: escoger método de PS</vt:lpstr>
      <vt:lpstr>Propensity score: métodos doble robustos</vt:lpstr>
      <vt:lpstr>Revisaremos PSM, IPW y PS doble robusto en R</vt:lpstr>
      <vt:lpstr>Presentación de PowerPoint</vt:lpstr>
      <vt:lpstr>Emulación de ensayos clínicos con data observacional</vt:lpstr>
      <vt:lpstr>Presentación de PowerPoint</vt:lpstr>
      <vt:lpstr>Básicamente se crea contrafactuales</vt:lpstr>
      <vt:lpstr>Contrafactuales</vt:lpstr>
      <vt:lpstr>G formula</vt:lpstr>
      <vt:lpstr>G formula</vt:lpstr>
      <vt:lpstr>IPW</vt:lpstr>
      <vt:lpstr>Presentación de PowerPoint</vt:lpstr>
      <vt:lpstr>Presentación de PowerPoint</vt:lpstr>
      <vt:lpstr>Presentación de PowerPoint</vt:lpstr>
      <vt:lpstr>Presentación de PowerPoint</vt:lpstr>
      <vt:lpstr>Los raros</vt:lpstr>
      <vt:lpstr>Presentación de PowerPoint</vt:lpstr>
      <vt:lpstr>Mecanismo detrás del IPW</vt:lpstr>
      <vt:lpstr>Presentación de PowerPoint</vt:lpstr>
      <vt:lpstr>IPW en R</vt:lpstr>
      <vt:lpstr>IPW</vt:lpstr>
      <vt:lpstr>Presentación de PowerPoint</vt:lpstr>
      <vt:lpstr>IPW</vt:lpstr>
      <vt:lpstr>Estimación G de modelos anidados estructurales </vt:lpstr>
      <vt:lpstr>Estimación G de modelos anidados estructurales </vt:lpstr>
      <vt:lpstr>Estimación G de modelos anidados estructurales </vt:lpstr>
      <vt:lpstr>Estimación G de modelos anidados estructurales </vt:lpstr>
      <vt:lpstr>Estimación G de modelos anidados estructurales </vt:lpstr>
      <vt:lpstr>Presentación de PowerPoint</vt:lpstr>
      <vt:lpstr>Estimación doble robusta</vt:lpstr>
      <vt:lpstr>Estimación doble robusta</vt:lpstr>
      <vt:lpstr>Estimación doble robusta</vt:lpstr>
      <vt:lpstr>Estimación doble robusta</vt:lpstr>
      <vt:lpstr>Estimación doble robusta</vt:lpstr>
      <vt:lpstr>Presentación de PowerPoint</vt:lpstr>
      <vt:lpstr>Estimación doble robusta - TMLE</vt:lpstr>
      <vt:lpstr>Estimación doble robusta - TMLE</vt:lpstr>
      <vt:lpstr>Estimación doble robusta - TMLE</vt:lpstr>
      <vt:lpstr>Estimación doble robusta - TMLE</vt:lpstr>
      <vt:lpstr>Estimación doble robusta - TMLE</vt:lpstr>
      <vt:lpstr>Estimación doble robusta - TMLE</vt:lpstr>
      <vt:lpstr>Estimación doble robusta - TMLE</vt:lpstr>
      <vt:lpstr>¿Qué es Causal Maching learning?</vt:lpstr>
      <vt:lpstr>Declaración y reflexión</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con ENDES</dc:title>
  <dc:creator>Daniel Fernandez G</dc:creator>
  <cp:lastModifiedBy>Daniel Fernandez G</cp:lastModifiedBy>
  <cp:revision>75</cp:revision>
  <dcterms:created xsi:type="dcterms:W3CDTF">2024-07-22T16:51:30Z</dcterms:created>
  <dcterms:modified xsi:type="dcterms:W3CDTF">2024-09-30T16:24:14Z</dcterms:modified>
</cp:coreProperties>
</file>